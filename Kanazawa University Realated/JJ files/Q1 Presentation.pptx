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686" r:id="rId2"/>
    <p:sldId id="957" r:id="rId3"/>
    <p:sldId id="967" r:id="rId4"/>
    <p:sldId id="968" r:id="rId5"/>
    <p:sldId id="969" r:id="rId6"/>
    <p:sldId id="975" r:id="rId7"/>
    <p:sldId id="971" r:id="rId8"/>
    <p:sldId id="970" r:id="rId9"/>
    <p:sldId id="943" r:id="rId10"/>
    <p:sldId id="955" r:id="rId11"/>
    <p:sldId id="932" r:id="rId12"/>
    <p:sldId id="958" r:id="rId13"/>
    <p:sldId id="921" r:id="rId14"/>
    <p:sldId id="959" r:id="rId15"/>
    <p:sldId id="936" r:id="rId16"/>
    <p:sldId id="972" r:id="rId17"/>
    <p:sldId id="973" r:id="rId18"/>
    <p:sldId id="974" r:id="rId19"/>
    <p:sldId id="669" r:id="rId20"/>
    <p:sldId id="682" r:id="rId21"/>
    <p:sldId id="976" r:id="rId22"/>
    <p:sldId id="937" r:id="rId23"/>
    <p:sldId id="960" r:id="rId24"/>
    <p:sldId id="952" r:id="rId25"/>
    <p:sldId id="977" r:id="rId26"/>
    <p:sldId id="978" r:id="rId27"/>
    <p:sldId id="979" r:id="rId28"/>
    <p:sldId id="666" r:id="rId29"/>
    <p:sldId id="940" r:id="rId30"/>
    <p:sldId id="941" r:id="rId31"/>
    <p:sldId id="942" r:id="rId32"/>
    <p:sldId id="918" r:id="rId33"/>
    <p:sldId id="919" r:id="rId34"/>
    <p:sldId id="920" r:id="rId35"/>
    <p:sldId id="938" r:id="rId36"/>
    <p:sldId id="946" r:id="rId37"/>
    <p:sldId id="947" r:id="rId38"/>
    <p:sldId id="948" r:id="rId39"/>
    <p:sldId id="953" r:id="rId40"/>
    <p:sldId id="931" r:id="rId41"/>
    <p:sldId id="923" r:id="rId42"/>
    <p:sldId id="954" r:id="rId43"/>
    <p:sldId id="922" r:id="rId44"/>
    <p:sldId id="924" r:id="rId45"/>
    <p:sldId id="927" r:id="rId46"/>
    <p:sldId id="926" r:id="rId47"/>
    <p:sldId id="928" r:id="rId48"/>
    <p:sldId id="929" r:id="rId49"/>
    <p:sldId id="930" r:id="rId50"/>
    <p:sldId id="949" r:id="rId51"/>
    <p:sldId id="980" r:id="rId52"/>
    <p:sldId id="98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2373" autoAdjust="0"/>
  </p:normalViewPr>
  <p:slideViewPr>
    <p:cSldViewPr snapToGrid="0">
      <p:cViewPr varScale="1">
        <p:scale>
          <a:sx n="102" d="100"/>
          <a:sy n="102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F6FD9B-B127-4CBC-8BC8-40F4F7AF7753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2571C7C-C4CF-43E3-87EC-0C098EDEFAB1}">
      <dgm:prSet custT="1"/>
      <dgm:spPr/>
      <dgm:t>
        <a:bodyPr/>
        <a:lstStyle/>
        <a:p>
          <a:pPr algn="thaiDist"/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Phantom Fabrication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B025E2-6D7F-40E6-B6B7-CC0022612B77}" type="parTrans" cxnId="{099B97B4-4AB7-4FB7-AFA3-78E49E9D7E33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0C5E1C-880A-4767-AD02-829C6551E6F6}" type="sibTrans" cxnId="{099B97B4-4AB7-4FB7-AFA3-78E49E9D7E33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B5414E-F4D5-4996-A0DB-D5B1A2059E32}">
      <dgm:prSet custT="1"/>
      <dgm:spPr/>
      <dgm:t>
        <a:bodyPr/>
        <a:lstStyle/>
        <a:p>
          <a:pPr algn="thaiDist"/>
          <a:r>
            <a: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Produce phantoms with known mechanical properties and controlled thickness</a:t>
          </a:r>
        </a:p>
      </dgm:t>
    </dgm:pt>
    <dgm:pt modelId="{B1BEECB3-C989-475F-8832-D1F51E27605A}" type="parTrans" cxnId="{CC8FD32D-229A-4FBD-B0D5-AE6653F3B481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616392-2053-48C6-8A67-0A7D78411D21}" type="sibTrans" cxnId="{CC8FD32D-229A-4FBD-B0D5-AE6653F3B481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F742294-7B3A-4DCD-9218-5C66FBA64582}">
      <dgm:prSet custT="1"/>
      <dgm:spPr/>
      <dgm:t>
        <a:bodyPr/>
        <a:lstStyle/>
        <a:p>
          <a:pPr algn="thaiDist"/>
          <a:r>
            <a: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Ensure reproducibility for stiffness calibration</a:t>
          </a:r>
        </a:p>
      </dgm:t>
    </dgm:pt>
    <dgm:pt modelId="{4CE9579F-3F19-43E4-8F96-657072D3BA22}" type="parTrans" cxnId="{CAB88225-BB13-4F61-BF2F-573FE39BECFE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FE7A85-DEED-4D13-81DE-05C8851977BF}" type="sibTrans" cxnId="{CAB88225-BB13-4F61-BF2F-573FE39BECFE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EBA6126-430B-4340-BF85-2750D78DCF44}">
      <dgm:prSet custT="1"/>
      <dgm:spPr/>
      <dgm:t>
        <a:bodyPr/>
        <a:lstStyle/>
        <a:p>
          <a:pPr algn="thaiDist"/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Force Calibration and Jet Characterization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4789D4-08A2-4686-BDB9-6AEBFDE57DBA}" type="parTrans" cxnId="{1E12EBF8-72B7-4718-8E31-70CF25616DC8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C7ABEF-5F96-497E-8AEF-1515D6EEE04B}" type="sibTrans" cxnId="{1E12EBF8-72B7-4718-8E31-70CF25616DC8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81ADFFA-6839-477D-848F-AE4505C1E08C}">
      <dgm:prSet custT="1"/>
      <dgm:spPr/>
      <dgm:t>
        <a:bodyPr/>
        <a:lstStyle/>
        <a:p>
          <a:pPr algn="thaiDist"/>
          <a:r>
            <a: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Quantify force vs. pressure relation at nozzle exit</a:t>
          </a:r>
        </a:p>
      </dgm:t>
    </dgm:pt>
    <dgm:pt modelId="{D52BA8F6-AA48-44A7-B1C9-684B30699743}" type="parTrans" cxnId="{AF72A9D8-069E-4140-AAB9-F43BAEFCF924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B36938-0C37-4BC8-8E55-484820D40108}" type="sibTrans" cxnId="{AF72A9D8-069E-4140-AAB9-F43BAEFCF924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EFC5AF-18F6-411E-93A0-B3693212AFBD}">
      <dgm:prSet custT="1"/>
      <dgm:spPr/>
      <dgm:t>
        <a:bodyPr/>
        <a:lstStyle/>
        <a:p>
          <a:pPr algn="thaiDist"/>
          <a:r>
            <a: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Validate jet impact force distribution over ROI</a:t>
          </a:r>
        </a:p>
      </dgm:t>
    </dgm:pt>
    <dgm:pt modelId="{39D304F0-974E-4ED1-8B23-5164BB581345}" type="parTrans" cxnId="{A4C61287-F884-4AA7-93A6-D816E2052A3B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595E2D-B2F4-4F0F-B07A-3CAFEF87B223}" type="sibTrans" cxnId="{A4C61287-F884-4AA7-93A6-D816E2052A3B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C4934-D37E-47FC-A277-42B30D3C113B}">
      <dgm:prSet custT="1"/>
      <dgm:spPr/>
      <dgm:t>
        <a:bodyPr/>
        <a:lstStyle/>
        <a:p>
          <a:pPr algn="thaiDist"/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System Integration and Testing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684246D-3C86-4451-8563-8F0D63272C24}" type="parTrans" cxnId="{D4BF6A52-9CDE-4841-BE64-6777BCBEBCE3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54B2EF3-080F-4B94-AF7C-F13C674A58AE}" type="sibTrans" cxnId="{D4BF6A52-9CDE-4841-BE64-6777BCBEBCE3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078343-182E-4F73-B0D1-11212ABE4280}">
      <dgm:prSet custT="1"/>
      <dgm:spPr/>
      <dgm:t>
        <a:bodyPr/>
        <a:lstStyle/>
        <a:p>
          <a:pPr algn="thaiDist"/>
          <a:r>
            <a: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Combine air-jet and LiDAR in controlled lab conditions</a:t>
          </a:r>
        </a:p>
      </dgm:t>
    </dgm:pt>
    <dgm:pt modelId="{FDFA6F73-9F65-481B-9280-A860120AA457}" type="parTrans" cxnId="{7F79174A-C315-4984-AE8B-DDB9D988A0D9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471369-35C8-45BC-AE1C-E84BAEFEA22E}" type="sibTrans" cxnId="{7F79174A-C315-4984-AE8B-DDB9D988A0D9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1A4474-94C3-48A4-AD40-F79C4E9E2E1D}">
      <dgm:prSet custT="1"/>
      <dgm:spPr/>
      <dgm:t>
        <a:bodyPr/>
        <a:lstStyle/>
        <a:p>
          <a:pPr algn="thaiDist"/>
          <a:r>
            <a: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Run pilot tests to verify repeatable deformation tracking</a:t>
          </a:r>
        </a:p>
      </dgm:t>
    </dgm:pt>
    <dgm:pt modelId="{5FD213F3-A5FD-43DA-9343-61DE3D3D40E9}" type="parTrans" cxnId="{4CA76FED-2372-43E6-9896-28B9743CE8A8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0FBC9A-B50E-4CFC-963F-44F89C415856}" type="sibTrans" cxnId="{4CA76FED-2372-43E6-9896-28B9743CE8A8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DF7849-BB6F-4077-96DA-5D6935B98C06}">
      <dgm:prSet custT="1"/>
      <dgm:spPr/>
      <dgm:t>
        <a:bodyPr/>
        <a:lstStyle/>
        <a:p>
          <a:pPr algn="thaiDist"/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Analysis and Model Fitting</a:t>
          </a:r>
          <a:endParaRPr lang="en-US" sz="1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84AB05-7C40-4C04-81F0-205A59F82162}" type="parTrans" cxnId="{18B499BE-085F-4A9D-BD0B-DB80C8670070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021DD86-B9F5-43B8-9A25-DF2928457026}" type="sibTrans" cxnId="{18B499BE-085F-4A9D-BD0B-DB80C8670070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C63E8C-8D13-48C2-A7B5-BB12F5468D12}">
      <dgm:prSet custT="1"/>
      <dgm:spPr/>
      <dgm:t>
        <a:bodyPr/>
        <a:lstStyle/>
        <a:p>
          <a:pPr algn="thaiDist"/>
          <a:r>
            <a: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Calculate stiffness, Young’s modulus from deformation data</a:t>
          </a:r>
        </a:p>
      </dgm:t>
    </dgm:pt>
    <dgm:pt modelId="{D8660A87-6CE6-475F-8B4A-E33E67FCCF7C}" type="parTrans" cxnId="{FE2A6959-D6B4-4F1F-944A-30FD7609458E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F937FF-C44B-4480-9788-978C33A86889}" type="sibTrans" cxnId="{FE2A6959-D6B4-4F1F-944A-30FD7609458E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8D8E23-0102-459B-81D3-2CAC5C321F36}">
      <dgm:prSet custT="1"/>
      <dgm:spPr/>
      <dgm:t>
        <a:bodyPr/>
        <a:lstStyle/>
        <a:p>
          <a:pPr algn="thaiDist"/>
          <a:r>
            <a: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Compare with known phantom properties for validation</a:t>
          </a:r>
        </a:p>
      </dgm:t>
    </dgm:pt>
    <dgm:pt modelId="{5E16A6C7-CE01-429D-989F-34D6E0B06320}" type="parTrans" cxnId="{85E85FD8-DEB1-4238-9CC7-626EFB4A245B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ACFB2D-FC0F-4364-B7D3-BC3AD612E383}" type="sibTrans" cxnId="{85E85FD8-DEB1-4238-9CC7-626EFB4A245B}">
      <dgm:prSet/>
      <dgm:spPr/>
      <dgm:t>
        <a:bodyPr/>
        <a:lstStyle/>
        <a:p>
          <a:pPr algn="thaiDist"/>
          <a:endParaRPr lang="en-US" sz="14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34807E-C093-4980-BA15-924A2D1D1005}" type="pres">
      <dgm:prSet presAssocID="{63F6FD9B-B127-4CBC-8BC8-40F4F7AF7753}" presName="CompostProcess" presStyleCnt="0">
        <dgm:presLayoutVars>
          <dgm:dir/>
          <dgm:resizeHandles val="exact"/>
        </dgm:presLayoutVars>
      </dgm:prSet>
      <dgm:spPr/>
    </dgm:pt>
    <dgm:pt modelId="{4EA343F3-A5FF-4CA4-B82A-F689D6AA5088}" type="pres">
      <dgm:prSet presAssocID="{63F6FD9B-B127-4CBC-8BC8-40F4F7AF7753}" presName="arrow" presStyleLbl="bgShp" presStyleIdx="0" presStyleCnt="1"/>
      <dgm:spPr/>
    </dgm:pt>
    <dgm:pt modelId="{6E680988-BCD1-4EDB-9FFE-626666EBC879}" type="pres">
      <dgm:prSet presAssocID="{63F6FD9B-B127-4CBC-8BC8-40F4F7AF7753}" presName="linearProcess" presStyleCnt="0"/>
      <dgm:spPr/>
    </dgm:pt>
    <dgm:pt modelId="{DAD58B89-D2C4-416C-97F2-AEAA25F4165D}" type="pres">
      <dgm:prSet presAssocID="{72571C7C-C4CF-43E3-87EC-0C098EDEFAB1}" presName="textNode" presStyleLbl="node1" presStyleIdx="0" presStyleCnt="4">
        <dgm:presLayoutVars>
          <dgm:bulletEnabled val="1"/>
        </dgm:presLayoutVars>
      </dgm:prSet>
      <dgm:spPr/>
    </dgm:pt>
    <dgm:pt modelId="{F9A357CB-D751-4C39-A498-024FCC9C100E}" type="pres">
      <dgm:prSet presAssocID="{AD0C5E1C-880A-4767-AD02-829C6551E6F6}" presName="sibTrans" presStyleCnt="0"/>
      <dgm:spPr/>
    </dgm:pt>
    <dgm:pt modelId="{22DA3047-E931-4555-9FFE-5785F7906406}" type="pres">
      <dgm:prSet presAssocID="{FEBA6126-430B-4340-BF85-2750D78DCF44}" presName="textNode" presStyleLbl="node1" presStyleIdx="1" presStyleCnt="4">
        <dgm:presLayoutVars>
          <dgm:bulletEnabled val="1"/>
        </dgm:presLayoutVars>
      </dgm:prSet>
      <dgm:spPr/>
    </dgm:pt>
    <dgm:pt modelId="{2ECBCC43-1622-486B-9E0C-7261A1C43568}" type="pres">
      <dgm:prSet presAssocID="{CCC7ABEF-5F96-497E-8AEF-1515D6EEE04B}" presName="sibTrans" presStyleCnt="0"/>
      <dgm:spPr/>
    </dgm:pt>
    <dgm:pt modelId="{08C575CC-7C63-4947-8390-45EE4AD879A5}" type="pres">
      <dgm:prSet presAssocID="{482C4934-D37E-47FC-A277-42B30D3C113B}" presName="textNode" presStyleLbl="node1" presStyleIdx="2" presStyleCnt="4">
        <dgm:presLayoutVars>
          <dgm:bulletEnabled val="1"/>
        </dgm:presLayoutVars>
      </dgm:prSet>
      <dgm:spPr/>
    </dgm:pt>
    <dgm:pt modelId="{64E05E75-A275-41D0-AB49-6F82B843D7F0}" type="pres">
      <dgm:prSet presAssocID="{154B2EF3-080F-4B94-AF7C-F13C674A58AE}" presName="sibTrans" presStyleCnt="0"/>
      <dgm:spPr/>
    </dgm:pt>
    <dgm:pt modelId="{06CA0850-924F-4CDE-AAD2-396AA731A57D}" type="pres">
      <dgm:prSet presAssocID="{ECDF7849-BB6F-4077-96DA-5D6935B98C06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47AB1803-FC9F-4137-90AA-9616E4CC41E9}" type="presOf" srcId="{72571C7C-C4CF-43E3-87EC-0C098EDEFAB1}" destId="{DAD58B89-D2C4-416C-97F2-AEAA25F4165D}" srcOrd="0" destOrd="0" presId="urn:microsoft.com/office/officeart/2005/8/layout/hProcess9"/>
    <dgm:cxn modelId="{CAB88225-BB13-4F61-BF2F-573FE39BECFE}" srcId="{72571C7C-C4CF-43E3-87EC-0C098EDEFAB1}" destId="{8F742294-7B3A-4DCD-9218-5C66FBA64582}" srcOrd="1" destOrd="0" parTransId="{4CE9579F-3F19-43E4-8F96-657072D3BA22}" sibTransId="{1FFE7A85-DEED-4D13-81DE-05C8851977BF}"/>
    <dgm:cxn modelId="{CC8FD32D-229A-4FBD-B0D5-AE6653F3B481}" srcId="{72571C7C-C4CF-43E3-87EC-0C098EDEFAB1}" destId="{64B5414E-F4D5-4996-A0DB-D5B1A2059E32}" srcOrd="0" destOrd="0" parTransId="{B1BEECB3-C989-475F-8832-D1F51E27605A}" sibTransId="{37616392-2053-48C6-8A67-0A7D78411D21}"/>
    <dgm:cxn modelId="{7F79174A-C315-4984-AE8B-DDB9D988A0D9}" srcId="{482C4934-D37E-47FC-A277-42B30D3C113B}" destId="{F8078343-182E-4F73-B0D1-11212ABE4280}" srcOrd="0" destOrd="0" parTransId="{FDFA6F73-9F65-481B-9280-A860120AA457}" sibTransId="{98471369-35C8-45BC-AE1C-E84BAEFEA22E}"/>
    <dgm:cxn modelId="{7E7AF14A-FF1C-4119-BAC3-13B86968CEC1}" type="presOf" srcId="{ECDF7849-BB6F-4077-96DA-5D6935B98C06}" destId="{06CA0850-924F-4CDE-AAD2-396AA731A57D}" srcOrd="0" destOrd="0" presId="urn:microsoft.com/office/officeart/2005/8/layout/hProcess9"/>
    <dgm:cxn modelId="{D4BF6A52-9CDE-4841-BE64-6777BCBEBCE3}" srcId="{63F6FD9B-B127-4CBC-8BC8-40F4F7AF7753}" destId="{482C4934-D37E-47FC-A277-42B30D3C113B}" srcOrd="2" destOrd="0" parTransId="{4684246D-3C86-4451-8563-8F0D63272C24}" sibTransId="{154B2EF3-080F-4B94-AF7C-F13C674A58AE}"/>
    <dgm:cxn modelId="{28E1B053-B68C-40D6-8527-E1997B3E69EF}" type="presOf" srcId="{2C8D8E23-0102-459B-81D3-2CAC5C321F36}" destId="{06CA0850-924F-4CDE-AAD2-396AA731A57D}" srcOrd="0" destOrd="2" presId="urn:microsoft.com/office/officeart/2005/8/layout/hProcess9"/>
    <dgm:cxn modelId="{FE2A6959-D6B4-4F1F-944A-30FD7609458E}" srcId="{ECDF7849-BB6F-4077-96DA-5D6935B98C06}" destId="{58C63E8C-8D13-48C2-A7B5-BB12F5468D12}" srcOrd="0" destOrd="0" parTransId="{D8660A87-6CE6-475F-8B4A-E33E67FCCF7C}" sibTransId="{69F937FF-C44B-4480-9788-978C33A86889}"/>
    <dgm:cxn modelId="{B826FC79-C39C-4967-A2D9-2E3E5205739E}" type="presOf" srcId="{FEBA6126-430B-4340-BF85-2750D78DCF44}" destId="{22DA3047-E931-4555-9FFE-5785F7906406}" srcOrd="0" destOrd="0" presId="urn:microsoft.com/office/officeart/2005/8/layout/hProcess9"/>
    <dgm:cxn modelId="{A4C61287-F884-4AA7-93A6-D816E2052A3B}" srcId="{FEBA6126-430B-4340-BF85-2750D78DCF44}" destId="{4EEFC5AF-18F6-411E-93A0-B3693212AFBD}" srcOrd="1" destOrd="0" parTransId="{39D304F0-974E-4ED1-8B23-5164BB581345}" sibTransId="{54595E2D-B2F4-4F0F-B07A-3CAFEF87B223}"/>
    <dgm:cxn modelId="{750F129C-C4A4-4E28-9095-72DE85E63CA8}" type="presOf" srcId="{64B5414E-F4D5-4996-A0DB-D5B1A2059E32}" destId="{DAD58B89-D2C4-416C-97F2-AEAA25F4165D}" srcOrd="0" destOrd="1" presId="urn:microsoft.com/office/officeart/2005/8/layout/hProcess9"/>
    <dgm:cxn modelId="{CD25DF9C-1B40-4252-8F49-BD53F40FB021}" type="presOf" srcId="{F8078343-182E-4F73-B0D1-11212ABE4280}" destId="{08C575CC-7C63-4947-8390-45EE4AD879A5}" srcOrd="0" destOrd="1" presId="urn:microsoft.com/office/officeart/2005/8/layout/hProcess9"/>
    <dgm:cxn modelId="{321B96A4-9F40-4221-A7C7-428B6952C15C}" type="presOf" srcId="{8F742294-7B3A-4DCD-9218-5C66FBA64582}" destId="{DAD58B89-D2C4-416C-97F2-AEAA25F4165D}" srcOrd="0" destOrd="2" presId="urn:microsoft.com/office/officeart/2005/8/layout/hProcess9"/>
    <dgm:cxn modelId="{45553DA5-F680-4F89-A9ED-19A3DD3B2FB4}" type="presOf" srcId="{4EEFC5AF-18F6-411E-93A0-B3693212AFBD}" destId="{22DA3047-E931-4555-9FFE-5785F7906406}" srcOrd="0" destOrd="2" presId="urn:microsoft.com/office/officeart/2005/8/layout/hProcess9"/>
    <dgm:cxn modelId="{776441AD-8D79-49F9-82E3-D53280091929}" type="presOf" srcId="{391A4474-94C3-48A4-AD40-F79C4E9E2E1D}" destId="{08C575CC-7C63-4947-8390-45EE4AD879A5}" srcOrd="0" destOrd="2" presId="urn:microsoft.com/office/officeart/2005/8/layout/hProcess9"/>
    <dgm:cxn modelId="{D48B04B0-B663-4C23-9AE6-9C008A7F45AB}" type="presOf" srcId="{58C63E8C-8D13-48C2-A7B5-BB12F5468D12}" destId="{06CA0850-924F-4CDE-AAD2-396AA731A57D}" srcOrd="0" destOrd="1" presId="urn:microsoft.com/office/officeart/2005/8/layout/hProcess9"/>
    <dgm:cxn modelId="{099B97B4-4AB7-4FB7-AFA3-78E49E9D7E33}" srcId="{63F6FD9B-B127-4CBC-8BC8-40F4F7AF7753}" destId="{72571C7C-C4CF-43E3-87EC-0C098EDEFAB1}" srcOrd="0" destOrd="0" parTransId="{3CB025E2-6D7F-40E6-B6B7-CC0022612B77}" sibTransId="{AD0C5E1C-880A-4767-AD02-829C6551E6F6}"/>
    <dgm:cxn modelId="{18B499BE-085F-4A9D-BD0B-DB80C8670070}" srcId="{63F6FD9B-B127-4CBC-8BC8-40F4F7AF7753}" destId="{ECDF7849-BB6F-4077-96DA-5D6935B98C06}" srcOrd="3" destOrd="0" parTransId="{6284AB05-7C40-4C04-81F0-205A59F82162}" sibTransId="{E021DD86-B9F5-43B8-9A25-DF2928457026}"/>
    <dgm:cxn modelId="{166B56C1-AC2D-48BC-B9F0-230025EB9386}" type="presOf" srcId="{63F6FD9B-B127-4CBC-8BC8-40F4F7AF7753}" destId="{1834807E-C093-4980-BA15-924A2D1D1005}" srcOrd="0" destOrd="0" presId="urn:microsoft.com/office/officeart/2005/8/layout/hProcess9"/>
    <dgm:cxn modelId="{85E85FD8-DEB1-4238-9CC7-626EFB4A245B}" srcId="{ECDF7849-BB6F-4077-96DA-5D6935B98C06}" destId="{2C8D8E23-0102-459B-81D3-2CAC5C321F36}" srcOrd="1" destOrd="0" parTransId="{5E16A6C7-CE01-429D-989F-34D6E0B06320}" sibTransId="{1FACFB2D-FC0F-4364-B7D3-BC3AD612E383}"/>
    <dgm:cxn modelId="{AF72A9D8-069E-4140-AAB9-F43BAEFCF924}" srcId="{FEBA6126-430B-4340-BF85-2750D78DCF44}" destId="{681ADFFA-6839-477D-848F-AE4505C1E08C}" srcOrd="0" destOrd="0" parTransId="{D52BA8F6-AA48-44A7-B1C9-684B30699743}" sibTransId="{E2B36938-0C37-4BC8-8E55-484820D40108}"/>
    <dgm:cxn modelId="{1856FDE6-B400-46F4-A9CD-48126C7F7A69}" type="presOf" srcId="{482C4934-D37E-47FC-A277-42B30D3C113B}" destId="{08C575CC-7C63-4947-8390-45EE4AD879A5}" srcOrd="0" destOrd="0" presId="urn:microsoft.com/office/officeart/2005/8/layout/hProcess9"/>
    <dgm:cxn modelId="{9A89ADEB-4556-484B-A30A-7B5D0A38E0FE}" type="presOf" srcId="{681ADFFA-6839-477D-848F-AE4505C1E08C}" destId="{22DA3047-E931-4555-9FFE-5785F7906406}" srcOrd="0" destOrd="1" presId="urn:microsoft.com/office/officeart/2005/8/layout/hProcess9"/>
    <dgm:cxn modelId="{4CA76FED-2372-43E6-9896-28B9743CE8A8}" srcId="{482C4934-D37E-47FC-A277-42B30D3C113B}" destId="{391A4474-94C3-48A4-AD40-F79C4E9E2E1D}" srcOrd="1" destOrd="0" parTransId="{5FD213F3-A5FD-43DA-9343-61DE3D3D40E9}" sibTransId="{110FBC9A-B50E-4CFC-963F-44F89C415856}"/>
    <dgm:cxn modelId="{1E12EBF8-72B7-4718-8E31-70CF25616DC8}" srcId="{63F6FD9B-B127-4CBC-8BC8-40F4F7AF7753}" destId="{FEBA6126-430B-4340-BF85-2750D78DCF44}" srcOrd="1" destOrd="0" parTransId="{9E4789D4-08A2-4686-BDB9-6AEBFDE57DBA}" sibTransId="{CCC7ABEF-5F96-497E-8AEF-1515D6EEE04B}"/>
    <dgm:cxn modelId="{3D704294-0728-4E5C-9977-766F6C59482A}" type="presParOf" srcId="{1834807E-C093-4980-BA15-924A2D1D1005}" destId="{4EA343F3-A5FF-4CA4-B82A-F689D6AA5088}" srcOrd="0" destOrd="0" presId="urn:microsoft.com/office/officeart/2005/8/layout/hProcess9"/>
    <dgm:cxn modelId="{31677593-3B5C-45B6-88AA-801689B6E0FF}" type="presParOf" srcId="{1834807E-C093-4980-BA15-924A2D1D1005}" destId="{6E680988-BCD1-4EDB-9FFE-626666EBC879}" srcOrd="1" destOrd="0" presId="urn:microsoft.com/office/officeart/2005/8/layout/hProcess9"/>
    <dgm:cxn modelId="{4E6EB209-2244-40A2-BA1B-ABEE41836E70}" type="presParOf" srcId="{6E680988-BCD1-4EDB-9FFE-626666EBC879}" destId="{DAD58B89-D2C4-416C-97F2-AEAA25F4165D}" srcOrd="0" destOrd="0" presId="urn:microsoft.com/office/officeart/2005/8/layout/hProcess9"/>
    <dgm:cxn modelId="{5EFDB1C2-116C-42B7-B419-680862666D5B}" type="presParOf" srcId="{6E680988-BCD1-4EDB-9FFE-626666EBC879}" destId="{F9A357CB-D751-4C39-A498-024FCC9C100E}" srcOrd="1" destOrd="0" presId="urn:microsoft.com/office/officeart/2005/8/layout/hProcess9"/>
    <dgm:cxn modelId="{3E07D1EE-735B-4C66-862B-E009F0DD999C}" type="presParOf" srcId="{6E680988-BCD1-4EDB-9FFE-626666EBC879}" destId="{22DA3047-E931-4555-9FFE-5785F7906406}" srcOrd="2" destOrd="0" presId="urn:microsoft.com/office/officeart/2005/8/layout/hProcess9"/>
    <dgm:cxn modelId="{242C824B-7EA2-4BEA-9F46-12336A2D0458}" type="presParOf" srcId="{6E680988-BCD1-4EDB-9FFE-626666EBC879}" destId="{2ECBCC43-1622-486B-9E0C-7261A1C43568}" srcOrd="3" destOrd="0" presId="urn:microsoft.com/office/officeart/2005/8/layout/hProcess9"/>
    <dgm:cxn modelId="{A778678F-12E7-4CB4-A60C-29D7DD009374}" type="presParOf" srcId="{6E680988-BCD1-4EDB-9FFE-626666EBC879}" destId="{08C575CC-7C63-4947-8390-45EE4AD879A5}" srcOrd="4" destOrd="0" presId="urn:microsoft.com/office/officeart/2005/8/layout/hProcess9"/>
    <dgm:cxn modelId="{78DA9CEB-FBED-40F8-B036-2121287F4235}" type="presParOf" srcId="{6E680988-BCD1-4EDB-9FFE-626666EBC879}" destId="{64E05E75-A275-41D0-AB49-6F82B843D7F0}" srcOrd="5" destOrd="0" presId="urn:microsoft.com/office/officeart/2005/8/layout/hProcess9"/>
    <dgm:cxn modelId="{90A769D7-32EC-4F13-9036-ABF68291D4DC}" type="presParOf" srcId="{6E680988-BCD1-4EDB-9FFE-626666EBC879}" destId="{06CA0850-924F-4CDE-AAD2-396AA731A57D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343F3-A5FF-4CA4-B82A-F689D6AA5088}">
      <dsp:nvSpPr>
        <dsp:cNvPr id="0" name=""/>
        <dsp:cNvSpPr/>
      </dsp:nvSpPr>
      <dsp:spPr>
        <a:xfrm>
          <a:off x="851986" y="0"/>
          <a:ext cx="9655844" cy="5086690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58B89-D2C4-416C-97F2-AEAA25F4165D}">
      <dsp:nvSpPr>
        <dsp:cNvPr id="0" name=""/>
        <dsp:cNvSpPr/>
      </dsp:nvSpPr>
      <dsp:spPr>
        <a:xfrm>
          <a:off x="3882" y="1526007"/>
          <a:ext cx="2522678" cy="203467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thaiDi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Phantom Fabrication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Produce phantoms with known mechanical properties and controlled thickness</a:t>
          </a: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Ensure reproducibility for stiffness calibration</a:t>
          </a:r>
        </a:p>
      </dsp:txBody>
      <dsp:txXfrm>
        <a:off x="103207" y="1625332"/>
        <a:ext cx="2324028" cy="1836026"/>
      </dsp:txXfrm>
    </dsp:sp>
    <dsp:sp modelId="{22DA3047-E931-4555-9FFE-5785F7906406}">
      <dsp:nvSpPr>
        <dsp:cNvPr id="0" name=""/>
        <dsp:cNvSpPr/>
      </dsp:nvSpPr>
      <dsp:spPr>
        <a:xfrm>
          <a:off x="2947007" y="1526007"/>
          <a:ext cx="2522678" cy="2034676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thaiDi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Force Calibration and Jet Characterization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Quantify force vs. pressure relation at nozzle exit</a:t>
          </a: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Validate jet impact force distribution over ROI</a:t>
          </a:r>
        </a:p>
      </dsp:txBody>
      <dsp:txXfrm>
        <a:off x="3046332" y="1625332"/>
        <a:ext cx="2324028" cy="1836026"/>
      </dsp:txXfrm>
    </dsp:sp>
    <dsp:sp modelId="{08C575CC-7C63-4947-8390-45EE4AD879A5}">
      <dsp:nvSpPr>
        <dsp:cNvPr id="0" name=""/>
        <dsp:cNvSpPr/>
      </dsp:nvSpPr>
      <dsp:spPr>
        <a:xfrm>
          <a:off x="5890131" y="1526007"/>
          <a:ext cx="2522678" cy="2034676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thaiDi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System Integration and Testing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Combine air-jet and LiDAR in controlled lab conditions</a:t>
          </a: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Run pilot tests to verify repeatable deformation tracking</a:t>
          </a:r>
        </a:p>
      </dsp:txBody>
      <dsp:txXfrm>
        <a:off x="5989456" y="1625332"/>
        <a:ext cx="2324028" cy="1836026"/>
      </dsp:txXfrm>
    </dsp:sp>
    <dsp:sp modelId="{06CA0850-924F-4CDE-AAD2-396AA731A57D}">
      <dsp:nvSpPr>
        <dsp:cNvPr id="0" name=""/>
        <dsp:cNvSpPr/>
      </dsp:nvSpPr>
      <dsp:spPr>
        <a:xfrm>
          <a:off x="8833256" y="1526007"/>
          <a:ext cx="2522678" cy="2034676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thaiDist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 Analysis and Model Fitting</a:t>
          </a:r>
          <a:endParaRPr lang="en-US" sz="1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Calculate stiffness, Young’s modulus from deformation data</a:t>
          </a:r>
        </a:p>
        <a:p>
          <a:pPr marL="114300" lvl="1" indent="-114300" algn="thaiDist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Compare with known phantom properties for validation</a:t>
          </a:r>
        </a:p>
      </dsp:txBody>
      <dsp:txXfrm>
        <a:off x="8932581" y="1625332"/>
        <a:ext cx="2324028" cy="18360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B832F-8E00-47EA-BDC5-38707F368F5E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C33E9-06E5-475A-98DF-BA88A0710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69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thaiDi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“Good afternoon, my name is Napat Naowarangsee, a master's student in Frontier Engineering. </a:t>
            </a:r>
          </a:p>
          <a:p>
            <a:pPr algn="thaiDi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Today I’m excited to present my work on a novel,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15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7EACC-8F1E-3356-F322-332D998D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C1B81-D908-2079-15B7-A7649673C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8210A-54BB-69E0-F90D-8D5AAD2B3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"First of all, I would like to talk about 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C34E4-2260-8A41-A12E-FCF5A0FA3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70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71976-9D51-2B5C-7F02-92A3F35BE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2279AE-9901-214C-35F2-D62F84861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6E9AF-08FF-F99E-F73D-A8924105C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first explore the Problem statement that drive this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E7B63-453B-6E8A-D100-2C01541B5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6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8886-C8A7-0AE8-600D-3259A0C4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5A714-82CA-5EBA-FD98-5650E36EF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63725-FD19-4CA8-9C83-2AEA1DBF6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Measure Skin Mechanics—And Why Non-Contact Matters?</a:t>
            </a:r>
          </a:p>
          <a:p>
            <a:endParaRPr lang="en-US" dirty="0"/>
          </a:p>
          <a:p>
            <a:r>
              <a:rPr lang="en-US" dirty="0"/>
              <a:t>“Skin mechanics—such as stiffness and elasticity—are important for diagnosing clinical conditions like scleroderma, monitoring lymphedema, and assessing skin aging or wound healing.</a:t>
            </a:r>
          </a:p>
          <a:p>
            <a:br>
              <a:rPr lang="en-US" dirty="0"/>
            </a:br>
            <a:r>
              <a:rPr lang="en-US" dirty="0"/>
              <a:t>However, most current tools require direct skin contact, which can cause patient discomfort, friction-related artifacts, and hygiene concerns in clinical use.</a:t>
            </a:r>
          </a:p>
          <a:p>
            <a:br>
              <a:rPr lang="en-US" dirty="0"/>
            </a:br>
            <a:r>
              <a:rPr lang="en-US" dirty="0"/>
              <a:t>These drawbacks highlight the need for a safe, reliable, and non-contact alternative that can be used in real-time clinical and research settings.”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381EB-A2EE-B421-DAA2-2F1AB7B0E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7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1EBF-3533-C179-DE36-61C276BD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F840A-42FF-BDEE-5F2A-6B736728A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6C629-1848-7DF4-0573-2915CC586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brings us to a crucial comparison: how do conventional, contact-based methods stack up against a non-contact approach?</a:t>
            </a:r>
          </a:p>
          <a:p>
            <a:endParaRPr lang="en-US" dirty="0"/>
          </a:p>
          <a:p>
            <a:r>
              <a:rPr lang="en-US" dirty="0"/>
              <a:t>“This table clearly outlines the differences.</a:t>
            </a:r>
            <a:br>
              <a:rPr lang="en-US" dirty="0"/>
            </a:br>
            <a:r>
              <a:rPr lang="en-US" dirty="0"/>
              <a:t>Traditional methods like indenters or suction devices require direct contact, which introduces several problems: discomfort, sterilization requirements, and operator dependency.</a:t>
            </a:r>
          </a:p>
          <a:p>
            <a:br>
              <a:rPr lang="en-US" dirty="0"/>
            </a:br>
            <a:r>
              <a:rPr lang="en-US" dirty="0"/>
              <a:t>On the other hand, a non-contact method—like air-jet and LiDAR systems—offers precise, automated measurements with no physical contact.</a:t>
            </a:r>
            <a:br>
              <a:rPr lang="en-US" dirty="0"/>
            </a:br>
            <a:r>
              <a:rPr lang="en-US" dirty="0"/>
              <a:t>It’s cleaner, more consistent, and better suited for real-time clinical use.”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FAE7B-B4CE-9243-E682-0F7A5E62C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42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EFD3-1D56-5682-BEBD-C03D8B74E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6E67E6-3B5C-1DA5-1756-F7B7AA7A2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19152-654F-3FE9-835D-3010DB77C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closer look at those conventional techniques’ technical drawbacks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F64B2-298D-7669-C371-3FC702E70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0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38054-4DAB-D849-C84A-EFD2B188F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B3CA4-EF55-A43E-982D-376990F71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51E37-3C86-70F0-124D-C5C71C768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“Contact-based systems often suffer from friction artifacts and operator-induced variability, which can distort results—especially in soft or mobile skin areas.</a:t>
            </a:r>
          </a:p>
          <a:p>
            <a:br>
              <a:rPr lang="en-US" dirty="0"/>
            </a:br>
            <a:r>
              <a:rPr lang="en-US" dirty="0"/>
              <a:t>Meanwhile, optical techniques like Optical Coherence Elastography offer impressive resolution, but they only penetrate shallow layers—less than 2 mm.</a:t>
            </a:r>
            <a:br>
              <a:rPr lang="en-US" dirty="0"/>
            </a:br>
            <a:r>
              <a:rPr lang="en-US" dirty="0"/>
              <a:t>They also require complex alignment and are quite expensive for widespread use.</a:t>
            </a:r>
          </a:p>
          <a:p>
            <a:endParaRPr lang="en-US" dirty="0"/>
          </a:p>
          <a:p>
            <a:r>
              <a:rPr lang="en-US" dirty="0"/>
              <a:t>“That’s why I developed a system that avoids these problems entirely—delivering force without touch.</a:t>
            </a:r>
          </a:p>
          <a:p>
            <a:endParaRPr lang="en-US" dirty="0"/>
          </a:p>
          <a:p>
            <a:r>
              <a:rPr lang="en-US" dirty="0"/>
              <a:t> Let me show you how it works.”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9AB9C-E37C-7911-8D1D-CDD5D66DA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61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B6D0B-084C-D69C-C450-5258E005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570AD-1154-392F-C64D-2602B8B0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C91D6-602C-0025-6EEB-F471A8D00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closer look 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DE350-E84A-6B5B-CBA9-3F55CC0D5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67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45A0-B127-CFB9-D5D8-D2938C37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9CFBD-D9E7-7CFA-D874-0E58AF3A6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0E3A3-68DF-6A23-5461-99631ACA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“Human skin is multilayered—ranging from a thin epidermis to a thicker dermis and a deep skin layer where is a hypodermis layers belong.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A7A0F-1FDB-D530-E30E-4CB12CC8A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360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6231-8450-EF2C-D6A1-85F3F7DE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D3D25-4A23-A0B5-3D42-15E69B306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6E6CA-D29C-B2C0-417E-10C3B8A9E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testing, we often simulate these layers using hydrogels like gelatin and agarose, which allow us to tune mechanical properties by adjusting their concentration.”</a:t>
            </a:r>
          </a:p>
          <a:p>
            <a:endParaRPr lang="en-US" dirty="0"/>
          </a:p>
          <a:p>
            <a:r>
              <a:rPr lang="en-US" dirty="0"/>
              <a:t>Gelatin is inexpensive, easy to prepare, and tunable—but it dehydrates easily.</a:t>
            </a:r>
          </a:p>
          <a:p>
            <a:br>
              <a:rPr lang="en-US" dirty="0"/>
            </a:br>
            <a:r>
              <a:rPr lang="en-US" dirty="0"/>
              <a:t>Agarose offers a broader stiffness range and better optical clarity, but it’s brittle at low concentrations and harder to dissolve.</a:t>
            </a:r>
          </a:p>
          <a:p>
            <a:endParaRPr lang="en-US" dirty="0"/>
          </a:p>
          <a:p>
            <a:r>
              <a:rPr lang="en-US" dirty="0"/>
              <a:t>Nevertheless, both materials exhibit tunable Young’s modulus values that closely match biological skin, which makes them ideal for system validation.”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BF12B-AFC0-276B-8582-89B382189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04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9DD42-BC5C-7DFE-4DC4-F457A77B5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C81D4-4507-4E3F-F8DE-E9308BEB1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E9C80-807C-41D5-D2EC-322961D25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 of the skin phantom condition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73604-6A0E-C587-8D1B-5BDA7C38F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79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F0C50-5485-F3D4-8C07-CDEA7AEC4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29242-E95A-3286-EFEF-3DFD06C10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45EDA-8F7C-5134-CAAD-0930DC46B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before building the physical system, I needed to make sure the forces it applies would fall within the safe and meaningful range for skin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030AE-CAFE-D7E2-951C-D6011F1B6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72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28FEC-77D9-7D30-9476-BA77B9A2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CBDD9-0DF2-C30E-DB01-02A8C7251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AAD88-798C-6BA7-6833-32488E64D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pick up the ref. force range from related work, the in vitro macro-indentation forces on phantoms, which is one candidate closely related to my work, the force range they use to press the phantom is around 0.38 – 14.6 N that will use force my force ref.</a:t>
            </a:r>
          </a:p>
          <a:p>
            <a:endParaRPr lang="en-US" dirty="0"/>
          </a:p>
          <a:p>
            <a:r>
              <a:rPr lang="en-US" dirty="0"/>
              <a:t>So how can we know the impact force without touching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53544-2A18-8477-32C4-87096BD80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32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044B3-185C-95C7-1321-D98625C6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95820-ECA8-B4D5-A3D1-42C92FA55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F6D50-2992-01C6-A8BF-A36D55345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“To answer that, I analyzed the physics of jet impingement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8BDFF-BA62-EE73-CB0A-01EFB4D24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21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C9B9-DEA9-CBCE-D02E-CF07C722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F6699-1348-878A-3B97-C4547E858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B8A4C-4325-8A01-3979-054030F0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—how the airflow from the nozzle spreads, decays, and applies force to the tissue surface.”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“This part of the analysis models the jet behavior using core fluid mechanics principles.</a:t>
            </a:r>
            <a:br>
              <a:rPr lang="en-US" dirty="0"/>
            </a:br>
            <a:r>
              <a:rPr lang="en-US" dirty="0"/>
              <a:t>We start by estimating the potential core length and exit velocity under choked flow.</a:t>
            </a:r>
            <a:br>
              <a:rPr lang="en-US" dirty="0"/>
            </a:br>
            <a:r>
              <a:rPr lang="en-US" dirty="0"/>
              <a:t>From there, we compute the decay in centerline velocity and the jet’s half-angle expansion.</a:t>
            </a:r>
            <a:br>
              <a:rPr lang="en-US" dirty="0"/>
            </a:br>
            <a:r>
              <a:rPr lang="en-US" dirty="0"/>
              <a:t>This helps us estimate the </a:t>
            </a:r>
            <a:r>
              <a:rPr lang="en-US" b="1" dirty="0"/>
              <a:t>impingement diameter</a:t>
            </a:r>
            <a:r>
              <a:rPr lang="en-US" dirty="0"/>
              <a:t>—the width of the contact area—and ultimately, the </a:t>
            </a:r>
            <a:r>
              <a:rPr lang="en-US" b="1" dirty="0"/>
              <a:t>impact pressure distribution</a:t>
            </a:r>
            <a:r>
              <a:rPr lang="en-US" dirty="0"/>
              <a:t> across the surface.”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“The key outcome is the ability to calculate </a:t>
            </a:r>
            <a:r>
              <a:rPr lang="en-US" b="1" dirty="0"/>
              <a:t>dynamic overpressure</a:t>
            </a:r>
            <a:r>
              <a:rPr lang="en-US" dirty="0"/>
              <a:t> at the center and model how that pressure decreases radially.</a:t>
            </a:r>
            <a:br>
              <a:rPr lang="en-US" dirty="0"/>
            </a:br>
            <a:r>
              <a:rPr lang="en-US" dirty="0"/>
              <a:t>This parabolic pressure profile tells us both the </a:t>
            </a:r>
            <a:r>
              <a:rPr lang="en-US" b="1" dirty="0"/>
              <a:t>maximum force</a:t>
            </a:r>
            <a:r>
              <a:rPr lang="en-US" dirty="0"/>
              <a:t> applied and how it spreads across the region of interest.</a:t>
            </a:r>
            <a:br>
              <a:rPr lang="en-US" dirty="0"/>
            </a:br>
            <a:r>
              <a:rPr lang="en-US" dirty="0"/>
              <a:t>These insights are critical for ensuring that the system delivers a controlled, uniform force to the phantom during testing.”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3D1AD-7692-0FED-B82A-C17A9B229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59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D7E8C-B8F9-2CC7-AA0D-ACF1CE3F6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C7ECA-EFC0-3AB4-1704-581AEEA0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64A570-22C3-09F0-A0DD-AA6DAC3F9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the main equipment in our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73B4AB-68E0-491C-F7E9-9A17028AA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1224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951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7910D-C2C6-1126-5DFE-0AA77121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BCDB8-38C8-8A35-2581-8BEF52086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44075-7A2B-A601-B01D-0F2C854C9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“The Intel RealSense L515 is a compact LiDAR-based depth sensor that uses time-of-flight technology.</a:t>
            </a:r>
            <a:br>
              <a:rPr lang="en-US" dirty="0"/>
            </a:br>
            <a:r>
              <a:rPr lang="en-US" dirty="0"/>
              <a:t>It emits near-infrared laser pulses and measures how long they take to bounce back from the surface—creating a dense 3D map of the scene.”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33220-43C5-FC1D-0A6B-8060462DC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553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from all I’m saying let’s warp up again in the work objective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1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“The objective of this project was threefold: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First, to design and implement an air-jet module capable of delivering controlled, repeatable forces using adjustable pressure and nozzle configurations.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Second, to integrate a high-resolution LiDAR system—specifically the Intel RealSense L515—to capture sub-millimeter surface deformation in real time.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dirty="0"/>
            </a:br>
            <a:r>
              <a:rPr lang="en-US" dirty="0"/>
              <a:t>And third, to validate the system using soft-tissue phantoms by evaluating force accuracy, deformation tracking, and mechanical property estimation such as stiffness and Young’s modulus.</a:t>
            </a:r>
            <a:br>
              <a:rPr lang="en-US" dirty="0"/>
            </a:br>
            <a:r>
              <a:rPr lang="en-US" dirty="0"/>
              <a:t>Ultimately, the goal is to create a non-invasive, reliable alternative to traditional skin mechanics measurement.”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26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59F1-4961-F05E-5F52-06CEC6772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73AA1-908B-D1FD-BD9E-232BF3756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5E209-6C80-1437-88F5-1B54DA43B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"First of all, let's explore the problem statement that drives this work."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5FC12-6671-1138-596C-15E03CAE1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49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C9B9-DEA9-CBCE-D02E-CF07C722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F6699-1348-878A-3B97-C4547E858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B8A4C-4325-8A01-3979-054030F0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3D1AD-7692-0FED-B82A-C17A9B229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463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023AC-9D5B-1E9E-C3DC-D27088550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D9A1F-229A-E868-B3D3-A77BB8EB1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6928B-2248-0C9F-4124-700A29527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44C5C-154A-5944-49B2-56465DC5F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2964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1498B-4AE4-6488-86FC-9E45E4F3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3B70F-E674-D7C6-C2FA-2E760A1E7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4E919-1329-B269-D733-11147FCD0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08C56-95CF-6656-86DF-24646D25C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433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AB74-9C24-D7DD-6328-1375BB01D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B6071-2D23-9E32-56A2-F43ABC70D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9D751-90C0-3054-A96A-31DC1B628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"First of all, let's explore the problem statement that drives this work."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5809A-6205-9E09-3141-8EE8203A6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301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7D687-A28D-6EDF-28F1-07223B46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85328-BCC9-DC87-551F-A50A74AB3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FA226C-3869-617B-15DC-C21BA5533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D2691-AD05-3EF3-7A28-AA56FEEA5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50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7D10-0CD1-E936-4B8D-8740FC90B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12C4F-1121-05DE-B6A6-FD58B8839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781D-6ED9-785E-BD54-95C44CDF4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F016D-E247-CCF5-C6D7-C71023DDD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470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46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EF743-59F2-D2A1-DE36-737C52980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18E9C-62B5-F499-E970-41E3A5BC9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95ED4-1F9B-9014-4BD3-1DA661F59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C191A-A0F7-6799-CEE8-7C70B1B7C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656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E1B1-69F4-8462-766B-DFC87FDC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FD10C-AE73-3415-3E73-4825B4910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5A738-F737-ACD0-BE02-A9F523BC8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C3DA3-737E-CC0E-49ED-8B7768CE5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0114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F29F9-279A-E50B-D073-D4365658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1B0C0-0C60-F921-52FB-AF5F1DCC5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D4C5B-A3DF-E308-5914-708EDDD16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5834-EC3B-8098-596C-6DDD05FFE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765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60AEF-6A08-EB95-FEBA-93C65F9B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BD6DE-F737-4E0E-7305-BE8915A97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697FA-7EB4-71F9-9E9D-1AAEF0C08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663AC9-0D66-A91C-20A3-7F4AE7D77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735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A4F7-DEA5-A5A1-BFC9-F8CB84BE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F0148-864E-9928-31AB-4082F30C3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6D4DC-1CB0-F3DB-2908-EC281F1A7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1F0F-F303-8607-21B9-4BDA02CF8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865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9DAE5-A8AF-12B4-054C-4DC348B37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06F2E-0C98-E041-1F6D-77F49F5802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71ECA-EAA1-37EB-7A1B-C5CBE8748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DAF51-7C06-C311-D0EF-D24895D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003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123C-7328-35AB-B014-C3F56097A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9B781-0E93-13C5-91CE-AD6A382B4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DCCF4-89E3-7858-57D5-72B886BA1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11C62-A746-F0FD-DE8A-E90BF8F06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517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01EB-927D-9DE2-F65D-840700024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9B72E-EC64-68D7-A421-D038D73E8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EE3C1-4877-E311-2B6E-C9434947F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FB980-3584-FB80-CA3A-D36A68807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237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6481-F865-9EB1-85BC-81189159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0E734-552D-26FA-2993-E6EDEB3E7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2268C-BE28-5900-03C2-2B601AE81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8E545-8B1D-C8BC-3422-2D5E772C3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256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6481-F865-9EB1-85BC-81189159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0E734-552D-26FA-2993-E6EDEB3E7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2268C-BE28-5900-03C2-2B601AE81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8E545-8B1D-C8BC-3422-2D5E772C3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628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E7B0-2B1F-15CA-67D6-B1B425DDE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B51D9-915B-2697-3C3C-EA19AD7F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EEBEC-AE7B-750D-95AE-FBBD87AA3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747F0-01F9-758C-8B42-53F8065126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645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DBD75-E701-5814-00DC-C1D3BC76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E5EF4-A930-0C11-75E3-6EFF22FC2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FF1DA-8780-E6B6-161A-A33A5B7B1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C1558-8D0A-BAF9-77E1-832E98960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4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D4B3C-24E8-9F91-25AD-C81416012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24B57-F125-F779-A201-68F5A5545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B6EC7-FF08-EBD9-BD8C-A7713585F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69F17-7B4E-C68F-447D-48463EA60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478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E52C-0527-6061-B651-E08841C4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5B9C0-6035-05F0-ED1E-32B061C61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6A4DE-FCCC-E4CE-BEBF-4689587C5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46C96-7D63-903B-A418-8A025EACA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682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9D487-4E8D-A81A-D670-22ACF032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9273D-83BA-8E2C-1AF9-5218B435C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E410D-15E8-ABDC-56D4-A5577ACA6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CB077-3161-67EB-29EF-56942DCC3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806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AE228-2F0C-3E7B-0030-5A10A6D7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D3CED-FC5D-93A0-C830-D518DA9F9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EBCF1-456B-93D7-AB9E-5934EC6CB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255BC-642B-5D1C-FEF8-F5A473E7B2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73930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E6F4A-6D9D-D902-4BDA-66884B573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7A2F7-918E-9C16-FC9C-72D0C9B27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7D703-7A5B-EC38-A50A-90B15935D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B47A9-0735-BA7B-1864-9FDC23DAA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903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BC324-0B3C-AB5B-78B9-9269595A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95F57-FE33-8E8F-D666-7C77C9686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7B51C-D137-8552-85CA-72BDECD60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331D3-6B2A-5139-1540-655690BDC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9448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8BE68-BB0A-3875-4E62-DE21BA9A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774F36-870C-577F-C9AC-38B5E5C04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5D0A1-3433-0117-A164-2FE2DA571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127E7-3B37-73B2-E28C-73274F295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509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F40CF-104F-6B62-2144-9C0BA051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63210-8008-1647-A599-6B8ADA633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69F89C-A643-C389-91B8-752F072F5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96EBC-C55C-0CBC-BAF9-B1E94518A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333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76FA-3435-9DC2-4284-62E91F2A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20DB7-EA56-04C6-1866-506727DC6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C7306-47B4-D8C6-64C9-6DAD69D14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C4CB6-941E-145F-C335-F85C3D056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1506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6481-F865-9EB1-85BC-811891594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0E734-552D-26FA-2993-E6EDEB3E7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2268C-BE28-5900-03C2-2B601AE81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8E545-8B1D-C8BC-3422-2D5E772C3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7979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6C3F-1A30-EE45-887D-F4AE7553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EB0FC-5A72-A869-78C6-F6C622872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3A3C1-1AE2-5035-98C5-8C11A413F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26CAE-2A12-F2AB-DEC7-8FD7F1EB3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1664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14D0-E406-FB9B-3D8B-B5B84CB8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670FB-6168-26B2-0756-A6D3B2123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6578A-578D-C0A6-96C9-1025934EB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8EA39-3130-9A92-D374-8C2384F4E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17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231ED-248C-BBCB-C297-140608378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91638-79EE-292F-8978-38BDC757F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9D64D-DE64-6121-69EA-0241A3CA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92770-0DBB-051B-A38F-DE407782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4A5DA-056F-7578-65EF-0360C82D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4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2336-E2B0-898F-09C3-F36A5C38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927E-195E-8CA9-16E4-E21A92597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31B6B-27D8-4736-595C-B052DE4A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D178D-2736-4742-BDC0-DA06D15D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BF33C-1DFE-43E1-83CD-13B335D6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55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5A22-3AD4-007B-7C6E-005ACB76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D1A29-7815-D27C-655B-7B5E9829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94CA1-50C4-B9E8-57D0-762A14A2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DA3A3-EB07-8C1C-ECFD-6CD85C04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9F88D-8861-AA99-119E-A6749CB2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9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B6797-8D6F-03EB-5F60-F1E45BFC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7747E-5C0C-5E4E-0AF1-5287CEB2D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B1351-C837-A61A-509B-730A27D67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FA6D4-618C-1077-03B0-28325BF5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A243E-FE5A-7F7F-2594-DF57E41A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292A3-B7C1-75B8-6C2A-188AE180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2CF9-DB85-8A4B-01C5-FF30F885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3972C-E013-0943-9BF1-E4A1BD792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6E986-3FBA-4819-8084-268E3049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BAC65-324A-9A1E-2885-56E7A8FFC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8712B-3E4F-9BF0-903F-AB0924CF9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981202-8BE7-67F3-5988-B61E5E3D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4D3401-CA33-13E1-44C6-820F7068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D91C7-B631-FF6D-590C-43E45621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6FCC-DFE7-64BE-F3A0-E02C8BAE7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8DFD3-F382-17C0-5D86-53679BAD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F6CD7F-02B6-6741-76C6-665AB9E8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783CF-AAA4-930E-5603-0CDF47CA6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7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6372F-D0C6-4808-6D5A-AE796293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37A687-876B-31B1-69C0-7D605874A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2AA91-0F03-5DFD-FFCA-354CB74A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15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2052-6702-79F4-8A43-A39F389B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9310-74BE-4271-5982-D9B5F9330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9376A-1CC6-1F3C-E05E-A736B084E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668E2-4E1E-5653-8940-3297C98B7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8ABB7-7AB5-DF1A-EA8D-32F6D529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B4D6B-DEBC-A45B-037D-588434D9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76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4BE32-7630-7469-0E6F-5394EB34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3F1B5-7FF8-24C8-4F2D-3093823C0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3DBBC-4CF3-19F5-43D1-E36E69E19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D5297-36B4-BA6A-088C-CDD717B5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74D80-B0D3-C415-25E0-484552D4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8FF45-4042-1DCC-373E-A78F29F0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3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4A275-F8DB-42AA-E454-055720DA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429F3-F416-F5F7-B238-9C9579CDF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808DF-7316-9836-4E3D-6A530DCDF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43512-B078-C46A-1AD3-367CC2317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0A29B-02CB-7C12-19C7-64661BA7C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4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CBC05-4C94-85D3-19D9-729723559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53191-7A59-6B60-5063-8F1F5F24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55C84-2BBC-67D4-B745-EC6838DC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FDA74-10A2-E8BF-16AE-8066F567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553A6-3DE6-2F2A-1CF1-36D0C6A5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20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B8E2326D-CCBB-499D-94D4-3F1AC10FD6C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63857" y="1680920"/>
            <a:ext cx="3513772" cy="3513772"/>
          </a:xfrm>
          <a:custGeom>
            <a:avLst/>
            <a:gdLst>
              <a:gd name="connsiteX0" fmla="*/ 1756886 w 3513772"/>
              <a:gd name="connsiteY0" fmla="*/ 0 h 3513772"/>
              <a:gd name="connsiteX1" fmla="*/ 3513772 w 3513772"/>
              <a:gd name="connsiteY1" fmla="*/ 1756886 h 3513772"/>
              <a:gd name="connsiteX2" fmla="*/ 1756886 w 3513772"/>
              <a:gd name="connsiteY2" fmla="*/ 3513772 h 3513772"/>
              <a:gd name="connsiteX3" fmla="*/ 0 w 3513772"/>
              <a:gd name="connsiteY3" fmla="*/ 1756886 h 3513772"/>
              <a:gd name="connsiteX4" fmla="*/ 1756886 w 3513772"/>
              <a:gd name="connsiteY4" fmla="*/ 0 h 3513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13772" h="3513772">
                <a:moveTo>
                  <a:pt x="1756886" y="0"/>
                </a:moveTo>
                <a:cubicBezTo>
                  <a:pt x="2727188" y="0"/>
                  <a:pt x="3513772" y="786585"/>
                  <a:pt x="3513772" y="1756886"/>
                </a:cubicBezTo>
                <a:cubicBezTo>
                  <a:pt x="3513772" y="2727188"/>
                  <a:pt x="2727188" y="3513772"/>
                  <a:pt x="1756886" y="3513772"/>
                </a:cubicBezTo>
                <a:cubicBezTo>
                  <a:pt x="786585" y="3513772"/>
                  <a:pt x="0" y="2727188"/>
                  <a:pt x="0" y="1756886"/>
                </a:cubicBezTo>
                <a:cubicBezTo>
                  <a:pt x="0" y="786584"/>
                  <a:pt x="786585" y="0"/>
                  <a:pt x="175688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BFB3FE7-7958-41B4-9688-82D88338CB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1320" y="1751965"/>
            <a:ext cx="4957763" cy="14404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 b="1">
                <a:latin typeface="Montserrat" panose="00000500000000000000" pitchFamily="50" charset="0"/>
              </a:defRPr>
            </a:lvl1pPr>
          </a:lstStyle>
          <a:p>
            <a:pPr lvl="0"/>
            <a:r>
              <a:rPr lang="en-US" dirty="0"/>
              <a:t>Build powerful</a:t>
            </a:r>
          </a:p>
          <a:p>
            <a:pPr lvl="0"/>
            <a:r>
              <a:rPr lang="en-US" dirty="0"/>
              <a:t>networks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79A562D-C20F-4B35-BC45-28350A74C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1320" y="3532908"/>
            <a:ext cx="4545330" cy="113434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7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Donec</a:t>
            </a:r>
            <a:r>
              <a:rPr lang="en-US" dirty="0"/>
              <a:t>. Lorem dolor sit </a:t>
            </a:r>
            <a:r>
              <a:rPr lang="en-US" dirty="0" err="1"/>
              <a:t>amet</a:t>
            </a:r>
            <a:r>
              <a:rPr lang="en-US" dirty="0"/>
              <a:t>,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Donec.Lorem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Donec.Lorem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7DCF3DCA-FF8A-4874-83A8-66047B8B460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46913" y="4738688"/>
            <a:ext cx="2252662" cy="26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en-US" dirty="0"/>
              <a:t>Understanding our clients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FB4D8EA-6A3A-4B12-AB6B-130EC72045B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046913" y="5069681"/>
            <a:ext cx="2252662" cy="26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en-US" dirty="0"/>
              <a:t>Understanding our clients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968735A6-D87C-4EA3-89B4-7FA4E074D80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46913" y="5400675"/>
            <a:ext cx="2252662" cy="269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Montserrat SemiBold" panose="00000700000000000000" pitchFamily="50" charset="0"/>
              </a:defRPr>
            </a:lvl1pPr>
          </a:lstStyle>
          <a:p>
            <a:pPr lvl="0"/>
            <a:r>
              <a:rPr lang="en-US" dirty="0"/>
              <a:t>Understanding our clients</a:t>
            </a:r>
          </a:p>
        </p:txBody>
      </p:sp>
    </p:spTree>
    <p:extLst>
      <p:ext uri="{BB962C8B-B14F-4D97-AF65-F5344CB8AC3E}">
        <p14:creationId xmlns:p14="http://schemas.microsoft.com/office/powerpoint/2010/main" val="403417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2536BC-8551-D732-6F63-697CC4500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C3856-028A-497D-B355-76C045882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EEE39-3C6E-75AE-390C-890167EBB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0C972-621C-4D98-9BE4-C62EA407E30D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7B53C-410D-F167-4057-150A6BBE2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52766-8373-9D38-B49F-5F85F925B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FC796-944A-438D-B439-0742C0693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0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microsoft.com/office/2007/relationships/hdphoto" Target="../media/hdphoto1.wdp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2.jpeg"/><Relationship Id="rId9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4.jpe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28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7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9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6.png"/><Relationship Id="rId10" Type="http://schemas.microsoft.com/office/2007/relationships/diagramDrawing" Target="../diagrams/drawing1.xml"/><Relationship Id="rId4" Type="http://schemas.openxmlformats.org/officeDocument/2006/relationships/image" Target="../media/image5.png"/><Relationship Id="rId9" Type="http://schemas.openxmlformats.org/officeDocument/2006/relationships/diagramColors" Target="../diagrams/colors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1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0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5.png"/><Relationship Id="rId7" Type="http://schemas.openxmlformats.org/officeDocument/2006/relationships/image" Target="../media/image31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31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0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9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6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480.png"/><Relationship Id="rId4" Type="http://schemas.openxmlformats.org/officeDocument/2006/relationships/notesSlide" Target="../notesSlides/notesSlide37.xml"/><Relationship Id="rId9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1.png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0.png"/><Relationship Id="rId5" Type="http://schemas.openxmlformats.org/officeDocument/2006/relationships/image" Target="../media/image390.png"/><Relationship Id="rId4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1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0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1.png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jpeg"/><Relationship Id="rId5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!!REC">
            <a:extLst>
              <a:ext uri="{FF2B5EF4-FFF2-40B4-BE49-F238E27FC236}">
                <a16:creationId xmlns:a16="http://schemas.microsoft.com/office/drawing/2014/main" id="{5E9880F9-22B1-7730-B98B-3F3AC19F118F}"/>
              </a:ext>
            </a:extLst>
          </p:cNvPr>
          <p:cNvSpPr/>
          <p:nvPr/>
        </p:nvSpPr>
        <p:spPr>
          <a:xfrm>
            <a:off x="-15034" y="0"/>
            <a:ext cx="12232023" cy="70112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A7A03850-F4C9-4001-9112-3FBDCE52FD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576" t="24163" r="21869" b="3002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3691B57-25E5-40BD-A5E8-8947903C9D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822" y="-2513"/>
            <a:ext cx="12392877" cy="2915998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>
            <a:noAutofit/>
          </a:bodyPr>
          <a:lstStyle>
            <a:lvl1pPr marL="0" indent="0">
              <a:buNone/>
              <a:defRPr sz="4500" b="1">
                <a:latin typeface="Montserrat" panose="00000500000000000000" pitchFamily="50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800" dirty="0">
                <a:latin typeface="Aharoni" panose="02010803020104030203" pitchFamily="2" charset="-79"/>
                <a:cs typeface="Aharoni" panose="02010803020104030203" pitchFamily="2" charset="-79"/>
              </a:rPr>
              <a:t>Non-Invasive Skin Phantom Properties Estimation Using Air-Jet Indentation And Active LiDAR Sensing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A80CE1B-0890-4A43-B914-57A7669C91E8}"/>
              </a:ext>
            </a:extLst>
          </p:cNvPr>
          <p:cNvSpPr txBox="1">
            <a:spLocks/>
          </p:cNvSpPr>
          <p:nvPr/>
        </p:nvSpPr>
        <p:spPr>
          <a:xfrm>
            <a:off x="11734799" y="6419983"/>
            <a:ext cx="457201" cy="4253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75CAFE2-9D34-4733-81C8-78E0AA432BB4}" type="slidenum">
              <a:rPr lang="en-US" b="1" smtClean="0">
                <a:solidFill>
                  <a:schemeClr val="tx1"/>
                </a:solidFill>
                <a:latin typeface="Abadi" panose="020B0604020104020204" pitchFamily="34" charset="0"/>
                <a:cs typeface="Aharoni" panose="02010803020104030203" pitchFamily="2" charset="-79"/>
              </a:rPr>
              <a:pPr algn="ctr"/>
              <a:t>1</a:t>
            </a:fld>
            <a:endParaRPr lang="en-US" b="1" dirty="0">
              <a:solidFill>
                <a:schemeClr val="tx1"/>
              </a:solidFill>
              <a:latin typeface="Abadi" panose="020B0604020104020204" pitchFamily="34" charset="0"/>
              <a:cs typeface="Aharoni" panose="02010803020104030203" pitchFamily="2" charset="-79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CA4743-D712-0CAB-A916-E2168F22FFFA}"/>
              </a:ext>
            </a:extLst>
          </p:cNvPr>
          <p:cNvGrpSpPr/>
          <p:nvPr/>
        </p:nvGrpSpPr>
        <p:grpSpPr>
          <a:xfrm>
            <a:off x="250697" y="2564157"/>
            <a:ext cx="11574291" cy="2254060"/>
            <a:chOff x="4288763" y="2848447"/>
            <a:chExt cx="11574291" cy="225406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859C000-F673-635C-D1C2-74CD1BD0CDC4}"/>
                </a:ext>
              </a:extLst>
            </p:cNvPr>
            <p:cNvGrpSpPr/>
            <p:nvPr/>
          </p:nvGrpSpPr>
          <p:grpSpPr>
            <a:xfrm>
              <a:off x="4288763" y="2848447"/>
              <a:ext cx="11574291" cy="2254060"/>
              <a:chOff x="4621193" y="1590737"/>
              <a:chExt cx="11574291" cy="2254060"/>
            </a:xfrm>
          </p:grpSpPr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130D3854-471D-4664-B570-D3CD09BCE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982942" y="2587710"/>
                <a:ext cx="142875" cy="104775"/>
              </a:xfrm>
              <a:prstGeom prst="rect">
                <a:avLst/>
              </a:prstGeom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E3DE314-97B2-5945-FD53-5F9322814250}"/>
                  </a:ext>
                </a:extLst>
              </p:cNvPr>
              <p:cNvSpPr txBox="1"/>
              <p:nvPr/>
            </p:nvSpPr>
            <p:spPr>
              <a:xfrm>
                <a:off x="5275359" y="2398247"/>
                <a:ext cx="974617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PRESENTED BY 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NAPAT NAOWARANGSEE  </a:t>
                </a:r>
                <a:r>
                  <a:rPr lang="en-US" sz="3200" b="1" dirty="0">
                    <a:solidFill>
                      <a:srgbClr val="C00000"/>
                    </a:solidFill>
                    <a:latin typeface="Abadi" panose="020B0604020104020204" pitchFamily="34" charset="0"/>
                    <a:cs typeface="Aharoni" panose="02010803020104030203" pitchFamily="2" charset="-79"/>
                  </a:rPr>
                  <a:t>231512087</a:t>
                </a:r>
              </a:p>
              <a:p>
                <a:r>
                  <a:rPr lang="en-US" sz="3200" b="1" dirty="0">
                    <a:solidFill>
                      <a:srgbClr val="C0000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Master’s Degree Student, Frontier Engineering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B20FBC-807D-E83B-5DDA-2EA558428C01}"/>
                  </a:ext>
                </a:extLst>
              </p:cNvPr>
              <p:cNvSpPr txBox="1"/>
              <p:nvPr/>
            </p:nvSpPr>
            <p:spPr>
              <a:xfrm>
                <a:off x="4621193" y="1590737"/>
                <a:ext cx="115742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2060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 Hygienic, Repeatable, and Real-Time System for Skin Biomechanics</a:t>
                </a:r>
                <a:endParaRPr lang="en-US" sz="3200" b="1" dirty="0">
                  <a:solidFill>
                    <a:srgbClr val="002060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38695C6-0911-C459-46AA-07257E2D4E65}"/>
                </a:ext>
              </a:extLst>
            </p:cNvPr>
            <p:cNvGrpSpPr/>
            <p:nvPr/>
          </p:nvGrpSpPr>
          <p:grpSpPr>
            <a:xfrm>
              <a:off x="4362288" y="3553808"/>
              <a:ext cx="6329766" cy="471999"/>
              <a:chOff x="4362288" y="3039932"/>
              <a:chExt cx="6329766" cy="471999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0C85994-1489-4B7D-B934-4486AADDA5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8082" y="3039932"/>
                <a:ext cx="5833972" cy="0"/>
              </a:xfrm>
              <a:prstGeom prst="line">
                <a:avLst/>
              </a:prstGeom>
              <a:ln w="31750"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Diagonal Stripe 13">
                <a:extLst>
                  <a:ext uri="{FF2B5EF4-FFF2-40B4-BE49-F238E27FC236}">
                    <a16:creationId xmlns:a16="http://schemas.microsoft.com/office/drawing/2014/main" id="{F38E310A-040E-A99E-1100-3311992EDB5B}"/>
                  </a:ext>
                </a:extLst>
              </p:cNvPr>
              <p:cNvSpPr/>
              <p:nvPr/>
            </p:nvSpPr>
            <p:spPr>
              <a:xfrm>
                <a:off x="4362288" y="3039932"/>
                <a:ext cx="396240" cy="471999"/>
              </a:xfrm>
              <a:prstGeom prst="diagStrip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D610E76-30DA-0E81-0642-4FD32BDE6162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7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19821EE0-7037-6414-D196-57DA8DB0188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F6B49432-9A8D-E221-F66C-495D08FD6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5" name="Picture 24" descr="訓練用モデル（ナビトレ）皮膚縫合モデル単層シート">
            <a:extLst>
              <a:ext uri="{FF2B5EF4-FFF2-40B4-BE49-F238E27FC236}">
                <a16:creationId xmlns:a16="http://schemas.microsoft.com/office/drawing/2014/main" id="{F29AD90B-D75F-6F26-9A59-95E086EB4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766767">
            <a:off x="5047823" y="4855075"/>
            <a:ext cx="2093305" cy="1744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249E78F-DDB3-8B64-E7FA-0188B968C23D}"/>
              </a:ext>
            </a:extLst>
          </p:cNvPr>
          <p:cNvSpPr/>
          <p:nvPr/>
        </p:nvSpPr>
        <p:spPr>
          <a:xfrm rot="16200000">
            <a:off x="3564020" y="4572581"/>
            <a:ext cx="952645" cy="2309407"/>
          </a:xfrm>
          <a:prstGeom prst="triangl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5D4FE7-F288-A00A-284C-4567AF2163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8" r="6105" b="22176"/>
          <a:stretch/>
        </p:blipFill>
        <p:spPr>
          <a:xfrm>
            <a:off x="1232801" y="4700619"/>
            <a:ext cx="1560637" cy="217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8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B8E2-3408-09DB-7822-5266AA06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99CCCCA1-E13F-8AA1-8F52-6617FB63650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1A3CBA61-47A2-5A04-E34D-EBD6AFE5754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D4C73E-956F-4975-A0EC-A86041C22F19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FC594B2C-A9F2-7623-3868-476707CD6BAA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C0705CB2-5F29-BF09-CEE5-BC93B202E257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EF02142-FEC5-E4A7-04F0-9D464272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374D5FA-CF05-5108-A97B-9321614CBB6F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6E87B60F-11A0-3741-5F6C-FFA39BFFAE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D24E1A4B-1742-A8FD-F8C9-7A1D31C1A1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44215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47F7-2859-E321-C8CD-B74703792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B17993E9-6612-0AA3-358D-97833DF1D62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7C55AB26-3484-70E6-D8AF-944F74E00C2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3D6CB6-D5C6-6564-D09A-F3FD1CCC4458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Problem Statement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08ED1013-EC98-325F-2630-57E6E3EA94B9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58B24E1B-A344-61EC-846C-B86CB2307CE8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3B60898-BE01-6E1B-30C6-B122F6F3C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F83CA-A6D9-0A41-44A3-87A1E6762F5A}"/>
              </a:ext>
            </a:extLst>
          </p:cNvPr>
          <p:cNvSpPr txBox="1"/>
          <p:nvPr/>
        </p:nvSpPr>
        <p:spPr>
          <a:xfrm>
            <a:off x="0" y="-30726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9C1860-E359-3BA9-12D4-E0F41486BEF9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D0F24DBC-8585-6167-131C-E3A69098DB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3F4D5501-65A7-B0B3-CD7F-E400131920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92843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CA67-C774-B3FC-2333-413DB0D47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">
            <a:extLst>
              <a:ext uri="{FF2B5EF4-FFF2-40B4-BE49-F238E27FC236}">
                <a16:creationId xmlns:a16="http://schemas.microsoft.com/office/drawing/2014/main" id="{F02AA0B4-193E-E9B6-47FE-770270B8C703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73AA33DF-814A-7704-D487-29558F7E351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7617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C2FA3FB1-017D-89DC-C5BC-05DFDDD52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578EBD87-A0BA-4B05-8CC3-974EC95DD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52CD40C-34B3-9FA7-B3D4-25F986EB6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EA6463-7D33-46AC-ACEE-04E1930D4FA2}"/>
              </a:ext>
            </a:extLst>
          </p:cNvPr>
          <p:cNvSpPr txBox="1"/>
          <p:nvPr/>
        </p:nvSpPr>
        <p:spPr>
          <a:xfrm>
            <a:off x="-401935" y="1398363"/>
            <a:ext cx="7313083" cy="501194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Relevance:</a:t>
            </a:r>
          </a:p>
          <a:p>
            <a:pPr marL="1257300" lvl="2" indent="-342900" algn="thaiDi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properties are biomarkers for:</a:t>
            </a:r>
          </a:p>
          <a:p>
            <a:pPr marL="1714500" lvl="3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Scleroderma, lymphedema, aging</a:t>
            </a:r>
          </a:p>
          <a:p>
            <a:pPr marL="1714500" lvl="3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Wound healing, pressure ulcer risk</a:t>
            </a:r>
          </a:p>
          <a:p>
            <a:pPr lvl="1" algn="thaiDist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Current Practice:</a:t>
            </a:r>
          </a:p>
          <a:p>
            <a:pPr marL="1257300" lvl="2" indent="-342900" algn="thaiDi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tools require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contact</a:t>
            </a:r>
          </a:p>
          <a:p>
            <a:pPr marL="1714500" lvl="3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Patient discomfort</a:t>
            </a:r>
          </a:p>
          <a:p>
            <a:pPr marL="1714500" lvl="3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Friction + boundary artifacts</a:t>
            </a:r>
          </a:p>
          <a:p>
            <a:pPr marL="1714500" lvl="3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Risk of cross-contamination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E68083-5023-4061-8726-AB3BEC647B84}"/>
              </a:ext>
            </a:extLst>
          </p:cNvPr>
          <p:cNvSpPr txBox="1"/>
          <p:nvPr/>
        </p:nvSpPr>
        <p:spPr>
          <a:xfrm>
            <a:off x="-401935" y="545956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Measure Skin Mechanics—And Why Non-Contact Matters?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49C84-4BDD-F28E-1B1C-1951D07BEF96}"/>
              </a:ext>
            </a:extLst>
          </p:cNvPr>
          <p:cNvSpPr txBox="1"/>
          <p:nvPr/>
        </p:nvSpPr>
        <p:spPr>
          <a:xfrm>
            <a:off x="0" y="-3587"/>
            <a:ext cx="12192000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816372-3E2F-1447-6658-F7F2AA96B076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11D9BC-D6AA-BE81-2BEF-97040E3991E9}"/>
              </a:ext>
            </a:extLst>
          </p:cNvPr>
          <p:cNvSpPr txBox="1"/>
          <p:nvPr/>
        </p:nvSpPr>
        <p:spPr>
          <a:xfrm>
            <a:off x="5694065" y="4528800"/>
            <a:ext cx="6433861" cy="1687963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</a:p>
          <a:p>
            <a:pPr lvl="1" algn="thaiDi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non-contact,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method to measure in vivo skin properties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safely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accurately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494FF28-5A68-0D28-5AC7-F375E925D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2364" y="1655813"/>
            <a:ext cx="3060851" cy="2040567"/>
          </a:xfrm>
          <a:prstGeom prst="rect">
            <a:avLst/>
          </a:prstGeom>
        </p:spPr>
      </p:pic>
      <p:pic>
        <p:nvPicPr>
          <p:cNvPr id="1028" name="Picture 4" descr="LYMPHEDEMA - CAUSE AND TREATMENT">
            <a:extLst>
              <a:ext uri="{FF2B5EF4-FFF2-40B4-BE49-F238E27FC236}">
                <a16:creationId xmlns:a16="http://schemas.microsoft.com/office/drawing/2014/main" id="{5A1BF958-9708-C53A-02D8-5997CC75F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294" y="1690980"/>
            <a:ext cx="2617771" cy="200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165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CF4D-AD79-E954-0702-4E02B3E8C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">
            <a:extLst>
              <a:ext uri="{FF2B5EF4-FFF2-40B4-BE49-F238E27FC236}">
                <a16:creationId xmlns:a16="http://schemas.microsoft.com/office/drawing/2014/main" id="{D40013BC-022C-A681-7002-F7A2BD8C16FF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BA4FF537-F53E-8C8E-DFD7-E6AE8CDE2B2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7617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2C594A5E-FD35-A59E-D357-694F606F0C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D705980C-7A8F-8C51-F561-D53C46DE0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7325D3C-9DAD-7370-488E-2CD287CC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5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96DD97-A87B-863B-3ED8-E99CC60942FD}"/>
              </a:ext>
            </a:extLst>
          </p:cNvPr>
          <p:cNvSpPr txBox="1"/>
          <p:nvPr/>
        </p:nvSpPr>
        <p:spPr>
          <a:xfrm>
            <a:off x="-401935" y="545956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Measure Skin Mechanics—And Why Non-Contact Matters?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AF294-9A8F-F405-01B1-CB4DCE2E2352}"/>
              </a:ext>
            </a:extLst>
          </p:cNvPr>
          <p:cNvSpPr txBox="1"/>
          <p:nvPr/>
        </p:nvSpPr>
        <p:spPr>
          <a:xfrm>
            <a:off x="0" y="-3587"/>
            <a:ext cx="12192000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7FBBC8-B476-9F7D-EC3A-F9217BFD6BFE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218301-EDAF-DA42-8C81-2EF25B43CB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961474"/>
              </p:ext>
            </p:extLst>
          </p:nvPr>
        </p:nvGraphicFramePr>
        <p:xfrm>
          <a:off x="1141843" y="1469149"/>
          <a:ext cx="9908314" cy="4750676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426164">
                  <a:extLst>
                    <a:ext uri="{9D8B030D-6E8A-4147-A177-3AD203B41FA5}">
                      <a16:colId xmlns:a16="http://schemas.microsoft.com/office/drawing/2014/main" val="2150949318"/>
                    </a:ext>
                  </a:extLst>
                </a:gridCol>
                <a:gridCol w="4063482">
                  <a:extLst>
                    <a:ext uri="{9D8B030D-6E8A-4147-A177-3AD203B41FA5}">
                      <a16:colId xmlns:a16="http://schemas.microsoft.com/office/drawing/2014/main" val="1737197453"/>
                    </a:ext>
                  </a:extLst>
                </a:gridCol>
                <a:gridCol w="3418668">
                  <a:extLst>
                    <a:ext uri="{9D8B030D-6E8A-4147-A177-3AD203B41FA5}">
                      <a16:colId xmlns:a16="http://schemas.microsoft.com/office/drawing/2014/main" val="707757225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  <a:endParaRPr lang="en-US" sz="20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 Methods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(Indenters, Suction Devices)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Non-Contact Method</a:t>
                      </a: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(Air-Jet + LiDAR)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150895899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Skin Contact</a:t>
                      </a:r>
                      <a:endParaRPr lang="en-US" sz="20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(probe or suction chamber)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required (air-jet force + depth sensing)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70858912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Comfort</a:t>
                      </a:r>
                      <a:endParaRPr lang="en-US" sz="20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may cause discomfort or skin irritation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no physical contact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83138724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Hygiene &amp; Sterilization</a:t>
                      </a:r>
                      <a:endParaRPr lang="en-US" sz="20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disinfection or disposables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 – no contamination risk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409869483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 Dependency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manual positioning introduces variability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– system is automated and repeatable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60285812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&amp; Complexity</a:t>
                      </a:r>
                      <a:endParaRPr lang="en-US" sz="20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to high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– consumer-grade LiDAR, simple jet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747804934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Suitability for Clinics</a:t>
                      </a:r>
                      <a:endParaRPr lang="en-US" sz="200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– workflow bottlenecks, hygiene issues</a:t>
                      </a:r>
                    </a:p>
                  </a:txBody>
                  <a:tcPr marL="69069" marR="69069" marT="34534" marB="34534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– fast, clean, and comfortable</a:t>
                      </a:r>
                    </a:p>
                  </a:txBody>
                  <a:tcPr marL="69069" marR="69069" marT="34534" marB="34534" anchor="ctr"/>
                </a:tc>
                <a:extLst>
                  <a:ext uri="{0D108BD9-81ED-4DB2-BD59-A6C34878D82A}">
                    <a16:rowId xmlns:a16="http://schemas.microsoft.com/office/drawing/2014/main" val="2681988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11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545A-481B-C712-6143-F4FBD366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E9B3056D-871F-13BE-606F-4BF42A888F7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0DF85217-769A-6CC5-51BD-76C0703C558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05C041-8992-EFA8-BEF4-F84158A8ED28}"/>
              </a:ext>
            </a:extLst>
          </p:cNvPr>
          <p:cNvSpPr txBox="1"/>
          <p:nvPr/>
        </p:nvSpPr>
        <p:spPr>
          <a:xfrm>
            <a:off x="0" y="2529187"/>
            <a:ext cx="12192000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Problem with </a:t>
            </a:r>
          </a:p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Conventional Techniques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629DAE89-944D-F451-6B59-8DEBF5AA4C17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02DFC9BB-7BE1-EC51-AE21-E701A813E329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0F9C7ED-077E-6525-C601-3955BC5C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6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7C9EC0-CA5B-9323-D186-C5E6E0D19CF2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A33D5494-B095-947A-07FD-70CDA9F57A3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342A0BB4-A315-BA31-CA7D-580DF36F1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6FD41B3-507D-23C1-07B9-EE940547AF0D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92227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7087-7FF8-B5B7-DD0B-F49DD131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">
            <a:extLst>
              <a:ext uri="{FF2B5EF4-FFF2-40B4-BE49-F238E27FC236}">
                <a16:creationId xmlns:a16="http://schemas.microsoft.com/office/drawing/2014/main" id="{1961C262-BD42-77F7-9202-49D2FEC0D5EE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B775DA34-9783-294B-8EFB-94F4096A5A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7617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FBB49F5B-1685-920F-481B-CEDE14B863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D7B4314B-F49E-C338-7025-1BE969381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CCE3E5B-9A2D-C88E-574A-D0220380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7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17D12F-5C50-6F28-A1CA-1A75C7F89E33}"/>
              </a:ext>
            </a:extLst>
          </p:cNvPr>
          <p:cNvSpPr txBox="1"/>
          <p:nvPr/>
        </p:nvSpPr>
        <p:spPr>
          <a:xfrm>
            <a:off x="-210699" y="1403484"/>
            <a:ext cx="7313083" cy="44579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Contact-based tools introduce: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Friction artifacts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dependence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Sterilization/cross-contamination concerns</a:t>
            </a:r>
          </a:p>
          <a:p>
            <a:pPr lvl="1" algn="thaiDist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Coherence Elastography (OCE):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resolution but shallow depth (&lt;2 mm)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Expensive, complex setup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portability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E3B21-BF9F-70CF-8674-B2039B9DD2F8}"/>
              </a:ext>
            </a:extLst>
          </p:cNvPr>
          <p:cNvSpPr txBox="1"/>
          <p:nvPr/>
        </p:nvSpPr>
        <p:spPr>
          <a:xfrm>
            <a:off x="-401935" y="545956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Contact-Based and Optical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828E8-79CE-63BC-C6E8-168C4100B95B}"/>
              </a:ext>
            </a:extLst>
          </p:cNvPr>
          <p:cNvSpPr txBox="1"/>
          <p:nvPr/>
        </p:nvSpPr>
        <p:spPr>
          <a:xfrm>
            <a:off x="0" y="-100832"/>
            <a:ext cx="12192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 with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Conventional Techniques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C332C-400E-3547-6D05-EBD6185F9884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pic>
        <p:nvPicPr>
          <p:cNvPr id="4098" name="Picture 2" descr="Characterization of the mechanical properties of skin by inverse analysis  combined with the indentation test - ScienceDirect">
            <a:extLst>
              <a:ext uri="{FF2B5EF4-FFF2-40B4-BE49-F238E27FC236}">
                <a16:creationId xmlns:a16="http://schemas.microsoft.com/office/drawing/2014/main" id="{F9DE7DE6-548A-426D-01E1-7D4B1D2C3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606" y="1447532"/>
            <a:ext cx="3156585" cy="237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ig. 2">
            <a:extLst>
              <a:ext uri="{FF2B5EF4-FFF2-40B4-BE49-F238E27FC236}">
                <a16:creationId xmlns:a16="http://schemas.microsoft.com/office/drawing/2014/main" id="{4C2C650F-F32F-F25F-1780-0054198A3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0233" y="4132415"/>
            <a:ext cx="3613341" cy="24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igure 1">
            <a:extLst>
              <a:ext uri="{FF2B5EF4-FFF2-40B4-BE49-F238E27FC236}">
                <a16:creationId xmlns:a16="http://schemas.microsoft.com/office/drawing/2014/main" id="{45984BA8-2B32-A4BE-184B-67C0FDCD4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63" t="10067" b="3659"/>
          <a:stretch/>
        </p:blipFill>
        <p:spPr bwMode="auto">
          <a:xfrm>
            <a:off x="10101356" y="1354540"/>
            <a:ext cx="1918822" cy="271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4546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BB419-2325-C519-E6D7-175EB912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F8B7A41F-8F6A-25C2-C2C7-B839DF7139C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7E3DCDCA-22FE-73D3-DE28-A5CAC16B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A443A8-B252-452E-0AFF-0BBFF5EC7E30}"/>
              </a:ext>
            </a:extLst>
          </p:cNvPr>
          <p:cNvSpPr txBox="1"/>
          <p:nvPr/>
        </p:nvSpPr>
        <p:spPr>
          <a:xfrm>
            <a:off x="0" y="2529187"/>
            <a:ext cx="12192000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Overview of Skin </a:t>
            </a:r>
          </a:p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Phantom Properties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B272F277-B2DF-68F1-82F9-D45E30321186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849F893C-52BE-CADE-CD17-E0E62ADE1772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2448BF4-1BE6-9A25-BCD0-2F404F3B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8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0B472-516E-9649-3741-3EA48D02B7BC}"/>
              </a:ext>
            </a:extLst>
          </p:cNvPr>
          <p:cNvSpPr txBox="1"/>
          <p:nvPr/>
        </p:nvSpPr>
        <p:spPr>
          <a:xfrm>
            <a:off x="0" y="-30726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B91A15C-D480-5AE9-EC4B-BEB8EFD16EF7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70E2CA07-B51A-97FE-6A85-6D093CACA0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E8841B7C-2FD2-D3D3-81FB-A9AF61E7A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3869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0F6A5-3E07-8548-4E60-DAA98233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!!REC">
            <a:extLst>
              <a:ext uri="{FF2B5EF4-FFF2-40B4-BE49-F238E27FC236}">
                <a16:creationId xmlns:a16="http://schemas.microsoft.com/office/drawing/2014/main" id="{64848A4F-4609-FE96-F570-2BB3072BBC3A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D2BD3DB6-EFFD-3483-ED6B-72FEF2AD9E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7617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08CE6943-D2C4-DB61-C510-C43A68757A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3B529872-9404-9ECF-B6CE-C4879C921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08EE364-C78E-6351-30A6-45BAD7D0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9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8272B1-5706-36F7-597B-D9757A65429A}"/>
              </a:ext>
            </a:extLst>
          </p:cNvPr>
          <p:cNvSpPr txBox="1"/>
          <p:nvPr/>
        </p:nvSpPr>
        <p:spPr>
          <a:xfrm>
            <a:off x="4555067" y="1541659"/>
            <a:ext cx="7313083" cy="27959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thickness</a:t>
            </a:r>
          </a:p>
          <a:p>
            <a:pPr marL="800100" lvl="1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0.1 mm → epidermis</a:t>
            </a:r>
          </a:p>
          <a:p>
            <a:pPr marL="800100" lvl="1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1 – 4 mm → dermis</a:t>
            </a:r>
          </a:p>
          <a:p>
            <a:pPr marL="800100" lvl="1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4 - 10 → mm hypodermis (deep skin/fat layer)</a:t>
            </a:r>
          </a:p>
          <a:p>
            <a:pPr marL="800100" lvl="1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&gt;27 mm → reaches underlying muscle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33C2B-221C-871A-2541-DAB40A78F0B5}"/>
              </a:ext>
            </a:extLst>
          </p:cNvPr>
          <p:cNvSpPr txBox="1"/>
          <p:nvPr/>
        </p:nvSpPr>
        <p:spPr>
          <a:xfrm>
            <a:off x="-171822" y="119716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Layers of Human Skin</a:t>
            </a:r>
          </a:p>
        </p:txBody>
      </p:sp>
      <p:pic>
        <p:nvPicPr>
          <p:cNvPr id="3" name="Picture 2" descr="5-Step Guide to Rejuvenate All Skin Layers – From Deep to Superficial – MD  Skin Lab Canada">
            <a:extLst>
              <a:ext uri="{FF2B5EF4-FFF2-40B4-BE49-F238E27FC236}">
                <a16:creationId xmlns:a16="http://schemas.microsoft.com/office/drawing/2014/main" id="{5B56E48F-868B-AD6E-DFB1-75085B5C9B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21"/>
          <a:stretch/>
        </p:blipFill>
        <p:spPr bwMode="auto">
          <a:xfrm>
            <a:off x="323850" y="2642616"/>
            <a:ext cx="4078817" cy="192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03B8F-8283-4EC7-1307-C3216C651227}"/>
              </a:ext>
            </a:extLst>
          </p:cNvPr>
          <p:cNvSpPr txBox="1"/>
          <p:nvPr/>
        </p:nvSpPr>
        <p:spPr>
          <a:xfrm>
            <a:off x="-317339" y="6186704"/>
            <a:ext cx="4950643" cy="254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https://www.utmb.edu/pedi_ed/CoreV2/Dermatology/page_03.htm?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C421BE-12E5-E7F1-6D31-E667A4224939}"/>
              </a:ext>
            </a:extLst>
          </p:cNvPr>
          <p:cNvSpPr txBox="1"/>
          <p:nvPr/>
        </p:nvSpPr>
        <p:spPr>
          <a:xfrm>
            <a:off x="-317339" y="6418456"/>
            <a:ext cx="7037798" cy="254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https://doi.org/10.1038/s41598-023-44572-y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EED7C6-A39F-1EEB-59E9-D9FA5A345CFC}"/>
              </a:ext>
            </a:extLst>
          </p:cNvPr>
          <p:cNvSpPr txBox="1"/>
          <p:nvPr/>
        </p:nvSpPr>
        <p:spPr>
          <a:xfrm>
            <a:off x="10103358" y="3857347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(2)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97A8DF-E024-4415-33DD-15FFD66B8F28}"/>
              </a:ext>
            </a:extLst>
          </p:cNvPr>
          <p:cNvSpPr txBox="1"/>
          <p:nvPr/>
        </p:nvSpPr>
        <p:spPr>
          <a:xfrm>
            <a:off x="11042904" y="3274100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F110A-CC51-1E17-821A-EAC910F9F023}"/>
              </a:ext>
            </a:extLst>
          </p:cNvPr>
          <p:cNvSpPr txBox="1"/>
          <p:nvPr/>
        </p:nvSpPr>
        <p:spPr>
          <a:xfrm>
            <a:off x="8056160" y="2768024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F46695-3E19-853D-FE35-29EE71BCA43E}"/>
              </a:ext>
            </a:extLst>
          </p:cNvPr>
          <p:cNvSpPr txBox="1"/>
          <p:nvPr/>
        </p:nvSpPr>
        <p:spPr>
          <a:xfrm>
            <a:off x="8230277" y="2196716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5ACDA-1657-B97B-8536-033ED1F27325}"/>
              </a:ext>
            </a:extLst>
          </p:cNvPr>
          <p:cNvSpPr txBox="1"/>
          <p:nvPr/>
        </p:nvSpPr>
        <p:spPr>
          <a:xfrm>
            <a:off x="0" y="-3587"/>
            <a:ext cx="12192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Overview of Skin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Phantom Properties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CCAD47-6083-1558-00F7-8CA58E6D6D8B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672036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FA05-1273-3844-E9B5-DDFAA898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REC">
            <a:extLst>
              <a:ext uri="{FF2B5EF4-FFF2-40B4-BE49-F238E27FC236}">
                <a16:creationId xmlns:a16="http://schemas.microsoft.com/office/drawing/2014/main" id="{B9053BDC-F844-EEAD-93A0-9C9E653DBAF9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7" name="Picture 1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3E05ED9-D670-D8BD-6E4D-4B7F1E542F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22FAB3DF-374D-6CA4-3CE3-91A5DB7A52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824FA82D-011C-3C9A-50E3-CBC692305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BC1B7D9-FEBD-83FA-1E28-0E082A383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10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1CBF3C-5399-C30C-C4E2-68C8E2254278}"/>
              </a:ext>
            </a:extLst>
          </p:cNvPr>
          <p:cNvSpPr txBox="1"/>
          <p:nvPr/>
        </p:nvSpPr>
        <p:spPr>
          <a:xfrm>
            <a:off x="0" y="79914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Phantom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FBDF19-F149-33B9-C6EF-6483FBEF2EE7}"/>
              </a:ext>
            </a:extLst>
          </p:cNvPr>
          <p:cNvSpPr txBox="1"/>
          <p:nvPr/>
        </p:nvSpPr>
        <p:spPr>
          <a:xfrm>
            <a:off x="0" y="-3587"/>
            <a:ext cx="12192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Overview of Skin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Phantom Properties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5D493A-9CCA-40FC-21AB-00E43870CFB3}"/>
              </a:ext>
            </a:extLst>
          </p:cNvPr>
          <p:cNvSpPr txBox="1"/>
          <p:nvPr/>
        </p:nvSpPr>
        <p:spPr>
          <a:xfrm>
            <a:off x="5089311" y="6197452"/>
            <a:ext cx="5366178" cy="35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J. Hall, M. Bilgen, M. F. Insana, and T. A. Krouskop, "Phantom materials for elastography," IEEE Transactions on Ultrasonics, Ferroelectrics, and Frequency Control, vol. 44, no. 6, pp. 1355–1365, Nov. 1997, </a:t>
            </a:r>
            <a:r>
              <a:rPr lang="en-US" sz="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10.1109/58.656136.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29833C9-0B22-69EB-9006-E54624BDA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339587"/>
              </p:ext>
            </p:extLst>
          </p:nvPr>
        </p:nvGraphicFramePr>
        <p:xfrm>
          <a:off x="405353" y="1583563"/>
          <a:ext cx="11236750" cy="3035958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1802094">
                  <a:extLst>
                    <a:ext uri="{9D8B030D-6E8A-4147-A177-3AD203B41FA5}">
                      <a16:colId xmlns:a16="http://schemas.microsoft.com/office/drawing/2014/main" val="3297137974"/>
                    </a:ext>
                  </a:extLst>
                </a:gridCol>
                <a:gridCol w="4700660">
                  <a:extLst>
                    <a:ext uri="{9D8B030D-6E8A-4147-A177-3AD203B41FA5}">
                      <a16:colId xmlns:a16="http://schemas.microsoft.com/office/drawing/2014/main" val="1212707926"/>
                    </a:ext>
                  </a:extLst>
                </a:gridCol>
                <a:gridCol w="4733996">
                  <a:extLst>
                    <a:ext uri="{9D8B030D-6E8A-4147-A177-3AD203B41FA5}">
                      <a16:colId xmlns:a16="http://schemas.microsoft.com/office/drawing/2014/main" val="1940044146"/>
                    </a:ext>
                  </a:extLst>
                </a:gridCol>
              </a:tblGrid>
              <a:tr h="914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23451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Gelatin </a:t>
                      </a:r>
                    </a:p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 – 180 g/L)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Inexpensive and widely available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prepare by simple heating and cooling 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Tunable stiffness via concentration and bloom strength (4.8 – 158 kPa)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Prone to dehydration and syneresis; requires refrigeration and sealed storage 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lifespan (≈1 week) due to microbial growth 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Viscoelastic behavior can vary with temperature and additives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156819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Agarose </a:t>
                      </a:r>
                    </a:p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 – 30 g/L)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Heat‐stable hydrogel with predictable gelation 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stiffness tuning (≈</a:t>
                      </a:r>
                      <a:r>
                        <a:rPr lang="pl-PL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7.6 to 195 </a:t>
                      </a: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kPa)                by concentration 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optical clarity for imaging applications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precise heating (~95 °C) to dissolve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Brittle at low concentrations, prone to cracking </a:t>
                      </a:r>
                    </a:p>
                    <a:p>
                      <a:pPr marL="171450" indent="-171450" algn="thaiDist" fontAlgn="ctr">
                        <a:buFont typeface="Wingdings" panose="05000000000000000000" pitchFamily="2" charset="2"/>
                        <a:buChar char="q"/>
                      </a:pPr>
                      <a:r>
                        <a:rPr lang="en-US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lifespan (≈5 days) due to syneresis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46" marR="6146" marT="614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51732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427B75-DB34-0BB5-D81C-43FBD1FF5663}"/>
              </a:ext>
            </a:extLst>
          </p:cNvPr>
          <p:cNvSpPr txBox="1"/>
          <p:nvPr/>
        </p:nvSpPr>
        <p:spPr>
          <a:xfrm>
            <a:off x="0" y="4661573"/>
            <a:ext cx="9657757" cy="128907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800100" lvl="1" indent="-342900" algn="thaiDi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Accessible chemical.</a:t>
            </a:r>
          </a:p>
          <a:p>
            <a:pPr marL="800100" lvl="1" indent="-342900" algn="thaiDi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and easily tunable. </a:t>
            </a:r>
          </a:p>
          <a:p>
            <a:pPr marL="800100" lvl="1" indent="-342900" algn="thaiDi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lifespans and require careful storage.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F6BD04-4680-3C3A-ABDF-528BA6E7E121}"/>
              </a:ext>
            </a:extLst>
          </p:cNvPr>
          <p:cNvGrpSpPr/>
          <p:nvPr/>
        </p:nvGrpSpPr>
        <p:grpSpPr>
          <a:xfrm>
            <a:off x="5452110" y="4713504"/>
            <a:ext cx="6316980" cy="1423082"/>
            <a:chOff x="5562600" y="4776395"/>
            <a:chExt cx="6316980" cy="1423082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EDB3AFE-486B-64B0-C57E-A37CAC98F36F}"/>
                </a:ext>
              </a:extLst>
            </p:cNvPr>
            <p:cNvSpPr/>
            <p:nvPr/>
          </p:nvSpPr>
          <p:spPr>
            <a:xfrm>
              <a:off x="5562600" y="4837261"/>
              <a:ext cx="6316980" cy="133112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E1FF2E-D972-4CD0-C85C-F88FA3F90C5E}"/>
                    </a:ext>
                  </a:extLst>
                </p:cNvPr>
                <p:cNvSpPr txBox="1"/>
                <p:nvPr/>
              </p:nvSpPr>
              <p:spPr>
                <a:xfrm>
                  <a:off x="5581650" y="4776395"/>
                  <a:ext cx="6278879" cy="1423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u="sng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Relation between Young’s modulus &amp; Concentration (</a:t>
                  </a:r>
                  <a:r>
                    <a:rPr lang="en-US" i="1" u="sng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C </a:t>
                  </a:r>
                  <a:r>
                    <a:rPr lang="en-US" u="sng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in</a:t>
                  </a:r>
                  <a:r>
                    <a:rPr lang="en-US" i="1" u="sng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 g/L</a:t>
                  </a:r>
                  <a:r>
                    <a:rPr lang="en-US" u="sng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)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𝑔𝑒𝑙𝑎𝑡𝑖𝑛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=  0.0034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2.09 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=0.997)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𝑎𝑔𝑎𝑟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=  0.349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1.87 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=0.999)</m:t>
                        </m:r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EFE1FF2E-D972-4CD0-C85C-F88FA3F90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1650" y="4776395"/>
                  <a:ext cx="6278879" cy="1423082"/>
                </a:xfrm>
                <a:prstGeom prst="rect">
                  <a:avLst/>
                </a:prstGeom>
                <a:blipFill>
                  <a:blip r:embed="rId6"/>
                  <a:stretch>
                    <a:fillRect l="-875" r="-2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8FA6871-B791-6F65-0BC9-07E692444304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970088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A3A8-749B-5BDD-ED5E-0893F7AD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!!REC">
            <a:extLst>
              <a:ext uri="{FF2B5EF4-FFF2-40B4-BE49-F238E27FC236}">
                <a16:creationId xmlns:a16="http://schemas.microsoft.com/office/drawing/2014/main" id="{99D0EC4F-78A7-4922-00C9-BE4B08BFFAAD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4340E4F9-918E-3EDE-A0FF-2133E8D86C4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926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4E9075B3-306B-B30B-A939-28CDD52649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EFB1B885-681A-C428-5415-661631718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598FA6C-3A21-93B2-577F-95E03129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11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1DDC95-4877-57AB-D4C1-EDC33E8E2F29}"/>
              </a:ext>
            </a:extLst>
          </p:cNvPr>
          <p:cNvSpPr txBox="1"/>
          <p:nvPr/>
        </p:nvSpPr>
        <p:spPr>
          <a:xfrm>
            <a:off x="0" y="79914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Phantom 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5350BF-D7F6-F4C8-AE28-13A9C70347B5}"/>
              </a:ext>
            </a:extLst>
          </p:cNvPr>
          <p:cNvSpPr txBox="1"/>
          <p:nvPr/>
        </p:nvSpPr>
        <p:spPr>
          <a:xfrm>
            <a:off x="0" y="-3587"/>
            <a:ext cx="12192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Overview of Skin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Phantom Properties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4CFB506-219D-8610-052A-B7DFE568F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492872"/>
              </p:ext>
            </p:extLst>
          </p:nvPr>
        </p:nvGraphicFramePr>
        <p:xfrm>
          <a:off x="1743075" y="1861030"/>
          <a:ext cx="8915400" cy="3634655"/>
        </p:xfrm>
        <a:graphic>
          <a:graphicData uri="http://schemas.openxmlformats.org/drawingml/2006/table">
            <a:tbl>
              <a:tblPr firstRow="1" firstCol="1">
                <a:tableStyleId>{85BE263C-DBD7-4A20-BB59-AAB30ACAA65A}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3629799979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3282597549"/>
                    </a:ext>
                  </a:extLst>
                </a:gridCol>
              </a:tblGrid>
              <a:tr h="72356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  <a:endParaRPr lang="en-US" sz="2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285083"/>
                  </a:ext>
                </a:extLst>
              </a:tr>
              <a:tr h="7235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Young’s modulus (E)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kPa – 190 kPa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640653"/>
                  </a:ext>
                </a:extLst>
              </a:tr>
              <a:tr h="7235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Thickness (L)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 mm – 30 mm (according to skin thickness)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658154"/>
                  </a:ext>
                </a:extLst>
              </a:tr>
              <a:tr h="7235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finish</a:t>
                      </a:r>
                      <a:endParaRPr lang="en-US" sz="24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Matte, diffuse (to optimize LiDAR returns)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267859"/>
                  </a:ext>
                </a:extLst>
              </a:tr>
              <a:tr h="723561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Ease of fabrication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 equipment, accessible chemicals</a:t>
                      </a:r>
                      <a:endParaRPr lang="en-US" sz="2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91" marR="8891" marT="889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37929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B968102-F4DE-0278-2683-6B5E29BD8A44}"/>
              </a:ext>
            </a:extLst>
          </p:cNvPr>
          <p:cNvSpPr txBox="1"/>
          <p:nvPr/>
        </p:nvSpPr>
        <p:spPr>
          <a:xfrm>
            <a:off x="-317339" y="6186704"/>
            <a:ext cx="7467947" cy="254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Mayrovitz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H.N. (2017). Mechanical properties of ballistic gelatin and their relation to tissue-like behavior. J.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Biomech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Eng., 139(8):081005.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DB3245-A4C0-89FC-4B26-0040C0E394FA}"/>
              </a:ext>
            </a:extLst>
          </p:cNvPr>
          <p:cNvSpPr txBox="1"/>
          <p:nvPr/>
        </p:nvSpPr>
        <p:spPr>
          <a:xfrm>
            <a:off x="-317339" y="6411473"/>
            <a:ext cx="7467947" cy="254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Chen, A. et al. (2016). Multilayer tissue‐mimicking phantoms with tunable mechanical properties. Med. Phys., 43(6):3117–3130.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EAA917-3F50-9679-8C61-E6D522D71E17}"/>
              </a:ext>
            </a:extLst>
          </p:cNvPr>
          <p:cNvSpPr txBox="1"/>
          <p:nvPr/>
        </p:nvSpPr>
        <p:spPr>
          <a:xfrm>
            <a:off x="8750046" y="2001629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558405-89E3-A02E-6B80-9E6AE64B4C33}"/>
              </a:ext>
            </a:extLst>
          </p:cNvPr>
          <p:cNvSpPr txBox="1"/>
          <p:nvPr/>
        </p:nvSpPr>
        <p:spPr>
          <a:xfrm>
            <a:off x="8905494" y="2001629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1FCE6A-E173-5DE0-9C39-BF00E0096211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56747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14EB-1674-0C8F-C97C-DE46D264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D1A6C3AA-2BF9-99C2-FF43-344FC0B6AE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6E2BE4DF-2F29-6255-B221-2CED15BB98D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536D69-DC30-01A4-97FF-98C46DEAA936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IMPACT FORCE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2378031B-A0EA-3DE9-9B2A-E7B58EBA4B0D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6185DFA8-88D1-D203-20A4-84A62C263B8F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0A32B8-12DA-F904-FBE2-20AD5C3DEF2D}"/>
              </a:ext>
            </a:extLst>
          </p:cNvPr>
          <p:cNvGrpSpPr/>
          <p:nvPr/>
        </p:nvGrpSpPr>
        <p:grpSpPr>
          <a:xfrm>
            <a:off x="9982200" y="-202106"/>
            <a:ext cx="2134545" cy="1024482"/>
            <a:chOff x="8381055" y="-202106"/>
            <a:chExt cx="2134545" cy="10244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5550227-FBC8-0FC5-5B34-059D0EA0958D}"/>
                </a:ext>
              </a:extLst>
            </p:cNvPr>
            <p:cNvGrpSpPr/>
            <p:nvPr/>
          </p:nvGrpSpPr>
          <p:grpSpPr>
            <a:xfrm>
              <a:off x="9319106" y="47827"/>
              <a:ext cx="1196494" cy="576524"/>
              <a:chOff x="9106493" y="2785014"/>
              <a:chExt cx="1196494" cy="576524"/>
            </a:xfrm>
          </p:grpSpPr>
          <p:pic>
            <p:nvPicPr>
              <p:cNvPr id="12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  <a:extLst>
                  <a:ext uri="{FF2B5EF4-FFF2-40B4-BE49-F238E27FC236}">
                    <a16:creationId xmlns:a16="http://schemas.microsoft.com/office/drawing/2014/main" id="{38C102C4-AE8A-255A-DEEE-319FEC1110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6720" b="32723"/>
              <a:stretch/>
            </p:blipFill>
            <p:spPr bwMode="auto">
              <a:xfrm>
                <a:off x="9106493" y="2785014"/>
                <a:ext cx="573968" cy="4319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12" descr="A logo with text on it&#10;&#10;Description automatically generated">
                <a:extLst>
                  <a:ext uri="{FF2B5EF4-FFF2-40B4-BE49-F238E27FC236}">
                    <a16:creationId xmlns:a16="http://schemas.microsoft.com/office/drawing/2014/main" id="{DA5FB6F9-045F-D6D7-2109-ED286C4CE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46194" y="2804745"/>
                <a:ext cx="556793" cy="556793"/>
              </a:xfrm>
              <a:prstGeom prst="rect">
                <a:avLst/>
              </a:prstGeom>
            </p:spPr>
          </p:pic>
        </p:grpSp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5FF224D4-CF48-A95A-E612-15DEE3ABC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055" y="-202106"/>
              <a:ext cx="943158" cy="1024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409C2C8-ABED-DAB6-08E5-745878E35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E3953-03D6-02A4-0593-EA7745A0CEA7}"/>
              </a:ext>
            </a:extLst>
          </p:cNvPr>
          <p:cNvSpPr txBox="1"/>
          <p:nvPr/>
        </p:nvSpPr>
        <p:spPr>
          <a:xfrm>
            <a:off x="308854" y="3652500"/>
            <a:ext cx="11574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Delivering Tunable Forces for Safe, Repeatable Skin Indentation</a:t>
            </a:r>
            <a:endParaRPr lang="en-US" sz="3200" b="1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99936A-75A1-A3A9-407E-8DD41961A69B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01566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B0627-A4AC-9650-1FFA-625C2FAA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">
            <a:extLst>
              <a:ext uri="{FF2B5EF4-FFF2-40B4-BE49-F238E27FC236}">
                <a16:creationId xmlns:a16="http://schemas.microsoft.com/office/drawing/2014/main" id="{66FCF2CF-50D0-C6EE-0EAF-C7474B598900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" name="Picture 2" descr="Shape&#10;&#10;Description automatically generated with medium confidence">
            <a:extLst>
              <a:ext uri="{FF2B5EF4-FFF2-40B4-BE49-F238E27FC236}">
                <a16:creationId xmlns:a16="http://schemas.microsoft.com/office/drawing/2014/main" id="{E77295FC-A2E6-F3E6-1AD2-7DD0CBF73B9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68D01207-3DDE-AFE2-4506-3160BEF29D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05276E9A-AC07-637F-0CA4-256C50D99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0FE335F-9797-B3B6-DD79-BC15FFD24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13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21708-95F0-756D-6D48-31AE5FE4D4CA}"/>
              </a:ext>
            </a:extLst>
          </p:cNvPr>
          <p:cNvSpPr txBox="1"/>
          <p:nvPr/>
        </p:nvSpPr>
        <p:spPr>
          <a:xfrm>
            <a:off x="5721388" y="4874458"/>
            <a:ext cx="8103477" cy="57996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Force range: 0.38 – 14.6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14E7A-559D-DFE2-BC7C-9EDA04252B57}"/>
              </a:ext>
            </a:extLst>
          </p:cNvPr>
          <p:cNvSpPr txBox="1"/>
          <p:nvPr/>
        </p:nvSpPr>
        <p:spPr>
          <a:xfrm>
            <a:off x="0" y="72988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vitro macro-indentation forces on phantoms</a:t>
            </a:r>
          </a:p>
        </p:txBody>
      </p:sp>
      <p:pic>
        <p:nvPicPr>
          <p:cNvPr id="9" name="Picture 2" descr="Figure 3">
            <a:extLst>
              <a:ext uri="{FF2B5EF4-FFF2-40B4-BE49-F238E27FC236}">
                <a16:creationId xmlns:a16="http://schemas.microsoft.com/office/drawing/2014/main" id="{B085A811-8FB8-D463-AFC7-7820F38AD8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359"/>
          <a:stretch/>
        </p:blipFill>
        <p:spPr bwMode="auto">
          <a:xfrm>
            <a:off x="6470614" y="1764866"/>
            <a:ext cx="3875853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9364C2-1272-06DF-BBBD-17A22879184C}"/>
              </a:ext>
            </a:extLst>
          </p:cNvPr>
          <p:cNvSpPr txBox="1"/>
          <p:nvPr/>
        </p:nvSpPr>
        <p:spPr>
          <a:xfrm>
            <a:off x="-16777" y="6193926"/>
            <a:ext cx="5738165" cy="43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Nowak, J., &amp; Kaczmarek, M. K. (2024). Deep Indentation Tests of Soft Materials Using Mobile and Stationary Devices. Materials (Basel, Switzerland), 17(17), 4233. https://doi.org/10.3390/ma17174233</a:t>
            </a:r>
          </a:p>
        </p:txBody>
      </p:sp>
      <p:pic>
        <p:nvPicPr>
          <p:cNvPr id="2054" name="Picture 6" descr="Figure 1">
            <a:extLst>
              <a:ext uri="{FF2B5EF4-FFF2-40B4-BE49-F238E27FC236}">
                <a16:creationId xmlns:a16="http://schemas.microsoft.com/office/drawing/2014/main" id="{3F378F6F-D049-CBD9-94C4-44F9E0216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07" y="1746795"/>
            <a:ext cx="5005081" cy="314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C216BC-953B-5041-76CD-9DA8B54C5319}"/>
              </a:ext>
            </a:extLst>
          </p:cNvPr>
          <p:cNvSpPr txBox="1"/>
          <p:nvPr/>
        </p:nvSpPr>
        <p:spPr>
          <a:xfrm>
            <a:off x="16777" y="-53641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IMPACT FORCE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224B1-7E7D-8F1E-0AA7-3D7749BA8E29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590378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734B-1DF0-C641-0798-16505065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A312041F-3B22-B3DA-BE7B-5718D20C96F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E46B6EA1-625E-7575-6E07-A44FFBDFF7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BC53E4-8FF3-D993-8CD6-88CC17D08F1C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5667AAD1-AB35-C099-4B8A-42B6718BDB93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A316D482-E888-E57A-50C2-F0827C2919A2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25E9B7-AD40-1408-26B4-2BD2D9C6239B}"/>
              </a:ext>
            </a:extLst>
          </p:cNvPr>
          <p:cNvGrpSpPr/>
          <p:nvPr/>
        </p:nvGrpSpPr>
        <p:grpSpPr>
          <a:xfrm>
            <a:off x="9982200" y="-202106"/>
            <a:ext cx="2134545" cy="1024482"/>
            <a:chOff x="8381055" y="-202106"/>
            <a:chExt cx="2134545" cy="10244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39A995B-8041-B358-71EA-A3E6D2727A4D}"/>
                </a:ext>
              </a:extLst>
            </p:cNvPr>
            <p:cNvGrpSpPr/>
            <p:nvPr/>
          </p:nvGrpSpPr>
          <p:grpSpPr>
            <a:xfrm>
              <a:off x="9319106" y="47827"/>
              <a:ext cx="1196494" cy="576524"/>
              <a:chOff x="9106493" y="2785014"/>
              <a:chExt cx="1196494" cy="576524"/>
            </a:xfrm>
          </p:grpSpPr>
          <p:pic>
            <p:nvPicPr>
              <p:cNvPr id="12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  <a:extLst>
                  <a:ext uri="{FF2B5EF4-FFF2-40B4-BE49-F238E27FC236}">
                    <a16:creationId xmlns:a16="http://schemas.microsoft.com/office/drawing/2014/main" id="{D33ECF07-3F83-596B-F69B-8CF3F73662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6720" b="32723"/>
              <a:stretch/>
            </p:blipFill>
            <p:spPr bwMode="auto">
              <a:xfrm>
                <a:off x="9106493" y="2785014"/>
                <a:ext cx="573968" cy="4319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12" descr="A logo with text on it&#10;&#10;Description automatically generated">
                <a:extLst>
                  <a:ext uri="{FF2B5EF4-FFF2-40B4-BE49-F238E27FC236}">
                    <a16:creationId xmlns:a16="http://schemas.microsoft.com/office/drawing/2014/main" id="{051B36E8-39C2-E983-8E8B-878EC8570A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46194" y="2804745"/>
                <a:ext cx="556793" cy="556793"/>
              </a:xfrm>
              <a:prstGeom prst="rect">
                <a:avLst/>
              </a:prstGeom>
            </p:spPr>
          </p:pic>
        </p:grpSp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C2F95EBD-7247-8A5C-17FE-69BFD9878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055" y="-202106"/>
              <a:ext cx="943158" cy="1024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578B032-C869-B0A2-3A20-1F1E8768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14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098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C227-A040-56B5-0B65-4467147B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">
            <a:extLst>
              <a:ext uri="{FF2B5EF4-FFF2-40B4-BE49-F238E27FC236}">
                <a16:creationId xmlns:a16="http://schemas.microsoft.com/office/drawing/2014/main" id="{E34E69B9-A7CC-3D80-792E-6ED44C524B5E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27C236F0-6F06-3AB2-137E-CF3C969CD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81B70E46-8229-932B-BD52-69A09A113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396252B-B037-7D29-5B30-C00FBD49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15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B347458-19F4-3A41-90A6-21F57DF7FF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545935"/>
                  </p:ext>
                </p:extLst>
              </p:nvPr>
            </p:nvGraphicFramePr>
            <p:xfrm>
              <a:off x="4149544" y="701048"/>
              <a:ext cx="7870634" cy="590954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566566">
                      <a:extLst>
                        <a:ext uri="{9D8B030D-6E8A-4147-A177-3AD203B41FA5}">
                          <a16:colId xmlns:a16="http://schemas.microsoft.com/office/drawing/2014/main" val="2042575518"/>
                        </a:ext>
                      </a:extLst>
                    </a:gridCol>
                    <a:gridCol w="2853559">
                      <a:extLst>
                        <a:ext uri="{9D8B030D-6E8A-4147-A177-3AD203B41FA5}">
                          <a16:colId xmlns:a16="http://schemas.microsoft.com/office/drawing/2014/main" val="446172675"/>
                        </a:ext>
                      </a:extLst>
                    </a:gridCol>
                    <a:gridCol w="2450509">
                      <a:extLst>
                        <a:ext uri="{9D8B030D-6E8A-4147-A177-3AD203B41FA5}">
                          <a16:colId xmlns:a16="http://schemas.microsoft.com/office/drawing/2014/main" val="2837979094"/>
                        </a:ext>
                      </a:extLst>
                    </a:gridCol>
                  </a:tblGrid>
                  <a:tr h="4440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Parameters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Formula / Concept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9374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Potential-core length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/>
                            <a:t>≈ 6d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Empirical for turbulent jets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61801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Exit velocity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/>
                            <a:t>=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m:rPr>
                                      <m:nor/>
                                    </m:rPr>
                                    <a:rPr lang="el-GR" sz="1600"/>
                                    <m:t>γ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𝑎𝑖𝑟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160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e>
                              </m:rad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Choked, isentropic, 𝛾 = 1.4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134259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Centerline velocity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)≈</m:t>
                                </m:r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600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Decay beyond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16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121010"/>
                      </a:ext>
                    </a:extLst>
                  </a:tr>
                  <a:tr h="5299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Jet half-angle 𝛼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≈ 10°–12° in established region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Turbulent spread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83090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Impingement diameter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/>
                            <a:t>​ 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𝑥𝑡𝑎𝑛</m:t>
                                </m:r>
                                <m:r>
                                  <a:rPr lang="el-GR" sz="1600" i="1" dirty="0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Circular cross-section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472786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Impact area 𝐴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600" dirty="0"/>
                            <a:t>π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sz="1600" b="0" smtClean="0">
                                              <a:latin typeface="Cambria Math" panose="02040503050406030204" pitchFamily="18" charset="0"/>
                                            </a:rPr>
                                            <m:t>𝑖𝑚𝑝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Reaching ≈ 0 Pa at 𝑟 =</a:t>
                          </a:r>
                          <a:r>
                            <a:rPr lang="en-US" sz="1600" dirty="0"/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/2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4960339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Exit density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16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m:rPr>
                                          <m:nor/>
                                        </m:rPr>
                                        <a:rPr lang="el-GR" sz="1600" smtClean="0"/>
                                        <m:t>γ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n-US" sz="1600" dirty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sz="160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en-US" sz="1600" b="0" i="0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m:rPr>
                                          <m:nor/>
                                        </m:rPr>
                                        <a:rPr lang="el-GR" sz="1600"/>
                                        <m:t>γ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den>
                                  </m:f>
                                </m:sup>
                              </m:sSup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5105610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 dirty="0"/>
                            <a:t>Centerline overpressure Δ</a:t>
                          </a:r>
                          <a:r>
                            <a:rPr lang="it-IT" sz="1600" i="1" dirty="0"/>
                            <a:t>P</a:t>
                          </a:r>
                          <a:endParaRPr lang="en-US" sz="16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Dynamic head on surface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593756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1600" dirty="0"/>
                            <a:t>Pressure distribution </a:t>
                          </a:r>
                          <a:r>
                            <a:rPr lang="fr-FR" sz="1600" i="1" dirty="0"/>
                            <a:t>P</a:t>
                          </a:r>
                          <a:r>
                            <a:rPr lang="fr-FR" sz="1600" dirty="0"/>
                            <a:t>(𝑟)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it-IT" sz="1600" dirty="0" smtClean="0"/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1" dirty="0" smtClean="0"/>
                                  <m:t>P</m:t>
                                </m:r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− 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𝑘𝑟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dirty="0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/>
                            <a:t>/(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b="0" smtClean="0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  <m:r>
                                <a:rPr lang="en-US" sz="1600" b="0" smtClean="0">
                                  <a:latin typeface="Cambria Math" panose="02040503050406030204" pitchFamily="18" charset="0"/>
                                </a:rPr>
                                <m:t>/2)</m:t>
                              </m:r>
                            </m:oMath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Parabolic decay from center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341244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Impact force at the center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nor/>
                                  </m:rPr>
                                  <a:rPr lang="it-IT" sz="1600" dirty="0" smtClean="0"/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en-US" sz="1600" b="0" i="1" dirty="0" smtClean="0"/>
                                  <m:t>PA</m:t>
                                </m:r>
                              </m:oMath>
                            </m:oMathPara>
                          </a14:m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03363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B347458-19F4-3A41-90A6-21F57DF7FF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2545935"/>
                  </p:ext>
                </p:extLst>
              </p:nvPr>
            </p:nvGraphicFramePr>
            <p:xfrm>
              <a:off x="4149544" y="701048"/>
              <a:ext cx="7870634" cy="590954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566566">
                      <a:extLst>
                        <a:ext uri="{9D8B030D-6E8A-4147-A177-3AD203B41FA5}">
                          <a16:colId xmlns:a16="http://schemas.microsoft.com/office/drawing/2014/main" val="2042575518"/>
                        </a:ext>
                      </a:extLst>
                    </a:gridCol>
                    <a:gridCol w="2853559">
                      <a:extLst>
                        <a:ext uri="{9D8B030D-6E8A-4147-A177-3AD203B41FA5}">
                          <a16:colId xmlns:a16="http://schemas.microsoft.com/office/drawing/2014/main" val="446172675"/>
                        </a:ext>
                      </a:extLst>
                    </a:gridCol>
                    <a:gridCol w="2450509">
                      <a:extLst>
                        <a:ext uri="{9D8B030D-6E8A-4147-A177-3AD203B41FA5}">
                          <a16:colId xmlns:a16="http://schemas.microsoft.com/office/drawing/2014/main" val="2837979094"/>
                        </a:ext>
                      </a:extLst>
                    </a:gridCol>
                  </a:tblGrid>
                  <a:tr h="4440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Parameters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</a:rPr>
                            <a:t>Formula / Concept</a:t>
                          </a:r>
                          <a:endParaRPr lang="en-US" sz="1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Notes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9374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38" t="-101351" r="-207363" b="-11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101351" r="-86141" b="-11162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Empirical for turbulent jets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61801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38" t="-198667" r="-207363" b="-10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198667" r="-86141" b="-10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Choked, isentropic, 𝛾 = 1.4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1342595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38" t="-248889" r="-207363" b="-73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248889" r="-86141" b="-73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21642" t="-248889" r="-498" b="-73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121010"/>
                      </a:ext>
                    </a:extLst>
                  </a:tr>
                  <a:tr h="5299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Jet half-angle 𝛼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≈ 10°–12° in established region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Turbulent spread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83090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38" t="-541892" r="-207363" b="-675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541892" r="-86141" b="-6756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Circular cross-section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4727861"/>
                      </a:ext>
                    </a:extLst>
                  </a:tr>
                  <a:tr h="59791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/>
                            <a:t>Impact area 𝐴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484694" r="-86141" b="-410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21642" t="-484694" r="-498" b="-410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54960339"/>
                      </a:ext>
                    </a:extLst>
                  </a:tr>
                  <a:tr h="6165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38" t="-561765" r="-207363" b="-2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561765" r="-86141" b="-2941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5105610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1600" dirty="0"/>
                            <a:t>Centerline overpressure Δ</a:t>
                          </a:r>
                          <a:r>
                            <a:rPr lang="it-IT" sz="1600" i="1" dirty="0"/>
                            <a:t>P</a:t>
                          </a:r>
                          <a:endParaRPr lang="en-US" sz="16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758427" r="-86141" b="-2370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Dynamic head on surface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593756"/>
                      </a:ext>
                    </a:extLst>
                  </a:tr>
                  <a:tr h="810641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1600" dirty="0"/>
                            <a:t>Pressure distribution </a:t>
                          </a:r>
                          <a:r>
                            <a:rPr lang="fr-FR" sz="1600" i="1" dirty="0"/>
                            <a:t>P</a:t>
                          </a:r>
                          <a:r>
                            <a:rPr lang="fr-FR" sz="1600" dirty="0"/>
                            <a:t>(𝑟)</a:t>
                          </a:r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570149" r="-86141" b="-574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Parabolic decay from center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341244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6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Impact force at the center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89979" t="-1213514" r="-86141" b="-40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03363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8" name="Picture 4" descr="Jet Impingement - an overview | ScienceDirect Topics">
            <a:extLst>
              <a:ext uri="{FF2B5EF4-FFF2-40B4-BE49-F238E27FC236}">
                <a16:creationId xmlns:a16="http://schemas.microsoft.com/office/drawing/2014/main" id="{624A4E1A-EE3B-BB8F-6276-33F7DE309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49" y="1248420"/>
            <a:ext cx="3745404" cy="24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49F51E-F0D3-BF17-B2F1-BA7DC587A6BA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  <p:pic>
        <p:nvPicPr>
          <p:cNvPr id="3" name="Unsteady Impinging Jet">
            <a:hlinkClick r:id="" action="ppaction://media"/>
            <a:extLst>
              <a:ext uri="{FF2B5EF4-FFF2-40B4-BE49-F238E27FC236}">
                <a16:creationId xmlns:a16="http://schemas.microsoft.com/office/drawing/2014/main" id="{F1568993-804F-839F-D690-B949D3FB612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t="-650" b="18308"/>
          <a:stretch/>
        </p:blipFill>
        <p:spPr>
          <a:xfrm>
            <a:off x="257048" y="3921973"/>
            <a:ext cx="3745403" cy="231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3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BCC5-40A5-F103-4974-CB5F7BC58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91C3773B-9CF9-0C58-A9A0-714FC4264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7E05037A-E804-4E7D-1101-E0FA1431643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2D745A-E83C-9FCE-3550-CEC6A9687F62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LiDAR Camera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86C1468B-DC90-CC47-FEF0-924DD59C5EF2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6">
                  <a:lumMod val="60000"/>
                  <a:lumOff val="40000"/>
                </a:schemeClr>
              </a:gs>
              <a:gs pos="83000">
                <a:schemeClr val="accent6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5CB95CE3-C752-382E-418B-3C14E10A7C14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E348F42-4CC0-E388-82F5-06A4E4F4D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16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2B931AF-0BCC-9DE0-B792-F23F33DEDBD4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8EC1D208-C3BA-F846-A59E-D162B89858B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168922DB-241A-0FCD-4C77-9F7FC099FB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F3892A3-524A-8E5D-78FD-36BE7C17AFE8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1758-04F9-356C-34B5-5B01EE8ADF4F}"/>
              </a:ext>
            </a:extLst>
          </p:cNvPr>
          <p:cNvSpPr txBox="1"/>
          <p:nvPr/>
        </p:nvSpPr>
        <p:spPr>
          <a:xfrm>
            <a:off x="308854" y="3652500"/>
            <a:ext cx="11574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Light detection and ranging</a:t>
            </a:r>
            <a:endParaRPr lang="en-US" sz="3200" b="1" dirty="0">
              <a:solidFill>
                <a:srgbClr val="00206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36236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AEFC218D-83C9-D6D9-C545-A085D34B47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1" t="8560" r="19081"/>
          <a:stretch/>
        </p:blipFill>
        <p:spPr bwMode="auto">
          <a:xfrm>
            <a:off x="7559828" y="3875420"/>
            <a:ext cx="2195630" cy="1612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1617B4-5DF1-6598-BB2B-EB82756E2F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3" t="9137" r="11903" b="7769"/>
          <a:stretch/>
        </p:blipFill>
        <p:spPr bwMode="auto">
          <a:xfrm>
            <a:off x="9755458" y="1873378"/>
            <a:ext cx="2228206" cy="3356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E4CE59-112E-4683-4813-73FFD6441640}"/>
              </a:ext>
            </a:extLst>
          </p:cNvPr>
          <p:cNvSpPr txBox="1"/>
          <p:nvPr/>
        </p:nvSpPr>
        <p:spPr>
          <a:xfrm>
            <a:off x="1902766" y="87001"/>
            <a:ext cx="8386466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LiDAR Camera</a:t>
            </a:r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D2ABCD3B-3271-D5CB-5A5E-DBD8E7ACAC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91615151-131E-0A0D-42AC-53F3D07FC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D3AA71-E8D4-8E0C-A88A-2218E9D145C2}"/>
              </a:ext>
            </a:extLst>
          </p:cNvPr>
          <p:cNvSpPr txBox="1"/>
          <p:nvPr/>
        </p:nvSpPr>
        <p:spPr>
          <a:xfrm>
            <a:off x="237553" y="794887"/>
            <a:ext cx="1132239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Intel® </a:t>
            </a:r>
            <a:r>
              <a:rPr lang="es-E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RealSense</a:t>
            </a:r>
            <a:r>
              <a:rPr lang="es-E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es-E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es-E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Camera L515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Shape&#10;&#10;Description automatically generated with medium confidence">
            <a:extLst>
              <a:ext uri="{FF2B5EF4-FFF2-40B4-BE49-F238E27FC236}">
                <a16:creationId xmlns:a16="http://schemas.microsoft.com/office/drawing/2014/main" id="{6119F5DC-2C2A-96A8-EB79-1B8D0FA8AB6A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08" y="3440112"/>
            <a:ext cx="12207107" cy="3429000"/>
          </a:xfrm>
          <a:prstGeom prst="rect">
            <a:avLst/>
          </a:prstGeom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D62EF3B-5545-0463-2234-377643E2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17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74FE56-53CE-A6E1-CE00-D59FB0EA77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331" y="1833690"/>
            <a:ext cx="7133076" cy="3654528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FD73789-02FD-53EA-B054-D7E4C14E96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7" t="14211" r="27117" b="13573"/>
          <a:stretch/>
        </p:blipFill>
        <p:spPr bwMode="auto">
          <a:xfrm>
            <a:off x="7645446" y="1632690"/>
            <a:ext cx="2024395" cy="192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7F1318-8D79-5795-A441-9D1CCDD02DF6}"/>
              </a:ext>
            </a:extLst>
          </p:cNvPr>
          <p:cNvSpPr txBox="1"/>
          <p:nvPr/>
        </p:nvSpPr>
        <p:spPr>
          <a:xfrm>
            <a:off x="-101891" y="1265085"/>
            <a:ext cx="753900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Assembly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39E254-D67F-8055-6B96-AA177607673C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204502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7E264-7809-4771-9036-30C333A6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466B4E0-9D82-4F02-F4D2-307D7B52645E}"/>
              </a:ext>
            </a:extLst>
          </p:cNvPr>
          <p:cNvSpPr txBox="1"/>
          <p:nvPr/>
        </p:nvSpPr>
        <p:spPr>
          <a:xfrm>
            <a:off x="1902766" y="87001"/>
            <a:ext cx="8386466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LiDAR Camera</a:t>
            </a:r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75537CD2-6E13-3BC3-F63C-8BC21D6AC4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5DD5764A-C9E6-3976-14E1-B7D3D52BE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1233255-5EAC-A563-5E46-2EC6ADAA9808}"/>
              </a:ext>
            </a:extLst>
          </p:cNvPr>
          <p:cNvSpPr txBox="1"/>
          <p:nvPr/>
        </p:nvSpPr>
        <p:spPr>
          <a:xfrm>
            <a:off x="237553" y="794887"/>
            <a:ext cx="1132239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Intel® </a:t>
            </a:r>
            <a:r>
              <a:rPr lang="es-E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RealSense</a:t>
            </a:r>
            <a:r>
              <a:rPr lang="es-E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™ </a:t>
            </a:r>
            <a:r>
              <a:rPr lang="es-E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  <a:r>
              <a:rPr lang="es-E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Camera L515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2B089D8-6396-0D49-51F0-54B8F1C2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18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0C28988-132B-C79E-77BC-19EAB39A82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7" t="14211" r="27117" b="13573"/>
          <a:stretch/>
        </p:blipFill>
        <p:spPr bwMode="auto">
          <a:xfrm>
            <a:off x="7510692" y="4617118"/>
            <a:ext cx="2024395" cy="192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CB7593-CD03-E95A-91B4-D9327E8003DB}"/>
              </a:ext>
            </a:extLst>
          </p:cNvPr>
          <p:cNvSpPr txBox="1"/>
          <p:nvPr/>
        </p:nvSpPr>
        <p:spPr>
          <a:xfrm>
            <a:off x="-101891" y="1265085"/>
            <a:ext cx="753900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 Definition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A57236-A351-E887-5F1B-B1E2C78D3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347776"/>
              </p:ext>
            </p:extLst>
          </p:nvPr>
        </p:nvGraphicFramePr>
        <p:xfrm>
          <a:off x="7814641" y="1734512"/>
          <a:ext cx="3745311" cy="2797290"/>
        </p:xfrm>
        <a:graphic>
          <a:graphicData uri="http://schemas.openxmlformats.org/drawingml/2006/table">
            <a:tbl>
              <a:tblPr firstRow="1">
                <a:tableStyleId>{37CE84F3-28C3-443E-9E96-99CF82512B78}</a:tableStyleId>
              </a:tblPr>
              <a:tblGrid>
                <a:gridCol w="1766517">
                  <a:extLst>
                    <a:ext uri="{9D8B030D-6E8A-4147-A177-3AD203B41FA5}">
                      <a16:colId xmlns:a16="http://schemas.microsoft.com/office/drawing/2014/main" val="3031510849"/>
                    </a:ext>
                  </a:extLst>
                </a:gridCol>
                <a:gridCol w="1978794">
                  <a:extLst>
                    <a:ext uri="{9D8B030D-6E8A-4147-A177-3AD203B41FA5}">
                      <a16:colId xmlns:a16="http://schemas.microsoft.com/office/drawing/2014/main" val="595786432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Specification</a:t>
                      </a:r>
                      <a:endParaRPr lang="en-US" sz="1500" dirty="0">
                        <a:solidFill>
                          <a:schemeClr val="bg1"/>
                        </a:solidFill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26142101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ysClr val="windowText" lastClr="000000"/>
                          </a:solidFill>
                        </a:rPr>
                        <a:t>Technology</a:t>
                      </a:r>
                      <a:endParaRPr lang="en-US" sz="15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ysClr val="windowText" lastClr="000000"/>
                          </a:solidFill>
                        </a:rPr>
                        <a:t>LiDAR (Time-of-Flight)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19119796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ysClr val="windowText" lastClr="000000"/>
                          </a:solidFill>
                        </a:rPr>
                        <a:t>Depth Resolution</a:t>
                      </a:r>
                      <a:endParaRPr lang="en-US" sz="15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ysClr val="windowText" lastClr="000000"/>
                          </a:solidFill>
                        </a:rPr>
                        <a:t>Up to </a:t>
                      </a:r>
                      <a:r>
                        <a:rPr lang="en-US" sz="1500" b="1" dirty="0">
                          <a:solidFill>
                            <a:sysClr val="windowText" lastClr="000000"/>
                          </a:solidFill>
                        </a:rPr>
                        <a:t>1024 × 768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10422897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ysClr val="windowText" lastClr="000000"/>
                          </a:solidFill>
                        </a:rPr>
                        <a:t>Frame Rate</a:t>
                      </a:r>
                      <a:endParaRPr lang="en-US" sz="15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ysClr val="windowText" lastClr="000000"/>
                          </a:solidFill>
                        </a:rPr>
                        <a:t>Up to </a:t>
                      </a:r>
                      <a:r>
                        <a:rPr lang="en-US" sz="1500" b="1" dirty="0">
                          <a:solidFill>
                            <a:sysClr val="windowText" lastClr="000000"/>
                          </a:solidFill>
                        </a:rPr>
                        <a:t>30 fps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220678262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ysClr val="windowText" lastClr="000000"/>
                          </a:solidFill>
                        </a:rPr>
                        <a:t>Depth Accuracy</a:t>
                      </a:r>
                      <a:endParaRPr lang="en-US" sz="15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da-DK" sz="1500" dirty="0">
                          <a:solidFill>
                            <a:sysClr val="windowText" lastClr="000000"/>
                          </a:solidFill>
                        </a:rPr>
                        <a:t>&lt; </a:t>
                      </a:r>
                      <a:r>
                        <a:rPr lang="da-DK" sz="1500" b="1" dirty="0">
                          <a:solidFill>
                            <a:sysClr val="windowText" lastClr="000000"/>
                          </a:solidFill>
                        </a:rPr>
                        <a:t>5 mm</a:t>
                      </a:r>
                      <a:r>
                        <a:rPr lang="da-DK" sz="1500" dirty="0">
                          <a:solidFill>
                            <a:sysClr val="windowText" lastClr="000000"/>
                          </a:solidFill>
                        </a:rPr>
                        <a:t> at 1 m distance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94354859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ysClr val="windowText" lastClr="000000"/>
                          </a:solidFill>
                        </a:rPr>
                        <a:t>Depth Distance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ysClr val="windowText" lastClr="000000"/>
                          </a:solidFill>
                        </a:rPr>
                        <a:t>~</a:t>
                      </a:r>
                      <a:r>
                        <a:rPr lang="en-US" sz="1500" b="1" dirty="0">
                          <a:solidFill>
                            <a:sysClr val="windowText" lastClr="000000"/>
                          </a:solidFill>
                        </a:rPr>
                        <a:t>0.49 m – 3.5 m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4169286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ysClr val="windowText" lastClr="000000"/>
                          </a:solidFill>
                        </a:rPr>
                        <a:t>Wavelength</a:t>
                      </a:r>
                      <a:endParaRPr lang="en-US" sz="15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ysClr val="windowText" lastClr="000000"/>
                          </a:solidFill>
                        </a:rPr>
                        <a:t>860 nm</a:t>
                      </a:r>
                      <a:r>
                        <a:rPr lang="en-US" sz="1500" dirty="0">
                          <a:solidFill>
                            <a:sysClr val="windowText" lastClr="000000"/>
                          </a:solidFill>
                        </a:rPr>
                        <a:t> (infrared laser)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85319998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ysClr val="windowText" lastClr="000000"/>
                          </a:solidFill>
                        </a:rPr>
                        <a:t>RGB Sensor</a:t>
                      </a:r>
                      <a:endParaRPr lang="en-US" sz="15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ysClr val="windowText" lastClr="000000"/>
                          </a:solidFill>
                        </a:rPr>
                        <a:t>1920 × 1080 @ 30 fps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16611153"/>
                  </a:ext>
                </a:extLst>
              </a:tr>
              <a:tr h="310810"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ysClr val="windowText" lastClr="000000"/>
                          </a:solidFill>
                        </a:rPr>
                        <a:t>Field of View (FOV)</a:t>
                      </a:r>
                      <a:endParaRPr lang="en-US" sz="15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ysClr val="windowText" lastClr="000000"/>
                          </a:solidFill>
                        </a:rPr>
                        <a:t>H: 70° × V: 55° (depth)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4297945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7575CC-0433-B780-64FE-B7B7475C18B6}"/>
              </a:ext>
            </a:extLst>
          </p:cNvPr>
          <p:cNvSpPr txBox="1"/>
          <p:nvPr/>
        </p:nvSpPr>
        <p:spPr>
          <a:xfrm>
            <a:off x="-435447" y="1926292"/>
            <a:ext cx="6865121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operates by emitting laser pulses and measuring the time it takes for the light to return after hitting an object, allowing for the creation of detailed 3D maps.</a:t>
            </a:r>
          </a:p>
        </p:txBody>
      </p:sp>
      <p:pic>
        <p:nvPicPr>
          <p:cNvPr id="6" name="Picture 2" descr="Lidar Technology Explained at the Electronics Level | In the Scan">
            <a:extLst>
              <a:ext uri="{FF2B5EF4-FFF2-40B4-BE49-F238E27FC236}">
                <a16:creationId xmlns:a16="http://schemas.microsoft.com/office/drawing/2014/main" id="{93F9DB16-7A36-4AAB-C937-1BB14694E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296" y="4117855"/>
            <a:ext cx="4684358" cy="194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0151CD-2FFF-13FB-5044-287702E9A096}"/>
              </a:ext>
            </a:extLst>
          </p:cNvPr>
          <p:cNvSpPr txBox="1"/>
          <p:nvPr/>
        </p:nvSpPr>
        <p:spPr>
          <a:xfrm>
            <a:off x="1953579" y="3622979"/>
            <a:ext cx="3643057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Working Principle</a:t>
            </a:r>
          </a:p>
        </p:txBody>
      </p:sp>
      <p:pic>
        <p:nvPicPr>
          <p:cNvPr id="9" name="20250524-0840-25.2397962">
            <a:hlinkClick r:id="" action="ppaction://media"/>
            <a:extLst>
              <a:ext uri="{FF2B5EF4-FFF2-40B4-BE49-F238E27FC236}">
                <a16:creationId xmlns:a16="http://schemas.microsoft.com/office/drawing/2014/main" id="{D2626D07-BEAB-ABBA-447B-00CD88BDBD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763230" y="1441217"/>
            <a:ext cx="5360391" cy="49019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3D7C45-19CC-198F-AAB4-2481560CCD0F}"/>
              </a:ext>
            </a:extLst>
          </p:cNvPr>
          <p:cNvSpPr txBox="1"/>
          <p:nvPr/>
        </p:nvSpPr>
        <p:spPr>
          <a:xfrm>
            <a:off x="0" y="-30726"/>
            <a:ext cx="362660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4397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538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90A24158-3231-B628-5FEB-6D64192367C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E12CF538-77D0-F9D8-F793-463FE736026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E4CE59-112E-4683-4813-73FFD6441640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OBJECTIVE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9B4F6777-269D-2F1D-44A5-81255F6726D5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3C1243D2-9C5B-7C2C-04AF-717E258748D8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D62EF3B-5545-0463-2234-377643E2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19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C058ACA-738D-2D9F-4F42-38612768BEFD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5BDE00CD-D323-EA64-4362-9ACCC1D92DF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BC5EC96A-D159-7F79-D726-2488BD4DE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2032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">
            <a:extLst>
              <a:ext uri="{FF2B5EF4-FFF2-40B4-BE49-F238E27FC236}">
                <a16:creationId xmlns:a16="http://schemas.microsoft.com/office/drawing/2014/main" id="{F0C488F4-88A4-DA2A-2A80-35B8BC49F961}"/>
              </a:ext>
            </a:extLst>
          </p:cNvPr>
          <p:cNvSpPr/>
          <p:nvPr/>
        </p:nvSpPr>
        <p:spPr>
          <a:xfrm>
            <a:off x="0" y="-1599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7" name="Picture 2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6C698D9-3A89-225E-0516-641A7CD3DBD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EB6D9D-E2CD-72C1-DD61-CA4ECE370D6E}"/>
              </a:ext>
            </a:extLst>
          </p:cNvPr>
          <p:cNvSpPr txBox="1"/>
          <p:nvPr/>
        </p:nvSpPr>
        <p:spPr>
          <a:xfrm>
            <a:off x="2742734" y="69946"/>
            <a:ext cx="5794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OBJECTIVE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7A71C324-3D23-29ED-8C07-5F93E468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20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17" name="Rectangle: Diagonal Corners Snipped 16">
            <a:extLst>
              <a:ext uri="{FF2B5EF4-FFF2-40B4-BE49-F238E27FC236}">
                <a16:creationId xmlns:a16="http://schemas.microsoft.com/office/drawing/2014/main" id="{9CC0C026-D54F-688A-9F81-7E386453ACC6}"/>
              </a:ext>
            </a:extLst>
          </p:cNvPr>
          <p:cNvSpPr/>
          <p:nvPr/>
        </p:nvSpPr>
        <p:spPr>
          <a:xfrm>
            <a:off x="0" y="-1408"/>
            <a:ext cx="12192000" cy="6857809"/>
          </a:xfrm>
          <a:prstGeom prst="snip2Diag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67AFCB-9077-DED5-5099-11EDD5AC9944}"/>
              </a:ext>
            </a:extLst>
          </p:cNvPr>
          <p:cNvGrpSpPr/>
          <p:nvPr/>
        </p:nvGrpSpPr>
        <p:grpSpPr>
          <a:xfrm>
            <a:off x="334966" y="822376"/>
            <a:ext cx="503235" cy="1224000"/>
            <a:chOff x="3011370" y="2309128"/>
            <a:chExt cx="503235" cy="12240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65253ED-86C1-57E3-A99A-A3AF9D1D1151}"/>
                </a:ext>
              </a:extLst>
            </p:cNvPr>
            <p:cNvSpPr/>
            <p:nvPr/>
          </p:nvSpPr>
          <p:spPr>
            <a:xfrm rot="5400000">
              <a:off x="2417370" y="2903128"/>
              <a:ext cx="1224000" cy="36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49" name="Half Frame 48">
              <a:extLst>
                <a:ext uri="{FF2B5EF4-FFF2-40B4-BE49-F238E27FC236}">
                  <a16:creationId xmlns:a16="http://schemas.microsoft.com/office/drawing/2014/main" id="{5AF31D09-B51F-1C8E-2FE0-FAB1239FB157}"/>
                </a:ext>
              </a:extLst>
            </p:cNvPr>
            <p:cNvSpPr/>
            <p:nvPr/>
          </p:nvSpPr>
          <p:spPr>
            <a:xfrm>
              <a:off x="3011685" y="2309128"/>
              <a:ext cx="502920" cy="460992"/>
            </a:xfrm>
            <a:prstGeom prst="halfFram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3C00261-8E61-5BBF-927A-8CEC1FD19DF5}"/>
              </a:ext>
            </a:extLst>
          </p:cNvPr>
          <p:cNvSpPr txBox="1"/>
          <p:nvPr/>
        </p:nvSpPr>
        <p:spPr>
          <a:xfrm>
            <a:off x="705932" y="1052872"/>
            <a:ext cx="1041488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/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🔸 </a:t>
            </a:r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and integrate an air-jet module capable of delivering controlled forces with tunable pressure and nozzle configurations.</a:t>
            </a:r>
          </a:p>
          <a:p>
            <a:pPr algn="thaiDist"/>
            <a:endParaRPr lang="en-US" sz="1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thaiDist"/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🔸 Implement a high-resolution depth tracking system using Intel RealSense L515 to capture sub-millimeter surface deformation in real-time.</a:t>
            </a:r>
          </a:p>
          <a:p>
            <a:pPr algn="thaiDist"/>
            <a:endParaRPr lang="en-US" sz="1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thaiDist"/>
            <a:r>
              <a:rPr lang="en-U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🔸 Validate the system on phantoms by evaluating force repeatability, surface displacement accuracy, and computed stiffness / Young’s modulus within safe biomechanical thresholds.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C1C056F-D46F-444C-A2C2-214A24D46C65}"/>
              </a:ext>
            </a:extLst>
          </p:cNvPr>
          <p:cNvGrpSpPr/>
          <p:nvPr/>
        </p:nvGrpSpPr>
        <p:grpSpPr>
          <a:xfrm>
            <a:off x="9982200" y="-202106"/>
            <a:ext cx="2134545" cy="1024482"/>
            <a:chOff x="8381055" y="-202106"/>
            <a:chExt cx="2134545" cy="102448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5408E74-BF41-73D9-C911-B828AA77434E}"/>
                </a:ext>
              </a:extLst>
            </p:cNvPr>
            <p:cNvGrpSpPr/>
            <p:nvPr/>
          </p:nvGrpSpPr>
          <p:grpSpPr>
            <a:xfrm>
              <a:off x="9319106" y="47827"/>
              <a:ext cx="1196494" cy="576524"/>
              <a:chOff x="9106493" y="2785014"/>
              <a:chExt cx="1196494" cy="576524"/>
            </a:xfrm>
          </p:grpSpPr>
          <p:pic>
            <p:nvPicPr>
    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  <a:extLst>
                  <a:ext uri="{FF2B5EF4-FFF2-40B4-BE49-F238E27FC236}">
                    <a16:creationId xmlns:a16="http://schemas.microsoft.com/office/drawing/2014/main" id="{E133620F-5932-45F9-6C53-0C8D6AB1E0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46720" b="32723"/>
              <a:stretch/>
            </p:blipFill>
            <p:spPr bwMode="auto">
              <a:xfrm>
                <a:off x="9106493" y="2785014"/>
                <a:ext cx="573968" cy="4319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8" descr="A logo with text on it&#10;&#10;Description automatically generated">
                <a:extLst>
                  <a:ext uri="{FF2B5EF4-FFF2-40B4-BE49-F238E27FC236}">
                    <a16:creationId xmlns:a16="http://schemas.microsoft.com/office/drawing/2014/main" id="{B9859299-69D0-43B9-ECAE-D92DA3581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46194" y="2804745"/>
                <a:ext cx="556793" cy="556793"/>
              </a:xfrm>
              <a:prstGeom prst="rect">
                <a:avLst/>
              </a:prstGeom>
            </p:spPr>
          </p:pic>
        </p:grpSp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2EAFA1AF-B18C-63FE-2CD8-C07EA11DB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055" y="-202106"/>
              <a:ext cx="943158" cy="1024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93784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EB466-E7D5-43E7-0790-0D859562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90E50870-943A-C43C-40E9-417CD8ABA6D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B836B7-23B0-8558-EBC4-22C42D4018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AE3821-112A-9D8F-1D46-96E913DCA6EE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D91C5064-F2EB-C7D3-3E4C-FFBBB7BA7FF0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C65FD24D-38DD-F01A-6271-3E5FD889CBA0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E42F8C3-8AC6-2230-C8C7-9F12E56C0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21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677A36-5CE0-2142-3B04-9469D2DE18FF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C36F85CB-6785-EA5B-35E1-1F7EB0601DA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8281577B-50ED-8A5A-852B-B9206EE85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35001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C227-A040-56B5-0B65-4467147B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">
            <a:extLst>
              <a:ext uri="{FF2B5EF4-FFF2-40B4-BE49-F238E27FC236}">
                <a16:creationId xmlns:a16="http://schemas.microsoft.com/office/drawing/2014/main" id="{854E16A3-63A4-6F09-47E9-EB80A3113E2C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27C236F0-6F06-3AB2-137E-CF3C969CDE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81B70E46-8229-932B-BD52-69A09A113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396252B-B037-7D29-5B30-C00FBD497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B347458-19F4-3A41-90A6-21F57DF7FF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388518"/>
                  </p:ext>
                </p:extLst>
              </p:nvPr>
            </p:nvGraphicFramePr>
            <p:xfrm>
              <a:off x="4340816" y="900847"/>
              <a:ext cx="7733928" cy="4602724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956416">
                      <a:extLst>
                        <a:ext uri="{9D8B030D-6E8A-4147-A177-3AD203B41FA5}">
                          <a16:colId xmlns:a16="http://schemas.microsoft.com/office/drawing/2014/main" val="2042575518"/>
                        </a:ext>
                      </a:extLst>
                    </a:gridCol>
                    <a:gridCol w="3777512">
                      <a:extLst>
                        <a:ext uri="{9D8B030D-6E8A-4147-A177-3AD203B41FA5}">
                          <a16:colId xmlns:a16="http://schemas.microsoft.com/office/drawing/2014/main" val="2837979094"/>
                        </a:ext>
                      </a:extLst>
                    </a:gridCol>
                  </a:tblGrid>
                  <a:tr h="4440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(SI)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49374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Potential-core length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× 0.002=0.012 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261801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Exit velocity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sub>
                              </m:sSub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317 m/s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134259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Centerline velocity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317⋅(0.012/0.50) ≈ 7.6 m/s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07121010"/>
                      </a:ext>
                    </a:extLst>
                  </a:tr>
                  <a:tr h="5299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Jet half-angle 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11° (assumed)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83090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Impingement diameter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000" b="0" smtClean="0">
                                      <a:latin typeface="Cambria Math" panose="02040503050406030204" pitchFamily="18" charset="0"/>
                                    </a:rPr>
                                    <m:t>𝑖𝑚𝑝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​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0.002+2⋅0.50⋅tan11° ≈ 0.196 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472786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Impact area 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0.0303 m² (≈ 302.89 cm²)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4960339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it-IT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Centerline overpressure Δ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en-US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91.70 </m:t>
                              </m:r>
                            </m:oMath>
                          </a14:m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28593756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fr-FR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Pressure distribution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fr-FR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(𝑟)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sz="2000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213.71</m:t>
                              </m:r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−0.5∗1.2(</m:t>
                              </m:r>
                              <m:sSup>
                                <m:sSup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77.6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2  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2341244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Impact force at the center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5.807 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4577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B347458-19F4-3A41-90A6-21F57DF7FF3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1388518"/>
                  </p:ext>
                </p:extLst>
              </p:nvPr>
            </p:nvGraphicFramePr>
            <p:xfrm>
              <a:off x="4340816" y="900847"/>
              <a:ext cx="7733928" cy="4602724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956416">
                      <a:extLst>
                        <a:ext uri="{9D8B030D-6E8A-4147-A177-3AD203B41FA5}">
                          <a16:colId xmlns:a16="http://schemas.microsoft.com/office/drawing/2014/main" val="2042575518"/>
                        </a:ext>
                      </a:extLst>
                    </a:gridCol>
                    <a:gridCol w="3777512">
                      <a:extLst>
                        <a:ext uri="{9D8B030D-6E8A-4147-A177-3AD203B41FA5}">
                          <a16:colId xmlns:a16="http://schemas.microsoft.com/office/drawing/2014/main" val="2837979094"/>
                        </a:ext>
                      </a:extLst>
                    </a:gridCol>
                  </a:tblGrid>
                  <a:tr h="44408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(SI)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49374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" t="-100000" r="-95840" b="-840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 × 0.002=0.012 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261801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" t="-197333" r="-95840" b="-7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317 m/s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1134259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" t="-301351" r="-95840" b="-63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4839" t="-301351" r="-323" b="-6391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121010"/>
                      </a:ext>
                    </a:extLst>
                  </a:tr>
                  <a:tr h="52998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Jet half-angle 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11° (assumed)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8309032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" t="-512000" r="-95840" b="-414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0.002+2⋅0.50⋅tan11° ≈ 0.196 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4727861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Impact area 𝐴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0.0303 m² (≈ 302.89 cm²)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54960339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" t="-710667" r="-95840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4839" t="-710667" r="-323" b="-2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8593756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4" t="-821622" r="-95840" b="-1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4839" t="-821622" r="-323" b="-1189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3412445"/>
                      </a:ext>
                    </a:extLst>
                  </a:tr>
                  <a:tr h="45358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Impact force at the center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5.807 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945778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8" name="Picture 4" descr="Jet Impingement - an overview | ScienceDirect Topics">
            <a:extLst>
              <a:ext uri="{FF2B5EF4-FFF2-40B4-BE49-F238E27FC236}">
                <a16:creationId xmlns:a16="http://schemas.microsoft.com/office/drawing/2014/main" id="{624A4E1A-EE3B-BB8F-6276-33F7DE309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70" y="900847"/>
            <a:ext cx="3745404" cy="24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1C17E6-0160-AFAA-B39F-1A4FFA07BDC0}"/>
              </a:ext>
            </a:extLst>
          </p:cNvPr>
          <p:cNvSpPr txBox="1"/>
          <p:nvPr/>
        </p:nvSpPr>
        <p:spPr>
          <a:xfrm>
            <a:off x="7968439" y="5458490"/>
            <a:ext cx="8103477" cy="498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range: 0.38 – 14.6 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459AC-2989-3143-E306-97909255AE53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3458CA-7450-961D-92BC-9DC23A375BD0}"/>
              </a:ext>
            </a:extLst>
          </p:cNvPr>
          <p:cNvSpPr txBox="1"/>
          <p:nvPr/>
        </p:nvSpPr>
        <p:spPr>
          <a:xfrm>
            <a:off x="-656828" y="3429000"/>
            <a:ext cx="4880389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from the air blower 0.9 MPa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camera and phantom: 50 cm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Nozzle diameter 2 mm</a:t>
            </a:r>
          </a:p>
          <a:p>
            <a:pPr marL="1257300" lvl="2" indent="-342900" algn="thaiDi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gas with choked flow</a:t>
            </a:r>
          </a:p>
        </p:txBody>
      </p:sp>
    </p:spTree>
    <p:extLst>
      <p:ext uri="{BB962C8B-B14F-4D97-AF65-F5344CB8AC3E}">
        <p14:creationId xmlns:p14="http://schemas.microsoft.com/office/powerpoint/2010/main" val="1826162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7C41-5461-E2C5-7D3A-9C909F82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8D204B07-8194-A13E-148E-AB6955B5131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E2328687-AC83-58DA-C6EC-99D844B2557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B70BEA-1E5C-6681-9A86-092594A8C228}"/>
              </a:ext>
            </a:extLst>
          </p:cNvPr>
          <p:cNvSpPr txBox="1"/>
          <p:nvPr/>
        </p:nvSpPr>
        <p:spPr>
          <a:xfrm>
            <a:off x="0" y="2529187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ROI CALCULATION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CF15469B-639D-4D92-C880-6B8EF0E55D82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35F79E76-E021-52D4-F035-388F4235590C}"/>
              </a:ext>
            </a:extLst>
          </p:cNvPr>
          <p:cNvSpPr/>
          <p:nvPr/>
        </p:nvSpPr>
        <p:spPr>
          <a:xfrm>
            <a:off x="131572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138F41B-2783-926E-B3A5-26B11DF3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23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1CB47-E9BE-67AE-122E-A8E31169D75A}"/>
              </a:ext>
            </a:extLst>
          </p:cNvPr>
          <p:cNvSpPr txBox="1"/>
          <p:nvPr/>
        </p:nvSpPr>
        <p:spPr>
          <a:xfrm>
            <a:off x="-75255" y="358879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(Region of Interest)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2A6AC4-2767-BF01-2DF6-4B47B1B7220B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F024CEA-8416-F0E7-0F92-4C7A6664504F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15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8C8D8BEF-28E4-915E-12CE-42EE836633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D5814FD8-8310-BDB1-2D03-AB9E26E16B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58477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5F3E-3A47-9E47-1CC1-312087C6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9091F5E0-767C-485A-258A-A6A4E768E2B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608B38CA-B7D1-7C85-D2A5-9E4F3440DD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9309C8F7-56EB-1269-22CA-9104C0352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8425BEE-B730-EE54-AA9A-7863AB49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24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FA2A0-68C1-60A4-234A-D3D0D92264B5}"/>
              </a:ext>
            </a:extLst>
          </p:cNvPr>
          <p:cNvSpPr txBox="1"/>
          <p:nvPr/>
        </p:nvSpPr>
        <p:spPr>
          <a:xfrm>
            <a:off x="-1" y="1969918"/>
            <a:ext cx="11353802" cy="16879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7AFBC34-6E22-D3C7-CB38-D4B400AAC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214653"/>
              </p:ext>
            </p:extLst>
          </p:nvPr>
        </p:nvGraphicFramePr>
        <p:xfrm>
          <a:off x="481771" y="2029218"/>
          <a:ext cx="4837493" cy="1946910"/>
        </p:xfrm>
        <a:graphic>
          <a:graphicData uri="http://schemas.openxmlformats.org/drawingml/2006/table">
            <a:tbl>
              <a:tblPr firstRow="1" firstCol="1">
                <a:tableStyleId>{9DCAF9ED-07DC-4A11-8D7F-57B35C25682E}</a:tableStyleId>
              </a:tblPr>
              <a:tblGrid>
                <a:gridCol w="2498926">
                  <a:extLst>
                    <a:ext uri="{9D8B030D-6E8A-4147-A177-3AD203B41FA5}">
                      <a16:colId xmlns:a16="http://schemas.microsoft.com/office/drawing/2014/main" val="3568082135"/>
                    </a:ext>
                  </a:extLst>
                </a:gridCol>
                <a:gridCol w="2338567">
                  <a:extLst>
                    <a:ext uri="{9D8B030D-6E8A-4147-A177-3AD203B41FA5}">
                      <a16:colId xmlns:a16="http://schemas.microsoft.com/office/drawing/2014/main" val="3289156338"/>
                    </a:ext>
                  </a:extLst>
                </a:gridCol>
              </a:tblGrid>
              <a:tr h="47625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Mechanical Properties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56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Phantom material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(Young’s modulus) kPa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0154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Gelatin Phantom </a:t>
                      </a: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 – 180 g/L)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– 158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00592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Agarose Phantom </a:t>
                      </a: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 – 30 g/L)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 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195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4163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1B1A39-D656-6F97-90B5-D79330C9CA58}"/>
                  </a:ext>
                </a:extLst>
              </p:cNvPr>
              <p:cNvSpPr txBox="1"/>
              <p:nvPr/>
            </p:nvSpPr>
            <p:spPr>
              <a:xfrm>
                <a:off x="6096001" y="1966657"/>
                <a:ext cx="4154424" cy="3317062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Young’s modulus;</a:t>
                </a:r>
              </a:p>
              <a:p>
                <a:pPr algn="ctr"/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𝐹𝐿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i="1" dirty="0"/>
              </a:p>
              <a:p>
                <a:pPr algn="ctr"/>
                <a:endParaRPr lang="en-US" sz="2400" i="1" dirty="0"/>
              </a:p>
              <a:p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ROI selection (A) by;</a:t>
                </a:r>
              </a:p>
              <a:p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𝐹𝐿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1B1A39-D656-6F97-90B5-D79330C9C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1966657"/>
                <a:ext cx="4154424" cy="3317062"/>
              </a:xfrm>
              <a:prstGeom prst="rect">
                <a:avLst/>
              </a:prstGeom>
              <a:blipFill>
                <a:blip r:embed="rId6"/>
                <a:stretch>
                  <a:fillRect l="-1744" t="-909"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2C328F0-7FA4-F492-8871-67320E0B0B73}"/>
              </a:ext>
            </a:extLst>
          </p:cNvPr>
          <p:cNvSpPr txBox="1"/>
          <p:nvPr/>
        </p:nvSpPr>
        <p:spPr>
          <a:xfrm>
            <a:off x="0" y="4052256"/>
            <a:ext cx="1219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Phantom thickness 30 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52844-B37C-3BFB-38FB-B0A8D76E00F7}"/>
              </a:ext>
            </a:extLst>
          </p:cNvPr>
          <p:cNvSpPr txBox="1"/>
          <p:nvPr/>
        </p:nvSpPr>
        <p:spPr>
          <a:xfrm>
            <a:off x="0" y="-38336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ROI CALCULATION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808F3-CCCD-29BF-70C8-B2F27E7CE4EA}"/>
              </a:ext>
            </a:extLst>
          </p:cNvPr>
          <p:cNvSpPr txBox="1"/>
          <p:nvPr/>
        </p:nvSpPr>
        <p:spPr>
          <a:xfrm>
            <a:off x="61463" y="982853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Phantom Condition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0FF24-68C3-1564-B102-86CF4BAE76FD}"/>
              </a:ext>
            </a:extLst>
          </p:cNvPr>
          <p:cNvSpPr txBox="1"/>
          <p:nvPr/>
        </p:nvSpPr>
        <p:spPr>
          <a:xfrm>
            <a:off x="-1" y="4521141"/>
            <a:ext cx="8103477" cy="4986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Force : 5.807 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E12813-5FFD-D9DF-8B45-32B3FBFDD642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12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792F8481-0A1C-8A3A-E735-17371C2722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F896C925-1DD6-18EC-D2BD-6F3341BD4E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BFF4820-E6D8-C18A-837B-79BA661E0087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2A72B-31F6-D23F-CA18-9103121BD6B7}"/>
                  </a:ext>
                </a:extLst>
              </p:cNvPr>
              <p:cNvSpPr txBox="1"/>
              <p:nvPr/>
            </p:nvSpPr>
            <p:spPr>
              <a:xfrm>
                <a:off x="-2" y="4967354"/>
                <a:ext cx="8103477" cy="49866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lvl="1" algn="thaiDi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from LiDAR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12A72B-31F6-D23F-CA18-9103121BD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4967354"/>
                <a:ext cx="8103477" cy="498663"/>
              </a:xfrm>
              <a:prstGeom prst="rect">
                <a:avLst/>
              </a:prstGeom>
              <a:blipFill>
                <a:blip r:embed="rId7"/>
                <a:stretch>
                  <a:fillRect b="-20732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4642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BE63-F531-8D02-A1F0-E0297BF8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9A4985C3-0A95-3781-63FA-7B1FE11B75B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pic>
        <p:nvPicPr>
          <p:cNvPr id="42" name="Picture 4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C34DCA6-0AE4-0FF4-9290-6AC99889CDA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70C430-BA20-4FD8-9891-B726A9C2FE6A}"/>
              </a:ext>
            </a:extLst>
          </p:cNvPr>
          <p:cNvSpPr txBox="1"/>
          <p:nvPr/>
        </p:nvSpPr>
        <p:spPr>
          <a:xfrm>
            <a:off x="0" y="2274838"/>
            <a:ext cx="12192000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Next Steps and</a:t>
            </a:r>
          </a:p>
          <a:p>
            <a:pPr algn="ctr"/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 Development Pathway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6C2B800E-3AF9-197C-CD0B-380A35630D8B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0DED187C-E8F0-F46C-9BB3-879E651A081D}"/>
              </a:ext>
            </a:extLst>
          </p:cNvPr>
          <p:cNvSpPr/>
          <p:nvPr/>
        </p:nvSpPr>
        <p:spPr>
          <a:xfrm>
            <a:off x="1113590" y="2529187"/>
            <a:ext cx="396240" cy="471999"/>
          </a:xfrm>
          <a:prstGeom prst="diagStrip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F330C84-8836-9564-4CBC-018A5360C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25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1F80677-B77E-CA1E-E8A0-75C32BFDC535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3D96D4FD-724F-24EA-91AE-D59D6698D8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C609CFA2-BBDD-2546-35B9-47A98F669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1155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8759-C4F7-5CAA-7DD1-2EDAA31D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Amazon | HAIGE(ハイガー) コンプレッサー エアコンプレッサー エアーコンプレッサー 小型 100V オイルレス 静音 タンクレス  ブラシレス HG-DC880N1 | エアコンプレッサー">
            <a:extLst>
              <a:ext uri="{FF2B5EF4-FFF2-40B4-BE49-F238E27FC236}">
                <a16:creationId xmlns:a16="http://schemas.microsoft.com/office/drawing/2014/main" id="{B199DEF1-637C-50FB-04CF-4AB8583DC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642" y="3976306"/>
            <a:ext cx="1131520" cy="102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6BCA76B9-460E-01A2-00C0-8DECD6E6955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8ABFA9-4360-5D58-0604-2683521EB75C}"/>
              </a:ext>
            </a:extLst>
          </p:cNvPr>
          <p:cNvSpPr txBox="1"/>
          <p:nvPr/>
        </p:nvSpPr>
        <p:spPr>
          <a:xfrm>
            <a:off x="0" y="65529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Next Steps and</a:t>
            </a:r>
          </a:p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 Development Pathway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669923F6-70BE-0FD1-58E9-E5DED1696D66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2E0D13A-67EF-6962-C333-D33AB867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26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D3FE78-46BC-96EE-F6E8-9909B5FEEC22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28A858D3-2781-57EA-9EAB-5E0019DA99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79D887FB-F093-D291-3E3A-BFA650F16A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5292CB1-CB4E-25E7-27E9-6B9CE6AB4456}"/>
              </a:ext>
            </a:extLst>
          </p:cNvPr>
          <p:cNvSpPr txBox="1"/>
          <p:nvPr/>
        </p:nvSpPr>
        <p:spPr>
          <a:xfrm>
            <a:off x="267745" y="1285667"/>
            <a:ext cx="7153645" cy="409342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thaiDi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</a:t>
            </a:r>
          </a:p>
          <a:p>
            <a:pPr algn="thaiDist">
              <a:buNone/>
            </a:pPr>
            <a:endParaRPr lang="en-US" sz="1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Identified suitable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phantom materials and concentrations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gelatin, agarose)</a:t>
            </a:r>
          </a:p>
          <a:p>
            <a:pPr lvl="1" algn="thaiDist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Defined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(ROI)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LiDAR measurement</a:t>
            </a:r>
          </a:p>
          <a:p>
            <a:pPr lvl="1" algn="thaiDist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💨 Determined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air-blower specifications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force delivery (1–15 N)</a:t>
            </a:r>
          </a:p>
          <a:p>
            <a:pPr lvl="1" algn="thaiDist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Completed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of experimental setup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air-jet and LiDAR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05FFD-7378-4187-51D9-B036E10686E9}"/>
              </a:ext>
            </a:extLst>
          </p:cNvPr>
          <p:cNvSpPr txBox="1"/>
          <p:nvPr/>
        </p:nvSpPr>
        <p:spPr>
          <a:xfrm>
            <a:off x="7451404" y="4904680"/>
            <a:ext cx="5995337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Set Up</a:t>
            </a:r>
          </a:p>
        </p:txBody>
      </p:sp>
      <p:pic>
        <p:nvPicPr>
          <p:cNvPr id="10" name="Picture 9" descr="訓練用モデル（ナビトレ）皮膚縫合モデル単層シート">
            <a:extLst>
              <a:ext uri="{FF2B5EF4-FFF2-40B4-BE49-F238E27FC236}">
                <a16:creationId xmlns:a16="http://schemas.microsoft.com/office/drawing/2014/main" id="{CD7D933C-A75F-BA97-1AA1-960830ED0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41586">
            <a:off x="11143998" y="1784653"/>
            <a:ext cx="1143303" cy="95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D4CF7C2B-74BA-E2E7-3EF1-BFE1CA67B20E}"/>
              </a:ext>
            </a:extLst>
          </p:cNvPr>
          <p:cNvCxnSpPr>
            <a:cxnSpLocks/>
            <a:stCxn id="13" idx="1"/>
            <a:endCxn id="5" idx="1"/>
          </p:cNvCxnSpPr>
          <p:nvPr/>
        </p:nvCxnSpPr>
        <p:spPr>
          <a:xfrm rot="10800000">
            <a:off x="7908642" y="2621828"/>
            <a:ext cx="12700" cy="1867080"/>
          </a:xfrm>
          <a:prstGeom prst="curvedConnector3">
            <a:avLst>
              <a:gd name="adj1" fmla="val 270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C6915-1624-FA48-A767-78A96FEA8FCF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9624820" y="2621828"/>
            <a:ext cx="1648506" cy="132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0B04F1-84FA-3780-BE69-064093628BBC}"/>
              </a:ext>
            </a:extLst>
          </p:cNvPr>
          <p:cNvSpPr txBox="1"/>
          <p:nvPr/>
        </p:nvSpPr>
        <p:spPr>
          <a:xfrm>
            <a:off x="9163987" y="2611315"/>
            <a:ext cx="403724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50 cm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2B5663-C8FD-A9E4-90D8-F993DB9E75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58" r="6105" b="22176"/>
          <a:stretch/>
        </p:blipFill>
        <p:spPr>
          <a:xfrm>
            <a:off x="7908642" y="1424519"/>
            <a:ext cx="1716178" cy="23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25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C898B-E31A-6A41-C490-AEB4AD3C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BA8D3141-B211-0E5D-6AA7-51EC9225070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15902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0FAB95-89D7-5140-3E1D-F6A85F4DEADC}"/>
              </a:ext>
            </a:extLst>
          </p:cNvPr>
          <p:cNvSpPr txBox="1"/>
          <p:nvPr/>
        </p:nvSpPr>
        <p:spPr>
          <a:xfrm>
            <a:off x="0" y="65529"/>
            <a:ext cx="12192000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Next Steps and</a:t>
            </a:r>
          </a:p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 Development Pathway</a:t>
            </a:r>
          </a:p>
        </p:txBody>
      </p:sp>
      <p:sp>
        <p:nvSpPr>
          <p:cNvPr id="2" name="!!REC">
            <a:extLst>
              <a:ext uri="{FF2B5EF4-FFF2-40B4-BE49-F238E27FC236}">
                <a16:creationId xmlns:a16="http://schemas.microsoft.com/office/drawing/2014/main" id="{7FF65B13-BC22-EC1B-4E8C-4375926ADE20}"/>
              </a:ext>
            </a:extLst>
          </p:cNvPr>
          <p:cNvSpPr/>
          <p:nvPr/>
        </p:nvSpPr>
        <p:spPr>
          <a:xfrm>
            <a:off x="0" y="6858000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0FF1FE9-157D-AE20-C2BF-F91BCB0D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27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729C19-5888-2D77-39F5-FD778ACE1441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9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7B826DC1-8601-9A92-9682-7812F3D2DD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6B83BC95-C4E8-CF2C-1626-236F2C50E9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B4EC8EDB-A3B1-41C1-10A2-7523CF4821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3076340"/>
              </p:ext>
            </p:extLst>
          </p:nvPr>
        </p:nvGraphicFramePr>
        <p:xfrm>
          <a:off x="416091" y="1446894"/>
          <a:ext cx="11359817" cy="50866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02148206-0198-842A-11A1-71A714331BC7}"/>
              </a:ext>
            </a:extLst>
          </p:cNvPr>
          <p:cNvSpPr txBox="1"/>
          <p:nvPr/>
        </p:nvSpPr>
        <p:spPr>
          <a:xfrm>
            <a:off x="-3389610" y="1962480"/>
            <a:ext cx="12192000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haroni" panose="02010803020104030203" pitchFamily="2" charset="-79"/>
                <a:cs typeface="Aharoni" panose="02010803020104030203" pitchFamily="2" charset="-79"/>
              </a:rPr>
              <a:t>🔄 </a:t>
            </a:r>
            <a:r>
              <a:rPr lang="en-US" sz="3200" u="sng" dirty="0">
                <a:latin typeface="Aharoni" panose="02010803020104030203" pitchFamily="2" charset="-79"/>
                <a:cs typeface="Aharoni" panose="02010803020104030203" pitchFamily="2" charset="-79"/>
              </a:rPr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864066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0AF4A6-E338-E890-74AF-01AE06DD875F}"/>
              </a:ext>
            </a:extLst>
          </p:cNvPr>
          <p:cNvSpPr txBox="1"/>
          <p:nvPr/>
        </p:nvSpPr>
        <p:spPr>
          <a:xfrm>
            <a:off x="7175333" y="1461772"/>
            <a:ext cx="5150379" cy="378704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200" kern="1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THANK YOU</a:t>
            </a:r>
          </a:p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6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Q &amp; A</a:t>
            </a:r>
            <a:endParaRPr lang="en-US" sz="6200" kern="1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haroni" panose="02010803020104030203" pitchFamily="2" charset="-79"/>
              <a:ea typeface="+mj-ea"/>
              <a:cs typeface="Aharoni" panose="02010803020104030203" pitchFamily="2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D8316-4356-8C84-88A0-694CDAC5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EFA81D6-7E61-41E9-BB6F-B62DDBA2B54E}" type="slidenum">
              <a:rPr lang="en-US" b="1" smtClean="0">
                <a:solidFill>
                  <a:schemeClr val="tx1"/>
                </a:solidFill>
                <a:latin typeface="Abadi" panose="020B0604020104020204" pitchFamily="34" charset="0"/>
              </a:rPr>
              <a:pPr>
                <a:spcAft>
                  <a:spcPts val="600"/>
                </a:spcAft>
              </a:pPr>
              <a:t>28</a:t>
            </a:fld>
            <a:endParaRPr lang="en-US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pic>
        <p:nvPicPr>
          <p:cNvPr id="2" name="Picture 14" descr="Machine Learning: What is it and why does it change the world?">
            <a:extLst>
              <a:ext uri="{FF2B5EF4-FFF2-40B4-BE49-F238E27FC236}">
                <a16:creationId xmlns:a16="http://schemas.microsoft.com/office/drawing/2014/main" id="{DE10E36D-0B2D-1AFC-0D69-E52342502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23" y="1795345"/>
            <a:ext cx="6116778" cy="3266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10BC2DC-95E4-90D6-0710-79DFB253EA6D}"/>
              </a:ext>
            </a:extLst>
          </p:cNvPr>
          <p:cNvGrpSpPr/>
          <p:nvPr/>
        </p:nvGrpSpPr>
        <p:grpSpPr>
          <a:xfrm>
            <a:off x="10985984" y="47827"/>
            <a:ext cx="1034194" cy="467116"/>
            <a:chOff x="10985984" y="47827"/>
            <a:chExt cx="1034194" cy="467116"/>
          </a:xfrm>
        </p:grpSpPr>
        <p:pic>
          <p:nvPicPr>
            <p:cNvPr id="11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  <a:extLst>
                <a:ext uri="{FF2B5EF4-FFF2-40B4-BE49-F238E27FC236}">
                  <a16:creationId xmlns:a16="http://schemas.microsoft.com/office/drawing/2014/main" id="{8ADFDB5E-3922-D5F3-8519-5F8107796E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6720" b="32723"/>
            <a:stretch/>
          </p:blipFill>
          <p:spPr bwMode="auto">
            <a:xfrm>
              <a:off x="10985984" y="47827"/>
              <a:ext cx="573968" cy="431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Division of Health Sciences Graduate School of Medical Sciences, Kanazawa  University">
              <a:extLst>
                <a:ext uri="{FF2B5EF4-FFF2-40B4-BE49-F238E27FC236}">
                  <a16:creationId xmlns:a16="http://schemas.microsoft.com/office/drawing/2014/main" id="{11AEAE7E-C838-B538-E039-4DD6D84C7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59952" y="54717"/>
              <a:ext cx="460226" cy="4602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42507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309B4B-1AEA-B3BC-19C0-69F9639A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REC">
            <a:extLst>
              <a:ext uri="{FF2B5EF4-FFF2-40B4-BE49-F238E27FC236}">
                <a16:creationId xmlns:a16="http://schemas.microsoft.com/office/drawing/2014/main" id="{65672D30-7DB2-BE40-59F9-0E6E5C923657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C74C4717-55A9-FEF4-B7A8-33FA7A9AE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B05FF687-827C-981D-B160-44A9ECAA5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78DA075-AE79-600B-8B2C-BE633CBC0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29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52FA73-53E6-C529-EF0F-7442851FDBA1}"/>
                  </a:ext>
                </a:extLst>
              </p:cNvPr>
              <p:cNvSpPr txBox="1"/>
              <p:nvPr/>
            </p:nvSpPr>
            <p:spPr>
              <a:xfrm>
                <a:off x="-1" y="1358843"/>
                <a:ext cx="10828422" cy="4557466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whether the flow is choked at the nozzle throat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ideal gases with γ = 1.4 (air), choked (sonic) flow occurs whenever the nozzle‐entry (stagnation) to exit (ambient) pressure ratio exceeds:</a:t>
                </a: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71600" lvl="2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𝑎𝑚𝑏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 MPa/0.1 MPa = 10 ≫1.893, so the exit Mach number is ​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=1 (choked flow)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52FA73-53E6-C529-EF0F-7442851FD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358843"/>
                <a:ext cx="10828422" cy="4557466"/>
              </a:xfrm>
              <a:prstGeom prst="rect">
                <a:avLst/>
              </a:prstGeom>
              <a:blipFill>
                <a:blip r:embed="rId5"/>
                <a:stretch>
                  <a:fillRect r="-1577" b="-2005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7F447FC-9721-6C1A-1977-5517E95FA5BE}"/>
              </a:ext>
            </a:extLst>
          </p:cNvPr>
          <p:cNvSpPr txBox="1"/>
          <p:nvPr/>
        </p:nvSpPr>
        <p:spPr>
          <a:xfrm>
            <a:off x="0" y="60740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Behavior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F6F8D6-A420-50F9-5DC3-017C1BBEC1AC}"/>
                  </a:ext>
                </a:extLst>
              </p:cNvPr>
              <p:cNvSpPr txBox="1"/>
              <p:nvPr/>
            </p:nvSpPr>
            <p:spPr>
              <a:xfrm>
                <a:off x="2731299" y="3412784"/>
                <a:ext cx="4671179" cy="1262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𝑎𝑚𝑏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F6F8D6-A420-50F9-5DC3-017C1BBEC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299" y="3412784"/>
                <a:ext cx="4671179" cy="12622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0055630D-46B8-9A4E-C6DC-003E521596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" t="28429" r="2031" b="58342"/>
          <a:stretch/>
        </p:blipFill>
        <p:spPr bwMode="auto">
          <a:xfrm>
            <a:off x="6650462" y="3132070"/>
            <a:ext cx="443484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477682-F700-5564-6576-ADAAD268A91A}"/>
              </a:ext>
            </a:extLst>
          </p:cNvPr>
          <p:cNvSpPr txBox="1"/>
          <p:nvPr/>
        </p:nvSpPr>
        <p:spPr>
          <a:xfrm>
            <a:off x="7506878" y="6466502"/>
            <a:ext cx="4950643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https://en.wikipedia.org/wiki/Choked_flow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30610-3D5F-5318-02EA-7F2B2FBE56C7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74EE5B-DCCA-B93A-37A3-24792786AC37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1795803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F92EB3-034E-B659-F7C6-6EE6A1CD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REC">
            <a:extLst>
              <a:ext uri="{FF2B5EF4-FFF2-40B4-BE49-F238E27FC236}">
                <a16:creationId xmlns:a16="http://schemas.microsoft.com/office/drawing/2014/main" id="{67FCDB36-B5F9-5BB1-6F5F-85474BA492E0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36344F6A-0ACB-3BB3-24C8-4A4D678864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772588E0-E7BB-9306-887F-470481ED5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64267C0-9D83-1DC8-391C-2B1EB5B9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30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4AC5BD-1598-E1F6-2114-58D579CCABFF}"/>
                  </a:ext>
                </a:extLst>
              </p:cNvPr>
              <p:cNvSpPr txBox="1"/>
              <p:nvPr/>
            </p:nvSpPr>
            <p:spPr>
              <a:xfrm>
                <a:off x="-1" y="1282640"/>
                <a:ext cx="10828422" cy="455028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whether the flow is choked at the nozzle throat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isentropic relations, the static pressure at the throat/exit is:</a:t>
                </a: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(stagnation) density is given by the ideal-gas law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 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​: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4AC5BD-1598-E1F6-2114-58D579CCA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82640"/>
                <a:ext cx="10828422" cy="45502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FA0BF-1765-495C-4999-B9FBC0C3AC68}"/>
                  </a:ext>
                </a:extLst>
              </p:cNvPr>
              <p:cNvSpPr txBox="1"/>
              <p:nvPr/>
            </p:nvSpPr>
            <p:spPr>
              <a:xfrm>
                <a:off x="345340" y="2624512"/>
                <a:ext cx="6434432" cy="956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FA0BF-1765-495C-4999-B9FBC0C3A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40" y="2624512"/>
                <a:ext cx="6434432" cy="956031"/>
              </a:xfrm>
              <a:prstGeom prst="rect">
                <a:avLst/>
              </a:prstGeom>
              <a:blipFill>
                <a:blip r:embed="rId6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D9C12BC5-9C83-2561-EA87-FF515EEA6B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" t="28429" r="2031" b="58342"/>
          <a:stretch/>
        </p:blipFill>
        <p:spPr bwMode="auto">
          <a:xfrm>
            <a:off x="7161436" y="2530544"/>
            <a:ext cx="443484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951C5B-40F5-E804-8251-A512E920BC50}"/>
                  </a:ext>
                </a:extLst>
              </p:cNvPr>
              <p:cNvSpPr txBox="1"/>
              <p:nvPr/>
            </p:nvSpPr>
            <p:spPr>
              <a:xfrm>
                <a:off x="2224328" y="4834000"/>
                <a:ext cx="6434432" cy="972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951C5B-40F5-E804-8251-A512E920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328" y="4834000"/>
                <a:ext cx="6434432" cy="972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72056AD-A714-301D-8C55-E17DE0AC2BD2}"/>
              </a:ext>
            </a:extLst>
          </p:cNvPr>
          <p:cNvSpPr txBox="1"/>
          <p:nvPr/>
        </p:nvSpPr>
        <p:spPr>
          <a:xfrm>
            <a:off x="7506878" y="6466502"/>
            <a:ext cx="4950643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https://en.wikipedia.org/wiki/Choked_flow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368C82-F35B-0A7C-F2AD-5878C1CF1842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6F78D9-FF54-F0F2-E370-A90B0F734B19}"/>
              </a:ext>
            </a:extLst>
          </p:cNvPr>
          <p:cNvSpPr txBox="1"/>
          <p:nvPr/>
        </p:nvSpPr>
        <p:spPr>
          <a:xfrm>
            <a:off x="0" y="56692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Density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77228-6209-5BFA-CA56-3E26E7C0A623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3335577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EEDA7C-6AD6-3C74-0C28-3956887F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">
            <a:extLst>
              <a:ext uri="{FF2B5EF4-FFF2-40B4-BE49-F238E27FC236}">
                <a16:creationId xmlns:a16="http://schemas.microsoft.com/office/drawing/2014/main" id="{BDD6288D-BCAA-B1D8-F61C-28FA4EA3494C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AB419B2A-C82C-A3A5-8AC5-E47B0B28B0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58B4715F-8758-73C7-34A4-7FAD1BF3B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E60C5C2-7E45-738D-F2D6-7E0B06EA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31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36BD73-0562-9BAD-2C85-D7DF832BF669}"/>
                  </a:ext>
                </a:extLst>
              </p:cNvPr>
              <p:cNvSpPr txBox="1"/>
              <p:nvPr/>
            </p:nvSpPr>
            <p:spPr>
              <a:xfrm>
                <a:off x="-1" y="1206189"/>
                <a:ext cx="10828422" cy="4082015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Establish whether the flow is choked at the nozzle throat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Combining the two gives</a:t>
                </a: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air (𝛾=1.4);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400"/>
                              <m:t>γ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400"/>
                              <m:t>γ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0.634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336BD73-0562-9BAD-2C85-D7DF832BF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06189"/>
                <a:ext cx="10828422" cy="4082015"/>
              </a:xfrm>
              <a:prstGeom prst="rect">
                <a:avLst/>
              </a:prstGeom>
              <a:blipFill>
                <a:blip r:embed="rId5"/>
                <a:stretch>
                  <a:fillRect b="-254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4BCFAB4-E5BD-FABA-6609-CCB6BDC7DF2F}"/>
              </a:ext>
            </a:extLst>
          </p:cNvPr>
          <p:cNvSpPr txBox="1"/>
          <p:nvPr/>
        </p:nvSpPr>
        <p:spPr>
          <a:xfrm>
            <a:off x="0" y="56692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7399B6-AC4A-70BF-F354-DBF88D1AB369}"/>
                  </a:ext>
                </a:extLst>
              </p:cNvPr>
              <p:cNvSpPr txBox="1"/>
              <p:nvPr/>
            </p:nvSpPr>
            <p:spPr>
              <a:xfrm>
                <a:off x="345340" y="2550895"/>
                <a:ext cx="6434432" cy="1020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  <m:r>
                      <m:rPr>
                        <m:nor/>
                      </m:rPr>
                      <a: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sz="28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8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l-GR" sz="2800"/>
                              <m:t>γ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sup>
                    </m:sSup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7399B6-AC4A-70BF-F354-DBF88D1AB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40" y="2550895"/>
                <a:ext cx="6434432" cy="1020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FC82252A-C781-EA12-A22E-C82118708B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8" t="28429" r="2031" b="58342"/>
          <a:stretch/>
        </p:blipFill>
        <p:spPr bwMode="auto">
          <a:xfrm>
            <a:off x="6526342" y="3036951"/>
            <a:ext cx="4434840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4056A0-C83F-EDF3-2B87-C14B387651C4}"/>
                  </a:ext>
                </a:extLst>
              </p:cNvPr>
              <p:cNvSpPr txBox="1"/>
              <p:nvPr/>
            </p:nvSpPr>
            <p:spPr>
              <a:xfrm>
                <a:off x="1444637" y="4751331"/>
                <a:ext cx="6434432" cy="1439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0.634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= 7.40 kg/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4056A0-C83F-EDF3-2B87-C14B38765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637" y="4751331"/>
                <a:ext cx="6434432" cy="1439881"/>
              </a:xfrm>
              <a:prstGeom prst="rect">
                <a:avLst/>
              </a:prstGeom>
              <a:blipFill>
                <a:blip r:embed="rId8"/>
                <a:stretch>
                  <a:fillRect b="-80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FFE9C0B-354C-585E-F7CB-85BAE3CF89E8}"/>
              </a:ext>
            </a:extLst>
          </p:cNvPr>
          <p:cNvSpPr txBox="1"/>
          <p:nvPr/>
        </p:nvSpPr>
        <p:spPr>
          <a:xfrm>
            <a:off x="7506878" y="6466502"/>
            <a:ext cx="4950643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https://en.wikipedia.org/wiki/Choked_flow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CC94C-77E9-B833-4A0B-1B8B88D0118F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35270-F924-2558-84DB-4100C59059D4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2590983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0DE43F-1BC6-82CA-8B54-2BC1FE46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REC">
            <a:extLst>
              <a:ext uri="{FF2B5EF4-FFF2-40B4-BE49-F238E27FC236}">
                <a16:creationId xmlns:a16="http://schemas.microsoft.com/office/drawing/2014/main" id="{D58AEAB6-0A39-B7CB-A1EE-F7C087466597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18DD8A60-8763-1CA7-A19D-D58AF4AB0C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7783977C-6DDB-3FC8-B60F-F011C523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7C5A6BC-B700-D1E0-9904-48816B68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509291-9CF2-8DE3-1899-4BA86620E2D1}"/>
                  </a:ext>
                </a:extLst>
              </p:cNvPr>
              <p:cNvSpPr txBox="1"/>
              <p:nvPr/>
            </p:nvSpPr>
            <p:spPr>
              <a:xfrm>
                <a:off x="-1" y="1164368"/>
                <a:ext cx="10828422" cy="399628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the nozzle‐exit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sub>
                    </m:sSub>
                  </m:oMath>
                </a14:m>
                <a:endPara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 choked, isentropic conditions, the exit static temperature is</a:t>
                </a:r>
              </a:p>
              <a:p>
                <a:pPr lvl="3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the sonic speed at the exit is</a:t>
                </a:r>
              </a:p>
              <a:p>
                <a:pPr lvl="3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3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828800" lvl="3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the jet issues at about 316 m/s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F509291-9CF2-8DE3-1899-4BA86620E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164368"/>
                <a:ext cx="10828422" cy="3996287"/>
              </a:xfrm>
              <a:prstGeom prst="rect">
                <a:avLst/>
              </a:prstGeom>
              <a:blipFill>
                <a:blip r:embed="rId5"/>
                <a:stretch>
                  <a:fillRect b="-259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6B130-EF6B-60B2-EEAE-7260C8F40057}"/>
                  </a:ext>
                </a:extLst>
              </p:cNvPr>
              <p:cNvSpPr txBox="1"/>
              <p:nvPr/>
            </p:nvSpPr>
            <p:spPr>
              <a:xfrm>
                <a:off x="3384805" y="2381314"/>
                <a:ext cx="7141461" cy="6687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400"/>
                          <m:t>γ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=298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.4</m:t>
                        </m:r>
                      </m:den>
                    </m:f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248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76B130-EF6B-60B2-EEAE-7260C8F40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4805" y="2381314"/>
                <a:ext cx="7141461" cy="668709"/>
              </a:xfrm>
              <a:prstGeom prst="rect">
                <a:avLst/>
              </a:prstGeom>
              <a:blipFill>
                <a:blip r:embed="rId6"/>
                <a:stretch>
                  <a:fillRect b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CD541-C162-0DC5-145A-587219B22B4E}"/>
                  </a:ext>
                </a:extLst>
              </p:cNvPr>
              <p:cNvSpPr txBox="1"/>
              <p:nvPr/>
            </p:nvSpPr>
            <p:spPr>
              <a:xfrm>
                <a:off x="2840739" y="3682629"/>
                <a:ext cx="7141461" cy="843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l-GR" sz="2400"/>
                          <m:t>γ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𝑎𝑖𝑟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sub>
                        </m:sSub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sz="2400" b="0" i="0" smtClean="0"/>
                          <m:t>1.4∗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287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𝑘𝑔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∗248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</m:rad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316 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3CD541-C162-0DC5-145A-587219B22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739" y="3682629"/>
                <a:ext cx="7141461" cy="8438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8919671-86BA-7479-8D46-25562CA41163}"/>
              </a:ext>
            </a:extLst>
          </p:cNvPr>
          <p:cNvSpPr txBox="1"/>
          <p:nvPr/>
        </p:nvSpPr>
        <p:spPr>
          <a:xfrm>
            <a:off x="7506878" y="6466502"/>
            <a:ext cx="4950643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https://en.wikipedia.org/wiki/Choked_flow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1DA09B-F255-56AD-12CD-2EA5F56C1994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4A2C6-009D-5EC8-6783-119C0A3DE037}"/>
              </a:ext>
            </a:extLst>
          </p:cNvPr>
          <p:cNvSpPr txBox="1"/>
          <p:nvPr/>
        </p:nvSpPr>
        <p:spPr>
          <a:xfrm>
            <a:off x="0" y="53176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C1D6C-D6A4-C18B-E3BA-A33EDB8E1819}"/>
              </a:ext>
            </a:extLst>
          </p:cNvPr>
          <p:cNvSpPr txBox="1"/>
          <p:nvPr/>
        </p:nvSpPr>
        <p:spPr>
          <a:xfrm>
            <a:off x="0" y="-180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1513155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685D5D6-FE5D-8E04-CEF3-1841D10C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">
            <a:extLst>
              <a:ext uri="{FF2B5EF4-FFF2-40B4-BE49-F238E27FC236}">
                <a16:creationId xmlns:a16="http://schemas.microsoft.com/office/drawing/2014/main" id="{718E1A4C-DA5D-F41D-DAE0-F0CE3A809A4D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83877ACD-DA48-4F70-C128-E3261CE3F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065B0C75-FBF9-2200-163E-7B05B212C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E425EC4-9B3C-FCF9-7166-A30AF4DE6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33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BC1100-06E0-ED09-56C2-B44553EA2D8F}"/>
                  </a:ext>
                </a:extLst>
              </p:cNvPr>
              <p:cNvSpPr txBox="1"/>
              <p:nvPr/>
            </p:nvSpPr>
            <p:spPr>
              <a:xfrm>
                <a:off x="-2" y="1291092"/>
                <a:ext cx="11903243" cy="5104282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Centerline velocity decay of an axisymmetric free jet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𝑥 beyond the potential‐core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, the centerline velocity decays approximately as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 is the axial distance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falls to unity (end of potential core)</a:t>
                </a:r>
              </a:p>
              <a:p>
                <a:pPr marL="1257300" lvl="2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Empirically, for many nozzles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6 𝑑 (Turbulent Flow).</a:t>
                </a:r>
              </a:p>
              <a:p>
                <a:pPr marL="1257300" lvl="2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nozzle diameter is 𝑑=2 mm,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≈ 0.012 m.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x = 0.50 m,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BC1100-06E0-ED09-56C2-B44553EA2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1291092"/>
                <a:ext cx="11903243" cy="5104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AB034B1-5694-A317-0A5C-F61F4102E6DB}"/>
              </a:ext>
            </a:extLst>
          </p:cNvPr>
          <p:cNvSpPr txBox="1"/>
          <p:nvPr/>
        </p:nvSpPr>
        <p:spPr>
          <a:xfrm>
            <a:off x="0" y="53176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7393A-EE90-21B3-0FD1-D8001CE37055}"/>
                  </a:ext>
                </a:extLst>
              </p:cNvPr>
              <p:cNvSpPr txBox="1"/>
              <p:nvPr/>
            </p:nvSpPr>
            <p:spPr>
              <a:xfrm>
                <a:off x="4212339" y="2748029"/>
                <a:ext cx="7141461" cy="874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,​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F7393A-EE90-21B3-0FD1-D8001CE37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339" y="2748029"/>
                <a:ext cx="7141461" cy="8742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7981A5-BF98-EA48-4362-3DB7ADD54E08}"/>
                  </a:ext>
                </a:extLst>
              </p:cNvPr>
              <p:cNvSpPr txBox="1"/>
              <p:nvPr/>
            </p:nvSpPr>
            <p:spPr>
              <a:xfrm>
                <a:off x="3844523" y="5488463"/>
                <a:ext cx="7141461" cy="7229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(0.50)</m:t>
                        </m:r>
                      </m:num>
                      <m:den>
                        <m: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7.6 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17981A5-BF98-EA48-4362-3DB7ADD54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4523" y="5488463"/>
                <a:ext cx="7141461" cy="722955"/>
              </a:xfrm>
              <a:prstGeom prst="rect">
                <a:avLst/>
              </a:prstGeom>
              <a:blipFill>
                <a:blip r:embed="rId7"/>
                <a:stretch>
                  <a:fillRect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E676AD0-CFD8-FCAC-51BA-B5C38F9B68AC}"/>
              </a:ext>
            </a:extLst>
          </p:cNvPr>
          <p:cNvSpPr txBox="1"/>
          <p:nvPr/>
        </p:nvSpPr>
        <p:spPr>
          <a:xfrm>
            <a:off x="8142846" y="6202381"/>
            <a:ext cx="2843138" cy="548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https://ntrs.nasa.gov/api/citations/19720016717/downloads/19720016717.pdf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FA823-824D-9BBB-87D2-C925E0D8C52C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CF120-E74A-D3AA-5301-DE06CAD8C96E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25455684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0979D4-835C-CB27-38CB-7F2D5E77B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REC">
            <a:extLst>
              <a:ext uri="{FF2B5EF4-FFF2-40B4-BE49-F238E27FC236}">
                <a16:creationId xmlns:a16="http://schemas.microsoft.com/office/drawing/2014/main" id="{F8B2C547-487A-2C7A-1303-B22B2779861C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42358B14-9019-FAE5-2FA3-ED40C186697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0BDCCCCC-E499-DC5C-F703-04D67E85A3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100399D6-CC3B-D840-8615-783E898EE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6FC7A3EF-5860-6376-507F-F6217FF98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34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92D858-1292-6631-058C-55E78B7F58FF}"/>
                  </a:ext>
                </a:extLst>
              </p:cNvPr>
              <p:cNvSpPr txBox="1"/>
              <p:nvPr/>
            </p:nvSpPr>
            <p:spPr>
              <a:xfrm>
                <a:off x="-1" y="1358270"/>
                <a:ext cx="11726780" cy="3442289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(stagnation) pressure at the skin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 jet is brought to rest on an object (stagnated), the local pressure rise Δ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dynamic pressure: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92D858-1292-6631-058C-55E78B7F5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358270"/>
                <a:ext cx="11726780" cy="3442289"/>
              </a:xfrm>
              <a:prstGeom prst="rect">
                <a:avLst/>
              </a:prstGeom>
              <a:blipFill>
                <a:blip r:embed="rId6"/>
                <a:stretch>
                  <a:fillRect r="-1403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1C795E-5AFD-AAED-DD24-C44D6C303D2A}"/>
              </a:ext>
            </a:extLst>
          </p:cNvPr>
          <p:cNvSpPr txBox="1"/>
          <p:nvPr/>
        </p:nvSpPr>
        <p:spPr>
          <a:xfrm>
            <a:off x="0" y="615759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Stagnation Pressure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0EAE0E-AF3C-06A5-6BB0-A482E6CE5DF8}"/>
                  </a:ext>
                </a:extLst>
              </p:cNvPr>
              <p:cNvSpPr txBox="1"/>
              <p:nvPr/>
            </p:nvSpPr>
            <p:spPr>
              <a:xfrm>
                <a:off x="2494831" y="3378649"/>
                <a:ext cx="8333590" cy="7900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32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sSubSup>
                      <m:sSubSup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7.4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𝑘𝑔</m:t>
                        </m:r>
                      </m:num>
                      <m:den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(7.6</m:t>
                        </m:r>
                        <m:f>
                          <m:fPr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US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213.71 Pa,​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00EAE0E-AF3C-06A5-6BB0-A482E6CE5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831" y="3378649"/>
                <a:ext cx="8333590" cy="790024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1A72C84-9458-EAB1-8E34-416C793894FF}"/>
              </a:ext>
            </a:extLst>
          </p:cNvPr>
          <p:cNvSpPr txBox="1"/>
          <p:nvPr/>
        </p:nvSpPr>
        <p:spPr>
          <a:xfrm>
            <a:off x="7364346" y="6380984"/>
            <a:ext cx="4950643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https://en.wikipedia.org/wiki/Stagnation_pressure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42F904-C9A7-55AE-C5DD-3E166DCB243F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1E5CE7-5365-A8C5-7A6A-DF8328C85469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924734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C84221-BA01-AD57-862C-B8253EEA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">
            <a:extLst>
              <a:ext uri="{FF2B5EF4-FFF2-40B4-BE49-F238E27FC236}">
                <a16:creationId xmlns:a16="http://schemas.microsoft.com/office/drawing/2014/main" id="{844FCFC7-FDB1-F4B1-606E-B376AF7624EB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03A41C32-9026-118B-C064-0CC95E019BD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89CB35BA-2D85-FF91-108D-F4F6592C12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1CFD5239-17CE-934E-A4A2-5D1B1CC98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4D6750D-5FCC-F026-F15D-ACC1025A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35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16500A-DA03-74A7-6850-C33BCAFD202E}"/>
              </a:ext>
            </a:extLst>
          </p:cNvPr>
          <p:cNvSpPr txBox="1"/>
          <p:nvPr/>
        </p:nvSpPr>
        <p:spPr>
          <a:xfrm>
            <a:off x="-2" y="1351053"/>
            <a:ext cx="12192001" cy="611994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Stagnation pressure at 𝑟 = 0:</a:t>
            </a: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Radial decay:</a:t>
            </a: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takeaway:</a:t>
            </a:r>
          </a:p>
          <a:p>
            <a:pPr lvl="2" algn="thaiDi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the blower supplies 1 MPa, at 0.5 m the skin “sees” only ≈ 213.71 Pa at the center, </a:t>
            </a:r>
          </a:p>
          <a:p>
            <a:pPr lvl="2" algn="thaiDi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an area of ≈ 300 cm², with a smooth parabolic pressure decay towards the edges.</a:t>
            </a: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22E01-9BB9-C87D-F6DD-B3B3CF80A084}"/>
              </a:ext>
            </a:extLst>
          </p:cNvPr>
          <p:cNvSpPr txBox="1"/>
          <p:nvPr/>
        </p:nvSpPr>
        <p:spPr>
          <a:xfrm>
            <a:off x="0" y="597776"/>
            <a:ext cx="12192000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Distribution </a:t>
            </a:r>
            <a:r>
              <a:rPr lang="en-US" sz="32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(𝑟)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461B9B-4643-67DE-81DE-01F96049268E}"/>
                  </a:ext>
                </a:extLst>
              </p:cNvPr>
              <p:cNvSpPr txBox="1"/>
              <p:nvPr/>
            </p:nvSpPr>
            <p:spPr>
              <a:xfrm>
                <a:off x="994006" y="2079642"/>
                <a:ext cx="1056594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213.71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,​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461B9B-4643-67DE-81DE-01F960492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06" y="2079642"/>
                <a:ext cx="10565946" cy="461665"/>
              </a:xfrm>
              <a:prstGeom prst="rect">
                <a:avLst/>
              </a:prstGeom>
              <a:blipFill>
                <a:blip r:embed="rId6"/>
                <a:stretch>
                  <a:fillRect l="-11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B82BCD-C845-CE2C-142D-7CF950C9F522}"/>
                  </a:ext>
                </a:extLst>
              </p:cNvPr>
              <p:cNvSpPr txBox="1"/>
              <p:nvPr/>
            </p:nvSpPr>
            <p:spPr>
              <a:xfrm>
                <a:off x="994006" y="3252458"/>
                <a:ext cx="10565946" cy="11274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/(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𝑖𝑚𝑝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/2)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7.6</m:t>
                        </m:r>
                      </m:num>
                      <m:den>
                        <m:f>
                          <m:f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0.196</m:t>
                            </m:r>
                          </m:num>
                          <m:den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77.6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213.71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−0.5∗1.2∗7.4(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77.6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2  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𝑃𝑎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​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B82BCD-C845-CE2C-142D-7CF950C9F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006" y="3252458"/>
                <a:ext cx="10565946" cy="1127488"/>
              </a:xfrm>
              <a:prstGeom prst="rect">
                <a:avLst/>
              </a:prstGeom>
              <a:blipFill>
                <a:blip r:embed="rId7"/>
                <a:stretch>
                  <a:fillRect l="-11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9CB2E1-BFC7-FDFB-D55F-6DEE48492CF3}"/>
                  </a:ext>
                </a:extLst>
              </p:cNvPr>
              <p:cNvSpPr txBox="1"/>
              <p:nvPr/>
            </p:nvSpPr>
            <p:spPr>
              <a:xfrm>
                <a:off x="-1016347" y="2563438"/>
                <a:ext cx="10565946" cy="6685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sz="2000" dirty="0"/>
                        <m:t>Δ</m:t>
                      </m:r>
                      <m:r>
                        <m:rPr>
                          <m:nor/>
                        </m:rPr>
                        <a:rPr lang="en-US" sz="2000" i="1" dirty="0"/>
                        <m:t>P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−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</a:rPr>
                                <m:t>𝑘𝑟</m:t>
                              </m:r>
                            </m:e>
                          </m:d>
                        </m:e>
                        <m:sup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9CB2E1-BFC7-FDFB-D55F-6DEE48492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6347" y="2563438"/>
                <a:ext cx="10565946" cy="6685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43E13F6-94E5-505C-61C8-A19A8BEA4A0B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2D7CE-0505-FCBB-FDB6-42FF5599A264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  <p:pic>
        <p:nvPicPr>
          <p:cNvPr id="16" name="Picture 4" descr="Jet Impingement - an overview | ScienceDirect Topics">
            <a:extLst>
              <a:ext uri="{FF2B5EF4-FFF2-40B4-BE49-F238E27FC236}">
                <a16:creationId xmlns:a16="http://schemas.microsoft.com/office/drawing/2014/main" id="{77FFE050-C2A3-2A52-59E7-3618EB3D0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91" y="2330509"/>
            <a:ext cx="3745404" cy="245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6006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67613A-85F5-67B5-1B19-1C268FED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REC">
            <a:extLst>
              <a:ext uri="{FF2B5EF4-FFF2-40B4-BE49-F238E27FC236}">
                <a16:creationId xmlns:a16="http://schemas.microsoft.com/office/drawing/2014/main" id="{85D4E217-F775-C10D-BA97-B60F11744D22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9EB94C5C-B128-0D64-7A96-83CDD81C5DD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0ADAEB2F-89DE-20CF-3795-EF53B53CEA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A522E638-3226-3394-7A8A-F717E0220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CC99710-3E3C-9041-E2C6-6548CB9B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36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E511EB-83D4-FA81-D5C9-0656CC7BE05D}"/>
                  </a:ext>
                </a:extLst>
              </p:cNvPr>
              <p:cNvSpPr txBox="1"/>
              <p:nvPr/>
            </p:nvSpPr>
            <p:spPr>
              <a:xfrm>
                <a:off x="-1" y="1253332"/>
                <a:ext cx="11353802" cy="4734951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Integral expression for force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 axisymmetric pressure distribution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(𝑟) (gauge over ambient) on a flat circular spot, the total force is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radius at which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(𝑟) first returns to zero.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3E511EB-83D4-FA81-D5C9-0656CC7BE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53332"/>
                <a:ext cx="11353802" cy="4734951"/>
              </a:xfrm>
              <a:prstGeom prst="rect">
                <a:avLst/>
              </a:prstGeom>
              <a:blipFill>
                <a:blip r:embed="rId6"/>
                <a:stretch>
                  <a:fillRect r="-144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E2E16C-CF16-C697-F1AD-E6F88861FFCF}"/>
                  </a:ext>
                </a:extLst>
              </p:cNvPr>
              <p:cNvSpPr txBox="1"/>
              <p:nvPr/>
            </p:nvSpPr>
            <p:spPr>
              <a:xfrm>
                <a:off x="3564033" y="3165086"/>
                <a:ext cx="6034537" cy="1465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nor/>
                              </m:rPr>
                              <a:rPr lang="el-GR" sz="2400" dirty="0"/>
                              <m:t>π</m:t>
                            </m:r>
                          </m:sup>
                          <m:e>
                            <m:nary>
                              <m:nary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𝑚𝑎𝑥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𝑟𝑑𝑟𝑑</m:t>
                                </m:r>
                                <m:r>
                                  <a:rPr lang="el-GR" sz="2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r>
                  <a:rPr lang="en-US" sz="2400" dirty="0"/>
                  <a:t>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l-GR" sz="2400" dirty="0"/>
                      <m:t>π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𝑟𝑑𝑟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E2E16C-CF16-C697-F1AD-E6F88861F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033" y="3165086"/>
                <a:ext cx="6034537" cy="14659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7619945-711E-90AB-1174-266D0B63C29F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FD0E7-DDD0-25D5-DC78-93779EB2C956}"/>
              </a:ext>
            </a:extLst>
          </p:cNvPr>
          <p:cNvSpPr txBox="1"/>
          <p:nvPr/>
        </p:nvSpPr>
        <p:spPr>
          <a:xfrm>
            <a:off x="0" y="511398"/>
            <a:ext cx="12192000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Force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6FDD4-1489-BFAD-E19D-62645211B6C1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25760859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78C798-1C3E-BFC9-F34B-4552B141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">
            <a:extLst>
              <a:ext uri="{FF2B5EF4-FFF2-40B4-BE49-F238E27FC236}">
                <a16:creationId xmlns:a16="http://schemas.microsoft.com/office/drawing/2014/main" id="{DC3E2086-C6FD-8433-F110-75D9907558F2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D92FDEA3-7CC7-B064-D1AA-A7E1448B4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EBB6D0F7-B2D5-107B-147D-135A2D44D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10F8E94-E696-33DB-7460-33987E25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37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B7E222-4ECA-C265-6F62-77D8BC7DDD74}"/>
                  </a:ext>
                </a:extLst>
              </p:cNvPr>
              <p:cNvSpPr txBox="1"/>
              <p:nvPr/>
            </p:nvSpPr>
            <p:spPr>
              <a:xfrm>
                <a:off x="-1" y="1280532"/>
                <a:ext cx="11353802" cy="616277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Parabolic (stagnation‑point) model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previously showed near the centerline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the overpressure falls roughly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reaching ≈ 0 Pa at 𝑟 =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𝑖𝑚𝑝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/2</a:t>
                </a: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B7E222-4ECA-C265-6F62-77D8BC7D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80532"/>
                <a:ext cx="11353802" cy="6162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BCDA4-E6F2-3F3A-9B8F-EF4A467936DA}"/>
                  </a:ext>
                </a:extLst>
              </p:cNvPr>
              <p:cNvSpPr txBox="1"/>
              <p:nvPr/>
            </p:nvSpPr>
            <p:spPr>
              <a:xfrm>
                <a:off x="3229970" y="2637023"/>
                <a:ext cx="6034537" cy="613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it-IT" sz="2400" i="1" dirty="0"/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𝑘𝑟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400" i="1" dirty="0"/>
                      <m:t> 0</m:t>
                    </m:r>
                    <m:r>
                      <m:rPr>
                        <m:nor/>
                      </m:rPr>
                      <a:rPr lang="en-US" sz="2400" b="0" i="1" dirty="0" smtClean="0"/>
                      <m:t> </m:t>
                    </m:r>
                    <m:r>
                      <m:rPr>
                        <m:nor/>
                      </m:rPr>
                      <a:rPr lang="en-US" sz="2400" i="1" dirty="0"/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i="1" dirty="0"/>
                      <m:t>≤</m:t>
                    </m:r>
                    <m:r>
                      <m:rPr>
                        <m:nor/>
                      </m:rPr>
                      <a:rPr lang="en-US" sz="2400" b="0" i="1" dirty="0" smtClean="0"/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400" i="1" dirty="0"/>
                  <a:t>​ ,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BCDA4-E6F2-3F3A-9B8F-EF4A46793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970" y="2637023"/>
                <a:ext cx="6034537" cy="613886"/>
              </a:xfrm>
              <a:prstGeom prst="rect">
                <a:avLst/>
              </a:prstGeom>
              <a:blipFill>
                <a:blip r:embed="rId8"/>
                <a:stretch>
                  <a:fillRect b="-11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Unsteady Impinging Jet">
            <a:hlinkClick r:id="" action="ppaction://media"/>
            <a:extLst>
              <a:ext uri="{FF2B5EF4-FFF2-40B4-BE49-F238E27FC236}">
                <a16:creationId xmlns:a16="http://schemas.microsoft.com/office/drawing/2014/main" id="{9E4F57DD-D1DE-E877-DA6C-35843E6895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t="27779" b="29458"/>
          <a:stretch/>
        </p:blipFill>
        <p:spPr>
          <a:xfrm>
            <a:off x="6666338" y="3800182"/>
            <a:ext cx="3734961" cy="1197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E0BEFA-187F-153A-E458-AE4C59079F43}"/>
                  </a:ext>
                </a:extLst>
              </p:cNvPr>
              <p:cNvSpPr txBox="1"/>
              <p:nvPr/>
            </p:nvSpPr>
            <p:spPr>
              <a:xfrm>
                <a:off x="3947663" y="3746262"/>
                <a:ext cx="6034537" cy="1183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it-IT" sz="2400" i="1" dirty="0"/>
                                <m:t>Δ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E0BEFA-187F-153A-E458-AE4C59079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663" y="3746262"/>
                <a:ext cx="6034537" cy="11835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638A52A-DF0A-F911-A724-48C96E0C7D6E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A0CA5-0130-778E-A944-2BA6C6DCD42B}"/>
              </a:ext>
            </a:extLst>
          </p:cNvPr>
          <p:cNvSpPr txBox="1"/>
          <p:nvPr/>
        </p:nvSpPr>
        <p:spPr>
          <a:xfrm>
            <a:off x="0" y="511398"/>
            <a:ext cx="12192000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Force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88C84-1CDF-966F-487D-30B9E4281AC5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96123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3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78C798-1C3E-BFC9-F34B-4552B141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REC">
            <a:extLst>
              <a:ext uri="{FF2B5EF4-FFF2-40B4-BE49-F238E27FC236}">
                <a16:creationId xmlns:a16="http://schemas.microsoft.com/office/drawing/2014/main" id="{29D033E6-7CC6-E71B-B612-4AE933025E84}"/>
              </a:ext>
            </a:extLst>
          </p:cNvPr>
          <p:cNvSpPr/>
          <p:nvPr/>
        </p:nvSpPr>
        <p:spPr>
          <a:xfrm>
            <a:off x="0" y="-32433"/>
            <a:ext cx="12192000" cy="6890434"/>
          </a:xfrm>
          <a:prstGeom prst="rect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0000">
                <a:schemeClr val="bg1"/>
              </a:gs>
              <a:gs pos="83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D92FDEA3-7CC7-B064-D1AA-A7E1448B4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EBB6D0F7-B2D5-107B-147D-135A2D44D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10F8E94-E696-33DB-7460-33987E25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38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B7E222-4ECA-C265-6F62-77D8BC7DDD74}"/>
                  </a:ext>
                </a:extLst>
              </p:cNvPr>
              <p:cNvSpPr txBox="1"/>
              <p:nvPr/>
            </p:nvSpPr>
            <p:spPr>
              <a:xfrm>
                <a:off x="-1" y="1235074"/>
                <a:ext cx="11353802" cy="507831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150000"/>
                  </a:lnSpc>
                  <a:buFont typeface="Wingdings" panose="05000000000000000000" pitchFamily="2" charset="2"/>
                  <a:buChar char="v"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Closed‑form integral</a:t>
                </a:r>
              </a:p>
              <a:p>
                <a:pPr lvl="1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Plugging into the integral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150000"/>
                  </a:lnSpc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the total force depends only on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peak overpressure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400" b="1" i="1" dirty="0" smtClean="0"/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,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strain‑rate 𝑘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zero‑pressure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400" i="1" dirty="0"/>
                      <m:t>π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Maximum impact area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BB7E222-4ECA-C265-6F62-77D8BC7D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35074"/>
                <a:ext cx="11353802" cy="5078313"/>
              </a:xfrm>
              <a:prstGeom prst="rect">
                <a:avLst/>
              </a:prstGeom>
              <a:blipFill>
                <a:blip r:embed="rId5"/>
                <a:stretch>
                  <a:fillRect r="-1449" b="-180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7202252-1A2E-80CF-9EE7-9880ACB2EAB4}"/>
              </a:ext>
            </a:extLst>
          </p:cNvPr>
          <p:cNvSpPr txBox="1"/>
          <p:nvPr/>
        </p:nvSpPr>
        <p:spPr>
          <a:xfrm>
            <a:off x="0" y="511398"/>
            <a:ext cx="12192000" cy="74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Force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BCDA4-E6F2-3F3A-9B8F-EF4A467936DA}"/>
                  </a:ext>
                </a:extLst>
              </p:cNvPr>
              <p:cNvSpPr txBox="1"/>
              <p:nvPr/>
            </p:nvSpPr>
            <p:spPr>
              <a:xfrm>
                <a:off x="4100124" y="1609871"/>
                <a:ext cx="8300486" cy="3509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l-GR" sz="2400" dirty="0"/>
                      <m:t>π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it-IT" sz="2400" i="1" dirty="0"/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𝑘𝑟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𝑟𝑑𝑟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i="1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l-GR" sz="2400" dirty="0"/>
                      <m:t>π</m:t>
                    </m:r>
                  </m:oMath>
                </a14:m>
                <a:r>
                  <a:rPr lang="en-US" sz="2400" dirty="0"/>
                  <a:t>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400" i="1" dirty="0"/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𝑟𝑑𝑟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nary>
                          <m:nary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𝑑𝑟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l-GR" sz="2400" i="1" dirty="0"/>
                      <m:t>π</m:t>
                    </m:r>
                  </m:oMath>
                </a14:m>
                <a:r>
                  <a:rPr lang="en-US" sz="2400" i="1" dirty="0"/>
                  <a:t> [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2400" i="1" dirty="0"/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b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i="1" dirty="0"/>
                  <a:t>]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nor/>
                      </m:rPr>
                      <a:rPr lang="el-GR" sz="2400" i="1" dirty="0"/>
                      <m:t>π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it-IT" sz="2400" i="1" dirty="0"/>
                              <m:t>Δ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i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sz="2400" i="1" dirty="0"/>
                          <m:t>π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it-IT" sz="2400" i="1" dirty="0"/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i="1" dirty="0"/>
                  <a:t> </a:t>
                </a:r>
                <a:r>
                  <a:rPr lang="en-US" sz="1600" i="1" dirty="0"/>
                  <a:t>;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it-IT" sz="1600" i="1" dirty="0"/>
                      <m:t>Δ</m:t>
                    </m:r>
                    <m:r>
                      <a:rPr 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𝑘𝑟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en-US" sz="1600" i="1" dirty="0"/>
                      <m:t> </m:t>
                    </m:r>
                  </m:oMath>
                </a14:m>
                <a:endParaRPr lang="en-US" sz="2400" i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BBCDA4-E6F2-3F3A-9B8F-EF4A46793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124" y="1609871"/>
                <a:ext cx="8300486" cy="35092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03B8E26-3A8C-A70B-74D2-8C163411BEAC}"/>
              </a:ext>
            </a:extLst>
          </p:cNvPr>
          <p:cNvSpPr txBox="1"/>
          <p:nvPr/>
        </p:nvSpPr>
        <p:spPr>
          <a:xfrm>
            <a:off x="0" y="2732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PARAMETERS CALCULATION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D6368-F22C-5741-0469-BDE735734B0E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JET IMPINGEMENT</a:t>
            </a:r>
          </a:p>
        </p:txBody>
      </p:sp>
    </p:spTree>
    <p:extLst>
      <p:ext uri="{BB962C8B-B14F-4D97-AF65-F5344CB8AC3E}">
        <p14:creationId xmlns:p14="http://schemas.microsoft.com/office/powerpoint/2010/main" val="21341876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23D3B7-7415-C504-D8D1-7345A5E3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15853A5E-1FF0-97DF-2705-A78F4D5D30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B84D0905-3214-816C-B871-004299A8DC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F4A970B3-3A9C-EE9B-1042-E0819B4CD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441B101E-07CA-8F1A-A908-99C75FB9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39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DE008-0F51-3CBE-C276-158C22827725}"/>
              </a:ext>
            </a:extLst>
          </p:cNvPr>
          <p:cNvSpPr txBox="1"/>
          <p:nvPr/>
        </p:nvSpPr>
        <p:spPr>
          <a:xfrm>
            <a:off x="-1" y="1969918"/>
            <a:ext cx="11353802" cy="11339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18FA60D-BD25-8116-16A4-F8AB4BC94E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893750"/>
              </p:ext>
            </p:extLst>
          </p:nvPr>
        </p:nvGraphicFramePr>
        <p:xfrm>
          <a:off x="427589" y="1124588"/>
          <a:ext cx="6415315" cy="3958590"/>
        </p:xfrm>
        <a:graphic>
          <a:graphicData uri="http://schemas.openxmlformats.org/drawingml/2006/table">
            <a:tbl>
              <a:tblPr firstRow="1" firstCol="1">
                <a:tableStyleId>{9DCAF9ED-07DC-4A11-8D7F-57B35C25682E}</a:tableStyleId>
              </a:tblPr>
              <a:tblGrid>
                <a:gridCol w="1283063">
                  <a:extLst>
                    <a:ext uri="{9D8B030D-6E8A-4147-A177-3AD203B41FA5}">
                      <a16:colId xmlns:a16="http://schemas.microsoft.com/office/drawing/2014/main" val="3568082135"/>
                    </a:ext>
                  </a:extLst>
                </a:gridCol>
                <a:gridCol w="1283063">
                  <a:extLst>
                    <a:ext uri="{9D8B030D-6E8A-4147-A177-3AD203B41FA5}">
                      <a16:colId xmlns:a16="http://schemas.microsoft.com/office/drawing/2014/main" val="3289156338"/>
                    </a:ext>
                  </a:extLst>
                </a:gridCol>
                <a:gridCol w="1283063">
                  <a:extLst>
                    <a:ext uri="{9D8B030D-6E8A-4147-A177-3AD203B41FA5}">
                      <a16:colId xmlns:a16="http://schemas.microsoft.com/office/drawing/2014/main" val="928266332"/>
                    </a:ext>
                  </a:extLst>
                </a:gridCol>
                <a:gridCol w="1283063">
                  <a:extLst>
                    <a:ext uri="{9D8B030D-6E8A-4147-A177-3AD203B41FA5}">
                      <a16:colId xmlns:a16="http://schemas.microsoft.com/office/drawing/2014/main" val="2224794815"/>
                    </a:ext>
                  </a:extLst>
                </a:gridCol>
                <a:gridCol w="1283063">
                  <a:extLst>
                    <a:ext uri="{9D8B030D-6E8A-4147-A177-3AD203B41FA5}">
                      <a16:colId xmlns:a16="http://schemas.microsoft.com/office/drawing/2014/main" val="3015806846"/>
                    </a:ext>
                  </a:extLst>
                </a:gridCol>
              </a:tblGrid>
              <a:tr h="49720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Mechanical Properties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5602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Phantom material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 (Young’s modulus) kPa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Force (N)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ROI of 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mm 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Def. (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cm²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ROI of </a:t>
                      </a: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mm 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Def. (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cm²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701549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Gelatin Phantom </a:t>
                      </a: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 g/L)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6.452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93.053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46.526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05927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Gelatin</a:t>
                      </a: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Phantom </a:t>
                      </a: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(180 g/L)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6.452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1.106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741637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Agarose Phantom </a:t>
                      </a: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 g/L)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54.675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27.338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204918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Agarose Phantom </a:t>
                      </a: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 g/L)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6.452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89427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5F62573A-7D30-C19D-2A16-7E923565E056}"/>
              </a:ext>
            </a:extLst>
          </p:cNvPr>
          <p:cNvGrpSpPr/>
          <p:nvPr/>
        </p:nvGrpSpPr>
        <p:grpSpPr>
          <a:xfrm>
            <a:off x="7350153" y="1642457"/>
            <a:ext cx="2831011" cy="2691991"/>
            <a:chOff x="7836989" y="2521583"/>
            <a:chExt cx="2831011" cy="269199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3B68FB3-FBB8-4610-0179-0296F5EEE125}"/>
                </a:ext>
              </a:extLst>
            </p:cNvPr>
            <p:cNvSpPr/>
            <p:nvPr/>
          </p:nvSpPr>
          <p:spPr>
            <a:xfrm>
              <a:off x="7836989" y="2521583"/>
              <a:ext cx="2831011" cy="2691991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EF17C34-00AC-091D-5C2C-BFD37B4DEA70}"/>
                </a:ext>
              </a:extLst>
            </p:cNvPr>
            <p:cNvSpPr/>
            <p:nvPr/>
          </p:nvSpPr>
          <p:spPr>
            <a:xfrm>
              <a:off x="8836400" y="3444528"/>
              <a:ext cx="856240" cy="81419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A8DAB73-D345-A12E-A9F1-0C4B0EE510C1}"/>
                </a:ext>
              </a:extLst>
            </p:cNvPr>
            <p:cNvSpPr/>
            <p:nvPr/>
          </p:nvSpPr>
          <p:spPr>
            <a:xfrm>
              <a:off x="9046052" y="3663138"/>
              <a:ext cx="412882" cy="392607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06E946E-E414-0084-6EF3-391ED46A1DE1}"/>
              </a:ext>
            </a:extLst>
          </p:cNvPr>
          <p:cNvSpPr txBox="1"/>
          <p:nvPr/>
        </p:nvSpPr>
        <p:spPr>
          <a:xfrm>
            <a:off x="7286996" y="1163415"/>
            <a:ext cx="2647208" cy="41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Area ≈ 303 cm²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659660-F127-CEC0-0505-81CE20AC27B6}"/>
              </a:ext>
            </a:extLst>
          </p:cNvPr>
          <p:cNvSpPr txBox="1"/>
          <p:nvPr/>
        </p:nvSpPr>
        <p:spPr>
          <a:xfrm>
            <a:off x="10305577" y="3831305"/>
            <a:ext cx="1934782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mm Def. start 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BC2650D-AC69-53AE-B63B-8FACECE722B2}"/>
              </a:ext>
            </a:extLst>
          </p:cNvPr>
          <p:cNvCxnSpPr>
            <a:cxnSpLocks/>
            <a:stCxn id="14" idx="1"/>
            <a:endCxn id="6" idx="3"/>
          </p:cNvCxnSpPr>
          <p:nvPr/>
        </p:nvCxnSpPr>
        <p:spPr>
          <a:xfrm rot="10800000">
            <a:off x="8474957" y="3260360"/>
            <a:ext cx="1830620" cy="739004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4777298-14A1-BD4F-96CB-767668B54437}"/>
              </a:ext>
            </a:extLst>
          </p:cNvPr>
          <p:cNvCxnSpPr>
            <a:cxnSpLocks/>
            <a:stCxn id="31" idx="1"/>
            <a:endCxn id="7" idx="6"/>
          </p:cNvCxnSpPr>
          <p:nvPr/>
        </p:nvCxnSpPr>
        <p:spPr>
          <a:xfrm rot="10800000">
            <a:off x="8972099" y="2980317"/>
            <a:ext cx="1320315" cy="245941"/>
          </a:xfrm>
          <a:prstGeom prst="bentConnector3">
            <a:avLst>
              <a:gd name="adj1" fmla="val 50000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AA0B924-B384-6407-AA3D-2AFFF5FCB5F2}"/>
              </a:ext>
            </a:extLst>
          </p:cNvPr>
          <p:cNvSpPr txBox="1"/>
          <p:nvPr/>
        </p:nvSpPr>
        <p:spPr>
          <a:xfrm>
            <a:off x="10292413" y="3058198"/>
            <a:ext cx="1934782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mm Def. start 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409755-77DA-9E9C-7B91-8E3CE7806D32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8765657" y="3176619"/>
            <a:ext cx="0" cy="224411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6CEAE08-DFA9-5BAD-D747-3AF1BC88A9AC}"/>
              </a:ext>
            </a:extLst>
          </p:cNvPr>
          <p:cNvSpPr txBox="1"/>
          <p:nvPr/>
        </p:nvSpPr>
        <p:spPr>
          <a:xfrm>
            <a:off x="10305577" y="3429936"/>
            <a:ext cx="1934782" cy="336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5 - 10 mm Def. 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8BD1DCC-330C-82B5-EBF3-AD4CF31EDCE5}"/>
              </a:ext>
            </a:extLst>
          </p:cNvPr>
          <p:cNvCxnSpPr>
            <a:cxnSpLocks/>
            <a:stCxn id="42" idx="1"/>
            <a:endCxn id="6" idx="4"/>
          </p:cNvCxnSpPr>
          <p:nvPr/>
        </p:nvCxnSpPr>
        <p:spPr>
          <a:xfrm rot="10800000">
            <a:off x="8777685" y="3379597"/>
            <a:ext cx="1527893" cy="218399"/>
          </a:xfrm>
          <a:prstGeom prst="bentConnector2">
            <a:avLst/>
          </a:prstGeom>
          <a:ln w="28575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94591CE-EC03-2471-1F2A-53FB2AC20767}"/>
              </a:ext>
            </a:extLst>
          </p:cNvPr>
          <p:cNvCxnSpPr>
            <a:cxnSpLocks/>
            <a:endCxn id="4" idx="7"/>
          </p:cNvCxnSpPr>
          <p:nvPr/>
        </p:nvCxnSpPr>
        <p:spPr>
          <a:xfrm flipV="1">
            <a:off x="8765657" y="2036690"/>
            <a:ext cx="1000915" cy="961502"/>
          </a:xfrm>
          <a:prstGeom prst="straightConnector1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48542A7-993B-51CA-F738-C7B59228912C}"/>
              </a:ext>
            </a:extLst>
          </p:cNvPr>
          <p:cNvSpPr txBox="1"/>
          <p:nvPr/>
        </p:nvSpPr>
        <p:spPr>
          <a:xfrm>
            <a:off x="10004022" y="1580837"/>
            <a:ext cx="2146282" cy="890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12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maximum deformation starts at the center and decreases toward the edge 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BDD5DC15-767A-B84E-6DEB-D670DEBAE1D6}"/>
              </a:ext>
            </a:extLst>
          </p:cNvPr>
          <p:cNvSpPr txBox="1"/>
          <p:nvPr/>
        </p:nvSpPr>
        <p:spPr>
          <a:xfrm>
            <a:off x="6968076" y="4425149"/>
            <a:ext cx="4475456" cy="78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ROI was chosen within the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zone with optimal for LiDAR accuracy 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12F135A1-7918-14E4-798E-EB8C1F9126A6}"/>
              </a:ext>
            </a:extLst>
          </p:cNvPr>
          <p:cNvSpPr txBox="1"/>
          <p:nvPr/>
        </p:nvSpPr>
        <p:spPr>
          <a:xfrm>
            <a:off x="-48359" y="5072623"/>
            <a:ext cx="1219200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Phantom thickness 30 mm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Deformation Range &gt; 5 mm according to LiDAR accuracy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81FF1-8703-9180-FF64-547F7BC119CD}"/>
              </a:ext>
            </a:extLst>
          </p:cNvPr>
          <p:cNvSpPr txBox="1"/>
          <p:nvPr/>
        </p:nvSpPr>
        <p:spPr>
          <a:xfrm>
            <a:off x="0" y="-38336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ROI CALCULATION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B2104-CFE2-488A-360C-15E3AE13DA2C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928603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D33C9D-9459-AB88-B0A4-C6BF289E3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F708705C-997B-A734-9E22-B797843AE8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E7EA04AB-AF81-2D89-6C03-91E02010E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E44D8EB-F417-425D-7F4B-69EFF8FE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40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1B6A79-CFBA-3DBE-F922-BD5098267154}"/>
              </a:ext>
            </a:extLst>
          </p:cNvPr>
          <p:cNvSpPr txBox="1"/>
          <p:nvPr/>
        </p:nvSpPr>
        <p:spPr>
          <a:xfrm>
            <a:off x="0" y="1211899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Uniaxial Compression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C86027-67A8-8282-9E0A-4936C11695A9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Measuring Skin Mechanical Properties</a:t>
            </a:r>
          </a:p>
        </p:txBody>
      </p:sp>
      <p:pic>
        <p:nvPicPr>
          <p:cNvPr id="3" name="Picture 2" descr="Schematic of Uniaxial Compression set-up. | Download Scientific Diagram">
            <a:extLst>
              <a:ext uri="{FF2B5EF4-FFF2-40B4-BE49-F238E27FC236}">
                <a16:creationId xmlns:a16="http://schemas.microsoft.com/office/drawing/2014/main" id="{833ADCE3-4856-7429-6AF3-AAA679CFA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491" y="1679015"/>
            <a:ext cx="5024687" cy="423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77DB9E-806E-A621-8C22-F0DF44449182}"/>
              </a:ext>
            </a:extLst>
          </p:cNvPr>
          <p:cNvSpPr txBox="1"/>
          <p:nvPr/>
        </p:nvSpPr>
        <p:spPr>
          <a:xfrm>
            <a:off x="0" y="2141548"/>
            <a:ext cx="6481011" cy="195386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Mocking skin phantom.</a:t>
            </a:r>
          </a:p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skin elasticity by applying uniaxial compression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F89FFD-F4EF-F3D2-CACD-0CA25377E7FB}"/>
              </a:ext>
            </a:extLst>
          </p:cNvPr>
          <p:cNvSpPr txBox="1"/>
          <p:nvPr/>
        </p:nvSpPr>
        <p:spPr>
          <a:xfrm>
            <a:off x="0" y="-1339640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Skin Properties Estimation Using Air-jet Indentation And Active Lidar Sensing</a:t>
            </a:r>
          </a:p>
        </p:txBody>
      </p:sp>
    </p:spTree>
    <p:extLst>
      <p:ext uri="{BB962C8B-B14F-4D97-AF65-F5344CB8AC3E}">
        <p14:creationId xmlns:p14="http://schemas.microsoft.com/office/powerpoint/2010/main" val="3726991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9E3EA3E-1F26-71A4-9CEE-12D6DF93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B6662949-97C3-BC5C-6B20-C314FBED4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B6A2F0FF-2903-AEA5-DF6A-F4B51CE93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4F445EC-CFB0-97E2-F43D-A032FCF5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41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8A57C-78FA-21A7-0F64-B2F8119EA759}"/>
              </a:ext>
            </a:extLst>
          </p:cNvPr>
          <p:cNvSpPr txBox="1"/>
          <p:nvPr/>
        </p:nvSpPr>
        <p:spPr>
          <a:xfrm>
            <a:off x="3660888" y="3781896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 Set Up</a:t>
            </a:r>
          </a:p>
        </p:txBody>
      </p:sp>
      <p:pic>
        <p:nvPicPr>
          <p:cNvPr id="3" name="Picture 2" descr="訓練用モデル（ナビトレ）皮膚縫合モデル単層シート">
            <a:extLst>
              <a:ext uri="{FF2B5EF4-FFF2-40B4-BE49-F238E27FC236}">
                <a16:creationId xmlns:a16="http://schemas.microsoft.com/office/drawing/2014/main" id="{B4256297-2A34-E360-E5ED-43604BFAC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41586">
            <a:off x="7448101" y="1385904"/>
            <a:ext cx="2324997" cy="1937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07CBE9-3566-F3BD-F87E-1CBC5CF7D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7" t="14211" r="27117" b="13573"/>
          <a:stretch/>
        </p:blipFill>
        <p:spPr bwMode="auto">
          <a:xfrm>
            <a:off x="1665250" y="1524105"/>
            <a:ext cx="1610752" cy="152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mazon | HAIGE(ハイガー) コンプレッサー エアコンプレッサー エアーコンプレッサー 小型 100V オイルレス 静音 タンクレス  ブラシレス HG-DC880N1 | エアコンプレッサー">
            <a:extLst>
              <a:ext uri="{FF2B5EF4-FFF2-40B4-BE49-F238E27FC236}">
                <a16:creationId xmlns:a16="http://schemas.microsoft.com/office/drawing/2014/main" id="{05C67128-AB88-5F41-3F4C-74777185B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364" y="4636643"/>
            <a:ext cx="2301037" cy="208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Volume Air Blow Gun with Brass Adjustable Nozzle, Industrial Blower Gun  with 2 Steel Extensions and 13.7 Inch Universal Hose, Pneumatic Air  Compressor Accessory Tool: Amazon.com: Tools &amp; Home Improvement">
            <a:extLst>
              <a:ext uri="{FF2B5EF4-FFF2-40B4-BE49-F238E27FC236}">
                <a16:creationId xmlns:a16="http://schemas.microsoft.com/office/drawing/2014/main" id="{D41C8708-7513-945D-94DE-543EE6AA8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39750" y="3173904"/>
            <a:ext cx="1261751" cy="1261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18166271-94D3-CDB0-E29F-CE0B112F598B}"/>
              </a:ext>
            </a:extLst>
          </p:cNvPr>
          <p:cNvCxnSpPr>
            <a:cxnSpLocks/>
            <a:stCxn id="7" idx="1"/>
            <a:endCxn id="1028" idx="3"/>
          </p:cNvCxnSpPr>
          <p:nvPr/>
        </p:nvCxnSpPr>
        <p:spPr>
          <a:xfrm rot="10800000" flipH="1">
            <a:off x="1280364" y="3804781"/>
            <a:ext cx="559386" cy="1874279"/>
          </a:xfrm>
          <a:prstGeom prst="curvedConnector3">
            <a:avLst>
              <a:gd name="adj1" fmla="val -40866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57F32B-46F3-CD14-D5B1-26A9ED80993B}"/>
              </a:ext>
            </a:extLst>
          </p:cNvPr>
          <p:cNvCxnSpPr>
            <a:cxnSpLocks/>
          </p:cNvCxnSpPr>
          <p:nvPr/>
        </p:nvCxnSpPr>
        <p:spPr>
          <a:xfrm>
            <a:off x="3581401" y="2288663"/>
            <a:ext cx="4039198" cy="43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05F01AF-6F39-D1B8-9BCD-27CA56AA1067}"/>
              </a:ext>
            </a:extLst>
          </p:cNvPr>
          <p:cNvSpPr txBox="1"/>
          <p:nvPr/>
        </p:nvSpPr>
        <p:spPr>
          <a:xfrm>
            <a:off x="3431450" y="2310223"/>
            <a:ext cx="399592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Distance 49 cm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4ECD3F-D6C6-747D-6A3E-3493DC7DA403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</p:spTree>
    <p:extLst>
      <p:ext uri="{BB962C8B-B14F-4D97-AF65-F5344CB8AC3E}">
        <p14:creationId xmlns:p14="http://schemas.microsoft.com/office/powerpoint/2010/main" val="22289652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DF70BF-C114-3A57-1C0D-F24E2C4C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REC">
            <a:extLst>
              <a:ext uri="{FF2B5EF4-FFF2-40B4-BE49-F238E27FC236}">
                <a16:creationId xmlns:a16="http://schemas.microsoft.com/office/drawing/2014/main" id="{A5D8994E-F036-9457-3258-5BA8829493D1}"/>
              </a:ext>
            </a:extLst>
          </p:cNvPr>
          <p:cNvSpPr/>
          <p:nvPr/>
        </p:nvSpPr>
        <p:spPr>
          <a:xfrm>
            <a:off x="0" y="-153257"/>
            <a:ext cx="12192000" cy="701125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rgbClr val="FFCCCC"/>
              </a:gs>
              <a:gs pos="8300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2">
                    <a:lumMod val="5000"/>
                    <a:lumOff val="95000"/>
                    <a:alpha val="96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6" name="Picture 15" descr="Shape&#10;&#10;Description automatically generated with medium confidence">
            <a:extLst>
              <a:ext uri="{FF2B5EF4-FFF2-40B4-BE49-F238E27FC236}">
                <a16:creationId xmlns:a16="http://schemas.microsoft.com/office/drawing/2014/main" id="{E2CF9FC5-FAA6-7044-E2BA-8D2957C02CB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B193BADF-E1ED-276F-280C-A510F8EDB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A9E9BAC9-7E0B-DF20-E1C8-72235152B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78B0343-16E1-859B-8038-D3EDCC23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5B2FA-B01E-B77B-0884-7930E17E7F9B}"/>
              </a:ext>
            </a:extLst>
          </p:cNvPr>
          <p:cNvSpPr txBox="1"/>
          <p:nvPr/>
        </p:nvSpPr>
        <p:spPr>
          <a:xfrm>
            <a:off x="0" y="799148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Phantom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3EC6AA-020C-8AFF-C0CF-3EDA1018D48D}"/>
              </a:ext>
            </a:extLst>
          </p:cNvPr>
          <p:cNvSpPr txBox="1"/>
          <p:nvPr/>
        </p:nvSpPr>
        <p:spPr>
          <a:xfrm>
            <a:off x="9744394" y="3266889"/>
            <a:ext cx="310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486B85-8398-9D91-674C-8354C9EEDC6B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Overview of Skin 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Phantom Properties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6D05D16-6C15-A5C2-5A09-F0A602C27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580183"/>
              </p:ext>
            </p:extLst>
          </p:nvPr>
        </p:nvGraphicFramePr>
        <p:xfrm>
          <a:off x="457200" y="1825864"/>
          <a:ext cx="11102752" cy="3763462"/>
        </p:xfrm>
        <a:graphic>
          <a:graphicData uri="http://schemas.openxmlformats.org/drawingml/2006/table">
            <a:tbl>
              <a:tblPr firstRow="1" firstCol="1">
                <a:tableStyleId>{85BE263C-DBD7-4A20-BB59-AAB30ACAA65A}</a:tableStyleId>
              </a:tblPr>
              <a:tblGrid>
                <a:gridCol w="2011368">
                  <a:extLst>
                    <a:ext uri="{9D8B030D-6E8A-4147-A177-3AD203B41FA5}">
                      <a16:colId xmlns:a16="http://schemas.microsoft.com/office/drawing/2014/main" val="233422531"/>
                    </a:ext>
                  </a:extLst>
                </a:gridCol>
                <a:gridCol w="4750047">
                  <a:extLst>
                    <a:ext uri="{9D8B030D-6E8A-4147-A177-3AD203B41FA5}">
                      <a16:colId xmlns:a16="http://schemas.microsoft.com/office/drawing/2014/main" val="3322715943"/>
                    </a:ext>
                  </a:extLst>
                </a:gridCol>
                <a:gridCol w="4341337">
                  <a:extLst>
                    <a:ext uri="{9D8B030D-6E8A-4147-A177-3AD203B41FA5}">
                      <a16:colId xmlns:a16="http://schemas.microsoft.com/office/drawing/2014/main" val="3442371692"/>
                    </a:ext>
                  </a:extLst>
                </a:gridCol>
              </a:tblGrid>
              <a:tr h="317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Gelatin Phantom (10 % w/w)</a:t>
                      </a:r>
                      <a:endParaRPr lang="pl-PL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Agarose Phantom (2 % w/w)</a:t>
                      </a:r>
                      <a:endParaRPr lang="pl-PL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654400"/>
                  </a:ext>
                </a:extLst>
              </a:tr>
              <a:tr h="317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Young’s modulus 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– 40 kPa (10 % gelatin; temperature‐dependent)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≈100 kPa (2 % agarose, small‐strain)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459140"/>
                  </a:ext>
                </a:extLst>
              </a:tr>
              <a:tr h="317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Tunable range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– 50 kPa by adjusting concentration (5 – 16 % w/w)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l-PL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– 450 kPa by 1 – 6.6 % w/w range</a:t>
                      </a:r>
                      <a:endParaRPr lang="pl-PL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421210"/>
                  </a:ext>
                </a:extLst>
              </a:tr>
              <a:tr h="3175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finish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Naturally matte (good LiDAR reflectance)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Slightly glossy (blot or matte‐spray recommended)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7658450"/>
                  </a:ext>
                </a:extLst>
              </a:tr>
              <a:tr h="6256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Durability &amp; storage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 within 1 week; sealed at 4 °C to avoid drying &amp; mold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 within 5 days; sealed &amp; hydrated at 4 °C to prevent syneresis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831480"/>
                  </a:ext>
                </a:extLst>
              </a:tr>
              <a:tr h="9337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Pros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Very low cost; food‐grade ingredients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Easily tunable concentration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No special equipment beyond a refrigerator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Heat‐stable gel; minimal microbial risk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Wide stiffness tunability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Good long‐term dimensional stability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5870597"/>
                  </a:ext>
                </a:extLst>
              </a:tr>
              <a:tr h="93371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Short lifespan (&lt;1 week); prone to dehydration &amp; spoilage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Mechanical properties drift with temperature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Requires hot handling and rapid pouring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Brittleness at low concentrations</a:t>
                      </a:r>
                    </a:p>
                    <a:p>
                      <a:pPr algn="thaiDist" fontAlgn="ctr"/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 Limited working window before gelation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00" marR="6600" marT="660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74828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B674BE48-E0DA-0E7B-B07A-0655F4416029}"/>
              </a:ext>
            </a:extLst>
          </p:cNvPr>
          <p:cNvSpPr txBox="1"/>
          <p:nvPr/>
        </p:nvSpPr>
        <p:spPr>
          <a:xfrm>
            <a:off x="0" y="-30726"/>
            <a:ext cx="1219200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37040432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EB2368-2DF8-0090-C7FF-9DA092BF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C4AD956A-2D82-5C12-7391-58359FF474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CACA924F-76FE-D9BD-E2A3-9C9EDAF4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9BB82B6-1F2D-451D-CBAD-050F3FA2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43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AF6461-E9A5-1B64-EBDE-7C5A003C35A1}"/>
                  </a:ext>
                </a:extLst>
              </p:cNvPr>
              <p:cNvSpPr txBox="1"/>
              <p:nvPr/>
            </p:nvSpPr>
            <p:spPr>
              <a:xfrm>
                <a:off x="0" y="2527225"/>
                <a:ext cx="9564624" cy="373236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know the applied pressure 𝑃 or the force 𝐹 from the air blower.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LiDAR captures point cloud data in a fixed rectangular ROI before and after indentation.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have depth maps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(𝑥,𝑦) (before)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𝑒𝑓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(𝑥,𝑦) (after).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Skin behaves approximately linearly elastic under small deformation.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7AF6461-E9A5-1B64-EBDE-7C5A003C3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27225"/>
                <a:ext cx="9564624" cy="3732368"/>
              </a:xfrm>
              <a:prstGeom prst="rect">
                <a:avLst/>
              </a:prstGeom>
              <a:blipFill>
                <a:blip r:embed="rId5"/>
                <a:stretch>
                  <a:fillRect r="-1785" b="-294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4737C3-E4CB-0857-0FC0-B881A16E4DC9}"/>
              </a:ext>
            </a:extLst>
          </p:cNvPr>
          <p:cNvSpPr txBox="1"/>
          <p:nvPr/>
        </p:nvSpPr>
        <p:spPr>
          <a:xfrm>
            <a:off x="0" y="1211481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EF627-500A-453D-7BAC-9A78F0CF96F3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Skin Properties Estimation Using Air-jet Indentation And Active Lidar Sensing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3EF3A-9FDA-11A6-9DD1-83B4CC700360}"/>
              </a:ext>
            </a:extLst>
          </p:cNvPr>
          <p:cNvSpPr txBox="1"/>
          <p:nvPr/>
        </p:nvSpPr>
        <p:spPr>
          <a:xfrm>
            <a:off x="0" y="2019748"/>
            <a:ext cx="12192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</p:txBody>
      </p:sp>
    </p:spTree>
    <p:extLst>
      <p:ext uri="{BB962C8B-B14F-4D97-AF65-F5344CB8AC3E}">
        <p14:creationId xmlns:p14="http://schemas.microsoft.com/office/powerpoint/2010/main" val="42202801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F797E1-D187-4A4F-E05F-5223032A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ED5A1793-3B65-9F11-5394-42CB41486C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D4E889D6-FB62-AA29-20E8-4D8CF9B86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DF40DC2-D78F-B2B8-6972-1155B16E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44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96E8C3-DE80-1165-FDF4-60AAB76881B5}"/>
                  </a:ext>
                </a:extLst>
              </p:cNvPr>
              <p:cNvSpPr txBox="1"/>
              <p:nvPr/>
            </p:nvSpPr>
            <p:spPr>
              <a:xfrm>
                <a:off x="1" y="1890443"/>
                <a:ext cx="5753100" cy="4418967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lvl="1" algn="thaiDist">
                  <a:lnSpc>
                    <a:spcPct val="200000"/>
                  </a:lnSpc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Select Fixed ROI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Define a fixed window on the LiDAR point cloud (e.g., 5 cm × 5 cm) centered at the indentation site.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ROI contains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many points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each has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96E8C3-DE80-1165-FDF4-60AAB7688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890443"/>
                <a:ext cx="5753100" cy="4418967"/>
              </a:xfrm>
              <a:prstGeom prst="rect">
                <a:avLst/>
              </a:prstGeom>
              <a:blipFill>
                <a:blip r:embed="rId5"/>
                <a:stretch>
                  <a:fillRect r="-2966" b="-2069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B5EFA06-D3BE-8D76-FA01-B756A3CC7D0B}"/>
              </a:ext>
            </a:extLst>
          </p:cNvPr>
          <p:cNvSpPr txBox="1"/>
          <p:nvPr/>
        </p:nvSpPr>
        <p:spPr>
          <a:xfrm>
            <a:off x="0" y="1479634"/>
            <a:ext cx="121920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E823C-CEFD-7384-B099-3A3B91CBEF12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Non-invasive Skin Properties Estimation Using Air-jet Indentation And Active Lidar Sensing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89D45E-5771-0002-A4F3-5A6E5E39ABEC}"/>
                  </a:ext>
                </a:extLst>
              </p:cNvPr>
              <p:cNvSpPr txBox="1"/>
              <p:nvPr/>
            </p:nvSpPr>
            <p:spPr>
              <a:xfrm>
                <a:off x="6066960" y="1881145"/>
                <a:ext cx="10985984" cy="5167184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lvl="1" algn="thaiDist">
                  <a:lnSpc>
                    <a:spcPct val="200000"/>
                  </a:lnSpc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Compute Deformation Map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point 𝑖 in the ROI: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 algn="thaiDist">
                  <a:lnSpc>
                    <a:spcPct val="20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800100" lvl="1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initial depth (pre-indentation)</a:t>
                </a:r>
              </a:p>
              <a:p>
                <a:pPr marL="800100" lvl="1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𝑒𝑓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: deformed depth (post-indentation)</a:t>
                </a:r>
              </a:p>
              <a:p>
                <a:pPr marL="800100" lvl="1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local indentation depth at point 𝑖</a:t>
                </a:r>
              </a:p>
              <a:p>
                <a:pPr marL="914400" lvl="1" indent="-457200" algn="thaiDist"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B89D45E-5771-0002-A4F3-5A6E5E39A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960" y="1881145"/>
                <a:ext cx="10985984" cy="51671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48FE18-0CED-C878-9E1B-E6448AC3666C}"/>
                  </a:ext>
                </a:extLst>
              </p:cNvPr>
              <p:cNvSpPr txBox="1"/>
              <p:nvPr/>
            </p:nvSpPr>
            <p:spPr>
              <a:xfrm>
                <a:off x="7702237" y="3542209"/>
                <a:ext cx="7141461" cy="557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48FE18-0CED-C878-9E1B-E6448AC3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2237" y="3542209"/>
                <a:ext cx="7141461" cy="557717"/>
              </a:xfrm>
              <a:prstGeom prst="rect">
                <a:avLst/>
              </a:prstGeom>
              <a:blipFill>
                <a:blip r:embed="rId7"/>
                <a:stretch>
                  <a:fillRect t="-10870" b="-22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4D58EA-0275-6C54-8977-1499AC9EB169}"/>
              </a:ext>
            </a:extLst>
          </p:cNvPr>
          <p:cNvCxnSpPr>
            <a:cxnSpLocks/>
          </p:cNvCxnSpPr>
          <p:nvPr/>
        </p:nvCxnSpPr>
        <p:spPr>
          <a:xfrm>
            <a:off x="6160169" y="2152650"/>
            <a:ext cx="0" cy="44133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B7EA2E2-23E7-B254-F573-440E234ECDF0}"/>
              </a:ext>
            </a:extLst>
          </p:cNvPr>
          <p:cNvSpPr txBox="1"/>
          <p:nvPr/>
        </p:nvSpPr>
        <p:spPr>
          <a:xfrm>
            <a:off x="0" y="1009961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</p:spTree>
    <p:extLst>
      <p:ext uri="{BB962C8B-B14F-4D97-AF65-F5344CB8AC3E}">
        <p14:creationId xmlns:p14="http://schemas.microsoft.com/office/powerpoint/2010/main" val="7565798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293F5D-78E4-99E8-C4B4-28DDCCEEA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70D40823-D187-3447-463F-D47C14F48D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BB0258BD-B43C-C3B5-6281-DD354DE3A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C555432B-10A9-3EA4-EF1F-2F4FE231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45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205CA0-1DE6-BB5F-867E-8BC009314BDB}"/>
                  </a:ext>
                </a:extLst>
              </p:cNvPr>
              <p:cNvSpPr txBox="1"/>
              <p:nvPr/>
            </p:nvSpPr>
            <p:spPr>
              <a:xfrm>
                <a:off x="0" y="1890443"/>
                <a:ext cx="7459579" cy="593015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lvl="1" algn="thaiDist">
                  <a:lnSpc>
                    <a:spcPct val="200000"/>
                  </a:lnSpc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Compute Global Indentation Parameters</a:t>
                </a:r>
              </a:p>
              <a:p>
                <a:pPr marL="914400" lvl="1" indent="-457200" algn="thaiDist">
                  <a:buFont typeface="+mj-lt"/>
                  <a:buAutoNum type="alphaLcParenR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Indentation Depth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+mj-lt"/>
                  <a:buAutoNum type="alphaLcParenR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20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often used to represent the strain input.</a:t>
                </a:r>
              </a:p>
              <a:p>
                <a:pPr marL="914400" lvl="1" indent="-457200" algn="thaiDist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Indentation Depth</a:t>
                </a:r>
              </a:p>
              <a:p>
                <a:pPr lvl="2" algn="thai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 algn="thaiDist">
                  <a:lnSpc>
                    <a:spcPct val="15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𝑁 is the number of points in the ROI.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+mj-lt"/>
                  <a:buAutoNum type="alphaLcParenR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1" indent="-457200" algn="thaiDist"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205CA0-1DE6-BB5F-867E-8BC009314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0443"/>
                <a:ext cx="7459579" cy="5930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7BCCCF5-9243-471E-9D22-CE9555F27C40}"/>
              </a:ext>
            </a:extLst>
          </p:cNvPr>
          <p:cNvSpPr txBox="1"/>
          <p:nvPr/>
        </p:nvSpPr>
        <p:spPr>
          <a:xfrm>
            <a:off x="0" y="114793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8DAD5-0BBF-9F67-0B74-F221CCE21CA5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9A7F5F-3FFF-1E45-694E-8911AABBFA89}"/>
                  </a:ext>
                </a:extLst>
              </p:cNvPr>
              <p:cNvSpPr txBox="1"/>
              <p:nvPr/>
            </p:nvSpPr>
            <p:spPr>
              <a:xfrm>
                <a:off x="2525269" y="3219499"/>
                <a:ext cx="7141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9A7F5F-3FFF-1E45-694E-8911AABBF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269" y="3219499"/>
                <a:ext cx="7141461" cy="523220"/>
              </a:xfrm>
              <a:prstGeom prst="rect">
                <a:avLst/>
              </a:prstGeom>
              <a:blipFill>
                <a:blip r:embed="rId6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5E86E-6013-211C-FB57-02F75541E4D5}"/>
                  </a:ext>
                </a:extLst>
              </p:cNvPr>
              <p:cNvSpPr txBox="1"/>
              <p:nvPr/>
            </p:nvSpPr>
            <p:spPr>
              <a:xfrm>
                <a:off x="6468607" y="2615677"/>
                <a:ext cx="5723391" cy="408175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914400" lvl="1" indent="-457200" algn="thaiDist">
                  <a:buFont typeface="+mj-lt"/>
                  <a:buAutoNum type="alphaLcParenR" startAt="3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Volume of Deformation</a:t>
                </a:r>
              </a:p>
              <a:p>
                <a:pPr lvl="2" algn="thaiDist">
                  <a:lnSpc>
                    <a:spcPct val="20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approximate the volume 𝑉 between the two surfaces:</a:t>
                </a:r>
              </a:p>
              <a:p>
                <a:pPr lvl="2"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area per point, </a:t>
                </a:r>
              </a:p>
              <a:p>
                <a:pPr lvl="2"/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=Δ𝑥⋅Δ𝑦 (depends on resolution).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E5E86E-6013-211C-FB57-02F75541E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607" y="2615677"/>
                <a:ext cx="5723391" cy="4081758"/>
              </a:xfrm>
              <a:prstGeom prst="rect">
                <a:avLst/>
              </a:prstGeom>
              <a:blipFill>
                <a:blip r:embed="rId7"/>
                <a:stretch>
                  <a:fillRect t="-1194" r="-3088" b="-238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53AC12-3FAF-37F0-AF90-3394A9497BD5}"/>
              </a:ext>
            </a:extLst>
          </p:cNvPr>
          <p:cNvCxnSpPr>
            <a:cxnSpLocks/>
          </p:cNvCxnSpPr>
          <p:nvPr/>
        </p:nvCxnSpPr>
        <p:spPr>
          <a:xfrm>
            <a:off x="6788819" y="2615677"/>
            <a:ext cx="0" cy="39503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637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26B21DC-DF21-8B9A-F316-EE5DC923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DEF75C14-0B71-5F92-37D3-C9223BF4C2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491D41C8-10B5-3370-517F-06E0FD0FE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B19D620-4D18-71A3-385D-27BA8F648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46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8DBD24-4734-C320-2976-9DF8504B75A2}"/>
                  </a:ext>
                </a:extLst>
              </p:cNvPr>
              <p:cNvSpPr txBox="1"/>
              <p:nvPr/>
            </p:nvSpPr>
            <p:spPr>
              <a:xfrm>
                <a:off x="0" y="1890443"/>
                <a:ext cx="10985984" cy="4088620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lvl="1" algn="thaiDist">
                  <a:lnSpc>
                    <a:spcPct val="200000"/>
                  </a:lnSpc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Estimate Applied Force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air pressure: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 algn="thaiDist">
                  <a:lnSpc>
                    <a:spcPct val="20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2171700" lvl="4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applied pressure (Pa)</a:t>
                </a:r>
              </a:p>
              <a:p>
                <a:pPr marL="2171700" lvl="4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𝑐𝑜𝑛𝑡𝑎𝑐𝑡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: contact area, estimate from ROI or indentation footprint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D8DBD24-4734-C320-2976-9DF8504B7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0443"/>
                <a:ext cx="10985984" cy="4088620"/>
              </a:xfrm>
              <a:prstGeom prst="rect">
                <a:avLst/>
              </a:prstGeom>
              <a:blipFill>
                <a:blip r:embed="rId5"/>
                <a:stretch>
                  <a:fillRect b="-2534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17F23ED-20AB-3ED8-1C71-6D808906316F}"/>
              </a:ext>
            </a:extLst>
          </p:cNvPr>
          <p:cNvSpPr txBox="1"/>
          <p:nvPr/>
        </p:nvSpPr>
        <p:spPr>
          <a:xfrm>
            <a:off x="0" y="114793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78DAC-C474-E00E-C6D3-A2973086D909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2EE17E-9210-7894-7DE9-F8810985BE3E}"/>
                  </a:ext>
                </a:extLst>
              </p:cNvPr>
              <p:cNvSpPr txBox="1"/>
              <p:nvPr/>
            </p:nvSpPr>
            <p:spPr>
              <a:xfrm>
                <a:off x="3526539" y="3565679"/>
                <a:ext cx="71414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 </m:t>
                    </m:r>
                  </m:oMath>
                </a14:m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𝑐𝑜𝑛𝑡𝑎𝑐𝑡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2EE17E-9210-7894-7DE9-F8810985B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539" y="3565679"/>
                <a:ext cx="7141461" cy="523220"/>
              </a:xfrm>
              <a:prstGeom prst="rect">
                <a:avLst/>
              </a:prstGeom>
              <a:blipFill>
                <a:blip r:embed="rId6"/>
                <a:stretch>
                  <a:fillRect t="-1395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4566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5CDDA98-66B0-32C9-AE3D-C415CD7C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AD8653BA-ABF9-9236-DDE8-E632849432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77B12DE6-C366-01C6-79DE-FC03AFC54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1DFA30A-3B35-84C5-1B92-2776F5C6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47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F70246-552F-5D75-6F41-85FDCFB2C428}"/>
                  </a:ext>
                </a:extLst>
              </p:cNvPr>
              <p:cNvSpPr txBox="1"/>
              <p:nvPr/>
            </p:nvSpPr>
            <p:spPr>
              <a:xfrm>
                <a:off x="0" y="1890443"/>
                <a:ext cx="10985984" cy="4642618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lvl="1" algn="thaiDist">
                  <a:lnSpc>
                    <a:spcPct val="200000"/>
                  </a:lnSpc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Calculate Skin Properties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Option A: Stress-Strain Formula, if we know skin thickness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914400" lvl="1" indent="-457200" algn="thaiDist">
                  <a:lnSpc>
                    <a:spcPct val="200000"/>
                  </a:lnSpc>
                  <a:buFont typeface="Wingdings" panose="05000000000000000000" pitchFamily="2" charset="2"/>
                  <a:buChar char="Ø"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3" algn="thaiDist">
                  <a:lnSpc>
                    <a:spcPct val="200000"/>
                  </a:lnSpc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2171700" lvl="4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m:rPr>
                        <m:sty m:val="p"/>
                      </m:rP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estimated</m:t>
                    </m:r>
                    <m: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skin</m:t>
                    </m:r>
                    <m: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thickness</m:t>
                    </m:r>
                    <m:r>
                      <a:rPr lang="en-US" sz="2400" i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g</m:t>
                        </m:r>
                        <m: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., </m:t>
                        </m:r>
                        <m: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400" i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mm</m:t>
                        </m:r>
                      </m:e>
                    </m:d>
                  </m:oMath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171700" lvl="4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deformation from LiDAR</a:t>
                </a:r>
              </a:p>
              <a:p>
                <a:pPr marL="2171700" lvl="4" indent="-342900" algn="thaiDi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𝑐𝑜𝑛𝑡𝑎𝑐𝑡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: area where pressure was applied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BF70246-552F-5D75-6F41-85FDCFB2C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90443"/>
                <a:ext cx="10985984" cy="4642618"/>
              </a:xfrm>
              <a:prstGeom prst="rect">
                <a:avLst/>
              </a:prstGeom>
              <a:blipFill>
                <a:blip r:embed="rId5"/>
                <a:stretch>
                  <a:fillRect b="-2231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58B74C4-D4F7-063F-9706-4F17B5D9A3E8}"/>
              </a:ext>
            </a:extLst>
          </p:cNvPr>
          <p:cNvSpPr txBox="1"/>
          <p:nvPr/>
        </p:nvSpPr>
        <p:spPr>
          <a:xfrm>
            <a:off x="0" y="114793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CCF1E-3C5A-A4B0-10B4-1BE908371C45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25F3E5-6377-51AA-C3D1-01469A49E99B}"/>
                  </a:ext>
                </a:extLst>
              </p:cNvPr>
              <p:cNvSpPr txBox="1"/>
              <p:nvPr/>
            </p:nvSpPr>
            <p:spPr>
              <a:xfrm>
                <a:off x="3526539" y="3565679"/>
                <a:ext cx="7141461" cy="774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𝑆𝑡𝑟𝑒𝑠𝑠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𝑆𝑡𝑟𝑎𝑖𝑛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𝑐𝑜𝑛𝑡𝑎𝑐𝑡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̅"/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acc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𝑐𝑜𝑛𝑡𝑎𝑐𝑡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acc>
                          <m:accPr>
                            <m:chr m:val="̅"/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25F3E5-6377-51AA-C3D1-01469A49E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539" y="3565679"/>
                <a:ext cx="7141461" cy="774058"/>
              </a:xfrm>
              <a:prstGeom prst="rect">
                <a:avLst/>
              </a:prstGeom>
              <a:blipFill>
                <a:blip r:embed="rId6"/>
                <a:stretch>
                  <a:fillRect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19993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9A30B2-B240-ED90-D507-D45A11C75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1047FA8A-76E0-9913-D243-3F3F8C35DE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435CD39F-4BA5-2E1D-5465-87BC763D9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F5399C5D-0E87-6380-4BF3-9D100CAE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48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E93278-85E8-FCEF-902B-8ECF1FE3B3E6}"/>
              </a:ext>
            </a:extLst>
          </p:cNvPr>
          <p:cNvSpPr txBox="1"/>
          <p:nvPr/>
        </p:nvSpPr>
        <p:spPr>
          <a:xfrm>
            <a:off x="0" y="1890443"/>
            <a:ext cx="10985984" cy="293445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lvl="1" algn="thaiDist">
              <a:lnSpc>
                <a:spcPct val="2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Calculate Skin Properties</a:t>
            </a:r>
          </a:p>
          <a:p>
            <a:pPr marL="914400" lvl="1" indent="-457200" algn="thaiDi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B: Stiffness Model (if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unknown), use effective stiffness:</a:t>
            </a:r>
          </a:p>
          <a:p>
            <a:pPr marL="914400" lvl="1" indent="-457200" algn="thaiDi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 algn="thaiDist">
              <a:lnSpc>
                <a:spcPct val="2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0741ED-0214-2403-E4BA-B629B9196F88}"/>
              </a:ext>
            </a:extLst>
          </p:cNvPr>
          <p:cNvSpPr txBox="1"/>
          <p:nvPr/>
        </p:nvSpPr>
        <p:spPr>
          <a:xfrm>
            <a:off x="0" y="114793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Method: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156DC-F378-D724-0121-80B998E2A723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EE8F66-99F1-BB72-E9A4-743C716BD46D}"/>
                  </a:ext>
                </a:extLst>
              </p:cNvPr>
              <p:cNvSpPr txBox="1"/>
              <p:nvPr/>
            </p:nvSpPr>
            <p:spPr>
              <a:xfrm>
                <a:off x="3526539" y="3565679"/>
                <a:ext cx="7141461" cy="879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3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num>
                      <m:den>
                        <m:acc>
                          <m:accPr>
                            <m:chr m:val="̅"/>
                            <m:ctrlP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</m:acc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4EE8F66-99F1-BB72-E9A4-743C716BD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539" y="3565679"/>
                <a:ext cx="7141461" cy="879087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1562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DF637D-BFE5-88D5-C939-3112A7BB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EA70EC41-4433-C057-0AFC-79F76BD846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78B4A69A-4031-2074-519B-4427C316C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8FDC4B6-0F69-B291-E921-95497A17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49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1C8BD1-9D58-DABF-F253-44FDCAC27244}"/>
                  </a:ext>
                </a:extLst>
              </p:cNvPr>
              <p:cNvSpPr txBox="1"/>
              <p:nvPr/>
            </p:nvSpPr>
            <p:spPr>
              <a:xfrm>
                <a:off x="286984" y="1890443"/>
                <a:ext cx="10985984" cy="4288353"/>
              </a:xfrm>
              <a:prstGeom prst="rect">
                <a:avLst/>
              </a:prstGeom>
              <a:noFill/>
              <a:effectLst/>
            </p:spPr>
            <p:txBody>
              <a:bodyPr wrap="square" rtlCol="0">
                <a:spAutoFit/>
              </a:bodyPr>
              <a:lstStyle/>
              <a:p>
                <a:pPr marL="800100" lvl="1" indent="-342900" algn="thaiDi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mean deformation (from LiDAR)</a:t>
                </a:r>
              </a:p>
              <a:p>
                <a:pPr marL="800100" lvl="1" indent="-342900" algn="thaiDi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: peak indentation depth</a:t>
                </a:r>
              </a:p>
              <a:p>
                <a:pPr marL="800100" lvl="1" indent="-342900" algn="thaiDi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𝑉: volume of indentation</a:t>
                </a:r>
              </a:p>
              <a:p>
                <a:pPr marL="800100" lvl="1" indent="-342900" algn="thaiDi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𝐸: estimated Young’s modulus </a:t>
                </a:r>
              </a:p>
              <a:p>
                <a:pPr marL="800100" lvl="1" indent="-342900" algn="thaiDi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𝑘: effective stiffness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1C8BD1-9D58-DABF-F253-44FDCAC27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84" y="1890443"/>
                <a:ext cx="10985984" cy="4288353"/>
              </a:xfrm>
              <a:prstGeom prst="rect">
                <a:avLst/>
              </a:prstGeom>
              <a:blipFill>
                <a:blip r:embed="rId5"/>
                <a:stretch>
                  <a:fillRect b="-2983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CB0919A-7217-3D56-5C3E-FB3CD7C21BB5}"/>
              </a:ext>
            </a:extLst>
          </p:cNvPr>
          <p:cNvSpPr txBox="1"/>
          <p:nvPr/>
        </p:nvSpPr>
        <p:spPr>
          <a:xfrm>
            <a:off x="0" y="1147932"/>
            <a:ext cx="1219200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32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Output: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F8F760-7E68-1355-C5F6-2C9623912467}"/>
              </a:ext>
            </a:extLst>
          </p:cNvPr>
          <p:cNvSpPr txBox="1"/>
          <p:nvPr/>
        </p:nvSpPr>
        <p:spPr>
          <a:xfrm>
            <a:off x="0" y="47827"/>
            <a:ext cx="10668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Skin Mechanical Properties By Using LiDAR</a:t>
            </a:r>
          </a:p>
        </p:txBody>
      </p:sp>
    </p:spTree>
    <p:extLst>
      <p:ext uri="{BB962C8B-B14F-4D97-AF65-F5344CB8AC3E}">
        <p14:creationId xmlns:p14="http://schemas.microsoft.com/office/powerpoint/2010/main" val="13812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78C798-1C3E-BFC9-F34B-4552B141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3406F3F6-7C0F-E151-C224-461287DE528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29834"/>
            <a:ext cx="12192000" cy="2528166"/>
          </a:xfrm>
          <a:prstGeom prst="rect">
            <a:avLst/>
          </a:prstGeom>
        </p:spPr>
      </p:pic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D92FDEA3-7CC7-B064-D1AA-A7E1448B4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EBB6D0F7-B2D5-107B-147D-135A2D44D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10F8E94-E696-33DB-7460-33987E25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50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7E222-4ECA-C265-6F62-77D8BC7DDD74}"/>
              </a:ext>
            </a:extLst>
          </p:cNvPr>
          <p:cNvSpPr txBox="1"/>
          <p:nvPr/>
        </p:nvSpPr>
        <p:spPr>
          <a:xfrm>
            <a:off x="-1" y="694158"/>
            <a:ext cx="11353802" cy="501194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914400" lvl="1" indent="-457200" algn="thaiDi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L515 accuracy</a:t>
            </a:r>
          </a:p>
          <a:p>
            <a:pPr marL="1257300" lvl="2" indent="-342900" algn="thaiDi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than 5 mm at a distance of 1 meter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less than 14 mm at 9 meters, under optimal conditions with 95% reflectivity.</a:t>
            </a:r>
          </a:p>
          <a:p>
            <a:pPr marL="1257300" lvl="2" indent="-342900" algn="thaiDi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thaiDi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appropriate deformation that LiDAR is likely to detect is 5 – 10 mm at a distance of 1 meter.</a:t>
            </a: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thaiDi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33E34F-08AB-AE75-0BA4-69340120F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7" t="14211" r="27117" b="13573"/>
          <a:stretch/>
        </p:blipFill>
        <p:spPr bwMode="auto">
          <a:xfrm>
            <a:off x="6702479" y="1899884"/>
            <a:ext cx="1610752" cy="1529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F63F5F-636C-2495-6E95-E2A0770C9DFC}"/>
              </a:ext>
            </a:extLst>
          </p:cNvPr>
          <p:cNvSpPr txBox="1"/>
          <p:nvPr/>
        </p:nvSpPr>
        <p:spPr>
          <a:xfrm>
            <a:off x="0" y="-38336"/>
            <a:ext cx="12192000" cy="64633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ROI CALCULATION</a:t>
            </a:r>
          </a:p>
        </p:txBody>
      </p:sp>
    </p:spTree>
    <p:extLst>
      <p:ext uri="{BB962C8B-B14F-4D97-AF65-F5344CB8AC3E}">
        <p14:creationId xmlns:p14="http://schemas.microsoft.com/office/powerpoint/2010/main" val="2412367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35A1B2-4061-8D0C-3B19-002CE260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19E65717-32C3-78C1-6BBB-9E84F45EC4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91F1A42D-53FB-369F-2D64-C20431C67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D5A313D-6136-93D3-599B-44C57983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51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050867-1EF5-C59C-0F27-96659BFB36D4}"/>
              </a:ext>
            </a:extLst>
          </p:cNvPr>
          <p:cNvSpPr txBox="1"/>
          <p:nvPr/>
        </p:nvSpPr>
        <p:spPr>
          <a:xfrm>
            <a:off x="0" y="47827"/>
            <a:ext cx="1066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CALIBRATION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3226AC-B6B1-7D14-0BC9-E884C0BCD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256" y="1080305"/>
            <a:ext cx="4407391" cy="38453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60812B-C313-DDCD-E3C3-CCC208D5F23D}"/>
              </a:ext>
            </a:extLst>
          </p:cNvPr>
          <p:cNvSpPr txBox="1"/>
          <p:nvPr/>
        </p:nvSpPr>
        <p:spPr>
          <a:xfrm>
            <a:off x="6190489" y="545820"/>
            <a:ext cx="6001512" cy="3914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 Step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object away from LiDAR 50 cm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in 2 cm x 2 cm ROI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60 times at the same distance (60s)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accuracy(Bias) and precision(Uncertainty)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distance by 10 cm at a time to 60 cm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 graph</a:t>
            </a:r>
            <a:endParaRPr lang="en-US" sz="28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91CFF29-0B40-4828-F2F6-C494BDF533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9" y="1080305"/>
            <a:ext cx="1948229" cy="42995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873071-F562-C4C7-1C16-7C523F9D1E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3" b="20533"/>
          <a:stretch/>
        </p:blipFill>
        <p:spPr>
          <a:xfrm>
            <a:off x="8610600" y="4123944"/>
            <a:ext cx="2254703" cy="24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98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CDD4AD5-B4E5-032D-B1AC-A9494D019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A88BA86C-5FC6-1EA2-29CD-CB51CFE976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B3266E6D-D714-4E61-D8D8-DCF1A9160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D1F55B2D-74C7-4C8F-8EF0-3B30EE3C3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52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89629E-1C27-C21D-7305-406FA2B4E5B3}"/>
              </a:ext>
            </a:extLst>
          </p:cNvPr>
          <p:cNvSpPr txBox="1"/>
          <p:nvPr/>
        </p:nvSpPr>
        <p:spPr>
          <a:xfrm>
            <a:off x="0" y="47827"/>
            <a:ext cx="1066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CALIBRATION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A14C7-832F-47B9-FD16-3B35B29F491B}"/>
              </a:ext>
            </a:extLst>
          </p:cNvPr>
          <p:cNvSpPr txBox="1"/>
          <p:nvPr/>
        </p:nvSpPr>
        <p:spPr>
          <a:xfrm>
            <a:off x="0" y="616102"/>
            <a:ext cx="1066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FDB1AD-113D-DFBC-05F2-A0EAC49725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24" y="1262433"/>
            <a:ext cx="7045452" cy="4681167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790B19-B47D-C62E-FAAF-705F3E38FB00}"/>
              </a:ext>
            </a:extLst>
          </p:cNvPr>
          <p:cNvGraphicFramePr>
            <a:graphicFrameLocks noGrp="1"/>
          </p:cNvGraphicFramePr>
          <p:nvPr/>
        </p:nvGraphicFramePr>
        <p:xfrm>
          <a:off x="7173859" y="1437760"/>
          <a:ext cx="4846319" cy="3101340"/>
        </p:xfrm>
        <a:graphic>
          <a:graphicData uri="http://schemas.openxmlformats.org/drawingml/2006/table">
            <a:tbl>
              <a:tblPr/>
              <a:tblGrid>
                <a:gridCol w="1235336">
                  <a:extLst>
                    <a:ext uri="{9D8B030D-6E8A-4147-A177-3AD203B41FA5}">
                      <a16:colId xmlns:a16="http://schemas.microsoft.com/office/drawing/2014/main" val="3451089755"/>
                    </a:ext>
                  </a:extLst>
                </a:gridCol>
                <a:gridCol w="1140311">
                  <a:extLst>
                    <a:ext uri="{9D8B030D-6E8A-4147-A177-3AD203B41FA5}">
                      <a16:colId xmlns:a16="http://schemas.microsoft.com/office/drawing/2014/main" val="414967894"/>
                    </a:ext>
                  </a:extLst>
                </a:gridCol>
                <a:gridCol w="1235336">
                  <a:extLst>
                    <a:ext uri="{9D8B030D-6E8A-4147-A177-3AD203B41FA5}">
                      <a16:colId xmlns:a16="http://schemas.microsoft.com/office/drawing/2014/main" val="991051037"/>
                    </a:ext>
                  </a:extLst>
                </a:gridCol>
                <a:gridCol w="1235336">
                  <a:extLst>
                    <a:ext uri="{9D8B030D-6E8A-4147-A177-3AD203B41FA5}">
                      <a16:colId xmlns:a16="http://schemas.microsoft.com/office/drawing/2014/main" val="1075503576"/>
                    </a:ext>
                  </a:extLst>
                </a:gridCol>
              </a:tblGrid>
              <a:tr h="31358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Distance (mm)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Bias (mm)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Uncertainty (Std Dev) (mm)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Measured Distance (mm)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680517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500.11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475681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509.35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426896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519.86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163736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529.77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765838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540.38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284886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821248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559.92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943193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571.69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184447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577.97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701460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-0.25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589.75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913164"/>
                  </a:ext>
                </a:extLst>
              </a:tr>
              <a:tr h="162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600.59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84478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048125C-0C9B-5D1B-2AD7-73DBF638A750}"/>
              </a:ext>
            </a:extLst>
          </p:cNvPr>
          <p:cNvSpPr txBox="1"/>
          <p:nvPr/>
        </p:nvSpPr>
        <p:spPr>
          <a:xfrm>
            <a:off x="6403086" y="4695007"/>
            <a:ext cx="6094476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500.11 ± 1.36 mm; [498.75 mm, 501.47 mm].</a:t>
            </a:r>
          </a:p>
          <a:p>
            <a:pPr lvl="1" algn="ctr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550.02 ± 1.90 mm; [548.12 mm, 551.92 mm].</a:t>
            </a:r>
          </a:p>
          <a:p>
            <a:pPr lvl="1" algn="ctr"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75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2720</TotalTime>
  <Words>4492</Words>
  <Application>Microsoft Office PowerPoint</Application>
  <PresentationFormat>Widescreen</PresentationFormat>
  <Paragraphs>792</Paragraphs>
  <Slides>52</Slides>
  <Notes>52</Notes>
  <HiddenSlides>24</HiddenSlides>
  <MMClips>3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Abadi</vt:lpstr>
      <vt:lpstr>ADLaM Display</vt:lpstr>
      <vt:lpstr>Aharoni</vt:lpstr>
      <vt:lpstr>Arial</vt:lpstr>
      <vt:lpstr>Calibri</vt:lpstr>
      <vt:lpstr>Calibri Light</vt:lpstr>
      <vt:lpstr>Cambria Math</vt:lpstr>
      <vt:lpstr>Montserrat</vt:lpstr>
      <vt:lpstr>Montserrat SemiBold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NAPAT NAOWARANGSEE</dc:creator>
  <cp:lastModifiedBy>Napat Naowarangsee</cp:lastModifiedBy>
  <cp:revision>40</cp:revision>
  <dcterms:created xsi:type="dcterms:W3CDTF">2025-04-23T03:35:44Z</dcterms:created>
  <dcterms:modified xsi:type="dcterms:W3CDTF">2025-08-28T08:33:48Z</dcterms:modified>
</cp:coreProperties>
</file>