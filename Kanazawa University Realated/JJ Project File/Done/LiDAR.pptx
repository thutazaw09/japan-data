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tags/tag3.xml" ContentType="application/vnd.openxmlformats-officedocument.presentationml.tags+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822" r:id="rId2"/>
    <p:sldId id="824" r:id="rId3"/>
    <p:sldId id="825" r:id="rId4"/>
    <p:sldId id="827" r:id="rId5"/>
    <p:sldId id="826" r:id="rId6"/>
    <p:sldId id="829" r:id="rId7"/>
    <p:sldId id="830" r:id="rId8"/>
    <p:sldId id="831" r:id="rId9"/>
    <p:sldId id="832" r:id="rId10"/>
    <p:sldId id="833" r:id="rId11"/>
    <p:sldId id="823" r:id="rId12"/>
    <p:sldId id="834" r:id="rId13"/>
    <p:sldId id="835" r:id="rId14"/>
    <p:sldId id="836" r:id="rId15"/>
    <p:sldId id="82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341" autoAdjust="0"/>
  </p:normalViewPr>
  <p:slideViewPr>
    <p:cSldViewPr snapToGrid="0">
      <p:cViewPr varScale="1">
        <p:scale>
          <a:sx n="103" d="100"/>
          <a:sy n="103" d="100"/>
        </p:scale>
        <p:origin x="28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B94415-6272-4757-9F1D-C8B769BCBA9F}" type="doc">
      <dgm:prSet loTypeId="urn:microsoft.com/office/officeart/2005/8/layout/vProcess5" loCatId="process" qsTypeId="urn:microsoft.com/office/officeart/2005/8/quickstyle/simple1" qsCatId="simple" csTypeId="urn:microsoft.com/office/officeart/2005/8/colors/accent1_1" csCatId="accent1"/>
      <dgm:spPr/>
      <dgm:t>
        <a:bodyPr/>
        <a:lstStyle/>
        <a:p>
          <a:endParaRPr lang="en-US"/>
        </a:p>
      </dgm:t>
    </dgm:pt>
    <dgm:pt modelId="{2BF919F2-3C16-41D3-856B-EAE5300B2C82}">
      <dgm:prSet custT="1"/>
      <dgm:spPr/>
      <dgm:t>
        <a:bodyPr/>
        <a:lstStyle/>
        <a:p>
          <a:r>
            <a:rPr lang="en-US" sz="1800">
              <a:latin typeface="ADLaM Display" panose="02010000000000000000" pitchFamily="2" charset="0"/>
              <a:ea typeface="ADLaM Display" panose="02010000000000000000" pitchFamily="2" charset="0"/>
              <a:cs typeface="ADLaM Display" panose="02010000000000000000" pitchFamily="2" charset="0"/>
            </a:rPr>
            <a:t>Capturing point clouds (sensor data acquisition).</a:t>
          </a:r>
        </a:p>
      </dgm:t>
    </dgm:pt>
    <dgm:pt modelId="{6BF3D890-FB4A-4DE8-A288-BEBD541ADFE1}" type="parTrans" cxnId="{4E422AE2-D6A9-4525-B4B9-E33A00F1B73A}">
      <dgm:prSet/>
      <dgm:spPr/>
      <dgm:t>
        <a:bodyPr/>
        <a:lstStyle/>
        <a:p>
          <a:endParaRPr lang="en-US" sz="1800">
            <a:latin typeface="ADLaM Display" panose="02010000000000000000" pitchFamily="2" charset="0"/>
            <a:ea typeface="ADLaM Display" panose="02010000000000000000" pitchFamily="2" charset="0"/>
            <a:cs typeface="ADLaM Display" panose="02010000000000000000" pitchFamily="2" charset="0"/>
          </a:endParaRPr>
        </a:p>
      </dgm:t>
    </dgm:pt>
    <dgm:pt modelId="{2F87DD02-84BA-46DC-A80B-4C92E055D843}" type="sibTrans" cxnId="{4E422AE2-D6A9-4525-B4B9-E33A00F1B73A}">
      <dgm:prSet/>
      <dgm:spPr/>
      <dgm:t>
        <a:bodyPr/>
        <a:lstStyle/>
        <a:p>
          <a:endParaRPr lang="en-US" sz="1800">
            <a:latin typeface="ADLaM Display" panose="02010000000000000000" pitchFamily="2" charset="0"/>
            <a:ea typeface="ADLaM Display" panose="02010000000000000000" pitchFamily="2" charset="0"/>
            <a:cs typeface="ADLaM Display" panose="02010000000000000000" pitchFamily="2" charset="0"/>
          </a:endParaRPr>
        </a:p>
      </dgm:t>
    </dgm:pt>
    <dgm:pt modelId="{3174BB8F-633E-44C8-9A80-029BE77C00E7}">
      <dgm:prSet custT="1"/>
      <dgm:spPr/>
      <dgm:t>
        <a:bodyPr/>
        <a:lstStyle/>
        <a:p>
          <a:r>
            <a:rPr lang="en-US" sz="1800">
              <a:latin typeface="ADLaM Display" panose="02010000000000000000" pitchFamily="2" charset="0"/>
              <a:ea typeface="ADLaM Display" panose="02010000000000000000" pitchFamily="2" charset="0"/>
              <a:cs typeface="ADLaM Display" panose="02010000000000000000" pitchFamily="2" charset="0"/>
            </a:rPr>
            <a:t>Preprocessing (noise reduction, filtering).</a:t>
          </a:r>
        </a:p>
      </dgm:t>
    </dgm:pt>
    <dgm:pt modelId="{27B47346-D973-4788-93D1-FA8D61234364}" type="parTrans" cxnId="{4716E424-3375-44CF-BB80-84DF065DEAC7}">
      <dgm:prSet/>
      <dgm:spPr/>
      <dgm:t>
        <a:bodyPr/>
        <a:lstStyle/>
        <a:p>
          <a:endParaRPr lang="en-US" sz="1800">
            <a:latin typeface="ADLaM Display" panose="02010000000000000000" pitchFamily="2" charset="0"/>
            <a:ea typeface="ADLaM Display" panose="02010000000000000000" pitchFamily="2" charset="0"/>
            <a:cs typeface="ADLaM Display" panose="02010000000000000000" pitchFamily="2" charset="0"/>
          </a:endParaRPr>
        </a:p>
      </dgm:t>
    </dgm:pt>
    <dgm:pt modelId="{F3E61988-7FB4-4599-BF19-88C01EE3F10E}" type="sibTrans" cxnId="{4716E424-3375-44CF-BB80-84DF065DEAC7}">
      <dgm:prSet/>
      <dgm:spPr/>
      <dgm:t>
        <a:bodyPr/>
        <a:lstStyle/>
        <a:p>
          <a:endParaRPr lang="en-US" sz="1800">
            <a:latin typeface="ADLaM Display" panose="02010000000000000000" pitchFamily="2" charset="0"/>
            <a:ea typeface="ADLaM Display" panose="02010000000000000000" pitchFamily="2" charset="0"/>
            <a:cs typeface="ADLaM Display" panose="02010000000000000000" pitchFamily="2" charset="0"/>
          </a:endParaRPr>
        </a:p>
      </dgm:t>
    </dgm:pt>
    <dgm:pt modelId="{2D7E947C-ED1B-464D-AC5D-ECC89E934773}">
      <dgm:prSet custT="1"/>
      <dgm:spPr/>
      <dgm:t>
        <a:bodyPr/>
        <a:lstStyle/>
        <a:p>
          <a:r>
            <a:rPr lang="en-US" sz="1800" dirty="0">
              <a:latin typeface="ADLaM Display" panose="02010000000000000000" pitchFamily="2" charset="0"/>
              <a:ea typeface="ADLaM Display" panose="02010000000000000000" pitchFamily="2" charset="0"/>
              <a:cs typeface="ADLaM Display" panose="02010000000000000000" pitchFamily="2" charset="0"/>
            </a:rPr>
            <a:t>Segmentation (identifying objects or regions of interest).</a:t>
          </a:r>
        </a:p>
      </dgm:t>
    </dgm:pt>
    <dgm:pt modelId="{53971583-CEC2-41A5-A2EE-5B3A2FD0DD31}" type="parTrans" cxnId="{89245F90-66FA-4123-81BE-501DF807C64B}">
      <dgm:prSet/>
      <dgm:spPr/>
      <dgm:t>
        <a:bodyPr/>
        <a:lstStyle/>
        <a:p>
          <a:endParaRPr lang="en-US" sz="1800">
            <a:latin typeface="ADLaM Display" panose="02010000000000000000" pitchFamily="2" charset="0"/>
            <a:ea typeface="ADLaM Display" panose="02010000000000000000" pitchFamily="2" charset="0"/>
            <a:cs typeface="ADLaM Display" panose="02010000000000000000" pitchFamily="2" charset="0"/>
          </a:endParaRPr>
        </a:p>
      </dgm:t>
    </dgm:pt>
    <dgm:pt modelId="{ED6C7EDF-914A-491C-A014-B9424C060416}" type="sibTrans" cxnId="{89245F90-66FA-4123-81BE-501DF807C64B}">
      <dgm:prSet/>
      <dgm:spPr/>
      <dgm:t>
        <a:bodyPr/>
        <a:lstStyle/>
        <a:p>
          <a:endParaRPr lang="en-US" sz="1800">
            <a:latin typeface="ADLaM Display" panose="02010000000000000000" pitchFamily="2" charset="0"/>
            <a:ea typeface="ADLaM Display" panose="02010000000000000000" pitchFamily="2" charset="0"/>
            <a:cs typeface="ADLaM Display" panose="02010000000000000000" pitchFamily="2" charset="0"/>
          </a:endParaRPr>
        </a:p>
      </dgm:t>
    </dgm:pt>
    <dgm:pt modelId="{5DD09D46-95B4-4174-BD4B-7B0EFB20D4A4}">
      <dgm:prSet custT="1"/>
      <dgm:spPr/>
      <dgm:t>
        <a:bodyPr/>
        <a:lstStyle/>
        <a:p>
          <a:r>
            <a:rPr lang="en-US" sz="1800">
              <a:latin typeface="ADLaM Display" panose="02010000000000000000" pitchFamily="2" charset="0"/>
              <a:ea typeface="ADLaM Display" panose="02010000000000000000" pitchFamily="2" charset="0"/>
              <a:cs typeface="ADLaM Display" panose="02010000000000000000" pitchFamily="2" charset="0"/>
            </a:rPr>
            <a:t>3D object recognition (classifying and identifying objects in a 3D space).</a:t>
          </a:r>
        </a:p>
      </dgm:t>
    </dgm:pt>
    <dgm:pt modelId="{A2C2331A-C059-49AA-BA87-4344046F1369}" type="parTrans" cxnId="{06479586-F1BD-44E1-992C-A517EF24D390}">
      <dgm:prSet/>
      <dgm:spPr/>
      <dgm:t>
        <a:bodyPr/>
        <a:lstStyle/>
        <a:p>
          <a:endParaRPr lang="en-US" sz="1800">
            <a:latin typeface="ADLaM Display" panose="02010000000000000000" pitchFamily="2" charset="0"/>
            <a:ea typeface="ADLaM Display" panose="02010000000000000000" pitchFamily="2" charset="0"/>
            <a:cs typeface="ADLaM Display" panose="02010000000000000000" pitchFamily="2" charset="0"/>
          </a:endParaRPr>
        </a:p>
      </dgm:t>
    </dgm:pt>
    <dgm:pt modelId="{79CC4BDD-63F1-4D8D-B243-72DA34F1177E}" type="sibTrans" cxnId="{06479586-F1BD-44E1-992C-A517EF24D390}">
      <dgm:prSet/>
      <dgm:spPr/>
      <dgm:t>
        <a:bodyPr/>
        <a:lstStyle/>
        <a:p>
          <a:endParaRPr lang="en-US" sz="1800">
            <a:latin typeface="ADLaM Display" panose="02010000000000000000" pitchFamily="2" charset="0"/>
            <a:ea typeface="ADLaM Display" panose="02010000000000000000" pitchFamily="2" charset="0"/>
            <a:cs typeface="ADLaM Display" panose="02010000000000000000" pitchFamily="2" charset="0"/>
          </a:endParaRPr>
        </a:p>
      </dgm:t>
    </dgm:pt>
    <dgm:pt modelId="{96B01AD5-D62C-4993-B0B2-ADA7D3A738D2}">
      <dgm:prSet custT="1"/>
      <dgm:spPr/>
      <dgm:t>
        <a:bodyPr/>
        <a:lstStyle/>
        <a:p>
          <a:r>
            <a:rPr lang="en-US" sz="1800">
              <a:latin typeface="ADLaM Display" panose="02010000000000000000" pitchFamily="2" charset="0"/>
              <a:ea typeface="ADLaM Display" panose="02010000000000000000" pitchFamily="2" charset="0"/>
              <a:cs typeface="ADLaM Display" panose="02010000000000000000" pitchFamily="2" charset="0"/>
            </a:rPr>
            <a:t>3D reconstruction (building detailed models from LiDAR data).</a:t>
          </a:r>
        </a:p>
      </dgm:t>
    </dgm:pt>
    <dgm:pt modelId="{051C0D1A-783C-4E98-9818-23C06432B2C7}" type="parTrans" cxnId="{64611C1D-5888-4F94-B5B0-DD11258D804D}">
      <dgm:prSet/>
      <dgm:spPr/>
      <dgm:t>
        <a:bodyPr/>
        <a:lstStyle/>
        <a:p>
          <a:endParaRPr lang="en-US" sz="1800">
            <a:latin typeface="ADLaM Display" panose="02010000000000000000" pitchFamily="2" charset="0"/>
            <a:ea typeface="ADLaM Display" panose="02010000000000000000" pitchFamily="2" charset="0"/>
            <a:cs typeface="ADLaM Display" panose="02010000000000000000" pitchFamily="2" charset="0"/>
          </a:endParaRPr>
        </a:p>
      </dgm:t>
    </dgm:pt>
    <dgm:pt modelId="{B24581C2-12D0-41AA-8808-2BD0BDD53CA2}" type="sibTrans" cxnId="{64611C1D-5888-4F94-B5B0-DD11258D804D}">
      <dgm:prSet/>
      <dgm:spPr/>
      <dgm:t>
        <a:bodyPr/>
        <a:lstStyle/>
        <a:p>
          <a:endParaRPr lang="en-US" sz="1800">
            <a:latin typeface="ADLaM Display" panose="02010000000000000000" pitchFamily="2" charset="0"/>
            <a:ea typeface="ADLaM Display" panose="02010000000000000000" pitchFamily="2" charset="0"/>
            <a:cs typeface="ADLaM Display" panose="02010000000000000000" pitchFamily="2" charset="0"/>
          </a:endParaRPr>
        </a:p>
      </dgm:t>
    </dgm:pt>
    <dgm:pt modelId="{D21BD1C1-CDEF-48F9-8676-992894962AB8}" type="pres">
      <dgm:prSet presAssocID="{15B94415-6272-4757-9F1D-C8B769BCBA9F}" presName="outerComposite" presStyleCnt="0">
        <dgm:presLayoutVars>
          <dgm:chMax val="5"/>
          <dgm:dir/>
          <dgm:resizeHandles val="exact"/>
        </dgm:presLayoutVars>
      </dgm:prSet>
      <dgm:spPr/>
    </dgm:pt>
    <dgm:pt modelId="{302DD444-E555-4487-A421-C0D945FEDF63}" type="pres">
      <dgm:prSet presAssocID="{15B94415-6272-4757-9F1D-C8B769BCBA9F}" presName="dummyMaxCanvas" presStyleCnt="0">
        <dgm:presLayoutVars/>
      </dgm:prSet>
      <dgm:spPr/>
    </dgm:pt>
    <dgm:pt modelId="{E9CFD39C-B9E5-48FD-A24A-58CDF526727E}" type="pres">
      <dgm:prSet presAssocID="{15B94415-6272-4757-9F1D-C8B769BCBA9F}" presName="FiveNodes_1" presStyleLbl="node1" presStyleIdx="0" presStyleCnt="5">
        <dgm:presLayoutVars>
          <dgm:bulletEnabled val="1"/>
        </dgm:presLayoutVars>
      </dgm:prSet>
      <dgm:spPr/>
    </dgm:pt>
    <dgm:pt modelId="{E881ADBF-98AF-4EBA-A582-203CAFC35BDC}" type="pres">
      <dgm:prSet presAssocID="{15B94415-6272-4757-9F1D-C8B769BCBA9F}" presName="FiveNodes_2" presStyleLbl="node1" presStyleIdx="1" presStyleCnt="5">
        <dgm:presLayoutVars>
          <dgm:bulletEnabled val="1"/>
        </dgm:presLayoutVars>
      </dgm:prSet>
      <dgm:spPr/>
    </dgm:pt>
    <dgm:pt modelId="{0C889921-D6AD-4170-892E-AA4C1918D663}" type="pres">
      <dgm:prSet presAssocID="{15B94415-6272-4757-9F1D-C8B769BCBA9F}" presName="FiveNodes_3" presStyleLbl="node1" presStyleIdx="2" presStyleCnt="5">
        <dgm:presLayoutVars>
          <dgm:bulletEnabled val="1"/>
        </dgm:presLayoutVars>
      </dgm:prSet>
      <dgm:spPr/>
    </dgm:pt>
    <dgm:pt modelId="{74D76202-6ECA-4138-A184-EC159C79CDED}" type="pres">
      <dgm:prSet presAssocID="{15B94415-6272-4757-9F1D-C8B769BCBA9F}" presName="FiveNodes_4" presStyleLbl="node1" presStyleIdx="3" presStyleCnt="5">
        <dgm:presLayoutVars>
          <dgm:bulletEnabled val="1"/>
        </dgm:presLayoutVars>
      </dgm:prSet>
      <dgm:spPr/>
    </dgm:pt>
    <dgm:pt modelId="{35CEE8B8-5AA0-4C06-A4AF-27076AF355ED}" type="pres">
      <dgm:prSet presAssocID="{15B94415-6272-4757-9F1D-C8B769BCBA9F}" presName="FiveNodes_5" presStyleLbl="node1" presStyleIdx="4" presStyleCnt="5">
        <dgm:presLayoutVars>
          <dgm:bulletEnabled val="1"/>
        </dgm:presLayoutVars>
      </dgm:prSet>
      <dgm:spPr/>
    </dgm:pt>
    <dgm:pt modelId="{2EA40B5B-FF04-4E35-B66A-DFA4B66F9068}" type="pres">
      <dgm:prSet presAssocID="{15B94415-6272-4757-9F1D-C8B769BCBA9F}" presName="FiveConn_1-2" presStyleLbl="fgAccFollowNode1" presStyleIdx="0" presStyleCnt="4">
        <dgm:presLayoutVars>
          <dgm:bulletEnabled val="1"/>
        </dgm:presLayoutVars>
      </dgm:prSet>
      <dgm:spPr/>
    </dgm:pt>
    <dgm:pt modelId="{02FFA52A-FC79-4447-BF3B-780FE999044C}" type="pres">
      <dgm:prSet presAssocID="{15B94415-6272-4757-9F1D-C8B769BCBA9F}" presName="FiveConn_2-3" presStyleLbl="fgAccFollowNode1" presStyleIdx="1" presStyleCnt="4">
        <dgm:presLayoutVars>
          <dgm:bulletEnabled val="1"/>
        </dgm:presLayoutVars>
      </dgm:prSet>
      <dgm:spPr/>
    </dgm:pt>
    <dgm:pt modelId="{EFD3E30C-50F0-49C0-8C74-F7F3121E7156}" type="pres">
      <dgm:prSet presAssocID="{15B94415-6272-4757-9F1D-C8B769BCBA9F}" presName="FiveConn_3-4" presStyleLbl="fgAccFollowNode1" presStyleIdx="2" presStyleCnt="4">
        <dgm:presLayoutVars>
          <dgm:bulletEnabled val="1"/>
        </dgm:presLayoutVars>
      </dgm:prSet>
      <dgm:spPr/>
    </dgm:pt>
    <dgm:pt modelId="{4479619A-AE8A-4DFD-9431-6705D6ED653C}" type="pres">
      <dgm:prSet presAssocID="{15B94415-6272-4757-9F1D-C8B769BCBA9F}" presName="FiveConn_4-5" presStyleLbl="fgAccFollowNode1" presStyleIdx="3" presStyleCnt="4">
        <dgm:presLayoutVars>
          <dgm:bulletEnabled val="1"/>
        </dgm:presLayoutVars>
      </dgm:prSet>
      <dgm:spPr/>
    </dgm:pt>
    <dgm:pt modelId="{BF25FADA-B178-4091-89AE-2A99DA7159D3}" type="pres">
      <dgm:prSet presAssocID="{15B94415-6272-4757-9F1D-C8B769BCBA9F}" presName="FiveNodes_1_text" presStyleLbl="node1" presStyleIdx="4" presStyleCnt="5">
        <dgm:presLayoutVars>
          <dgm:bulletEnabled val="1"/>
        </dgm:presLayoutVars>
      </dgm:prSet>
      <dgm:spPr/>
    </dgm:pt>
    <dgm:pt modelId="{A3291DB4-03BB-42B7-9465-7406C9BF1416}" type="pres">
      <dgm:prSet presAssocID="{15B94415-6272-4757-9F1D-C8B769BCBA9F}" presName="FiveNodes_2_text" presStyleLbl="node1" presStyleIdx="4" presStyleCnt="5">
        <dgm:presLayoutVars>
          <dgm:bulletEnabled val="1"/>
        </dgm:presLayoutVars>
      </dgm:prSet>
      <dgm:spPr/>
    </dgm:pt>
    <dgm:pt modelId="{B1C37298-4160-407F-97D6-23BF6498513F}" type="pres">
      <dgm:prSet presAssocID="{15B94415-6272-4757-9F1D-C8B769BCBA9F}" presName="FiveNodes_3_text" presStyleLbl="node1" presStyleIdx="4" presStyleCnt="5">
        <dgm:presLayoutVars>
          <dgm:bulletEnabled val="1"/>
        </dgm:presLayoutVars>
      </dgm:prSet>
      <dgm:spPr/>
    </dgm:pt>
    <dgm:pt modelId="{44C11150-A91C-413A-AFE8-25A3FE1C1100}" type="pres">
      <dgm:prSet presAssocID="{15B94415-6272-4757-9F1D-C8B769BCBA9F}" presName="FiveNodes_4_text" presStyleLbl="node1" presStyleIdx="4" presStyleCnt="5">
        <dgm:presLayoutVars>
          <dgm:bulletEnabled val="1"/>
        </dgm:presLayoutVars>
      </dgm:prSet>
      <dgm:spPr/>
    </dgm:pt>
    <dgm:pt modelId="{A6AE065F-6308-4491-BEC1-469D79E8AB46}" type="pres">
      <dgm:prSet presAssocID="{15B94415-6272-4757-9F1D-C8B769BCBA9F}" presName="FiveNodes_5_text" presStyleLbl="node1" presStyleIdx="4" presStyleCnt="5">
        <dgm:presLayoutVars>
          <dgm:bulletEnabled val="1"/>
        </dgm:presLayoutVars>
      </dgm:prSet>
      <dgm:spPr/>
    </dgm:pt>
  </dgm:ptLst>
  <dgm:cxnLst>
    <dgm:cxn modelId="{49FBE103-6C61-4CAA-A2C9-4BA3FE00D040}" type="presOf" srcId="{2BF919F2-3C16-41D3-856B-EAE5300B2C82}" destId="{E9CFD39C-B9E5-48FD-A24A-58CDF526727E}" srcOrd="0" destOrd="0" presId="urn:microsoft.com/office/officeart/2005/8/layout/vProcess5"/>
    <dgm:cxn modelId="{E38E9C04-5457-4EE1-8D77-28710A75423F}" type="presOf" srcId="{2D7E947C-ED1B-464D-AC5D-ECC89E934773}" destId="{0C889921-D6AD-4170-892E-AA4C1918D663}" srcOrd="0" destOrd="0" presId="urn:microsoft.com/office/officeart/2005/8/layout/vProcess5"/>
    <dgm:cxn modelId="{64611C1D-5888-4F94-B5B0-DD11258D804D}" srcId="{15B94415-6272-4757-9F1D-C8B769BCBA9F}" destId="{96B01AD5-D62C-4993-B0B2-ADA7D3A738D2}" srcOrd="4" destOrd="0" parTransId="{051C0D1A-783C-4E98-9818-23C06432B2C7}" sibTransId="{B24581C2-12D0-41AA-8808-2BD0BDD53CA2}"/>
    <dgm:cxn modelId="{4716E424-3375-44CF-BB80-84DF065DEAC7}" srcId="{15B94415-6272-4757-9F1D-C8B769BCBA9F}" destId="{3174BB8F-633E-44C8-9A80-029BE77C00E7}" srcOrd="1" destOrd="0" parTransId="{27B47346-D973-4788-93D1-FA8D61234364}" sibTransId="{F3E61988-7FB4-4599-BF19-88C01EE3F10E}"/>
    <dgm:cxn modelId="{AC025329-86E3-4E98-BA03-2514240B05F0}" type="presOf" srcId="{96B01AD5-D62C-4993-B0B2-ADA7D3A738D2}" destId="{A6AE065F-6308-4491-BEC1-469D79E8AB46}" srcOrd="1" destOrd="0" presId="urn:microsoft.com/office/officeart/2005/8/layout/vProcess5"/>
    <dgm:cxn modelId="{8AE6B743-248C-46A6-A89D-AC1A6F2107F6}" type="presOf" srcId="{2D7E947C-ED1B-464D-AC5D-ECC89E934773}" destId="{B1C37298-4160-407F-97D6-23BF6498513F}" srcOrd="1" destOrd="0" presId="urn:microsoft.com/office/officeart/2005/8/layout/vProcess5"/>
    <dgm:cxn modelId="{BC608244-A912-446C-BECB-4CC9D5DB627F}" type="presOf" srcId="{2BF919F2-3C16-41D3-856B-EAE5300B2C82}" destId="{BF25FADA-B178-4091-89AE-2A99DA7159D3}" srcOrd="1" destOrd="0" presId="urn:microsoft.com/office/officeart/2005/8/layout/vProcess5"/>
    <dgm:cxn modelId="{02599D7A-17AA-4E51-AF41-5D4BD663335A}" type="presOf" srcId="{5DD09D46-95B4-4174-BD4B-7B0EFB20D4A4}" destId="{44C11150-A91C-413A-AFE8-25A3FE1C1100}" srcOrd="1" destOrd="0" presId="urn:microsoft.com/office/officeart/2005/8/layout/vProcess5"/>
    <dgm:cxn modelId="{763C6F80-E16E-4F11-9D96-B3A33E474EB2}" type="presOf" srcId="{F3E61988-7FB4-4599-BF19-88C01EE3F10E}" destId="{02FFA52A-FC79-4447-BF3B-780FE999044C}" srcOrd="0" destOrd="0" presId="urn:microsoft.com/office/officeart/2005/8/layout/vProcess5"/>
    <dgm:cxn modelId="{06479586-F1BD-44E1-992C-A517EF24D390}" srcId="{15B94415-6272-4757-9F1D-C8B769BCBA9F}" destId="{5DD09D46-95B4-4174-BD4B-7B0EFB20D4A4}" srcOrd="3" destOrd="0" parTransId="{A2C2331A-C059-49AA-BA87-4344046F1369}" sibTransId="{79CC4BDD-63F1-4D8D-B243-72DA34F1177E}"/>
    <dgm:cxn modelId="{95F2FF8F-3BDA-49CA-B1F1-7F5EEBFF3ED5}" type="presOf" srcId="{ED6C7EDF-914A-491C-A014-B9424C060416}" destId="{EFD3E30C-50F0-49C0-8C74-F7F3121E7156}" srcOrd="0" destOrd="0" presId="urn:microsoft.com/office/officeart/2005/8/layout/vProcess5"/>
    <dgm:cxn modelId="{89245F90-66FA-4123-81BE-501DF807C64B}" srcId="{15B94415-6272-4757-9F1D-C8B769BCBA9F}" destId="{2D7E947C-ED1B-464D-AC5D-ECC89E934773}" srcOrd="2" destOrd="0" parTransId="{53971583-CEC2-41A5-A2EE-5B3A2FD0DD31}" sibTransId="{ED6C7EDF-914A-491C-A014-B9424C060416}"/>
    <dgm:cxn modelId="{7D8FD5B1-94F8-419B-A04C-C7B9D1BB7468}" type="presOf" srcId="{3174BB8F-633E-44C8-9A80-029BE77C00E7}" destId="{A3291DB4-03BB-42B7-9465-7406C9BF1416}" srcOrd="1" destOrd="0" presId="urn:microsoft.com/office/officeart/2005/8/layout/vProcess5"/>
    <dgm:cxn modelId="{614C2AB3-E1A2-46D8-B4F7-4A8F69EDBC47}" type="presOf" srcId="{79CC4BDD-63F1-4D8D-B243-72DA34F1177E}" destId="{4479619A-AE8A-4DFD-9431-6705D6ED653C}" srcOrd="0" destOrd="0" presId="urn:microsoft.com/office/officeart/2005/8/layout/vProcess5"/>
    <dgm:cxn modelId="{F230A2B5-90BB-47F7-9AE8-B1056D72620D}" type="presOf" srcId="{15B94415-6272-4757-9F1D-C8B769BCBA9F}" destId="{D21BD1C1-CDEF-48F9-8676-992894962AB8}" srcOrd="0" destOrd="0" presId="urn:microsoft.com/office/officeart/2005/8/layout/vProcess5"/>
    <dgm:cxn modelId="{A1ED28CA-C699-4E05-A92A-3B8A38FB7A93}" type="presOf" srcId="{5DD09D46-95B4-4174-BD4B-7B0EFB20D4A4}" destId="{74D76202-6ECA-4138-A184-EC159C79CDED}" srcOrd="0" destOrd="0" presId="urn:microsoft.com/office/officeart/2005/8/layout/vProcess5"/>
    <dgm:cxn modelId="{171411D1-09E7-4836-A81F-0998AE14DA72}" type="presOf" srcId="{2F87DD02-84BA-46DC-A80B-4C92E055D843}" destId="{2EA40B5B-FF04-4E35-B66A-DFA4B66F9068}" srcOrd="0" destOrd="0" presId="urn:microsoft.com/office/officeart/2005/8/layout/vProcess5"/>
    <dgm:cxn modelId="{4E422AE2-D6A9-4525-B4B9-E33A00F1B73A}" srcId="{15B94415-6272-4757-9F1D-C8B769BCBA9F}" destId="{2BF919F2-3C16-41D3-856B-EAE5300B2C82}" srcOrd="0" destOrd="0" parTransId="{6BF3D890-FB4A-4DE8-A288-BEBD541ADFE1}" sibTransId="{2F87DD02-84BA-46DC-A80B-4C92E055D843}"/>
    <dgm:cxn modelId="{CB43F3E4-11DC-446A-885E-4042F93218B8}" type="presOf" srcId="{96B01AD5-D62C-4993-B0B2-ADA7D3A738D2}" destId="{35CEE8B8-5AA0-4C06-A4AF-27076AF355ED}" srcOrd="0" destOrd="0" presId="urn:microsoft.com/office/officeart/2005/8/layout/vProcess5"/>
    <dgm:cxn modelId="{A545D9EF-AE9B-4FE7-8096-FDDA3B00D112}" type="presOf" srcId="{3174BB8F-633E-44C8-9A80-029BE77C00E7}" destId="{E881ADBF-98AF-4EBA-A582-203CAFC35BDC}" srcOrd="0" destOrd="0" presId="urn:microsoft.com/office/officeart/2005/8/layout/vProcess5"/>
    <dgm:cxn modelId="{6E057226-352A-44EE-B566-E912F718917C}" type="presParOf" srcId="{D21BD1C1-CDEF-48F9-8676-992894962AB8}" destId="{302DD444-E555-4487-A421-C0D945FEDF63}" srcOrd="0" destOrd="0" presId="urn:microsoft.com/office/officeart/2005/8/layout/vProcess5"/>
    <dgm:cxn modelId="{BD97DAD2-32FA-4DD0-A619-1723E6566966}" type="presParOf" srcId="{D21BD1C1-CDEF-48F9-8676-992894962AB8}" destId="{E9CFD39C-B9E5-48FD-A24A-58CDF526727E}" srcOrd="1" destOrd="0" presId="urn:microsoft.com/office/officeart/2005/8/layout/vProcess5"/>
    <dgm:cxn modelId="{360E0790-149D-469C-A8C5-E9CED0E9DA0C}" type="presParOf" srcId="{D21BD1C1-CDEF-48F9-8676-992894962AB8}" destId="{E881ADBF-98AF-4EBA-A582-203CAFC35BDC}" srcOrd="2" destOrd="0" presId="urn:microsoft.com/office/officeart/2005/8/layout/vProcess5"/>
    <dgm:cxn modelId="{B2D354BD-85BB-4FA2-9C36-7BBC90835DCF}" type="presParOf" srcId="{D21BD1C1-CDEF-48F9-8676-992894962AB8}" destId="{0C889921-D6AD-4170-892E-AA4C1918D663}" srcOrd="3" destOrd="0" presId="urn:microsoft.com/office/officeart/2005/8/layout/vProcess5"/>
    <dgm:cxn modelId="{33A2025A-EDD2-410E-87C2-62E3F3E4DC27}" type="presParOf" srcId="{D21BD1C1-CDEF-48F9-8676-992894962AB8}" destId="{74D76202-6ECA-4138-A184-EC159C79CDED}" srcOrd="4" destOrd="0" presId="urn:microsoft.com/office/officeart/2005/8/layout/vProcess5"/>
    <dgm:cxn modelId="{F1B4582A-B4FE-4CC0-A6BF-E441B6A7DAAE}" type="presParOf" srcId="{D21BD1C1-CDEF-48F9-8676-992894962AB8}" destId="{35CEE8B8-5AA0-4C06-A4AF-27076AF355ED}" srcOrd="5" destOrd="0" presId="urn:microsoft.com/office/officeart/2005/8/layout/vProcess5"/>
    <dgm:cxn modelId="{453C7763-2E4D-49F6-A04F-46378066F562}" type="presParOf" srcId="{D21BD1C1-CDEF-48F9-8676-992894962AB8}" destId="{2EA40B5B-FF04-4E35-B66A-DFA4B66F9068}" srcOrd="6" destOrd="0" presId="urn:microsoft.com/office/officeart/2005/8/layout/vProcess5"/>
    <dgm:cxn modelId="{ECD89434-E934-4C9B-A4B0-C3630E36CE92}" type="presParOf" srcId="{D21BD1C1-CDEF-48F9-8676-992894962AB8}" destId="{02FFA52A-FC79-4447-BF3B-780FE999044C}" srcOrd="7" destOrd="0" presId="urn:microsoft.com/office/officeart/2005/8/layout/vProcess5"/>
    <dgm:cxn modelId="{B91307E6-63B4-4844-B73D-ED2BFBD85F67}" type="presParOf" srcId="{D21BD1C1-CDEF-48F9-8676-992894962AB8}" destId="{EFD3E30C-50F0-49C0-8C74-F7F3121E7156}" srcOrd="8" destOrd="0" presId="urn:microsoft.com/office/officeart/2005/8/layout/vProcess5"/>
    <dgm:cxn modelId="{78DEECC6-443B-4DE7-BFF7-E1184CF9E802}" type="presParOf" srcId="{D21BD1C1-CDEF-48F9-8676-992894962AB8}" destId="{4479619A-AE8A-4DFD-9431-6705D6ED653C}" srcOrd="9" destOrd="0" presId="urn:microsoft.com/office/officeart/2005/8/layout/vProcess5"/>
    <dgm:cxn modelId="{AA2B33CB-A6B5-48E6-B470-AB9007CDF9E2}" type="presParOf" srcId="{D21BD1C1-CDEF-48F9-8676-992894962AB8}" destId="{BF25FADA-B178-4091-89AE-2A99DA7159D3}" srcOrd="10" destOrd="0" presId="urn:microsoft.com/office/officeart/2005/8/layout/vProcess5"/>
    <dgm:cxn modelId="{5746E567-5B5C-4BFA-9C9E-C2D60BE70A12}" type="presParOf" srcId="{D21BD1C1-CDEF-48F9-8676-992894962AB8}" destId="{A3291DB4-03BB-42B7-9465-7406C9BF1416}" srcOrd="11" destOrd="0" presId="urn:microsoft.com/office/officeart/2005/8/layout/vProcess5"/>
    <dgm:cxn modelId="{D462C529-A74E-40CC-9C46-834B5DD15BC8}" type="presParOf" srcId="{D21BD1C1-CDEF-48F9-8676-992894962AB8}" destId="{B1C37298-4160-407F-97D6-23BF6498513F}" srcOrd="12" destOrd="0" presId="urn:microsoft.com/office/officeart/2005/8/layout/vProcess5"/>
    <dgm:cxn modelId="{70ED6C3F-2CFC-49B7-A45B-922F47B69EA7}" type="presParOf" srcId="{D21BD1C1-CDEF-48F9-8676-992894962AB8}" destId="{44C11150-A91C-413A-AFE8-25A3FE1C1100}" srcOrd="13" destOrd="0" presId="urn:microsoft.com/office/officeart/2005/8/layout/vProcess5"/>
    <dgm:cxn modelId="{2C6B9FDA-5616-48DC-90EE-32EE31121BDC}" type="presParOf" srcId="{D21BD1C1-CDEF-48F9-8676-992894962AB8}" destId="{A6AE065F-6308-4491-BEC1-469D79E8AB46}" srcOrd="14" destOrd="0" presId="urn:microsoft.com/office/officeart/2005/8/layout/v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CFD39C-B9E5-48FD-A24A-58CDF526727E}">
      <dsp:nvSpPr>
        <dsp:cNvPr id="0" name=""/>
        <dsp:cNvSpPr/>
      </dsp:nvSpPr>
      <dsp:spPr>
        <a:xfrm>
          <a:off x="0" y="0"/>
          <a:ext cx="7288240" cy="949642"/>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DLaM Display" panose="02010000000000000000" pitchFamily="2" charset="0"/>
              <a:ea typeface="ADLaM Display" panose="02010000000000000000" pitchFamily="2" charset="0"/>
              <a:cs typeface="ADLaM Display" panose="02010000000000000000" pitchFamily="2" charset="0"/>
            </a:rPr>
            <a:t>Capturing point clouds (sensor data acquisition).</a:t>
          </a:r>
        </a:p>
      </dsp:txBody>
      <dsp:txXfrm>
        <a:off x="27814" y="27814"/>
        <a:ext cx="6152393" cy="894014"/>
      </dsp:txXfrm>
    </dsp:sp>
    <dsp:sp modelId="{E881ADBF-98AF-4EBA-A582-203CAFC35BDC}">
      <dsp:nvSpPr>
        <dsp:cNvPr id="0" name=""/>
        <dsp:cNvSpPr/>
      </dsp:nvSpPr>
      <dsp:spPr>
        <a:xfrm>
          <a:off x="544251" y="1081537"/>
          <a:ext cx="7288240" cy="949642"/>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DLaM Display" panose="02010000000000000000" pitchFamily="2" charset="0"/>
              <a:ea typeface="ADLaM Display" panose="02010000000000000000" pitchFamily="2" charset="0"/>
              <a:cs typeface="ADLaM Display" panose="02010000000000000000" pitchFamily="2" charset="0"/>
            </a:rPr>
            <a:t>Preprocessing (noise reduction, filtering).</a:t>
          </a:r>
        </a:p>
      </dsp:txBody>
      <dsp:txXfrm>
        <a:off x="572065" y="1109351"/>
        <a:ext cx="6071092" cy="894014"/>
      </dsp:txXfrm>
    </dsp:sp>
    <dsp:sp modelId="{0C889921-D6AD-4170-892E-AA4C1918D663}">
      <dsp:nvSpPr>
        <dsp:cNvPr id="0" name=""/>
        <dsp:cNvSpPr/>
      </dsp:nvSpPr>
      <dsp:spPr>
        <a:xfrm>
          <a:off x="1088503" y="2163075"/>
          <a:ext cx="7288240" cy="949642"/>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DLaM Display" panose="02010000000000000000" pitchFamily="2" charset="0"/>
              <a:ea typeface="ADLaM Display" panose="02010000000000000000" pitchFamily="2" charset="0"/>
              <a:cs typeface="ADLaM Display" panose="02010000000000000000" pitchFamily="2" charset="0"/>
            </a:rPr>
            <a:t>Segmentation (identifying objects or regions of interest).</a:t>
          </a:r>
        </a:p>
      </dsp:txBody>
      <dsp:txXfrm>
        <a:off x="1116317" y="2190889"/>
        <a:ext cx="6071092" cy="894014"/>
      </dsp:txXfrm>
    </dsp:sp>
    <dsp:sp modelId="{74D76202-6ECA-4138-A184-EC159C79CDED}">
      <dsp:nvSpPr>
        <dsp:cNvPr id="0" name=""/>
        <dsp:cNvSpPr/>
      </dsp:nvSpPr>
      <dsp:spPr>
        <a:xfrm>
          <a:off x="1632755" y="3244612"/>
          <a:ext cx="7288240" cy="949642"/>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DLaM Display" panose="02010000000000000000" pitchFamily="2" charset="0"/>
              <a:ea typeface="ADLaM Display" panose="02010000000000000000" pitchFamily="2" charset="0"/>
              <a:cs typeface="ADLaM Display" panose="02010000000000000000" pitchFamily="2" charset="0"/>
            </a:rPr>
            <a:t>3D object recognition (classifying and identifying objects in a 3D space).</a:t>
          </a:r>
        </a:p>
      </dsp:txBody>
      <dsp:txXfrm>
        <a:off x="1660569" y="3272426"/>
        <a:ext cx="6071092" cy="894014"/>
      </dsp:txXfrm>
    </dsp:sp>
    <dsp:sp modelId="{35CEE8B8-5AA0-4C06-A4AF-27076AF355ED}">
      <dsp:nvSpPr>
        <dsp:cNvPr id="0" name=""/>
        <dsp:cNvSpPr/>
      </dsp:nvSpPr>
      <dsp:spPr>
        <a:xfrm>
          <a:off x="2177006" y="4326150"/>
          <a:ext cx="7288240" cy="949642"/>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DLaM Display" panose="02010000000000000000" pitchFamily="2" charset="0"/>
              <a:ea typeface="ADLaM Display" panose="02010000000000000000" pitchFamily="2" charset="0"/>
              <a:cs typeface="ADLaM Display" panose="02010000000000000000" pitchFamily="2" charset="0"/>
            </a:rPr>
            <a:t>3D reconstruction (building detailed models from LiDAR data).</a:t>
          </a:r>
        </a:p>
      </dsp:txBody>
      <dsp:txXfrm>
        <a:off x="2204820" y="4353964"/>
        <a:ext cx="6071092" cy="894014"/>
      </dsp:txXfrm>
    </dsp:sp>
    <dsp:sp modelId="{2EA40B5B-FF04-4E35-B66A-DFA4B66F9068}">
      <dsp:nvSpPr>
        <dsp:cNvPr id="0" name=""/>
        <dsp:cNvSpPr/>
      </dsp:nvSpPr>
      <dsp:spPr>
        <a:xfrm>
          <a:off x="6670972" y="693766"/>
          <a:ext cx="617267" cy="617267"/>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latin typeface="ADLaM Display" panose="02010000000000000000" pitchFamily="2" charset="0"/>
            <a:ea typeface="ADLaM Display" panose="02010000000000000000" pitchFamily="2" charset="0"/>
            <a:cs typeface="ADLaM Display" panose="02010000000000000000" pitchFamily="2" charset="0"/>
          </a:endParaRPr>
        </a:p>
      </dsp:txBody>
      <dsp:txXfrm>
        <a:off x="6809857" y="693766"/>
        <a:ext cx="339497" cy="464493"/>
      </dsp:txXfrm>
    </dsp:sp>
    <dsp:sp modelId="{02FFA52A-FC79-4447-BF3B-780FE999044C}">
      <dsp:nvSpPr>
        <dsp:cNvPr id="0" name=""/>
        <dsp:cNvSpPr/>
      </dsp:nvSpPr>
      <dsp:spPr>
        <a:xfrm>
          <a:off x="7215224" y="1775304"/>
          <a:ext cx="617267" cy="617267"/>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latin typeface="ADLaM Display" panose="02010000000000000000" pitchFamily="2" charset="0"/>
            <a:ea typeface="ADLaM Display" panose="02010000000000000000" pitchFamily="2" charset="0"/>
            <a:cs typeface="ADLaM Display" panose="02010000000000000000" pitchFamily="2" charset="0"/>
          </a:endParaRPr>
        </a:p>
      </dsp:txBody>
      <dsp:txXfrm>
        <a:off x="7354109" y="1775304"/>
        <a:ext cx="339497" cy="464493"/>
      </dsp:txXfrm>
    </dsp:sp>
    <dsp:sp modelId="{EFD3E30C-50F0-49C0-8C74-F7F3121E7156}">
      <dsp:nvSpPr>
        <dsp:cNvPr id="0" name=""/>
        <dsp:cNvSpPr/>
      </dsp:nvSpPr>
      <dsp:spPr>
        <a:xfrm>
          <a:off x="7759475" y="2841014"/>
          <a:ext cx="617267" cy="617267"/>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latin typeface="ADLaM Display" panose="02010000000000000000" pitchFamily="2" charset="0"/>
            <a:ea typeface="ADLaM Display" panose="02010000000000000000" pitchFamily="2" charset="0"/>
            <a:cs typeface="ADLaM Display" panose="02010000000000000000" pitchFamily="2" charset="0"/>
          </a:endParaRPr>
        </a:p>
      </dsp:txBody>
      <dsp:txXfrm>
        <a:off x="7898360" y="2841014"/>
        <a:ext cx="339497" cy="464493"/>
      </dsp:txXfrm>
    </dsp:sp>
    <dsp:sp modelId="{4479619A-AE8A-4DFD-9431-6705D6ED653C}">
      <dsp:nvSpPr>
        <dsp:cNvPr id="0" name=""/>
        <dsp:cNvSpPr/>
      </dsp:nvSpPr>
      <dsp:spPr>
        <a:xfrm>
          <a:off x="8303727" y="3933103"/>
          <a:ext cx="617267" cy="617267"/>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latin typeface="ADLaM Display" panose="02010000000000000000" pitchFamily="2" charset="0"/>
            <a:ea typeface="ADLaM Display" panose="02010000000000000000" pitchFamily="2" charset="0"/>
            <a:cs typeface="ADLaM Display" panose="02010000000000000000" pitchFamily="2" charset="0"/>
          </a:endParaRPr>
        </a:p>
      </dsp:txBody>
      <dsp:txXfrm>
        <a:off x="8442612" y="3933103"/>
        <a:ext cx="339497" cy="46449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5CB41E-D7A6-4A65-B5F8-B76D5FDF99B7}" type="datetimeFigureOut">
              <a:rPr lang="en-US" smtClean="0"/>
              <a:t>9/10/2025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407132-4443-4120-9856-B32E9EDE05DD}" type="slidenum">
              <a:rPr lang="en-US" smtClean="0"/>
              <a:t>‹#›</a:t>
            </a:fld>
            <a:endParaRPr lang="en-US"/>
          </a:p>
        </p:txBody>
      </p:sp>
    </p:spTree>
    <p:extLst>
      <p:ext uri="{BB962C8B-B14F-4D97-AF65-F5344CB8AC3E}">
        <p14:creationId xmlns:p14="http://schemas.microsoft.com/office/powerpoint/2010/main" val="326411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C36D5-6F74-49C1-961B-9E0C4A8AF636}" type="slidenum">
              <a:rPr lang="en-US" smtClean="0"/>
              <a:t>1</a:t>
            </a:fld>
            <a:endParaRPr lang="en-US"/>
          </a:p>
        </p:txBody>
      </p:sp>
    </p:spTree>
    <p:extLst>
      <p:ext uri="{BB962C8B-B14F-4D97-AF65-F5344CB8AC3E}">
        <p14:creationId xmlns:p14="http://schemas.microsoft.com/office/powerpoint/2010/main" val="3265495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C36D5-6F74-49C1-961B-9E0C4A8AF636}" type="slidenum">
              <a:rPr lang="en-US" smtClean="0"/>
              <a:t>2</a:t>
            </a:fld>
            <a:endParaRPr lang="en-US"/>
          </a:p>
        </p:txBody>
      </p:sp>
    </p:spTree>
    <p:extLst>
      <p:ext uri="{BB962C8B-B14F-4D97-AF65-F5344CB8AC3E}">
        <p14:creationId xmlns:p14="http://schemas.microsoft.com/office/powerpoint/2010/main" val="677229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C36D5-6F74-49C1-961B-9E0C4A8AF636}" type="slidenum">
              <a:rPr lang="en-US" smtClean="0"/>
              <a:t>3</a:t>
            </a:fld>
            <a:endParaRPr lang="en-US"/>
          </a:p>
        </p:txBody>
      </p:sp>
    </p:spTree>
    <p:extLst>
      <p:ext uri="{BB962C8B-B14F-4D97-AF65-F5344CB8AC3E}">
        <p14:creationId xmlns:p14="http://schemas.microsoft.com/office/powerpoint/2010/main" val="1005102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C36D5-6F74-49C1-961B-9E0C4A8AF636}" type="slidenum">
              <a:rPr lang="en-US" smtClean="0"/>
              <a:t>4</a:t>
            </a:fld>
            <a:endParaRPr lang="en-US"/>
          </a:p>
        </p:txBody>
      </p:sp>
    </p:spTree>
    <p:extLst>
      <p:ext uri="{BB962C8B-B14F-4D97-AF65-F5344CB8AC3E}">
        <p14:creationId xmlns:p14="http://schemas.microsoft.com/office/powerpoint/2010/main" val="1936193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C36D5-6F74-49C1-961B-9E0C4A8AF636}" type="slidenum">
              <a:rPr lang="en-US" smtClean="0"/>
              <a:t>5</a:t>
            </a:fld>
            <a:endParaRPr lang="en-US"/>
          </a:p>
        </p:txBody>
      </p:sp>
    </p:spTree>
    <p:extLst>
      <p:ext uri="{BB962C8B-B14F-4D97-AF65-F5344CB8AC3E}">
        <p14:creationId xmlns:p14="http://schemas.microsoft.com/office/powerpoint/2010/main" val="2310679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C36D5-6F74-49C1-961B-9E0C4A8AF636}" type="slidenum">
              <a:rPr lang="en-US" smtClean="0"/>
              <a:t>6</a:t>
            </a:fld>
            <a:endParaRPr lang="en-US"/>
          </a:p>
        </p:txBody>
      </p:sp>
    </p:spTree>
    <p:extLst>
      <p:ext uri="{BB962C8B-B14F-4D97-AF65-F5344CB8AC3E}">
        <p14:creationId xmlns:p14="http://schemas.microsoft.com/office/powerpoint/2010/main" val="3935491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Raspberry Pi’s USB 3.0 ports can supply enough power (up to </a:t>
            </a:r>
            <a:r>
              <a:rPr lang="en-US" b="1" dirty="0"/>
              <a:t>1.2A per port</a:t>
            </a:r>
            <a:r>
              <a:rPr lang="en-US" dirty="0"/>
              <a:t> for peripherals, including the L515), so a dedicated power source for the L515 isn't needed as long as you're using the Pi's recommended 5V, 5A power </a:t>
            </a:r>
            <a:r>
              <a:rPr lang="en-US" dirty="0" err="1"/>
              <a:t>supply.Avoid</a:t>
            </a:r>
            <a:r>
              <a:rPr lang="en-US" dirty="0"/>
              <a:t> using underpowered or low-quality power supplies, as inadequate power can cause performance issues or instability when using both the Raspberry Pi and the L515 simultaneously.</a:t>
            </a:r>
          </a:p>
        </p:txBody>
      </p:sp>
      <p:sp>
        <p:nvSpPr>
          <p:cNvPr id="4" name="Slide Number Placeholder 3"/>
          <p:cNvSpPr>
            <a:spLocks noGrp="1"/>
          </p:cNvSpPr>
          <p:nvPr>
            <p:ph type="sldNum" sz="quarter" idx="5"/>
          </p:nvPr>
        </p:nvSpPr>
        <p:spPr/>
        <p:txBody>
          <a:bodyPr/>
          <a:lstStyle/>
          <a:p>
            <a:fld id="{32BC36D5-6F74-49C1-961B-9E0C4A8AF636}" type="slidenum">
              <a:rPr lang="en-US" smtClean="0"/>
              <a:t>7</a:t>
            </a:fld>
            <a:endParaRPr lang="en-US"/>
          </a:p>
        </p:txBody>
      </p:sp>
    </p:spTree>
    <p:extLst>
      <p:ext uri="{BB962C8B-B14F-4D97-AF65-F5344CB8AC3E}">
        <p14:creationId xmlns:p14="http://schemas.microsoft.com/office/powerpoint/2010/main" val="106865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Raspberry Pi’s USB 3.0 ports can supply enough power (up to </a:t>
            </a:r>
            <a:r>
              <a:rPr lang="en-US" b="1" dirty="0"/>
              <a:t>1.2A per port</a:t>
            </a:r>
            <a:r>
              <a:rPr lang="en-US" dirty="0"/>
              <a:t> for peripherals, including the L515), so a dedicated power source for the L515 isn't needed as long as you're using the Pi's recommended 5V, 5A power </a:t>
            </a:r>
            <a:r>
              <a:rPr lang="en-US" dirty="0" err="1"/>
              <a:t>supply.Avoid</a:t>
            </a:r>
            <a:r>
              <a:rPr lang="en-US" dirty="0"/>
              <a:t> using underpowered or low-quality power supplies, as inadequate power can cause performance issues or instability when using both the Raspberry Pi and the L515 simultaneously.</a:t>
            </a:r>
          </a:p>
        </p:txBody>
      </p:sp>
      <p:sp>
        <p:nvSpPr>
          <p:cNvPr id="4" name="Slide Number Placeholder 3"/>
          <p:cNvSpPr>
            <a:spLocks noGrp="1"/>
          </p:cNvSpPr>
          <p:nvPr>
            <p:ph type="sldNum" sz="quarter" idx="5"/>
          </p:nvPr>
        </p:nvSpPr>
        <p:spPr/>
        <p:txBody>
          <a:bodyPr/>
          <a:lstStyle/>
          <a:p>
            <a:fld id="{32BC36D5-6F74-49C1-961B-9E0C4A8AF636}" type="slidenum">
              <a:rPr lang="en-US" smtClean="0"/>
              <a:t>8</a:t>
            </a:fld>
            <a:endParaRPr lang="en-US"/>
          </a:p>
        </p:txBody>
      </p:sp>
    </p:spTree>
    <p:extLst>
      <p:ext uri="{BB962C8B-B14F-4D97-AF65-F5344CB8AC3E}">
        <p14:creationId xmlns:p14="http://schemas.microsoft.com/office/powerpoint/2010/main" val="842475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Raspberry Pi’s USB 3.0 ports can supply enough power (up to </a:t>
            </a:r>
            <a:r>
              <a:rPr lang="en-US" b="1" dirty="0"/>
              <a:t>1.2A per port</a:t>
            </a:r>
            <a:r>
              <a:rPr lang="en-US" dirty="0"/>
              <a:t> for peripherals, including the L515), so a dedicated power source for the L515 isn't needed as long as you're using the Pi's recommended 5V, 5A power </a:t>
            </a:r>
            <a:r>
              <a:rPr lang="en-US" dirty="0" err="1"/>
              <a:t>supply.Avoid</a:t>
            </a:r>
            <a:r>
              <a:rPr lang="en-US" dirty="0"/>
              <a:t> using underpowered or low-quality power supplies, as inadequate power can cause performance issues or instability when using both the Raspberry Pi and the L515 simultaneously.</a:t>
            </a:r>
          </a:p>
        </p:txBody>
      </p:sp>
      <p:sp>
        <p:nvSpPr>
          <p:cNvPr id="4" name="Slide Number Placeholder 3"/>
          <p:cNvSpPr>
            <a:spLocks noGrp="1"/>
          </p:cNvSpPr>
          <p:nvPr>
            <p:ph type="sldNum" sz="quarter" idx="5"/>
          </p:nvPr>
        </p:nvSpPr>
        <p:spPr/>
        <p:txBody>
          <a:bodyPr/>
          <a:lstStyle/>
          <a:p>
            <a:fld id="{32BC36D5-6F74-49C1-961B-9E0C4A8AF636}" type="slidenum">
              <a:rPr lang="en-US" smtClean="0"/>
              <a:t>9</a:t>
            </a:fld>
            <a:endParaRPr lang="en-US"/>
          </a:p>
        </p:txBody>
      </p:sp>
    </p:spTree>
    <p:extLst>
      <p:ext uri="{BB962C8B-B14F-4D97-AF65-F5344CB8AC3E}">
        <p14:creationId xmlns:p14="http://schemas.microsoft.com/office/powerpoint/2010/main" val="2183347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"LiDAR, or Light Detection and Ranging, is a technology that operates by emitting laser pulses and measuring the time it takes for the light to return after hitting an object. This principle allows for the creation of highly accurate and detailed 3D maps.</a:t>
            </a:r>
          </a:p>
          <a:p>
            <a:endParaRPr lang="en-US" dirty="0"/>
          </a:p>
          <a:p>
            <a:r>
              <a:rPr lang="en-US" dirty="0"/>
              <a:t>One of the key distinctions between LiDAR and depth cameras is their working principle while the depth camera capture depth information.</a:t>
            </a:r>
          </a:p>
          <a:p>
            <a:endParaRPr lang="en-US" dirty="0"/>
          </a:p>
          <a:p>
            <a:r>
              <a:rPr lang="en-US" dirty="0"/>
              <a:t>In the other hand LiDAR uses laser pulses to directly measure distances, depth cameras typically rely on stereo vision or structured light. </a:t>
            </a:r>
          </a:p>
          <a:p>
            <a:endParaRPr lang="en-US" dirty="0"/>
          </a:p>
          <a:p>
            <a:r>
              <a:rPr lang="en-US" dirty="0"/>
              <a:t>This can make depth cameras out of perform in low-light conditions, where the images used to calculate depth might be unclear or less reliable.</a:t>
            </a:r>
            <a:endParaRPr lang="th-TH" dirty="0"/>
          </a:p>
          <a:p>
            <a:endParaRPr lang="th-TH" dirty="0"/>
          </a:p>
          <a:p>
            <a:r>
              <a:rPr lang="en-US" dirty="0"/>
              <a:t>That gives LiDAR a huge advantage in this matter.</a:t>
            </a:r>
          </a:p>
        </p:txBody>
      </p:sp>
      <p:sp>
        <p:nvSpPr>
          <p:cNvPr id="4" name="Slide Number Placeholder 3"/>
          <p:cNvSpPr>
            <a:spLocks noGrp="1"/>
          </p:cNvSpPr>
          <p:nvPr>
            <p:ph type="sldNum" sz="quarter" idx="5"/>
          </p:nvPr>
        </p:nvSpPr>
        <p:spPr/>
        <p:txBody>
          <a:bodyPr/>
          <a:lstStyle/>
          <a:p>
            <a:fld id="{32BC36D5-6F74-49C1-961B-9E0C4A8AF636}" type="slidenum">
              <a:rPr lang="en-US" smtClean="0"/>
              <a:t>10</a:t>
            </a:fld>
            <a:endParaRPr lang="en-US"/>
          </a:p>
        </p:txBody>
      </p:sp>
    </p:spTree>
    <p:extLst>
      <p:ext uri="{BB962C8B-B14F-4D97-AF65-F5344CB8AC3E}">
        <p14:creationId xmlns:p14="http://schemas.microsoft.com/office/powerpoint/2010/main" val="3265495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delve into the data type which retrieve form LiDAR</a:t>
            </a:r>
          </a:p>
          <a:p>
            <a:endParaRPr lang="en-US" dirty="0"/>
          </a:p>
          <a:p>
            <a:r>
              <a:rPr lang="en-US" dirty="0"/>
              <a:t>The LiDAR generates point cloud data, a collection of data points with X, Y, and Z coordinates representing the 3D structure of an environment. </a:t>
            </a:r>
          </a:p>
          <a:p>
            <a:endParaRPr lang="en-US" dirty="0"/>
          </a:p>
          <a:p>
            <a:r>
              <a:rPr lang="en-US" dirty="0"/>
              <a:t>Each point corresponds to a precise surface location, providing a highly detailed and spatial representation. That’s so magnificent right</a:t>
            </a:r>
          </a:p>
        </p:txBody>
      </p:sp>
      <p:sp>
        <p:nvSpPr>
          <p:cNvPr id="4" name="Slide Number Placeholder 3"/>
          <p:cNvSpPr>
            <a:spLocks noGrp="1"/>
          </p:cNvSpPr>
          <p:nvPr>
            <p:ph type="sldNum" sz="quarter" idx="5"/>
          </p:nvPr>
        </p:nvSpPr>
        <p:spPr/>
        <p:txBody>
          <a:bodyPr/>
          <a:lstStyle/>
          <a:p>
            <a:fld id="{32BC36D5-6F74-49C1-961B-9E0C4A8AF636}" type="slidenum">
              <a:rPr lang="en-US" smtClean="0"/>
              <a:t>11</a:t>
            </a:fld>
            <a:endParaRPr lang="en-US"/>
          </a:p>
        </p:txBody>
      </p:sp>
    </p:spTree>
    <p:extLst>
      <p:ext uri="{BB962C8B-B14F-4D97-AF65-F5344CB8AC3E}">
        <p14:creationId xmlns:p14="http://schemas.microsoft.com/office/powerpoint/2010/main" val="3255213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lgn="just">
              <a:lnSpc>
                <a:spcPct val="150000"/>
              </a:lnSpc>
              <a:buFont typeface="Wingdings" panose="05000000000000000000" pitchFamily="2" charset="2"/>
              <a:buNone/>
            </a:pPr>
            <a:r>
              <a:rPr lang="en-US" dirty="0"/>
              <a:t>LiDAR technology has a wide range of applications today, from autonomous vehicles and robotics to environmental monitoring and urban planning.</a:t>
            </a:r>
          </a:p>
          <a:p>
            <a:pPr marL="457200" lvl="1" indent="0" algn="just">
              <a:lnSpc>
                <a:spcPct val="150000"/>
              </a:lnSpc>
              <a:buFont typeface="Wingdings" panose="05000000000000000000" pitchFamily="2" charset="2"/>
              <a:buNone/>
            </a:pPr>
            <a:endParaRPr lang="en-US" dirty="0"/>
          </a:p>
          <a:p>
            <a:pPr marL="457200" lvl="1" indent="0" algn="just">
              <a:lnSpc>
                <a:spcPct val="150000"/>
              </a:lnSpc>
              <a:buFont typeface="Wingdings" panose="05000000000000000000" pitchFamily="2" charset="2"/>
              <a:buNone/>
            </a:pPr>
            <a:r>
              <a:rPr lang="en-US" dirty="0"/>
              <a:t>And also, in </a:t>
            </a:r>
            <a:r>
              <a:rPr lang="en-US" b="1" dirty="0"/>
              <a:t>detection and person tracking</a:t>
            </a:r>
            <a:r>
              <a:rPr lang="en-US" dirty="0"/>
              <a:t>.</a:t>
            </a:r>
          </a:p>
          <a:p>
            <a:pPr marL="457200" lvl="1" indent="0" algn="just">
              <a:lnSpc>
                <a:spcPct val="150000"/>
              </a:lnSpc>
              <a:buFont typeface="Wingdings" panose="05000000000000000000" pitchFamily="2" charset="2"/>
              <a:buNone/>
            </a:pPr>
            <a:endParaRPr lang="en-US" dirty="0"/>
          </a:p>
          <a:p>
            <a:pPr marL="457200" lvl="1" indent="0" algn="just">
              <a:lnSpc>
                <a:spcPct val="150000"/>
              </a:lnSpc>
              <a:buFont typeface="Wingdings" panose="05000000000000000000" pitchFamily="2" charset="2"/>
              <a:buNone/>
            </a:pPr>
            <a:r>
              <a:rPr lang="en-US" dirty="0"/>
              <a:t>When comparing 2D and 3D LiDAR systems, </a:t>
            </a:r>
            <a:r>
              <a:rPr lang="en-US" b="1" dirty="0"/>
              <a:t>3D LiDAR</a:t>
            </a:r>
            <a:r>
              <a:rPr lang="en-US" dirty="0"/>
              <a:t> stands out due to its ability to capture depth (X, Y, Z axes) with multiple light beams. </a:t>
            </a:r>
          </a:p>
          <a:p>
            <a:pPr marL="457200" lvl="1" indent="0" algn="just">
              <a:lnSpc>
                <a:spcPct val="150000"/>
              </a:lnSpc>
              <a:buFont typeface="Wingdings" panose="05000000000000000000" pitchFamily="2" charset="2"/>
              <a:buNone/>
            </a:pPr>
            <a:endParaRPr lang="en-US" dirty="0"/>
          </a:p>
          <a:p>
            <a:pPr marL="457200" lvl="1" indent="0" algn="just">
              <a:lnSpc>
                <a:spcPct val="150000"/>
              </a:lnSpc>
              <a:buFont typeface="Wingdings" panose="05000000000000000000" pitchFamily="2" charset="2"/>
              <a:buNone/>
            </a:pPr>
            <a:r>
              <a:rPr lang="en-US" dirty="0"/>
              <a:t>This provides a more comprehensive view of the environment and objects, making it more effective in tracking movement and detecting obstacles. </a:t>
            </a:r>
          </a:p>
          <a:p>
            <a:pPr marL="457200" lvl="1" indent="0" algn="just">
              <a:lnSpc>
                <a:spcPct val="150000"/>
              </a:lnSpc>
              <a:buFont typeface="Wingdings" panose="05000000000000000000" pitchFamily="2" charset="2"/>
              <a:buNone/>
            </a:pPr>
            <a:endParaRPr lang="en-US" dirty="0"/>
          </a:p>
          <a:p>
            <a:pPr marL="457200" lvl="1" indent="0" algn="just">
              <a:lnSpc>
                <a:spcPct val="150000"/>
              </a:lnSpc>
              <a:buFont typeface="Wingdings" panose="05000000000000000000" pitchFamily="2" charset="2"/>
              <a:buNone/>
            </a:pPr>
            <a:r>
              <a:rPr lang="en-US" dirty="0"/>
              <a:t>In vice versa, </a:t>
            </a:r>
            <a:r>
              <a:rPr lang="en-US" b="1" dirty="0"/>
              <a:t>2D LiDAR</a:t>
            </a:r>
            <a:r>
              <a:rPr lang="en-US" dirty="0"/>
              <a:t> only captures data along two axes (X, Y), which requires the use of two sensors at different heights to gain a full overview of a person’s movement and posture. It’s the same principle as Depth camera</a:t>
            </a:r>
          </a:p>
        </p:txBody>
      </p:sp>
      <p:sp>
        <p:nvSpPr>
          <p:cNvPr id="4" name="Slide Number Placeholder 3"/>
          <p:cNvSpPr>
            <a:spLocks noGrp="1"/>
          </p:cNvSpPr>
          <p:nvPr>
            <p:ph type="sldNum" sz="quarter" idx="5"/>
          </p:nvPr>
        </p:nvSpPr>
        <p:spPr/>
        <p:txBody>
          <a:bodyPr/>
          <a:lstStyle/>
          <a:p>
            <a:fld id="{32BC36D5-6F74-49C1-961B-9E0C4A8AF636}" type="slidenum">
              <a:rPr lang="en-US" smtClean="0"/>
              <a:t>12</a:t>
            </a:fld>
            <a:endParaRPr lang="en-US"/>
          </a:p>
        </p:txBody>
      </p:sp>
    </p:spTree>
    <p:extLst>
      <p:ext uri="{BB962C8B-B14F-4D97-AF65-F5344CB8AC3E}">
        <p14:creationId xmlns:p14="http://schemas.microsoft.com/office/powerpoint/2010/main" val="486717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lgn="just">
              <a:lnSpc>
                <a:spcPct val="150000"/>
              </a:lnSpc>
              <a:buFont typeface="Wingdings" panose="05000000000000000000" pitchFamily="2" charset="2"/>
              <a:buNone/>
            </a:pPr>
            <a:r>
              <a:rPr lang="en-US" dirty="0"/>
              <a:t>LiDAR technology has a wide range of applications today, from autonomous vehicles and robotics to environmental monitoring and urban planning.</a:t>
            </a:r>
          </a:p>
          <a:p>
            <a:pPr marL="457200" lvl="1" indent="0" algn="just">
              <a:lnSpc>
                <a:spcPct val="150000"/>
              </a:lnSpc>
              <a:buFont typeface="Wingdings" panose="05000000000000000000" pitchFamily="2" charset="2"/>
              <a:buNone/>
            </a:pPr>
            <a:endParaRPr lang="en-US" dirty="0"/>
          </a:p>
          <a:p>
            <a:pPr marL="457200" lvl="1" indent="0" algn="just">
              <a:lnSpc>
                <a:spcPct val="150000"/>
              </a:lnSpc>
              <a:buFont typeface="Wingdings" panose="05000000000000000000" pitchFamily="2" charset="2"/>
              <a:buNone/>
            </a:pPr>
            <a:r>
              <a:rPr lang="en-US" dirty="0"/>
              <a:t>And also, in </a:t>
            </a:r>
            <a:r>
              <a:rPr lang="en-US" b="1" dirty="0"/>
              <a:t>detection and person tracking</a:t>
            </a:r>
            <a:r>
              <a:rPr lang="en-US" dirty="0"/>
              <a:t>.</a:t>
            </a:r>
          </a:p>
          <a:p>
            <a:pPr marL="457200" lvl="1" indent="0" algn="just">
              <a:lnSpc>
                <a:spcPct val="150000"/>
              </a:lnSpc>
              <a:buFont typeface="Wingdings" panose="05000000000000000000" pitchFamily="2" charset="2"/>
              <a:buNone/>
            </a:pPr>
            <a:endParaRPr lang="en-US" dirty="0"/>
          </a:p>
          <a:p>
            <a:pPr marL="457200" lvl="1" indent="0" algn="just">
              <a:lnSpc>
                <a:spcPct val="150000"/>
              </a:lnSpc>
              <a:buFont typeface="Wingdings" panose="05000000000000000000" pitchFamily="2" charset="2"/>
              <a:buNone/>
            </a:pPr>
            <a:r>
              <a:rPr lang="en-US" dirty="0"/>
              <a:t>When comparing 2D and 3D LiDAR systems, </a:t>
            </a:r>
            <a:r>
              <a:rPr lang="en-US" b="1" dirty="0"/>
              <a:t>3D LiDAR</a:t>
            </a:r>
            <a:r>
              <a:rPr lang="en-US" dirty="0"/>
              <a:t> stands out due to its ability to capture depth (X, Y, Z axes) with multiple light beams. </a:t>
            </a:r>
          </a:p>
          <a:p>
            <a:pPr marL="457200" lvl="1" indent="0" algn="just">
              <a:lnSpc>
                <a:spcPct val="150000"/>
              </a:lnSpc>
              <a:buFont typeface="Wingdings" panose="05000000000000000000" pitchFamily="2" charset="2"/>
              <a:buNone/>
            </a:pPr>
            <a:endParaRPr lang="en-US" dirty="0"/>
          </a:p>
          <a:p>
            <a:pPr marL="457200" lvl="1" indent="0" algn="just">
              <a:lnSpc>
                <a:spcPct val="150000"/>
              </a:lnSpc>
              <a:buFont typeface="Wingdings" panose="05000000000000000000" pitchFamily="2" charset="2"/>
              <a:buNone/>
            </a:pPr>
            <a:r>
              <a:rPr lang="en-US" dirty="0"/>
              <a:t>This provides a more comprehensive view of the environment and objects, making it more effective in tracking movement and detecting obstacles. </a:t>
            </a:r>
          </a:p>
          <a:p>
            <a:pPr marL="457200" lvl="1" indent="0" algn="just">
              <a:lnSpc>
                <a:spcPct val="150000"/>
              </a:lnSpc>
              <a:buFont typeface="Wingdings" panose="05000000000000000000" pitchFamily="2" charset="2"/>
              <a:buNone/>
            </a:pPr>
            <a:endParaRPr lang="en-US" dirty="0"/>
          </a:p>
          <a:p>
            <a:pPr marL="457200" lvl="1" indent="0" algn="just">
              <a:lnSpc>
                <a:spcPct val="150000"/>
              </a:lnSpc>
              <a:buFont typeface="Wingdings" panose="05000000000000000000" pitchFamily="2" charset="2"/>
              <a:buNone/>
            </a:pPr>
            <a:r>
              <a:rPr lang="en-US" dirty="0"/>
              <a:t>In vice versa, </a:t>
            </a:r>
            <a:r>
              <a:rPr lang="en-US" b="1" dirty="0"/>
              <a:t>2D LiDAR</a:t>
            </a:r>
            <a:r>
              <a:rPr lang="en-US" dirty="0"/>
              <a:t> only captures data along two axes (X, Y), which requires the use of two sensors at different heights to gain a full overview of a person’s movement and posture. It’s the same principle as Depth camera</a:t>
            </a:r>
          </a:p>
        </p:txBody>
      </p:sp>
      <p:sp>
        <p:nvSpPr>
          <p:cNvPr id="4" name="Slide Number Placeholder 3"/>
          <p:cNvSpPr>
            <a:spLocks noGrp="1"/>
          </p:cNvSpPr>
          <p:nvPr>
            <p:ph type="sldNum" sz="quarter" idx="5"/>
          </p:nvPr>
        </p:nvSpPr>
        <p:spPr/>
        <p:txBody>
          <a:bodyPr/>
          <a:lstStyle/>
          <a:p>
            <a:fld id="{32BC36D5-6F74-49C1-961B-9E0C4A8AF636}" type="slidenum">
              <a:rPr lang="en-US" smtClean="0"/>
              <a:t>13</a:t>
            </a:fld>
            <a:endParaRPr lang="en-US"/>
          </a:p>
        </p:txBody>
      </p:sp>
    </p:spTree>
    <p:extLst>
      <p:ext uri="{BB962C8B-B14F-4D97-AF65-F5344CB8AC3E}">
        <p14:creationId xmlns:p14="http://schemas.microsoft.com/office/powerpoint/2010/main" val="2207453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lgn="just">
              <a:lnSpc>
                <a:spcPct val="150000"/>
              </a:lnSpc>
              <a:buFont typeface="Wingdings" panose="05000000000000000000" pitchFamily="2" charset="2"/>
              <a:buNone/>
            </a:pPr>
            <a:r>
              <a:rPr lang="en-US" dirty="0"/>
              <a:t>LiDAR technology has a wide range of applications today, from autonomous vehicles and robotics to environmental monitoring and urban planning.</a:t>
            </a:r>
          </a:p>
          <a:p>
            <a:pPr marL="457200" lvl="1" indent="0" algn="just">
              <a:lnSpc>
                <a:spcPct val="150000"/>
              </a:lnSpc>
              <a:buFont typeface="Wingdings" panose="05000000000000000000" pitchFamily="2" charset="2"/>
              <a:buNone/>
            </a:pPr>
            <a:endParaRPr lang="en-US" dirty="0"/>
          </a:p>
          <a:p>
            <a:pPr marL="457200" lvl="1" indent="0" algn="just">
              <a:lnSpc>
                <a:spcPct val="150000"/>
              </a:lnSpc>
              <a:buFont typeface="Wingdings" panose="05000000000000000000" pitchFamily="2" charset="2"/>
              <a:buNone/>
            </a:pPr>
            <a:r>
              <a:rPr lang="en-US" dirty="0"/>
              <a:t>And also, in </a:t>
            </a:r>
            <a:r>
              <a:rPr lang="en-US" b="1" dirty="0"/>
              <a:t>detection and person tracking</a:t>
            </a:r>
            <a:r>
              <a:rPr lang="en-US" dirty="0"/>
              <a:t>.</a:t>
            </a:r>
          </a:p>
          <a:p>
            <a:pPr marL="457200" lvl="1" indent="0" algn="just">
              <a:lnSpc>
                <a:spcPct val="150000"/>
              </a:lnSpc>
              <a:buFont typeface="Wingdings" panose="05000000000000000000" pitchFamily="2" charset="2"/>
              <a:buNone/>
            </a:pPr>
            <a:endParaRPr lang="en-US" dirty="0"/>
          </a:p>
          <a:p>
            <a:pPr marL="457200" lvl="1" indent="0" algn="just">
              <a:lnSpc>
                <a:spcPct val="150000"/>
              </a:lnSpc>
              <a:buFont typeface="Wingdings" panose="05000000000000000000" pitchFamily="2" charset="2"/>
              <a:buNone/>
            </a:pPr>
            <a:r>
              <a:rPr lang="en-US" dirty="0"/>
              <a:t>When comparing 2D and 3D LiDAR systems, </a:t>
            </a:r>
            <a:r>
              <a:rPr lang="en-US" b="1" dirty="0"/>
              <a:t>3D LiDAR</a:t>
            </a:r>
            <a:r>
              <a:rPr lang="en-US" dirty="0"/>
              <a:t> stands out due to its ability to capture depth (X, Y, Z axes) with multiple light beams. </a:t>
            </a:r>
          </a:p>
          <a:p>
            <a:pPr marL="457200" lvl="1" indent="0" algn="just">
              <a:lnSpc>
                <a:spcPct val="150000"/>
              </a:lnSpc>
              <a:buFont typeface="Wingdings" panose="05000000000000000000" pitchFamily="2" charset="2"/>
              <a:buNone/>
            </a:pPr>
            <a:endParaRPr lang="en-US" dirty="0"/>
          </a:p>
          <a:p>
            <a:pPr marL="457200" lvl="1" indent="0" algn="just">
              <a:lnSpc>
                <a:spcPct val="150000"/>
              </a:lnSpc>
              <a:buFont typeface="Wingdings" panose="05000000000000000000" pitchFamily="2" charset="2"/>
              <a:buNone/>
            </a:pPr>
            <a:r>
              <a:rPr lang="en-US" dirty="0"/>
              <a:t>This provides a more comprehensive view of the environment and objects, making it more effective in tracking movement and detecting obstacles. </a:t>
            </a:r>
          </a:p>
          <a:p>
            <a:pPr marL="457200" lvl="1" indent="0" algn="just">
              <a:lnSpc>
                <a:spcPct val="150000"/>
              </a:lnSpc>
              <a:buFont typeface="Wingdings" panose="05000000000000000000" pitchFamily="2" charset="2"/>
              <a:buNone/>
            </a:pPr>
            <a:endParaRPr lang="en-US" dirty="0"/>
          </a:p>
          <a:p>
            <a:pPr marL="457200" lvl="1" indent="0" algn="just">
              <a:lnSpc>
                <a:spcPct val="150000"/>
              </a:lnSpc>
              <a:buFont typeface="Wingdings" panose="05000000000000000000" pitchFamily="2" charset="2"/>
              <a:buNone/>
            </a:pPr>
            <a:r>
              <a:rPr lang="en-US" dirty="0"/>
              <a:t>In vice versa, </a:t>
            </a:r>
            <a:r>
              <a:rPr lang="en-US" b="1" dirty="0"/>
              <a:t>2D LiDAR</a:t>
            </a:r>
            <a:r>
              <a:rPr lang="en-US" dirty="0"/>
              <a:t> only captures data along two axes (X, Y), which requires the use of two sensors at different heights to gain a full overview of a person’s movement and posture. It’s the same principle as Depth camera</a:t>
            </a:r>
          </a:p>
        </p:txBody>
      </p:sp>
      <p:sp>
        <p:nvSpPr>
          <p:cNvPr id="4" name="Slide Number Placeholder 3"/>
          <p:cNvSpPr>
            <a:spLocks noGrp="1"/>
          </p:cNvSpPr>
          <p:nvPr>
            <p:ph type="sldNum" sz="quarter" idx="5"/>
          </p:nvPr>
        </p:nvSpPr>
        <p:spPr/>
        <p:txBody>
          <a:bodyPr/>
          <a:lstStyle/>
          <a:p>
            <a:fld id="{32BC36D5-6F74-49C1-961B-9E0C4A8AF636}" type="slidenum">
              <a:rPr lang="en-US" smtClean="0"/>
              <a:t>14</a:t>
            </a:fld>
            <a:endParaRPr lang="en-US"/>
          </a:p>
        </p:txBody>
      </p:sp>
    </p:spTree>
    <p:extLst>
      <p:ext uri="{BB962C8B-B14F-4D97-AF65-F5344CB8AC3E}">
        <p14:creationId xmlns:p14="http://schemas.microsoft.com/office/powerpoint/2010/main" val="2623152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C18F9-A53B-D26A-69D0-713DF90135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739065-9FDB-592C-F595-E872731DC6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BEFEDF-84E8-6A3E-B30B-4760784D44E7}"/>
              </a:ext>
            </a:extLst>
          </p:cNvPr>
          <p:cNvSpPr>
            <a:spLocks noGrp="1"/>
          </p:cNvSpPr>
          <p:nvPr>
            <p:ph type="dt" sz="half" idx="10"/>
          </p:nvPr>
        </p:nvSpPr>
        <p:spPr/>
        <p:txBody>
          <a:bodyPr/>
          <a:lstStyle/>
          <a:p>
            <a:fld id="{2B2B5BDC-F94A-4D60-8654-D675032B96A9}" type="datetimeFigureOut">
              <a:rPr lang="en-US" smtClean="0"/>
              <a:t>9/10/2025</a:t>
            </a:fld>
            <a:endParaRPr lang="en-US"/>
          </a:p>
        </p:txBody>
      </p:sp>
      <p:sp>
        <p:nvSpPr>
          <p:cNvPr id="5" name="Footer Placeholder 4">
            <a:extLst>
              <a:ext uri="{FF2B5EF4-FFF2-40B4-BE49-F238E27FC236}">
                <a16:creationId xmlns:a16="http://schemas.microsoft.com/office/drawing/2014/main" id="{F58B5AFF-5ABC-93AA-FFA7-1D61CD2D0A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AC6451-79E7-C461-DD09-ACFA3E837441}"/>
              </a:ext>
            </a:extLst>
          </p:cNvPr>
          <p:cNvSpPr>
            <a:spLocks noGrp="1"/>
          </p:cNvSpPr>
          <p:nvPr>
            <p:ph type="sldNum" sz="quarter" idx="12"/>
          </p:nvPr>
        </p:nvSpPr>
        <p:spPr/>
        <p:txBody>
          <a:bodyPr/>
          <a:lstStyle/>
          <a:p>
            <a:fld id="{34EFF57D-C0FF-4167-B6BB-E4252CA6ECFA}" type="slidenum">
              <a:rPr lang="en-US" smtClean="0"/>
              <a:t>‹#›</a:t>
            </a:fld>
            <a:endParaRPr lang="en-US"/>
          </a:p>
        </p:txBody>
      </p:sp>
    </p:spTree>
    <p:extLst>
      <p:ext uri="{BB962C8B-B14F-4D97-AF65-F5344CB8AC3E}">
        <p14:creationId xmlns:p14="http://schemas.microsoft.com/office/powerpoint/2010/main" val="2187029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8CCC2-D7A3-B955-E0AA-F05304F272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2435EF-B4F6-9F0A-293F-00798C813F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CBEC6D-BF39-9D90-9770-4AA108F4A912}"/>
              </a:ext>
            </a:extLst>
          </p:cNvPr>
          <p:cNvSpPr>
            <a:spLocks noGrp="1"/>
          </p:cNvSpPr>
          <p:nvPr>
            <p:ph type="dt" sz="half" idx="10"/>
          </p:nvPr>
        </p:nvSpPr>
        <p:spPr/>
        <p:txBody>
          <a:bodyPr/>
          <a:lstStyle/>
          <a:p>
            <a:fld id="{2B2B5BDC-F94A-4D60-8654-D675032B96A9}" type="datetimeFigureOut">
              <a:rPr lang="en-US" smtClean="0"/>
              <a:t>9/10/2025</a:t>
            </a:fld>
            <a:endParaRPr lang="en-US"/>
          </a:p>
        </p:txBody>
      </p:sp>
      <p:sp>
        <p:nvSpPr>
          <p:cNvPr id="5" name="Footer Placeholder 4">
            <a:extLst>
              <a:ext uri="{FF2B5EF4-FFF2-40B4-BE49-F238E27FC236}">
                <a16:creationId xmlns:a16="http://schemas.microsoft.com/office/drawing/2014/main" id="{3E3ACA53-9C13-A1CB-278A-2F80C5CA93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EB55E5-3B49-4318-3288-648155CF5BA3}"/>
              </a:ext>
            </a:extLst>
          </p:cNvPr>
          <p:cNvSpPr>
            <a:spLocks noGrp="1"/>
          </p:cNvSpPr>
          <p:nvPr>
            <p:ph type="sldNum" sz="quarter" idx="12"/>
          </p:nvPr>
        </p:nvSpPr>
        <p:spPr/>
        <p:txBody>
          <a:bodyPr/>
          <a:lstStyle/>
          <a:p>
            <a:fld id="{34EFF57D-C0FF-4167-B6BB-E4252CA6ECFA}" type="slidenum">
              <a:rPr lang="en-US" smtClean="0"/>
              <a:t>‹#›</a:t>
            </a:fld>
            <a:endParaRPr lang="en-US"/>
          </a:p>
        </p:txBody>
      </p:sp>
    </p:spTree>
    <p:extLst>
      <p:ext uri="{BB962C8B-B14F-4D97-AF65-F5344CB8AC3E}">
        <p14:creationId xmlns:p14="http://schemas.microsoft.com/office/powerpoint/2010/main" val="607863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6BA7C-BF9D-C3F7-D65E-53CAA6E9F2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F8F378-42C5-E302-411D-26EDBE4DAC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8C1C85-6ACF-2974-6855-D41B8A638992}"/>
              </a:ext>
            </a:extLst>
          </p:cNvPr>
          <p:cNvSpPr>
            <a:spLocks noGrp="1"/>
          </p:cNvSpPr>
          <p:nvPr>
            <p:ph type="dt" sz="half" idx="10"/>
          </p:nvPr>
        </p:nvSpPr>
        <p:spPr/>
        <p:txBody>
          <a:bodyPr/>
          <a:lstStyle/>
          <a:p>
            <a:fld id="{2B2B5BDC-F94A-4D60-8654-D675032B96A9}" type="datetimeFigureOut">
              <a:rPr lang="en-US" smtClean="0"/>
              <a:t>9/10/2025</a:t>
            </a:fld>
            <a:endParaRPr lang="en-US"/>
          </a:p>
        </p:txBody>
      </p:sp>
      <p:sp>
        <p:nvSpPr>
          <p:cNvPr id="5" name="Footer Placeholder 4">
            <a:extLst>
              <a:ext uri="{FF2B5EF4-FFF2-40B4-BE49-F238E27FC236}">
                <a16:creationId xmlns:a16="http://schemas.microsoft.com/office/drawing/2014/main" id="{C35C72A8-E1D4-FF02-1549-D31CE86AA1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C53B9D-0E54-2604-72F1-6B8EC7134DF5}"/>
              </a:ext>
            </a:extLst>
          </p:cNvPr>
          <p:cNvSpPr>
            <a:spLocks noGrp="1"/>
          </p:cNvSpPr>
          <p:nvPr>
            <p:ph type="sldNum" sz="quarter" idx="12"/>
          </p:nvPr>
        </p:nvSpPr>
        <p:spPr/>
        <p:txBody>
          <a:bodyPr/>
          <a:lstStyle/>
          <a:p>
            <a:fld id="{34EFF57D-C0FF-4167-B6BB-E4252CA6ECFA}" type="slidenum">
              <a:rPr lang="en-US" smtClean="0"/>
              <a:t>‹#›</a:t>
            </a:fld>
            <a:endParaRPr lang="en-US"/>
          </a:p>
        </p:txBody>
      </p:sp>
    </p:spTree>
    <p:extLst>
      <p:ext uri="{BB962C8B-B14F-4D97-AF65-F5344CB8AC3E}">
        <p14:creationId xmlns:p14="http://schemas.microsoft.com/office/powerpoint/2010/main" val="2090071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86AFE-F353-4C60-504A-EB0E90BB7B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8C2E97-A5A7-290C-6998-22B16BF289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3D2B46-850A-91E2-EE35-C9BCE44B8C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60F823-18E2-9A4B-B94F-8C4069860E8E}"/>
              </a:ext>
            </a:extLst>
          </p:cNvPr>
          <p:cNvSpPr>
            <a:spLocks noGrp="1"/>
          </p:cNvSpPr>
          <p:nvPr>
            <p:ph type="dt" sz="half" idx="10"/>
          </p:nvPr>
        </p:nvSpPr>
        <p:spPr/>
        <p:txBody>
          <a:bodyPr/>
          <a:lstStyle/>
          <a:p>
            <a:fld id="{2B2B5BDC-F94A-4D60-8654-D675032B96A9}" type="datetimeFigureOut">
              <a:rPr lang="en-US" smtClean="0"/>
              <a:t>9/10/2025</a:t>
            </a:fld>
            <a:endParaRPr lang="en-US"/>
          </a:p>
        </p:txBody>
      </p:sp>
      <p:sp>
        <p:nvSpPr>
          <p:cNvPr id="6" name="Footer Placeholder 5">
            <a:extLst>
              <a:ext uri="{FF2B5EF4-FFF2-40B4-BE49-F238E27FC236}">
                <a16:creationId xmlns:a16="http://schemas.microsoft.com/office/drawing/2014/main" id="{2267C353-6D52-0AEF-176C-EA9BB9DE14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4E84A0-4886-513D-55DB-4627FBA5F367}"/>
              </a:ext>
            </a:extLst>
          </p:cNvPr>
          <p:cNvSpPr>
            <a:spLocks noGrp="1"/>
          </p:cNvSpPr>
          <p:nvPr>
            <p:ph type="sldNum" sz="quarter" idx="12"/>
          </p:nvPr>
        </p:nvSpPr>
        <p:spPr/>
        <p:txBody>
          <a:bodyPr/>
          <a:lstStyle/>
          <a:p>
            <a:fld id="{34EFF57D-C0FF-4167-B6BB-E4252CA6ECFA}" type="slidenum">
              <a:rPr lang="en-US" smtClean="0"/>
              <a:t>‹#›</a:t>
            </a:fld>
            <a:endParaRPr lang="en-US"/>
          </a:p>
        </p:txBody>
      </p:sp>
    </p:spTree>
    <p:extLst>
      <p:ext uri="{BB962C8B-B14F-4D97-AF65-F5344CB8AC3E}">
        <p14:creationId xmlns:p14="http://schemas.microsoft.com/office/powerpoint/2010/main" val="2888749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AB56F-0F0B-56A3-65DD-516DFFF696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B119F6-7B47-4D2D-3E84-7A1F1281C7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AB9852-E733-903F-B5FD-2D2C89D8C1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1DDEF0-7B51-F733-0EFC-BD228F7D95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EC06E6-A036-FEBF-5EF9-228C5A5E4B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A2CAE9-AC44-7CF8-AAFD-4A7D377A23CA}"/>
              </a:ext>
            </a:extLst>
          </p:cNvPr>
          <p:cNvSpPr>
            <a:spLocks noGrp="1"/>
          </p:cNvSpPr>
          <p:nvPr>
            <p:ph type="dt" sz="half" idx="10"/>
          </p:nvPr>
        </p:nvSpPr>
        <p:spPr/>
        <p:txBody>
          <a:bodyPr/>
          <a:lstStyle/>
          <a:p>
            <a:fld id="{2B2B5BDC-F94A-4D60-8654-D675032B96A9}" type="datetimeFigureOut">
              <a:rPr lang="en-US" smtClean="0"/>
              <a:t>9/10/2025</a:t>
            </a:fld>
            <a:endParaRPr lang="en-US"/>
          </a:p>
        </p:txBody>
      </p:sp>
      <p:sp>
        <p:nvSpPr>
          <p:cNvPr id="8" name="Footer Placeholder 7">
            <a:extLst>
              <a:ext uri="{FF2B5EF4-FFF2-40B4-BE49-F238E27FC236}">
                <a16:creationId xmlns:a16="http://schemas.microsoft.com/office/drawing/2014/main" id="{1CB034DF-8759-40BE-C683-A888B41823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7414FB-1BC3-8E22-C069-E6A6F786DF94}"/>
              </a:ext>
            </a:extLst>
          </p:cNvPr>
          <p:cNvSpPr>
            <a:spLocks noGrp="1"/>
          </p:cNvSpPr>
          <p:nvPr>
            <p:ph type="sldNum" sz="quarter" idx="12"/>
          </p:nvPr>
        </p:nvSpPr>
        <p:spPr/>
        <p:txBody>
          <a:bodyPr/>
          <a:lstStyle/>
          <a:p>
            <a:fld id="{34EFF57D-C0FF-4167-B6BB-E4252CA6ECFA}" type="slidenum">
              <a:rPr lang="en-US" smtClean="0"/>
              <a:t>‹#›</a:t>
            </a:fld>
            <a:endParaRPr lang="en-US"/>
          </a:p>
        </p:txBody>
      </p:sp>
    </p:spTree>
    <p:extLst>
      <p:ext uri="{BB962C8B-B14F-4D97-AF65-F5344CB8AC3E}">
        <p14:creationId xmlns:p14="http://schemas.microsoft.com/office/powerpoint/2010/main" val="690069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A00B1-15E2-69AA-FE10-350C1BC02A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90E213-C14B-2FBB-0AB3-F69B8DEAE6AD}"/>
              </a:ext>
            </a:extLst>
          </p:cNvPr>
          <p:cNvSpPr>
            <a:spLocks noGrp="1"/>
          </p:cNvSpPr>
          <p:nvPr>
            <p:ph type="dt" sz="half" idx="10"/>
          </p:nvPr>
        </p:nvSpPr>
        <p:spPr/>
        <p:txBody>
          <a:bodyPr/>
          <a:lstStyle/>
          <a:p>
            <a:fld id="{2B2B5BDC-F94A-4D60-8654-D675032B96A9}" type="datetimeFigureOut">
              <a:rPr lang="en-US" smtClean="0"/>
              <a:t>9/10/2025</a:t>
            </a:fld>
            <a:endParaRPr lang="en-US"/>
          </a:p>
        </p:txBody>
      </p:sp>
      <p:sp>
        <p:nvSpPr>
          <p:cNvPr id="4" name="Footer Placeholder 3">
            <a:extLst>
              <a:ext uri="{FF2B5EF4-FFF2-40B4-BE49-F238E27FC236}">
                <a16:creationId xmlns:a16="http://schemas.microsoft.com/office/drawing/2014/main" id="{A647A163-D0E3-2058-B63D-5602779F81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803AE2-61FA-4CC8-24B0-A9C1E898A749}"/>
              </a:ext>
            </a:extLst>
          </p:cNvPr>
          <p:cNvSpPr>
            <a:spLocks noGrp="1"/>
          </p:cNvSpPr>
          <p:nvPr>
            <p:ph type="sldNum" sz="quarter" idx="12"/>
          </p:nvPr>
        </p:nvSpPr>
        <p:spPr/>
        <p:txBody>
          <a:bodyPr/>
          <a:lstStyle/>
          <a:p>
            <a:fld id="{34EFF57D-C0FF-4167-B6BB-E4252CA6ECFA}" type="slidenum">
              <a:rPr lang="en-US" smtClean="0"/>
              <a:t>‹#›</a:t>
            </a:fld>
            <a:endParaRPr lang="en-US"/>
          </a:p>
        </p:txBody>
      </p:sp>
    </p:spTree>
    <p:extLst>
      <p:ext uri="{BB962C8B-B14F-4D97-AF65-F5344CB8AC3E}">
        <p14:creationId xmlns:p14="http://schemas.microsoft.com/office/powerpoint/2010/main" val="2949369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CBE4F5-12B9-3F94-E91E-A8905C0C352B}"/>
              </a:ext>
            </a:extLst>
          </p:cNvPr>
          <p:cNvSpPr>
            <a:spLocks noGrp="1"/>
          </p:cNvSpPr>
          <p:nvPr>
            <p:ph type="dt" sz="half" idx="10"/>
          </p:nvPr>
        </p:nvSpPr>
        <p:spPr/>
        <p:txBody>
          <a:bodyPr/>
          <a:lstStyle/>
          <a:p>
            <a:fld id="{2B2B5BDC-F94A-4D60-8654-D675032B96A9}" type="datetimeFigureOut">
              <a:rPr lang="en-US" smtClean="0"/>
              <a:t>9/10/2025</a:t>
            </a:fld>
            <a:endParaRPr lang="en-US"/>
          </a:p>
        </p:txBody>
      </p:sp>
      <p:sp>
        <p:nvSpPr>
          <p:cNvPr id="3" name="Footer Placeholder 2">
            <a:extLst>
              <a:ext uri="{FF2B5EF4-FFF2-40B4-BE49-F238E27FC236}">
                <a16:creationId xmlns:a16="http://schemas.microsoft.com/office/drawing/2014/main" id="{EA183B16-A157-3D05-5CED-011F980D95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BDADE2-AAF5-A734-A0CF-64D5A619310C}"/>
              </a:ext>
            </a:extLst>
          </p:cNvPr>
          <p:cNvSpPr>
            <a:spLocks noGrp="1"/>
          </p:cNvSpPr>
          <p:nvPr>
            <p:ph type="sldNum" sz="quarter" idx="12"/>
          </p:nvPr>
        </p:nvSpPr>
        <p:spPr/>
        <p:txBody>
          <a:bodyPr/>
          <a:lstStyle/>
          <a:p>
            <a:fld id="{34EFF57D-C0FF-4167-B6BB-E4252CA6ECFA}" type="slidenum">
              <a:rPr lang="en-US" smtClean="0"/>
              <a:t>‹#›</a:t>
            </a:fld>
            <a:endParaRPr lang="en-US"/>
          </a:p>
        </p:txBody>
      </p:sp>
    </p:spTree>
    <p:extLst>
      <p:ext uri="{BB962C8B-B14F-4D97-AF65-F5344CB8AC3E}">
        <p14:creationId xmlns:p14="http://schemas.microsoft.com/office/powerpoint/2010/main" val="115437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0E9E3-3C74-C3C4-DCF8-6704DB102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B1CA3F-A7DE-9252-27C8-ED69B58464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DAEEC5-D63D-49EB-22C7-4B8C549CF6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8E488E-C19D-2E05-C1D9-26F3CAE17BC9}"/>
              </a:ext>
            </a:extLst>
          </p:cNvPr>
          <p:cNvSpPr>
            <a:spLocks noGrp="1"/>
          </p:cNvSpPr>
          <p:nvPr>
            <p:ph type="dt" sz="half" idx="10"/>
          </p:nvPr>
        </p:nvSpPr>
        <p:spPr/>
        <p:txBody>
          <a:bodyPr/>
          <a:lstStyle/>
          <a:p>
            <a:fld id="{2B2B5BDC-F94A-4D60-8654-D675032B96A9}" type="datetimeFigureOut">
              <a:rPr lang="en-US" smtClean="0"/>
              <a:t>9/10/2025</a:t>
            </a:fld>
            <a:endParaRPr lang="en-US"/>
          </a:p>
        </p:txBody>
      </p:sp>
      <p:sp>
        <p:nvSpPr>
          <p:cNvPr id="6" name="Footer Placeholder 5">
            <a:extLst>
              <a:ext uri="{FF2B5EF4-FFF2-40B4-BE49-F238E27FC236}">
                <a16:creationId xmlns:a16="http://schemas.microsoft.com/office/drawing/2014/main" id="{2D22683F-2E6B-8823-03EE-1DA6952FFB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DC394A-79D7-12D1-707D-B7C95AAAE87D}"/>
              </a:ext>
            </a:extLst>
          </p:cNvPr>
          <p:cNvSpPr>
            <a:spLocks noGrp="1"/>
          </p:cNvSpPr>
          <p:nvPr>
            <p:ph type="sldNum" sz="quarter" idx="12"/>
          </p:nvPr>
        </p:nvSpPr>
        <p:spPr/>
        <p:txBody>
          <a:bodyPr/>
          <a:lstStyle/>
          <a:p>
            <a:fld id="{34EFF57D-C0FF-4167-B6BB-E4252CA6ECFA}" type="slidenum">
              <a:rPr lang="en-US" smtClean="0"/>
              <a:t>‹#›</a:t>
            </a:fld>
            <a:endParaRPr lang="en-US"/>
          </a:p>
        </p:txBody>
      </p:sp>
    </p:spTree>
    <p:extLst>
      <p:ext uri="{BB962C8B-B14F-4D97-AF65-F5344CB8AC3E}">
        <p14:creationId xmlns:p14="http://schemas.microsoft.com/office/powerpoint/2010/main" val="3500380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3C267-9A86-2423-6ACD-913B69DCCF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C19231-0420-806F-5A70-597E49FFDA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821124-F4C1-5B59-FE01-11267AC0E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E4ED41-C5A9-3E2B-847F-6EF1CE71D819}"/>
              </a:ext>
            </a:extLst>
          </p:cNvPr>
          <p:cNvSpPr>
            <a:spLocks noGrp="1"/>
          </p:cNvSpPr>
          <p:nvPr>
            <p:ph type="dt" sz="half" idx="10"/>
          </p:nvPr>
        </p:nvSpPr>
        <p:spPr/>
        <p:txBody>
          <a:bodyPr/>
          <a:lstStyle/>
          <a:p>
            <a:fld id="{2B2B5BDC-F94A-4D60-8654-D675032B96A9}" type="datetimeFigureOut">
              <a:rPr lang="en-US" smtClean="0"/>
              <a:t>9/10/2025</a:t>
            </a:fld>
            <a:endParaRPr lang="en-US"/>
          </a:p>
        </p:txBody>
      </p:sp>
      <p:sp>
        <p:nvSpPr>
          <p:cNvPr id="6" name="Footer Placeholder 5">
            <a:extLst>
              <a:ext uri="{FF2B5EF4-FFF2-40B4-BE49-F238E27FC236}">
                <a16:creationId xmlns:a16="http://schemas.microsoft.com/office/drawing/2014/main" id="{BC6D3542-7FE5-924E-1D75-FF04405BB8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004739-8C76-2724-B7FC-974077EFF555}"/>
              </a:ext>
            </a:extLst>
          </p:cNvPr>
          <p:cNvSpPr>
            <a:spLocks noGrp="1"/>
          </p:cNvSpPr>
          <p:nvPr>
            <p:ph type="sldNum" sz="quarter" idx="12"/>
          </p:nvPr>
        </p:nvSpPr>
        <p:spPr/>
        <p:txBody>
          <a:bodyPr/>
          <a:lstStyle/>
          <a:p>
            <a:fld id="{34EFF57D-C0FF-4167-B6BB-E4252CA6ECFA}" type="slidenum">
              <a:rPr lang="en-US" smtClean="0"/>
              <a:t>‹#›</a:t>
            </a:fld>
            <a:endParaRPr lang="en-US"/>
          </a:p>
        </p:txBody>
      </p:sp>
    </p:spTree>
    <p:extLst>
      <p:ext uri="{BB962C8B-B14F-4D97-AF65-F5344CB8AC3E}">
        <p14:creationId xmlns:p14="http://schemas.microsoft.com/office/powerpoint/2010/main" val="3009334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FF7D0-52B2-C661-2FEB-CA2E015771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907C1A-CE7F-291A-61AA-910894665E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AFBC0D-0524-D8F7-E7D1-2C2BDFEB262E}"/>
              </a:ext>
            </a:extLst>
          </p:cNvPr>
          <p:cNvSpPr>
            <a:spLocks noGrp="1"/>
          </p:cNvSpPr>
          <p:nvPr>
            <p:ph type="dt" sz="half" idx="10"/>
          </p:nvPr>
        </p:nvSpPr>
        <p:spPr/>
        <p:txBody>
          <a:bodyPr/>
          <a:lstStyle/>
          <a:p>
            <a:fld id="{2B2B5BDC-F94A-4D60-8654-D675032B96A9}" type="datetimeFigureOut">
              <a:rPr lang="en-US" smtClean="0"/>
              <a:t>9/10/2025</a:t>
            </a:fld>
            <a:endParaRPr lang="en-US"/>
          </a:p>
        </p:txBody>
      </p:sp>
      <p:sp>
        <p:nvSpPr>
          <p:cNvPr id="5" name="Footer Placeholder 4">
            <a:extLst>
              <a:ext uri="{FF2B5EF4-FFF2-40B4-BE49-F238E27FC236}">
                <a16:creationId xmlns:a16="http://schemas.microsoft.com/office/drawing/2014/main" id="{83AA2A2F-508E-B03B-13B4-D1276DEDDA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A459C0-F211-B18E-4B41-F27C4378871E}"/>
              </a:ext>
            </a:extLst>
          </p:cNvPr>
          <p:cNvSpPr>
            <a:spLocks noGrp="1"/>
          </p:cNvSpPr>
          <p:nvPr>
            <p:ph type="sldNum" sz="quarter" idx="12"/>
          </p:nvPr>
        </p:nvSpPr>
        <p:spPr/>
        <p:txBody>
          <a:bodyPr/>
          <a:lstStyle/>
          <a:p>
            <a:fld id="{34EFF57D-C0FF-4167-B6BB-E4252CA6ECFA}" type="slidenum">
              <a:rPr lang="en-US" smtClean="0"/>
              <a:t>‹#›</a:t>
            </a:fld>
            <a:endParaRPr lang="en-US"/>
          </a:p>
        </p:txBody>
      </p:sp>
    </p:spTree>
    <p:extLst>
      <p:ext uri="{BB962C8B-B14F-4D97-AF65-F5344CB8AC3E}">
        <p14:creationId xmlns:p14="http://schemas.microsoft.com/office/powerpoint/2010/main" val="2937402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F250D3-F6BE-DEDC-FCBB-61F32A920C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F7859D-B237-DB83-4C0A-AD7D1815C6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20169-AA51-B64C-48AE-355943DA7B07}"/>
              </a:ext>
            </a:extLst>
          </p:cNvPr>
          <p:cNvSpPr>
            <a:spLocks noGrp="1"/>
          </p:cNvSpPr>
          <p:nvPr>
            <p:ph type="dt" sz="half" idx="10"/>
          </p:nvPr>
        </p:nvSpPr>
        <p:spPr/>
        <p:txBody>
          <a:bodyPr/>
          <a:lstStyle/>
          <a:p>
            <a:fld id="{2B2B5BDC-F94A-4D60-8654-D675032B96A9}" type="datetimeFigureOut">
              <a:rPr lang="en-US" smtClean="0"/>
              <a:t>9/10/2025</a:t>
            </a:fld>
            <a:endParaRPr lang="en-US"/>
          </a:p>
        </p:txBody>
      </p:sp>
      <p:sp>
        <p:nvSpPr>
          <p:cNvPr id="5" name="Footer Placeholder 4">
            <a:extLst>
              <a:ext uri="{FF2B5EF4-FFF2-40B4-BE49-F238E27FC236}">
                <a16:creationId xmlns:a16="http://schemas.microsoft.com/office/drawing/2014/main" id="{550EE777-E2F1-ACCF-BAD9-DF6B7F7A95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D26C61-3486-F5C8-5D53-EB08E21D3036}"/>
              </a:ext>
            </a:extLst>
          </p:cNvPr>
          <p:cNvSpPr>
            <a:spLocks noGrp="1"/>
          </p:cNvSpPr>
          <p:nvPr>
            <p:ph type="sldNum" sz="quarter" idx="12"/>
          </p:nvPr>
        </p:nvSpPr>
        <p:spPr/>
        <p:txBody>
          <a:bodyPr/>
          <a:lstStyle/>
          <a:p>
            <a:fld id="{34EFF57D-C0FF-4167-B6BB-E4252CA6ECFA}" type="slidenum">
              <a:rPr lang="en-US" smtClean="0"/>
              <a:t>‹#›</a:t>
            </a:fld>
            <a:endParaRPr lang="en-US"/>
          </a:p>
        </p:txBody>
      </p:sp>
    </p:spTree>
    <p:extLst>
      <p:ext uri="{BB962C8B-B14F-4D97-AF65-F5344CB8AC3E}">
        <p14:creationId xmlns:p14="http://schemas.microsoft.com/office/powerpoint/2010/main" val="182521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4B71DC-92B9-E195-171E-D5CBEFC0F7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B79018-71FD-67AE-99F4-D3FBDBFB86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7A68BB-54F2-C9E2-F006-DD4584CF77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2B5BDC-F94A-4D60-8654-D675032B96A9}" type="datetimeFigureOut">
              <a:rPr lang="en-US" smtClean="0"/>
              <a:t>9/10/2025</a:t>
            </a:fld>
            <a:endParaRPr lang="en-US"/>
          </a:p>
        </p:txBody>
      </p:sp>
      <p:sp>
        <p:nvSpPr>
          <p:cNvPr id="5" name="Footer Placeholder 4">
            <a:extLst>
              <a:ext uri="{FF2B5EF4-FFF2-40B4-BE49-F238E27FC236}">
                <a16:creationId xmlns:a16="http://schemas.microsoft.com/office/drawing/2014/main" id="{95D60D8D-CE8B-6B9F-0BE1-608E72B4ED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FB5F2E-A7A9-E680-E82E-B4A407D6C4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EFF57D-C0FF-4167-B6BB-E4252CA6ECFA}" type="slidenum">
              <a:rPr lang="en-US" smtClean="0"/>
              <a:t>‹#›</a:t>
            </a:fld>
            <a:endParaRPr lang="en-US"/>
          </a:p>
        </p:txBody>
      </p:sp>
    </p:spTree>
    <p:extLst>
      <p:ext uri="{BB962C8B-B14F-4D97-AF65-F5344CB8AC3E}">
        <p14:creationId xmlns:p14="http://schemas.microsoft.com/office/powerpoint/2010/main" val="501934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jpe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4.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microsoft.com/office/2007/relationships/hdphoto" Target="../media/hdphoto1.wdp"/><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jpe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1.jpeg"/><Relationship Id="rId7"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jpe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29.png"/><Relationship Id="rId3" Type="http://schemas.openxmlformats.org/officeDocument/2006/relationships/video" Target="../media/media1.mp4"/><Relationship Id="rId7" Type="http://schemas.openxmlformats.org/officeDocument/2006/relationships/notesSlide" Target="../notesSlides/notesSlide11.xml"/><Relationship Id="rId12" Type="http://schemas.openxmlformats.org/officeDocument/2006/relationships/image" Target="../media/image28.png"/><Relationship Id="rId2" Type="http://schemas.microsoft.com/office/2007/relationships/media" Target="../media/media1.mp4"/><Relationship Id="rId1" Type="http://schemas.openxmlformats.org/officeDocument/2006/relationships/tags" Target="../tags/tag1.xml"/><Relationship Id="rId6" Type="http://schemas.openxmlformats.org/officeDocument/2006/relationships/slideLayout" Target="../slideLayouts/slideLayout1.xml"/><Relationship Id="rId11" Type="http://schemas.openxmlformats.org/officeDocument/2006/relationships/image" Target="../media/image26.png"/><Relationship Id="rId5" Type="http://schemas.openxmlformats.org/officeDocument/2006/relationships/video" Target="../media/media2.mp4"/><Relationship Id="rId10" Type="http://schemas.openxmlformats.org/officeDocument/2006/relationships/image" Target="../media/image25.png"/><Relationship Id="rId4" Type="http://schemas.microsoft.com/office/2007/relationships/media" Target="../media/media2.mp4"/><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video" Target="../media/media3.mp4"/><Relationship Id="rId7" Type="http://schemas.openxmlformats.org/officeDocument/2006/relationships/image" Target="../media/image25.png"/><Relationship Id="rId2" Type="http://schemas.microsoft.com/office/2007/relationships/media" Target="../media/media3.mp4"/><Relationship Id="rId1" Type="http://schemas.openxmlformats.org/officeDocument/2006/relationships/tags" Target="../tags/tag2.xml"/><Relationship Id="rId6" Type="http://schemas.openxmlformats.org/officeDocument/2006/relationships/image" Target="../media/image3.png"/><Relationship Id="rId11" Type="http://schemas.openxmlformats.org/officeDocument/2006/relationships/image" Target="../media/image32.png"/><Relationship Id="rId5" Type="http://schemas.openxmlformats.org/officeDocument/2006/relationships/notesSlide" Target="../notesSlides/notesSlide12.xml"/><Relationship Id="rId10" Type="http://schemas.openxmlformats.org/officeDocument/2006/relationships/image" Target="../media/image31.png"/><Relationship Id="rId4" Type="http://schemas.openxmlformats.org/officeDocument/2006/relationships/slideLayout" Target="../slideLayouts/slideLayout1.xml"/><Relationship Id="rId9" Type="http://schemas.openxmlformats.org/officeDocument/2006/relationships/image" Target="../media/image30.png"/></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notesSlide" Target="../notesSlides/notesSlide13.xml"/><Relationship Id="rId7" Type="http://schemas.openxmlformats.org/officeDocument/2006/relationships/diagramData" Target="../diagrams/data1.xml"/><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26.png"/><Relationship Id="rId11" Type="http://schemas.microsoft.com/office/2007/relationships/diagramDrawing" Target="../diagrams/drawing1.xml"/><Relationship Id="rId5" Type="http://schemas.openxmlformats.org/officeDocument/2006/relationships/image" Target="../media/image25.png"/><Relationship Id="rId10" Type="http://schemas.openxmlformats.org/officeDocument/2006/relationships/diagramColors" Target="../diagrams/colors1.xml"/><Relationship Id="rId4" Type="http://schemas.openxmlformats.org/officeDocument/2006/relationships/image" Target="../media/image3.png"/><Relationship Id="rId9"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33.pn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a:extLst>
              <a:ext uri="{FF2B5EF4-FFF2-40B4-BE49-F238E27FC236}">
                <a16:creationId xmlns:a16="http://schemas.microsoft.com/office/drawing/2014/main" id="{AEFC218D-83C9-D6D9-C545-A085D34B47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071" t="8560" r="19081"/>
          <a:stretch/>
        </p:blipFill>
        <p:spPr bwMode="auto">
          <a:xfrm>
            <a:off x="7559828" y="3875420"/>
            <a:ext cx="2195630" cy="16127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F1617B4-5DF1-6598-BB2B-EB82756E2FA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163" t="9137" r="11903" b="7769"/>
          <a:stretch/>
        </p:blipFill>
        <p:spPr bwMode="auto">
          <a:xfrm>
            <a:off x="9755458" y="1873378"/>
            <a:ext cx="2228206" cy="335617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6E4CE59-112E-4683-4813-73FFD6441640}"/>
              </a:ext>
            </a:extLst>
          </p:cNvPr>
          <p:cNvSpPr txBox="1"/>
          <p:nvPr/>
        </p:nvSpPr>
        <p:spPr>
          <a:xfrm>
            <a:off x="1902766" y="87001"/>
            <a:ext cx="8386466" cy="646331"/>
          </a:xfrm>
          <a:prstGeom prst="rect">
            <a:avLst/>
          </a:prstGeom>
          <a:noFill/>
          <a:effectLst/>
        </p:spPr>
        <p:txBody>
          <a:bodyPr wrap="square" rtlCol="0">
            <a:spAutoFit/>
          </a:bodyPr>
          <a:lstStyle/>
          <a:p>
            <a:pPr algn="ctr"/>
            <a:r>
              <a:rPr lang="en-US" sz="3600" b="1" dirty="0">
                <a:latin typeface="Aharoni" panose="02010803020104030203" pitchFamily="2" charset="-79"/>
                <a:cs typeface="Aharoni" panose="02010803020104030203" pitchFamily="2" charset="-79"/>
              </a:rPr>
              <a:t>LiDAR INSTRUMENT</a:t>
            </a:r>
          </a:p>
        </p:txBody>
      </p:sp>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ivision of Health Sciences Graduate School of Medical Sciences, Kanazawa  University">
            <a:extLst>
              <a:ext uri="{FF2B5EF4-FFF2-40B4-BE49-F238E27FC236}">
                <a16:creationId xmlns:a16="http://schemas.microsoft.com/office/drawing/2014/main" id="{91615151-131E-0A0D-42AC-53F3D07FCD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0D3AA71-E8D4-8E0C-A88A-2218E9D145C2}"/>
              </a:ext>
            </a:extLst>
          </p:cNvPr>
          <p:cNvSpPr txBox="1"/>
          <p:nvPr/>
        </p:nvSpPr>
        <p:spPr>
          <a:xfrm>
            <a:off x="237553" y="794887"/>
            <a:ext cx="11322399" cy="584775"/>
          </a:xfrm>
          <a:prstGeom prst="rect">
            <a:avLst/>
          </a:prstGeom>
          <a:noFill/>
          <a:effectLst/>
        </p:spPr>
        <p:txBody>
          <a:bodyPr wrap="square" rtlCol="0">
            <a:spAutoFit/>
          </a:bodyPr>
          <a:lstStyle/>
          <a:p>
            <a:r>
              <a:rPr lang="es-ES" sz="3200" b="1" dirty="0">
                <a:solidFill>
                  <a:srgbClr val="0070C0"/>
                </a:solidFill>
                <a:latin typeface="Times New Roman" panose="02020603050405020304" pitchFamily="18" charset="0"/>
                <a:cs typeface="Times New Roman" panose="02020603050405020304" pitchFamily="18" charset="0"/>
              </a:rPr>
              <a:t> Intel® </a:t>
            </a:r>
            <a:r>
              <a:rPr lang="es-ES" sz="3200" b="1" dirty="0" err="1">
                <a:solidFill>
                  <a:srgbClr val="0070C0"/>
                </a:solidFill>
                <a:latin typeface="Times New Roman" panose="02020603050405020304" pitchFamily="18" charset="0"/>
                <a:cs typeface="Times New Roman" panose="02020603050405020304" pitchFamily="18" charset="0"/>
              </a:rPr>
              <a:t>RealSense</a:t>
            </a:r>
            <a:r>
              <a:rPr lang="es-ES" sz="3200" b="1" dirty="0">
                <a:solidFill>
                  <a:srgbClr val="0070C0"/>
                </a:solidFill>
                <a:latin typeface="Times New Roman" panose="02020603050405020304" pitchFamily="18" charset="0"/>
                <a:cs typeface="Times New Roman" panose="02020603050405020304" pitchFamily="18" charset="0"/>
              </a:rPr>
              <a:t>™ </a:t>
            </a:r>
            <a:r>
              <a:rPr lang="es-ES" sz="3200" b="1" dirty="0" err="1">
                <a:solidFill>
                  <a:srgbClr val="0070C0"/>
                </a:solidFill>
                <a:latin typeface="Times New Roman" panose="02020603050405020304" pitchFamily="18" charset="0"/>
                <a:cs typeface="Times New Roman" panose="02020603050405020304" pitchFamily="18" charset="0"/>
              </a:rPr>
              <a:t>LiDAR</a:t>
            </a:r>
            <a:r>
              <a:rPr lang="es-ES" sz="3200" b="1" dirty="0">
                <a:solidFill>
                  <a:srgbClr val="0070C0"/>
                </a:solidFill>
                <a:latin typeface="Times New Roman" panose="02020603050405020304" pitchFamily="18" charset="0"/>
                <a:cs typeface="Times New Roman" panose="02020603050405020304" pitchFamily="18" charset="0"/>
              </a:rPr>
              <a:t> Camera L515</a:t>
            </a:r>
            <a:endParaRPr lang="en-US" sz="3200" b="1" dirty="0">
              <a:solidFill>
                <a:srgbClr val="0070C0"/>
              </a:solidFill>
              <a:latin typeface="Times New Roman" panose="02020603050405020304" pitchFamily="18" charset="0"/>
              <a:cs typeface="Times New Roman" panose="02020603050405020304" pitchFamily="18" charset="0"/>
            </a:endParaRPr>
          </a:p>
        </p:txBody>
      </p:sp>
      <p:pic>
        <p:nvPicPr>
          <p:cNvPr id="19" name="Picture 18" descr="Shape&#10;&#10;Description automatically generated with medium confidence">
            <a:extLst>
              <a:ext uri="{FF2B5EF4-FFF2-40B4-BE49-F238E27FC236}">
                <a16:creationId xmlns:a16="http://schemas.microsoft.com/office/drawing/2014/main" id="{6119F5DC-2C2A-96A8-EB79-1B8D0FA8AB6A}"/>
              </a:ext>
            </a:extLst>
          </p:cNvPr>
          <p:cNvPicPr>
            <a:picLocks noChangeAspect="1"/>
          </p:cNvPicPr>
          <p:nvPr/>
        </p:nvPicPr>
        <p:blipFill>
          <a:blip r:embed="rId7">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5108" y="3440112"/>
            <a:ext cx="12207107" cy="3429000"/>
          </a:xfrm>
          <a:prstGeom prst="rect">
            <a:avLst/>
          </a:prstGeom>
        </p:spPr>
      </p:pic>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1</a:t>
            </a:fld>
            <a:endParaRPr lang="fr-FR" b="1" dirty="0">
              <a:solidFill>
                <a:schemeClr val="tx1"/>
              </a:solidFill>
              <a:latin typeface="Abadi" panose="020B0604020104020204" pitchFamily="34" charset="0"/>
            </a:endParaRPr>
          </a:p>
        </p:txBody>
      </p:sp>
      <p:pic>
        <p:nvPicPr>
          <p:cNvPr id="21" name="Picture 20">
            <a:extLst>
              <a:ext uri="{FF2B5EF4-FFF2-40B4-BE49-F238E27FC236}">
                <a16:creationId xmlns:a16="http://schemas.microsoft.com/office/drawing/2014/main" id="{E274FE56-53CE-A6E1-CE00-D59FB0EA7753}"/>
              </a:ext>
            </a:extLst>
          </p:cNvPr>
          <p:cNvPicPr>
            <a:picLocks noChangeAspect="1"/>
          </p:cNvPicPr>
          <p:nvPr/>
        </p:nvPicPr>
        <p:blipFill>
          <a:blip r:embed="rId8"/>
          <a:stretch>
            <a:fillRect/>
          </a:stretch>
        </p:blipFill>
        <p:spPr>
          <a:xfrm>
            <a:off x="310331" y="1833690"/>
            <a:ext cx="7133076" cy="3654528"/>
          </a:xfrm>
          <a:prstGeom prst="rect">
            <a:avLst/>
          </a:prstGeom>
        </p:spPr>
      </p:pic>
      <p:pic>
        <p:nvPicPr>
          <p:cNvPr id="1030" name="Picture 6">
            <a:extLst>
              <a:ext uri="{FF2B5EF4-FFF2-40B4-BE49-F238E27FC236}">
                <a16:creationId xmlns:a16="http://schemas.microsoft.com/office/drawing/2014/main" id="{0FD73789-02FD-53EA-B054-D7E4C14E9678}"/>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8567" t="14211" r="27117" b="13573"/>
          <a:stretch/>
        </p:blipFill>
        <p:spPr bwMode="auto">
          <a:xfrm>
            <a:off x="7645446" y="1632690"/>
            <a:ext cx="2024395" cy="192179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37F1318-8D79-5795-A441-9D1CCDD02DF6}"/>
              </a:ext>
            </a:extLst>
          </p:cNvPr>
          <p:cNvSpPr txBox="1"/>
          <p:nvPr/>
        </p:nvSpPr>
        <p:spPr>
          <a:xfrm>
            <a:off x="-101891" y="1265085"/>
            <a:ext cx="7539002" cy="661207"/>
          </a:xfrm>
          <a:prstGeom prst="rect">
            <a:avLst/>
          </a:prstGeom>
          <a:noFill/>
        </p:spPr>
        <p:txBody>
          <a:bodyPr wrap="square">
            <a:spAutoFit/>
          </a:bodyPr>
          <a:lstStyle/>
          <a:p>
            <a:pPr marL="800100" lvl="1" indent="-342900" algn="just">
              <a:lnSpc>
                <a:spcPct val="150000"/>
              </a:lnSpc>
              <a:buFont typeface="Wingdings" panose="05000000000000000000" pitchFamily="2" charset="2"/>
              <a:buChar char="q"/>
            </a:pPr>
            <a:r>
              <a:rPr lang="en-US" sz="2800" b="1" dirty="0">
                <a:solidFill>
                  <a:srgbClr val="C00000"/>
                </a:solidFill>
                <a:latin typeface="Times New Roman" panose="02020603050405020304" pitchFamily="18" charset="0"/>
                <a:cs typeface="Times New Roman" panose="02020603050405020304" pitchFamily="18" charset="0"/>
              </a:rPr>
              <a:t>Camera Assembly</a:t>
            </a:r>
          </a:p>
        </p:txBody>
      </p:sp>
    </p:spTree>
    <p:extLst>
      <p:ext uri="{BB962C8B-B14F-4D97-AF65-F5344CB8AC3E}">
        <p14:creationId xmlns:p14="http://schemas.microsoft.com/office/powerpoint/2010/main" val="1244022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6E4CE59-112E-4683-4813-73FFD6441640}"/>
              </a:ext>
            </a:extLst>
          </p:cNvPr>
          <p:cNvSpPr txBox="1"/>
          <p:nvPr/>
        </p:nvSpPr>
        <p:spPr>
          <a:xfrm>
            <a:off x="1902766" y="87001"/>
            <a:ext cx="8386466" cy="646331"/>
          </a:xfrm>
          <a:prstGeom prst="rect">
            <a:avLst/>
          </a:prstGeom>
          <a:noFill/>
          <a:effectLst/>
        </p:spPr>
        <p:txBody>
          <a:bodyPr wrap="square" rtlCol="0">
            <a:spAutoFit/>
          </a:bodyPr>
          <a:lstStyle/>
          <a:p>
            <a:pPr algn="ctr"/>
            <a:r>
              <a:rPr lang="en-US" sz="3600" b="1" dirty="0">
                <a:latin typeface="Aharoni" panose="02010803020104030203" pitchFamily="2" charset="-79"/>
                <a:cs typeface="Aharoni" panose="02010803020104030203" pitchFamily="2" charset="-79"/>
              </a:rPr>
              <a:t>LiDAR INSTRUMENT</a:t>
            </a:r>
          </a:p>
        </p:txBody>
      </p:sp>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ivision of Health Sciences Graduate School of Medical Sciences, Kanazawa  University">
            <a:extLst>
              <a:ext uri="{FF2B5EF4-FFF2-40B4-BE49-F238E27FC236}">
                <a16:creationId xmlns:a16="http://schemas.microsoft.com/office/drawing/2014/main" id="{91615151-131E-0A0D-42AC-53F3D07FC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0D3AA71-E8D4-8E0C-A88A-2218E9D145C2}"/>
              </a:ext>
            </a:extLst>
          </p:cNvPr>
          <p:cNvSpPr txBox="1"/>
          <p:nvPr/>
        </p:nvSpPr>
        <p:spPr>
          <a:xfrm>
            <a:off x="237553" y="794887"/>
            <a:ext cx="11322399" cy="584775"/>
          </a:xfrm>
          <a:prstGeom prst="rect">
            <a:avLst/>
          </a:prstGeom>
          <a:noFill/>
          <a:effectLst/>
        </p:spPr>
        <p:txBody>
          <a:bodyPr wrap="square" rtlCol="0">
            <a:spAutoFit/>
          </a:bodyPr>
          <a:lstStyle/>
          <a:p>
            <a:r>
              <a:rPr lang="es-ES" sz="3200" b="1" dirty="0">
                <a:solidFill>
                  <a:srgbClr val="0070C0"/>
                </a:solidFill>
                <a:latin typeface="Times New Roman" panose="02020603050405020304" pitchFamily="18" charset="0"/>
                <a:cs typeface="Times New Roman" panose="02020603050405020304" pitchFamily="18" charset="0"/>
              </a:rPr>
              <a:t> Intel® </a:t>
            </a:r>
            <a:r>
              <a:rPr lang="es-ES" sz="3200" b="1" dirty="0" err="1">
                <a:solidFill>
                  <a:srgbClr val="0070C0"/>
                </a:solidFill>
                <a:latin typeface="Times New Roman" panose="02020603050405020304" pitchFamily="18" charset="0"/>
                <a:cs typeface="Times New Roman" panose="02020603050405020304" pitchFamily="18" charset="0"/>
              </a:rPr>
              <a:t>RealSense</a:t>
            </a:r>
            <a:r>
              <a:rPr lang="es-ES" sz="3200" b="1" dirty="0">
                <a:solidFill>
                  <a:srgbClr val="0070C0"/>
                </a:solidFill>
                <a:latin typeface="Times New Roman" panose="02020603050405020304" pitchFamily="18" charset="0"/>
                <a:cs typeface="Times New Roman" panose="02020603050405020304" pitchFamily="18" charset="0"/>
              </a:rPr>
              <a:t>™ </a:t>
            </a:r>
            <a:r>
              <a:rPr lang="es-ES" sz="3200" b="1" dirty="0" err="1">
                <a:solidFill>
                  <a:srgbClr val="0070C0"/>
                </a:solidFill>
                <a:latin typeface="Times New Roman" panose="02020603050405020304" pitchFamily="18" charset="0"/>
                <a:cs typeface="Times New Roman" panose="02020603050405020304" pitchFamily="18" charset="0"/>
              </a:rPr>
              <a:t>LiDAR</a:t>
            </a:r>
            <a:r>
              <a:rPr lang="es-ES" sz="3200" b="1" dirty="0">
                <a:solidFill>
                  <a:srgbClr val="0070C0"/>
                </a:solidFill>
                <a:latin typeface="Times New Roman" panose="02020603050405020304" pitchFamily="18" charset="0"/>
                <a:cs typeface="Times New Roman" panose="02020603050405020304" pitchFamily="18" charset="0"/>
              </a:rPr>
              <a:t> Camera L515</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2</a:t>
            </a:fld>
            <a:endParaRPr lang="fr-FR" b="1" dirty="0">
              <a:solidFill>
                <a:schemeClr val="tx1"/>
              </a:solidFill>
              <a:latin typeface="Abadi" panose="020B0604020104020204" pitchFamily="34" charset="0"/>
            </a:endParaRPr>
          </a:p>
        </p:txBody>
      </p:sp>
      <p:pic>
        <p:nvPicPr>
          <p:cNvPr id="2" name="Picture 1">
            <a:extLst>
              <a:ext uri="{FF2B5EF4-FFF2-40B4-BE49-F238E27FC236}">
                <a16:creationId xmlns:a16="http://schemas.microsoft.com/office/drawing/2014/main" id="{71730F3F-2341-5B77-4174-AAB436E20F8C}"/>
              </a:ext>
            </a:extLst>
          </p:cNvPr>
          <p:cNvPicPr>
            <a:picLocks noChangeAspect="1"/>
          </p:cNvPicPr>
          <p:nvPr/>
        </p:nvPicPr>
        <p:blipFill>
          <a:blip r:embed="rId5"/>
          <a:srcRect l="3928" t="5632" r="2101" b="5229"/>
          <a:stretch/>
        </p:blipFill>
        <p:spPr>
          <a:xfrm>
            <a:off x="1430949" y="1379662"/>
            <a:ext cx="9330099" cy="5120053"/>
          </a:xfrm>
          <a:prstGeom prst="rect">
            <a:avLst/>
          </a:prstGeom>
        </p:spPr>
      </p:pic>
      <p:sp>
        <p:nvSpPr>
          <p:cNvPr id="3" name="TextBox 2">
            <a:extLst>
              <a:ext uri="{FF2B5EF4-FFF2-40B4-BE49-F238E27FC236}">
                <a16:creationId xmlns:a16="http://schemas.microsoft.com/office/drawing/2014/main" id="{7036203C-07E6-1603-7E11-5DCE70D2A5CC}"/>
              </a:ext>
            </a:extLst>
          </p:cNvPr>
          <p:cNvSpPr txBox="1"/>
          <p:nvPr/>
        </p:nvSpPr>
        <p:spPr>
          <a:xfrm>
            <a:off x="5249776" y="4745485"/>
            <a:ext cx="7997966" cy="1975990"/>
          </a:xfrm>
          <a:prstGeom prst="rect">
            <a:avLst/>
          </a:prstGeom>
          <a:noFill/>
        </p:spPr>
        <p:txBody>
          <a:bodyPr wrap="square">
            <a:spAutoFit/>
          </a:bodyPr>
          <a:lstStyle/>
          <a:p>
            <a:pPr marL="800100" lvl="1" indent="-342900" algn="just">
              <a:lnSpc>
                <a:spcPct val="150000"/>
              </a:lnSpc>
              <a:buFont typeface="Wingdings" panose="05000000000000000000" pitchFamily="2" charset="2"/>
              <a:buChar char="q"/>
            </a:pPr>
            <a:r>
              <a:rPr lang="en-US" sz="2400" b="1" dirty="0">
                <a:solidFill>
                  <a:srgbClr val="C00000"/>
                </a:solidFill>
                <a:latin typeface="Times New Roman" panose="02020603050405020304" pitchFamily="18" charset="0"/>
                <a:cs typeface="Times New Roman" panose="02020603050405020304" pitchFamily="18" charset="0"/>
              </a:rPr>
              <a:t>Dimensions and Weight</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Diameter: 61 mm</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Height: 26 mm</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Weight: 100 g</a:t>
            </a:r>
          </a:p>
        </p:txBody>
      </p:sp>
    </p:spTree>
    <p:extLst>
      <p:ext uri="{BB962C8B-B14F-4D97-AF65-F5344CB8AC3E}">
        <p14:creationId xmlns:p14="http://schemas.microsoft.com/office/powerpoint/2010/main" val="23356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1934508-B16D-539B-4E4D-AD9CC1F93D61}"/>
              </a:ext>
            </a:extLst>
          </p:cNvPr>
          <p:cNvPicPr>
            <a:picLocks noChangeAspect="1"/>
          </p:cNvPicPr>
          <p:nvPr/>
        </p:nvPicPr>
        <p:blipFill>
          <a:blip r:embed="rId3"/>
          <a:srcRect r="4073"/>
          <a:stretch/>
        </p:blipFill>
        <p:spPr>
          <a:xfrm>
            <a:off x="7134755" y="2365761"/>
            <a:ext cx="4784644" cy="3344259"/>
          </a:xfrm>
          <a:prstGeom prst="rect">
            <a:avLst/>
          </a:prstGeom>
        </p:spPr>
      </p:pic>
      <p:sp>
        <p:nvSpPr>
          <p:cNvPr id="11" name="TextBox 10">
            <a:extLst>
              <a:ext uri="{FF2B5EF4-FFF2-40B4-BE49-F238E27FC236}">
                <a16:creationId xmlns:a16="http://schemas.microsoft.com/office/drawing/2014/main" id="{06E4CE59-112E-4683-4813-73FFD6441640}"/>
              </a:ext>
            </a:extLst>
          </p:cNvPr>
          <p:cNvSpPr txBox="1"/>
          <p:nvPr/>
        </p:nvSpPr>
        <p:spPr>
          <a:xfrm>
            <a:off x="1902766" y="87001"/>
            <a:ext cx="8386466" cy="646331"/>
          </a:xfrm>
          <a:prstGeom prst="rect">
            <a:avLst/>
          </a:prstGeom>
          <a:noFill/>
          <a:effectLst/>
        </p:spPr>
        <p:txBody>
          <a:bodyPr wrap="square" rtlCol="0">
            <a:spAutoFit/>
          </a:bodyPr>
          <a:lstStyle/>
          <a:p>
            <a:pPr algn="ctr"/>
            <a:r>
              <a:rPr lang="en-US" sz="3600" b="1" dirty="0">
                <a:latin typeface="Aharoni" panose="02010803020104030203" pitchFamily="2" charset="-79"/>
                <a:cs typeface="Aharoni" panose="02010803020104030203" pitchFamily="2" charset="-79"/>
              </a:rPr>
              <a:t>LiDAR INSTRUMENT</a:t>
            </a:r>
          </a:p>
        </p:txBody>
      </p:sp>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ivision of Health Sciences Graduate School of Medical Sciences, Kanazawa  University">
            <a:extLst>
              <a:ext uri="{FF2B5EF4-FFF2-40B4-BE49-F238E27FC236}">
                <a16:creationId xmlns:a16="http://schemas.microsoft.com/office/drawing/2014/main" id="{91615151-131E-0A0D-42AC-53F3D07FCD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0D3AA71-E8D4-8E0C-A88A-2218E9D145C2}"/>
              </a:ext>
            </a:extLst>
          </p:cNvPr>
          <p:cNvSpPr txBox="1"/>
          <p:nvPr/>
        </p:nvSpPr>
        <p:spPr>
          <a:xfrm>
            <a:off x="237553" y="794887"/>
            <a:ext cx="11322399" cy="584775"/>
          </a:xfrm>
          <a:prstGeom prst="rect">
            <a:avLst/>
          </a:prstGeom>
          <a:noFill/>
          <a:effectLst/>
        </p:spPr>
        <p:txBody>
          <a:bodyPr wrap="square" rtlCol="0">
            <a:spAutoFit/>
          </a:bodyPr>
          <a:lstStyle/>
          <a:p>
            <a:r>
              <a:rPr lang="es-ES" sz="3200" b="1" dirty="0">
                <a:solidFill>
                  <a:srgbClr val="0070C0"/>
                </a:solidFill>
                <a:latin typeface="Times New Roman" panose="02020603050405020304" pitchFamily="18" charset="0"/>
                <a:cs typeface="Times New Roman" panose="02020603050405020304" pitchFamily="18" charset="0"/>
              </a:rPr>
              <a:t> Intel® </a:t>
            </a:r>
            <a:r>
              <a:rPr lang="es-ES" sz="3200" b="1" dirty="0" err="1">
                <a:solidFill>
                  <a:srgbClr val="0070C0"/>
                </a:solidFill>
                <a:latin typeface="Times New Roman" panose="02020603050405020304" pitchFamily="18" charset="0"/>
                <a:cs typeface="Times New Roman" panose="02020603050405020304" pitchFamily="18" charset="0"/>
              </a:rPr>
              <a:t>RealSense</a:t>
            </a:r>
            <a:r>
              <a:rPr lang="es-ES" sz="3200" b="1" dirty="0">
                <a:solidFill>
                  <a:srgbClr val="0070C0"/>
                </a:solidFill>
                <a:latin typeface="Times New Roman" panose="02020603050405020304" pitchFamily="18" charset="0"/>
                <a:cs typeface="Times New Roman" panose="02020603050405020304" pitchFamily="18" charset="0"/>
              </a:rPr>
              <a:t>™ </a:t>
            </a:r>
            <a:r>
              <a:rPr lang="es-ES" sz="3200" b="1" dirty="0" err="1">
                <a:solidFill>
                  <a:srgbClr val="0070C0"/>
                </a:solidFill>
                <a:latin typeface="Times New Roman" panose="02020603050405020304" pitchFamily="18" charset="0"/>
                <a:cs typeface="Times New Roman" panose="02020603050405020304" pitchFamily="18" charset="0"/>
              </a:rPr>
              <a:t>LiDAR</a:t>
            </a:r>
            <a:r>
              <a:rPr lang="es-ES" sz="3200" b="1" dirty="0">
                <a:solidFill>
                  <a:srgbClr val="0070C0"/>
                </a:solidFill>
                <a:latin typeface="Times New Roman" panose="02020603050405020304" pitchFamily="18" charset="0"/>
                <a:cs typeface="Times New Roman" panose="02020603050405020304" pitchFamily="18" charset="0"/>
              </a:rPr>
              <a:t> Camera L515</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3</a:t>
            </a:fld>
            <a:endParaRPr lang="fr-FR" b="1" dirty="0">
              <a:solidFill>
                <a:schemeClr val="tx1"/>
              </a:solidFill>
              <a:latin typeface="Abadi" panose="020B0604020104020204" pitchFamily="34" charset="0"/>
            </a:endParaRPr>
          </a:p>
        </p:txBody>
      </p:sp>
      <p:sp>
        <p:nvSpPr>
          <p:cNvPr id="4" name="TextBox 3">
            <a:extLst>
              <a:ext uri="{FF2B5EF4-FFF2-40B4-BE49-F238E27FC236}">
                <a16:creationId xmlns:a16="http://schemas.microsoft.com/office/drawing/2014/main" id="{0E86D466-782E-E1C7-83E4-929D94A853C2}"/>
              </a:ext>
            </a:extLst>
          </p:cNvPr>
          <p:cNvSpPr txBox="1"/>
          <p:nvPr/>
        </p:nvSpPr>
        <p:spPr>
          <a:xfrm>
            <a:off x="-215668" y="1321613"/>
            <a:ext cx="7539002" cy="5536387"/>
          </a:xfrm>
          <a:prstGeom prst="rect">
            <a:avLst/>
          </a:prstGeom>
          <a:noFill/>
        </p:spPr>
        <p:txBody>
          <a:bodyPr wrap="square">
            <a:spAutoFit/>
          </a:bodyPr>
          <a:lstStyle/>
          <a:p>
            <a:pPr marL="800100" lvl="1" indent="-342900" algn="just">
              <a:lnSpc>
                <a:spcPct val="150000"/>
              </a:lnSpc>
              <a:buFont typeface="Wingdings" panose="05000000000000000000" pitchFamily="2" charset="2"/>
              <a:buChar char="q"/>
            </a:pPr>
            <a:r>
              <a:rPr lang="en-US" sz="2400" b="1" dirty="0">
                <a:solidFill>
                  <a:srgbClr val="C00000"/>
                </a:solidFill>
                <a:latin typeface="Times New Roman" panose="02020603050405020304" pitchFamily="18" charset="0"/>
                <a:cs typeface="Times New Roman" panose="02020603050405020304" pitchFamily="18" charset="0"/>
              </a:rPr>
              <a:t>Depth Sensing</a:t>
            </a:r>
          </a:p>
          <a:p>
            <a:pPr marL="1257300" lvl="2"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Range:</a:t>
            </a:r>
            <a:r>
              <a:rPr lang="en-US" sz="2000" dirty="0">
                <a:latin typeface="Times New Roman" panose="02020603050405020304" pitchFamily="18" charset="0"/>
                <a:cs typeface="Times New Roman" panose="02020603050405020304" pitchFamily="18" charset="0"/>
              </a:rPr>
              <a:t> 0.25 to 9 meters, optimized for indoor use.</a:t>
            </a:r>
          </a:p>
          <a:p>
            <a:pPr marL="1257300" lvl="2"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Resolution:</a:t>
            </a:r>
            <a:r>
              <a:rPr lang="en-US" sz="2000" dirty="0">
                <a:latin typeface="Times New Roman" panose="02020603050405020304" pitchFamily="18" charset="0"/>
                <a:cs typeface="Times New Roman" panose="02020603050405020304" pitchFamily="18" charset="0"/>
              </a:rPr>
              <a:t> Up to 1024x768 (XGA) at 30 FPS for depth, capturing over 23 million depth points per second.</a:t>
            </a:r>
          </a:p>
          <a:p>
            <a:pPr lvl="2" algn="just">
              <a:lnSpc>
                <a:spcPct val="150000"/>
              </a:lnSpc>
            </a:pPr>
            <a:endParaRPr lang="en-US" sz="300" dirty="0">
              <a:latin typeface="Times New Roman" panose="02020603050405020304" pitchFamily="18" charset="0"/>
              <a:cs typeface="Times New Roman" panose="02020603050405020304" pitchFamily="18" charset="0"/>
            </a:endParaRPr>
          </a:p>
          <a:p>
            <a:pPr lvl="2" algn="just">
              <a:lnSpc>
                <a:spcPct val="150000"/>
              </a:lnSpc>
            </a:pPr>
            <a:r>
              <a:rPr lang="en-US" sz="2000" dirty="0">
                <a:latin typeface="Times New Roman" panose="02020603050405020304" pitchFamily="18" charset="0"/>
                <a:cs typeface="Times New Roman" panose="02020603050405020304" pitchFamily="18" charset="0"/>
              </a:rPr>
              <a:t>The sensor can detect even fast-moving objects with minimal motion blur due to a short exposure time of &lt;100 ns.</a:t>
            </a:r>
          </a:p>
          <a:p>
            <a:pPr marL="800100" lvl="1" indent="-342900" algn="just">
              <a:lnSpc>
                <a:spcPct val="150000"/>
              </a:lnSpc>
              <a:buFont typeface="Wingdings" panose="05000000000000000000" pitchFamily="2" charset="2"/>
              <a:buChar char="q"/>
            </a:pPr>
            <a:r>
              <a:rPr lang="en-US" sz="2400" b="1" dirty="0">
                <a:solidFill>
                  <a:srgbClr val="C00000"/>
                </a:solidFill>
                <a:latin typeface="Times New Roman" panose="02020603050405020304" pitchFamily="18" charset="0"/>
                <a:cs typeface="Times New Roman" panose="02020603050405020304" pitchFamily="18" charset="0"/>
              </a:rPr>
              <a:t>Additional Features</a:t>
            </a:r>
            <a:endParaRPr lang="en-US" sz="2000" b="1" dirty="0">
              <a:solidFill>
                <a:srgbClr val="C00000"/>
              </a:solidFill>
              <a:latin typeface="Times New Roman" panose="02020603050405020304" pitchFamily="18" charset="0"/>
              <a:cs typeface="Times New Roman" panose="02020603050405020304" pitchFamily="18" charset="0"/>
            </a:endParaRPr>
          </a:p>
          <a:p>
            <a:pPr marL="1257300" lvl="2"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RGB Camera: </a:t>
            </a:r>
            <a:r>
              <a:rPr lang="en-US" sz="2000" dirty="0">
                <a:latin typeface="Times New Roman" panose="02020603050405020304" pitchFamily="18" charset="0"/>
                <a:cs typeface="Times New Roman" panose="02020603050405020304" pitchFamily="18" charset="0"/>
              </a:rPr>
              <a:t>2MP, with resolutions up to 1920x1080 at 30 FPS.</a:t>
            </a:r>
          </a:p>
          <a:p>
            <a:pPr marL="1257300" lvl="2"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Power Consumption: </a:t>
            </a:r>
            <a:r>
              <a:rPr lang="en-US" sz="2000" dirty="0">
                <a:latin typeface="Times New Roman" panose="02020603050405020304" pitchFamily="18" charset="0"/>
                <a:cs typeface="Times New Roman" panose="02020603050405020304" pitchFamily="18" charset="0"/>
              </a:rPr>
              <a:t>Less than 3.5 W.</a:t>
            </a:r>
          </a:p>
          <a:p>
            <a:pPr lvl="2" algn="just">
              <a:lnSpc>
                <a:spcPct val="150000"/>
              </a:lnSpc>
            </a:pPr>
            <a:endParaRPr lang="en-US" sz="300" dirty="0">
              <a:latin typeface="Times New Roman" panose="02020603050405020304" pitchFamily="18" charset="0"/>
              <a:cs typeface="Times New Roman" panose="02020603050405020304" pitchFamily="18" charset="0"/>
            </a:endParaRPr>
          </a:p>
          <a:p>
            <a:pPr lvl="2" algn="just">
              <a:lnSpc>
                <a:spcPct val="150000"/>
              </a:lnSpc>
            </a:pPr>
            <a:r>
              <a:rPr lang="en-US" sz="2000" dirty="0">
                <a:latin typeface="Times New Roman" panose="02020603050405020304" pitchFamily="18" charset="0"/>
                <a:cs typeface="Times New Roman" panose="02020603050405020304" pitchFamily="18" charset="0"/>
              </a:rPr>
              <a:t>USB TYPE C 3.1 Gen1 interface</a:t>
            </a:r>
          </a:p>
        </p:txBody>
      </p:sp>
      <p:sp>
        <p:nvSpPr>
          <p:cNvPr id="5" name="TextBox 4">
            <a:extLst>
              <a:ext uri="{FF2B5EF4-FFF2-40B4-BE49-F238E27FC236}">
                <a16:creationId xmlns:a16="http://schemas.microsoft.com/office/drawing/2014/main" id="{3895E09E-CB38-35DA-3230-0FAEC23AA3CD}"/>
              </a:ext>
            </a:extLst>
          </p:cNvPr>
          <p:cNvSpPr txBox="1"/>
          <p:nvPr/>
        </p:nvSpPr>
        <p:spPr>
          <a:xfrm>
            <a:off x="8608805" y="3055079"/>
            <a:ext cx="2025122" cy="417422"/>
          </a:xfrm>
          <a:prstGeom prst="rect">
            <a:avLst/>
          </a:prstGeom>
          <a:noFill/>
        </p:spPr>
        <p:txBody>
          <a:bodyPr wrap="square">
            <a:spAutoFit/>
          </a:bodyPr>
          <a:lstStyle/>
          <a:p>
            <a:pPr lvl="1" algn="just">
              <a:lnSpc>
                <a:spcPct val="150000"/>
              </a:lnSpc>
            </a:pPr>
            <a:r>
              <a:rPr lang="en-US" sz="1600" b="1" dirty="0">
                <a:solidFill>
                  <a:srgbClr val="FF0000"/>
                </a:solidFill>
                <a:latin typeface="Times New Roman" panose="02020603050405020304" pitchFamily="18" charset="0"/>
                <a:cs typeface="Times New Roman" panose="02020603050405020304" pitchFamily="18" charset="0"/>
              </a:rPr>
              <a:t>Z’ : - 15 mm</a:t>
            </a:r>
          </a:p>
        </p:txBody>
      </p:sp>
    </p:spTree>
    <p:extLst>
      <p:ext uri="{BB962C8B-B14F-4D97-AF65-F5344CB8AC3E}">
        <p14:creationId xmlns:p14="http://schemas.microsoft.com/office/powerpoint/2010/main" val="3224308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6E4CE59-112E-4683-4813-73FFD6441640}"/>
              </a:ext>
            </a:extLst>
          </p:cNvPr>
          <p:cNvSpPr txBox="1"/>
          <p:nvPr/>
        </p:nvSpPr>
        <p:spPr>
          <a:xfrm>
            <a:off x="1902766" y="87001"/>
            <a:ext cx="8386466" cy="646331"/>
          </a:xfrm>
          <a:prstGeom prst="rect">
            <a:avLst/>
          </a:prstGeom>
          <a:noFill/>
          <a:effectLst/>
        </p:spPr>
        <p:txBody>
          <a:bodyPr wrap="square" rtlCol="0">
            <a:spAutoFit/>
          </a:bodyPr>
          <a:lstStyle/>
          <a:p>
            <a:pPr algn="ctr"/>
            <a:r>
              <a:rPr lang="en-US" sz="3600" b="1" dirty="0">
                <a:latin typeface="Aharoni" panose="02010803020104030203" pitchFamily="2" charset="-79"/>
                <a:cs typeface="Aharoni" panose="02010803020104030203" pitchFamily="2" charset="-79"/>
              </a:rPr>
              <a:t>LiDAR INSTRUMENT</a:t>
            </a:r>
          </a:p>
        </p:txBody>
      </p:sp>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ivision of Health Sciences Graduate School of Medical Sciences, Kanazawa  University">
            <a:extLst>
              <a:ext uri="{FF2B5EF4-FFF2-40B4-BE49-F238E27FC236}">
                <a16:creationId xmlns:a16="http://schemas.microsoft.com/office/drawing/2014/main" id="{91615151-131E-0A0D-42AC-53F3D07FC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0D3AA71-E8D4-8E0C-A88A-2218E9D145C2}"/>
              </a:ext>
            </a:extLst>
          </p:cNvPr>
          <p:cNvSpPr txBox="1"/>
          <p:nvPr/>
        </p:nvSpPr>
        <p:spPr>
          <a:xfrm>
            <a:off x="237553" y="794887"/>
            <a:ext cx="11322399" cy="584775"/>
          </a:xfrm>
          <a:prstGeom prst="rect">
            <a:avLst/>
          </a:prstGeom>
          <a:noFill/>
          <a:effectLst/>
        </p:spPr>
        <p:txBody>
          <a:bodyPr wrap="square" rtlCol="0">
            <a:spAutoFit/>
          </a:bodyPr>
          <a:lstStyle/>
          <a:p>
            <a:r>
              <a:rPr lang="es-ES" sz="3200" b="1" dirty="0">
                <a:solidFill>
                  <a:srgbClr val="0070C0"/>
                </a:solidFill>
                <a:latin typeface="Times New Roman" panose="02020603050405020304" pitchFamily="18" charset="0"/>
                <a:cs typeface="Times New Roman" panose="02020603050405020304" pitchFamily="18" charset="0"/>
              </a:rPr>
              <a:t> Intel® </a:t>
            </a:r>
            <a:r>
              <a:rPr lang="es-ES" sz="3200" b="1" dirty="0" err="1">
                <a:solidFill>
                  <a:srgbClr val="0070C0"/>
                </a:solidFill>
                <a:latin typeface="Times New Roman" panose="02020603050405020304" pitchFamily="18" charset="0"/>
                <a:cs typeface="Times New Roman" panose="02020603050405020304" pitchFamily="18" charset="0"/>
              </a:rPr>
              <a:t>RealSense</a:t>
            </a:r>
            <a:r>
              <a:rPr lang="es-ES" sz="3200" b="1" dirty="0">
                <a:solidFill>
                  <a:srgbClr val="0070C0"/>
                </a:solidFill>
                <a:latin typeface="Times New Roman" panose="02020603050405020304" pitchFamily="18" charset="0"/>
                <a:cs typeface="Times New Roman" panose="02020603050405020304" pitchFamily="18" charset="0"/>
              </a:rPr>
              <a:t>™ </a:t>
            </a:r>
            <a:r>
              <a:rPr lang="es-ES" sz="3200" b="1" dirty="0" err="1">
                <a:solidFill>
                  <a:srgbClr val="0070C0"/>
                </a:solidFill>
                <a:latin typeface="Times New Roman" panose="02020603050405020304" pitchFamily="18" charset="0"/>
                <a:cs typeface="Times New Roman" panose="02020603050405020304" pitchFamily="18" charset="0"/>
              </a:rPr>
              <a:t>LiDAR</a:t>
            </a:r>
            <a:r>
              <a:rPr lang="es-ES" sz="3200" b="1" dirty="0">
                <a:solidFill>
                  <a:srgbClr val="0070C0"/>
                </a:solidFill>
                <a:latin typeface="Times New Roman" panose="02020603050405020304" pitchFamily="18" charset="0"/>
                <a:cs typeface="Times New Roman" panose="02020603050405020304" pitchFamily="18" charset="0"/>
              </a:rPr>
              <a:t> Camera L515</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4</a:t>
            </a:fld>
            <a:endParaRPr lang="fr-FR" b="1" dirty="0">
              <a:solidFill>
                <a:schemeClr val="tx1"/>
              </a:solidFill>
              <a:latin typeface="Abadi" panose="020B0604020104020204" pitchFamily="34" charset="0"/>
            </a:endParaRPr>
          </a:p>
        </p:txBody>
      </p:sp>
      <p:sp>
        <p:nvSpPr>
          <p:cNvPr id="4" name="TextBox 3">
            <a:extLst>
              <a:ext uri="{FF2B5EF4-FFF2-40B4-BE49-F238E27FC236}">
                <a16:creationId xmlns:a16="http://schemas.microsoft.com/office/drawing/2014/main" id="{0E86D466-782E-E1C7-83E4-929D94A853C2}"/>
              </a:ext>
            </a:extLst>
          </p:cNvPr>
          <p:cNvSpPr txBox="1"/>
          <p:nvPr/>
        </p:nvSpPr>
        <p:spPr>
          <a:xfrm>
            <a:off x="-215668" y="1296907"/>
            <a:ext cx="8510244" cy="5444054"/>
          </a:xfrm>
          <a:prstGeom prst="rect">
            <a:avLst/>
          </a:prstGeom>
          <a:noFill/>
        </p:spPr>
        <p:txBody>
          <a:bodyPr wrap="square">
            <a:spAutoFit/>
          </a:bodyPr>
          <a:lstStyle/>
          <a:p>
            <a:pPr marL="800100" lvl="1" indent="-342900" algn="just">
              <a:lnSpc>
                <a:spcPct val="150000"/>
              </a:lnSpc>
              <a:buFont typeface="Wingdings" panose="05000000000000000000" pitchFamily="2" charset="2"/>
              <a:buChar char="q"/>
            </a:pPr>
            <a:r>
              <a:rPr lang="en-US" sz="2800" b="1" dirty="0">
                <a:solidFill>
                  <a:srgbClr val="C00000"/>
                </a:solidFill>
                <a:latin typeface="Times New Roman" panose="02020603050405020304" pitchFamily="18" charset="0"/>
                <a:cs typeface="Times New Roman" panose="02020603050405020304" pitchFamily="18" charset="0"/>
              </a:rPr>
              <a:t>Light source</a:t>
            </a:r>
          </a:p>
          <a:p>
            <a:pPr marL="1257300" lvl="2" indent="-342900" algn="just">
              <a:lnSpc>
                <a:spcPct val="150000"/>
              </a:lnSpc>
              <a:buFont typeface="Wingdings" panose="05000000000000000000" pitchFamily="2" charset="2"/>
              <a:buChar char="v"/>
            </a:pPr>
            <a:r>
              <a:rPr lang="en-US" sz="2000" b="1" dirty="0">
                <a:solidFill>
                  <a:srgbClr val="002060"/>
                </a:solidFill>
                <a:latin typeface="Times New Roman" panose="02020603050405020304" pitchFamily="18" charset="0"/>
                <a:cs typeface="Times New Roman" panose="02020603050405020304" pitchFamily="18" charset="0"/>
              </a:rPr>
              <a:t>Wavelength</a:t>
            </a:r>
          </a:p>
          <a:p>
            <a:pPr marL="1714500" lvl="3"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Infrared (IR) laser in the range of </a:t>
            </a:r>
            <a:r>
              <a:rPr lang="en-US" b="1" dirty="0">
                <a:latin typeface="Times New Roman" panose="02020603050405020304" pitchFamily="18" charset="0"/>
                <a:cs typeface="Times New Roman" panose="02020603050405020304" pitchFamily="18" charset="0"/>
              </a:rPr>
              <a:t>844 nm to 875 nm</a:t>
            </a:r>
          </a:p>
          <a:p>
            <a:pPr marL="1257300" lvl="2" indent="-342900" algn="just">
              <a:lnSpc>
                <a:spcPct val="150000"/>
              </a:lnSpc>
              <a:buFont typeface="Wingdings" panose="05000000000000000000" pitchFamily="2" charset="2"/>
              <a:buChar char="v"/>
            </a:pPr>
            <a:r>
              <a:rPr lang="en-US" sz="2000" b="1" dirty="0">
                <a:solidFill>
                  <a:srgbClr val="002060"/>
                </a:solidFill>
                <a:latin typeface="Times New Roman" panose="02020603050405020304" pitchFamily="18" charset="0"/>
                <a:cs typeface="Times New Roman" panose="02020603050405020304" pitchFamily="18" charset="0"/>
              </a:rPr>
              <a:t>Laser Type</a:t>
            </a:r>
          </a:p>
          <a:p>
            <a:pPr marL="1714500" lvl="3" indent="-34290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Class 1 laser, </a:t>
            </a:r>
            <a:r>
              <a:rPr lang="en-US" dirty="0">
                <a:latin typeface="Times New Roman" panose="02020603050405020304" pitchFamily="18" charset="0"/>
                <a:cs typeface="Times New Roman" panose="02020603050405020304" pitchFamily="18" charset="0"/>
              </a:rPr>
              <a:t>meaning it is considered safe under normal operating conditions, as it poses no harm to human eyes.</a:t>
            </a:r>
          </a:p>
          <a:p>
            <a:pPr marL="1257300" lvl="2" indent="-342900" algn="just">
              <a:lnSpc>
                <a:spcPct val="150000"/>
              </a:lnSpc>
              <a:buFont typeface="Wingdings" panose="05000000000000000000" pitchFamily="2" charset="2"/>
              <a:buChar char="v"/>
            </a:pPr>
            <a:r>
              <a:rPr lang="en-US" sz="2000" b="1" dirty="0">
                <a:solidFill>
                  <a:srgbClr val="002060"/>
                </a:solidFill>
                <a:latin typeface="Times New Roman" panose="02020603050405020304" pitchFamily="18" charset="0"/>
                <a:cs typeface="Times New Roman" panose="02020603050405020304" pitchFamily="18" charset="0"/>
              </a:rPr>
              <a:t>Pulse Duration and Repetition Rate</a:t>
            </a:r>
          </a:p>
          <a:p>
            <a:pPr marL="1714500" lvl="3" indent="-34290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Pulse duration of 1 nanosecond (ns</a:t>
            </a:r>
            <a:r>
              <a:rPr lang="en-US" dirty="0">
                <a:latin typeface="Times New Roman" panose="02020603050405020304" pitchFamily="18" charset="0"/>
                <a:cs typeface="Times New Roman" panose="02020603050405020304" pitchFamily="18" charset="0"/>
              </a:rPr>
              <a:t>) contributes to its ability to capture fast-moving objects without significant motion blur.</a:t>
            </a:r>
          </a:p>
          <a:p>
            <a:pPr marL="1714500" lvl="3"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repetition rate of the laser is </a:t>
            </a:r>
            <a:r>
              <a:rPr lang="en-US" b="1" dirty="0">
                <a:latin typeface="Times New Roman" panose="02020603050405020304" pitchFamily="18" charset="0"/>
                <a:cs typeface="Times New Roman" panose="02020603050405020304" pitchFamily="18" charset="0"/>
              </a:rPr>
              <a:t>500 </a:t>
            </a:r>
            <a:r>
              <a:rPr lang="en-US" b="1" dirty="0" err="1">
                <a:latin typeface="Times New Roman" panose="02020603050405020304" pitchFamily="18" charset="0"/>
                <a:cs typeface="Times New Roman" panose="02020603050405020304" pitchFamily="18" charset="0"/>
              </a:rPr>
              <a:t>MHz</a:t>
            </a:r>
            <a:r>
              <a:rPr lang="en-US" dirty="0" err="1">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1257300" lvl="2" indent="-342900" algn="just">
              <a:lnSpc>
                <a:spcPct val="150000"/>
              </a:lnSpc>
              <a:buFont typeface="Wingdings" panose="05000000000000000000" pitchFamily="2" charset="2"/>
              <a:buChar char="v"/>
            </a:pPr>
            <a:r>
              <a:rPr lang="en-US" sz="2000" b="1" dirty="0">
                <a:solidFill>
                  <a:srgbClr val="002060"/>
                </a:solidFill>
                <a:latin typeface="Times New Roman" panose="02020603050405020304" pitchFamily="18" charset="0"/>
                <a:cs typeface="Times New Roman" panose="02020603050405020304" pitchFamily="18" charset="0"/>
              </a:rPr>
              <a:t>Laser Power</a:t>
            </a:r>
          </a:p>
          <a:p>
            <a:pPr marL="1714500" lvl="3"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maximum power output is </a:t>
            </a:r>
            <a:r>
              <a:rPr lang="en-US" b="1" dirty="0">
                <a:latin typeface="Times New Roman" panose="02020603050405020304" pitchFamily="18" charset="0"/>
                <a:cs typeface="Times New Roman" panose="02020603050405020304" pitchFamily="18" charset="0"/>
              </a:rPr>
              <a:t>240 </a:t>
            </a:r>
            <a:r>
              <a:rPr lang="en-US" b="1" dirty="0" err="1">
                <a:latin typeface="Times New Roman" panose="02020603050405020304" pitchFamily="18" charset="0"/>
                <a:cs typeface="Times New Roman" panose="02020603050405020304" pitchFamily="18" charset="0"/>
              </a:rPr>
              <a:t>mW</a:t>
            </a: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EB69B0E-77F4-5ED8-8685-EB2DB6381227}"/>
              </a:ext>
            </a:extLst>
          </p:cNvPr>
          <p:cNvPicPr>
            <a:picLocks noChangeAspect="1"/>
          </p:cNvPicPr>
          <p:nvPr/>
        </p:nvPicPr>
        <p:blipFill>
          <a:blip r:embed="rId5"/>
          <a:srcRect l="3190" t="4326" r="51566" b="4326"/>
          <a:stretch/>
        </p:blipFill>
        <p:spPr>
          <a:xfrm>
            <a:off x="8483955" y="794887"/>
            <a:ext cx="2414814" cy="2874061"/>
          </a:xfrm>
          <a:prstGeom prst="rect">
            <a:avLst/>
          </a:prstGeom>
        </p:spPr>
      </p:pic>
      <p:pic>
        <p:nvPicPr>
          <p:cNvPr id="5" name="Picture 4">
            <a:extLst>
              <a:ext uri="{FF2B5EF4-FFF2-40B4-BE49-F238E27FC236}">
                <a16:creationId xmlns:a16="http://schemas.microsoft.com/office/drawing/2014/main" id="{23E83277-3565-EE4E-FF98-45534B453036}"/>
              </a:ext>
            </a:extLst>
          </p:cNvPr>
          <p:cNvPicPr>
            <a:picLocks noChangeAspect="1"/>
          </p:cNvPicPr>
          <p:nvPr/>
        </p:nvPicPr>
        <p:blipFill>
          <a:blip r:embed="rId5"/>
          <a:srcRect l="54855" t="4326" r="5591" b="4326"/>
          <a:stretch/>
        </p:blipFill>
        <p:spPr>
          <a:xfrm>
            <a:off x="8926624" y="3817479"/>
            <a:ext cx="2111152" cy="2874061"/>
          </a:xfrm>
          <a:prstGeom prst="rect">
            <a:avLst/>
          </a:prstGeom>
        </p:spPr>
      </p:pic>
    </p:spTree>
    <p:extLst>
      <p:ext uri="{BB962C8B-B14F-4D97-AF65-F5344CB8AC3E}">
        <p14:creationId xmlns:p14="http://schemas.microsoft.com/office/powerpoint/2010/main" val="300620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6E4CE59-112E-4683-4813-73FFD6441640}"/>
              </a:ext>
            </a:extLst>
          </p:cNvPr>
          <p:cNvSpPr txBox="1"/>
          <p:nvPr/>
        </p:nvSpPr>
        <p:spPr>
          <a:xfrm>
            <a:off x="1902766" y="87001"/>
            <a:ext cx="8386466" cy="646331"/>
          </a:xfrm>
          <a:prstGeom prst="rect">
            <a:avLst/>
          </a:prstGeom>
          <a:noFill/>
          <a:effectLst/>
        </p:spPr>
        <p:txBody>
          <a:bodyPr wrap="square" rtlCol="0">
            <a:spAutoFit/>
          </a:bodyPr>
          <a:lstStyle/>
          <a:p>
            <a:pPr algn="ctr"/>
            <a:r>
              <a:rPr lang="en-US" sz="3600" b="1" dirty="0">
                <a:latin typeface="Aharoni" panose="02010803020104030203" pitchFamily="2" charset="-79"/>
                <a:cs typeface="Aharoni" panose="02010803020104030203" pitchFamily="2" charset="-79"/>
              </a:rPr>
              <a:t>LiDAR INSTRUMENT</a:t>
            </a:r>
          </a:p>
        </p:txBody>
      </p:sp>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ivision of Health Sciences Graduate School of Medical Sciences, Kanazawa  University">
            <a:extLst>
              <a:ext uri="{FF2B5EF4-FFF2-40B4-BE49-F238E27FC236}">
                <a16:creationId xmlns:a16="http://schemas.microsoft.com/office/drawing/2014/main" id="{91615151-131E-0A0D-42AC-53F3D07FC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0D3AA71-E8D4-8E0C-A88A-2218E9D145C2}"/>
              </a:ext>
            </a:extLst>
          </p:cNvPr>
          <p:cNvSpPr txBox="1"/>
          <p:nvPr/>
        </p:nvSpPr>
        <p:spPr>
          <a:xfrm>
            <a:off x="237553" y="794887"/>
            <a:ext cx="11322399" cy="584775"/>
          </a:xfrm>
          <a:prstGeom prst="rect">
            <a:avLst/>
          </a:prstGeom>
          <a:noFill/>
          <a:effectLst/>
        </p:spPr>
        <p:txBody>
          <a:bodyPr wrap="square" rtlCol="0">
            <a:spAutoFit/>
          </a:bodyPr>
          <a:lstStyle/>
          <a:p>
            <a:r>
              <a:rPr lang="es-ES" sz="3200" b="1" dirty="0">
                <a:solidFill>
                  <a:srgbClr val="0070C0"/>
                </a:solidFill>
                <a:latin typeface="Times New Roman" panose="02020603050405020304" pitchFamily="18" charset="0"/>
                <a:cs typeface="Times New Roman" panose="02020603050405020304" pitchFamily="18" charset="0"/>
              </a:rPr>
              <a:t> Intel® </a:t>
            </a:r>
            <a:r>
              <a:rPr lang="es-ES" sz="3200" b="1" dirty="0" err="1">
                <a:solidFill>
                  <a:srgbClr val="0070C0"/>
                </a:solidFill>
                <a:latin typeface="Times New Roman" panose="02020603050405020304" pitchFamily="18" charset="0"/>
                <a:cs typeface="Times New Roman" panose="02020603050405020304" pitchFamily="18" charset="0"/>
              </a:rPr>
              <a:t>RealSense</a:t>
            </a:r>
            <a:r>
              <a:rPr lang="es-ES" sz="3200" b="1" dirty="0">
                <a:solidFill>
                  <a:srgbClr val="0070C0"/>
                </a:solidFill>
                <a:latin typeface="Times New Roman" panose="02020603050405020304" pitchFamily="18" charset="0"/>
                <a:cs typeface="Times New Roman" panose="02020603050405020304" pitchFamily="18" charset="0"/>
              </a:rPr>
              <a:t>™ </a:t>
            </a:r>
            <a:r>
              <a:rPr lang="es-ES" sz="3200" b="1" dirty="0" err="1">
                <a:solidFill>
                  <a:srgbClr val="0070C0"/>
                </a:solidFill>
                <a:latin typeface="Times New Roman" panose="02020603050405020304" pitchFamily="18" charset="0"/>
                <a:cs typeface="Times New Roman" panose="02020603050405020304" pitchFamily="18" charset="0"/>
              </a:rPr>
              <a:t>LiDAR</a:t>
            </a:r>
            <a:r>
              <a:rPr lang="es-ES" sz="3200" b="1" dirty="0">
                <a:solidFill>
                  <a:srgbClr val="0070C0"/>
                </a:solidFill>
                <a:latin typeface="Times New Roman" panose="02020603050405020304" pitchFamily="18" charset="0"/>
                <a:cs typeface="Times New Roman" panose="02020603050405020304" pitchFamily="18" charset="0"/>
              </a:rPr>
              <a:t> Camera L515</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5</a:t>
            </a:fld>
            <a:endParaRPr lang="fr-FR" b="1" dirty="0">
              <a:solidFill>
                <a:schemeClr val="tx1"/>
              </a:solidFill>
              <a:latin typeface="Abadi" panose="020B0604020104020204" pitchFamily="34" charset="0"/>
            </a:endParaRPr>
          </a:p>
        </p:txBody>
      </p:sp>
      <p:sp>
        <p:nvSpPr>
          <p:cNvPr id="4" name="TextBox 3">
            <a:extLst>
              <a:ext uri="{FF2B5EF4-FFF2-40B4-BE49-F238E27FC236}">
                <a16:creationId xmlns:a16="http://schemas.microsoft.com/office/drawing/2014/main" id="{0E86D466-782E-E1C7-83E4-929D94A853C2}"/>
              </a:ext>
            </a:extLst>
          </p:cNvPr>
          <p:cNvSpPr txBox="1"/>
          <p:nvPr/>
        </p:nvSpPr>
        <p:spPr>
          <a:xfrm>
            <a:off x="-215668" y="1417420"/>
            <a:ext cx="8665819" cy="5305555"/>
          </a:xfrm>
          <a:prstGeom prst="rect">
            <a:avLst/>
          </a:prstGeom>
          <a:noFill/>
        </p:spPr>
        <p:txBody>
          <a:bodyPr wrap="square">
            <a:spAutoFit/>
          </a:bodyPr>
          <a:lstStyle/>
          <a:p>
            <a:pPr marL="800100" lvl="1" indent="-342900" algn="just">
              <a:lnSpc>
                <a:spcPct val="150000"/>
              </a:lnSpc>
              <a:buFont typeface="Wingdings" panose="05000000000000000000" pitchFamily="2" charset="2"/>
              <a:buChar char="q"/>
            </a:pPr>
            <a:r>
              <a:rPr lang="en-US" sz="2800" b="1" dirty="0">
                <a:solidFill>
                  <a:srgbClr val="C00000"/>
                </a:solidFill>
                <a:latin typeface="Times New Roman" panose="02020603050405020304" pitchFamily="18" charset="0"/>
                <a:cs typeface="Times New Roman" panose="02020603050405020304" pitchFamily="18" charset="0"/>
              </a:rPr>
              <a:t>Usage and Software</a:t>
            </a:r>
          </a:p>
          <a:p>
            <a:pPr marL="800100" lvl="1" indent="-342900" algn="just">
              <a:lnSpc>
                <a:spcPct val="150000"/>
              </a:lnSpc>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Intel® RealSense™ SDK (</a:t>
            </a:r>
            <a:r>
              <a:rPr lang="en-US" sz="2400" b="1" dirty="0" err="1">
                <a:solidFill>
                  <a:srgbClr val="002060"/>
                </a:solidFill>
                <a:latin typeface="Times New Roman" panose="02020603050405020304" pitchFamily="18" charset="0"/>
                <a:cs typeface="Times New Roman" panose="02020603050405020304" pitchFamily="18" charset="0"/>
              </a:rPr>
              <a:t>librealsense</a:t>
            </a:r>
            <a:r>
              <a:rPr lang="en-US" sz="2400" b="1" dirty="0">
                <a:solidFill>
                  <a:srgbClr val="002060"/>
                </a:solidFill>
                <a:latin typeface="Times New Roman" panose="02020603050405020304" pitchFamily="18" charset="0"/>
                <a:cs typeface="Times New Roman" panose="02020603050405020304" pitchFamily="18" charset="0"/>
              </a:rPr>
              <a:t>)</a:t>
            </a:r>
          </a:p>
          <a:p>
            <a:pPr marL="1257300" lvl="2"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Data Processing in Python with pyrealsense2 package</a:t>
            </a:r>
            <a:endParaRPr lang="en-US" sz="2000" dirty="0">
              <a:latin typeface="Times New Roman" panose="02020603050405020304" pitchFamily="18" charset="0"/>
              <a:cs typeface="Times New Roman" panose="02020603050405020304" pitchFamily="18" charset="0"/>
            </a:endParaRPr>
          </a:p>
          <a:p>
            <a:pPr marL="1714500" lvl="3" indent="-342900" algn="just">
              <a:lnSpc>
                <a:spcPct val="150000"/>
              </a:lnSpc>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NumPy</a:t>
            </a:r>
            <a:r>
              <a:rPr lang="en-US" sz="2000" dirty="0">
                <a:latin typeface="Times New Roman" panose="02020603050405020304" pitchFamily="18" charset="0"/>
                <a:cs typeface="Times New Roman" panose="02020603050405020304" pitchFamily="18" charset="0"/>
              </a:rPr>
              <a:t> for numerical operations and array manipulations</a:t>
            </a:r>
          </a:p>
          <a:p>
            <a:pPr marL="1714500" lvl="3" indent="-342900" algn="just">
              <a:lnSpc>
                <a:spcPct val="150000"/>
              </a:lnSpc>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OpenCV </a:t>
            </a:r>
            <a:r>
              <a:rPr lang="en-US" sz="2000" dirty="0">
                <a:latin typeface="Times New Roman" panose="02020603050405020304" pitchFamily="18" charset="0"/>
                <a:cs typeface="Times New Roman" panose="02020603050405020304" pitchFamily="18" charset="0"/>
              </a:rPr>
              <a:t>for image processing tasks such as filtering, segmentation, and visualization.</a:t>
            </a:r>
          </a:p>
          <a:p>
            <a:pPr marL="1714500" lvl="3" indent="-342900" algn="just">
              <a:lnSpc>
                <a:spcPct val="150000"/>
              </a:lnSpc>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Point Cloud Library (PCL) </a:t>
            </a:r>
            <a:r>
              <a:rPr lang="en-US" sz="2000" dirty="0">
                <a:latin typeface="Times New Roman" panose="02020603050405020304" pitchFamily="18" charset="0"/>
                <a:cs typeface="Times New Roman" panose="02020603050405020304" pitchFamily="18" charset="0"/>
              </a:rPr>
              <a:t>for working with 3D point clouds.</a:t>
            </a:r>
          </a:p>
          <a:p>
            <a:pPr marL="1714500" lvl="3" indent="-342900" algn="just">
              <a:lnSpc>
                <a:spcPct val="150000"/>
              </a:lnSpc>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Matplotlib</a:t>
            </a:r>
            <a:r>
              <a:rPr lang="en-US" sz="2000" dirty="0">
                <a:latin typeface="Times New Roman" panose="02020603050405020304" pitchFamily="18" charset="0"/>
                <a:cs typeface="Times New Roman" panose="02020603050405020304" pitchFamily="18" charset="0"/>
              </a:rPr>
              <a:t> for plotting and visualizing data.</a:t>
            </a:r>
          </a:p>
          <a:p>
            <a:pPr marL="1257300" lvl="2"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Further Processing with Inertial Measurement Unit (IMU)</a:t>
            </a:r>
          </a:p>
          <a:p>
            <a:pPr marL="1714500" lvl="3" indent="-342900" algn="just">
              <a:lnSpc>
                <a:spcPct val="15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IMU provides accelerometer and gyroscope data that can be useful for motion tracking or combining depth and motion data in your application.</a:t>
            </a:r>
          </a:p>
        </p:txBody>
      </p:sp>
      <p:pic>
        <p:nvPicPr>
          <p:cNvPr id="7" name="Picture 2" descr="Intel RealSenseを使用 | SOLOMON 3D">
            <a:extLst>
              <a:ext uri="{FF2B5EF4-FFF2-40B4-BE49-F238E27FC236}">
                <a16:creationId xmlns:a16="http://schemas.microsoft.com/office/drawing/2014/main" id="{73B1C42A-237A-CFB6-405A-1B66251CCF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5046" y="1699679"/>
            <a:ext cx="3431108" cy="67648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D40826E-B482-C8C1-22D2-1A43C7214E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26154" y="1213800"/>
            <a:ext cx="1461244" cy="1461244"/>
          </a:xfrm>
          <a:prstGeom prst="rect">
            <a:avLst/>
          </a:prstGeom>
        </p:spPr>
      </p:pic>
      <p:pic>
        <p:nvPicPr>
          <p:cNvPr id="1032" name="Picture 8">
            <a:extLst>
              <a:ext uri="{FF2B5EF4-FFF2-40B4-BE49-F238E27FC236}">
                <a16:creationId xmlns:a16="http://schemas.microsoft.com/office/drawing/2014/main" id="{E47A1F3C-C603-0CB9-4E3E-D3C89F80B5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86471" y="2675044"/>
            <a:ext cx="2311400" cy="104013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750664E7-C1D5-596A-4D33-ED8D8C7E365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663" y="2704145"/>
            <a:ext cx="838200" cy="103269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7F58EA9-6BDA-3672-F1C6-2733775277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4578" y="3832141"/>
            <a:ext cx="1052279" cy="141357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13B3F404-DB88-E32F-E994-0FD8D2810C8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823031" y="3797358"/>
            <a:ext cx="2529464" cy="1494330"/>
          </a:xfrm>
          <a:prstGeom prst="rect">
            <a:avLst/>
          </a:prstGeom>
        </p:spPr>
      </p:pic>
      <p:pic>
        <p:nvPicPr>
          <p:cNvPr id="1044" name="Picture 20" descr="What is the Principle of Inertial Measurement Unit?">
            <a:extLst>
              <a:ext uri="{FF2B5EF4-FFF2-40B4-BE49-F238E27FC236}">
                <a16:creationId xmlns:a16="http://schemas.microsoft.com/office/drawing/2014/main" id="{FA316344-95D9-CD47-4F57-8107BE4561C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14341" y="5343647"/>
            <a:ext cx="1485032" cy="1467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566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6E4CE59-112E-4683-4813-73FFD6441640}"/>
              </a:ext>
            </a:extLst>
          </p:cNvPr>
          <p:cNvSpPr txBox="1"/>
          <p:nvPr/>
        </p:nvSpPr>
        <p:spPr>
          <a:xfrm>
            <a:off x="1902766" y="87001"/>
            <a:ext cx="8386466" cy="646331"/>
          </a:xfrm>
          <a:prstGeom prst="rect">
            <a:avLst/>
          </a:prstGeom>
          <a:noFill/>
          <a:effectLst/>
        </p:spPr>
        <p:txBody>
          <a:bodyPr wrap="square" rtlCol="0">
            <a:spAutoFit/>
          </a:bodyPr>
          <a:lstStyle/>
          <a:p>
            <a:pPr algn="ctr"/>
            <a:r>
              <a:rPr lang="en-US" sz="3600" b="1" dirty="0">
                <a:latin typeface="Aharoni" panose="02010803020104030203" pitchFamily="2" charset="-79"/>
                <a:cs typeface="Aharoni" panose="02010803020104030203" pitchFamily="2" charset="-79"/>
              </a:rPr>
              <a:t>LiDAR INSTRUMENT</a:t>
            </a:r>
          </a:p>
        </p:txBody>
      </p:sp>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ivision of Health Sciences Graduate School of Medical Sciences, Kanazawa  University">
            <a:extLst>
              <a:ext uri="{FF2B5EF4-FFF2-40B4-BE49-F238E27FC236}">
                <a16:creationId xmlns:a16="http://schemas.microsoft.com/office/drawing/2014/main" id="{91615151-131E-0A0D-42AC-53F3D07FC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0D3AA71-E8D4-8E0C-A88A-2218E9D145C2}"/>
              </a:ext>
            </a:extLst>
          </p:cNvPr>
          <p:cNvSpPr txBox="1"/>
          <p:nvPr/>
        </p:nvSpPr>
        <p:spPr>
          <a:xfrm>
            <a:off x="237553" y="794887"/>
            <a:ext cx="11322399" cy="584775"/>
          </a:xfrm>
          <a:prstGeom prst="rect">
            <a:avLst/>
          </a:prstGeom>
          <a:noFill/>
          <a:effectLst/>
        </p:spPr>
        <p:txBody>
          <a:bodyPr wrap="square" rtlCol="0">
            <a:spAutoFit/>
          </a:bodyPr>
          <a:lstStyle/>
          <a:p>
            <a:r>
              <a:rPr lang="es-ES" sz="3200" b="1" dirty="0">
                <a:solidFill>
                  <a:srgbClr val="0070C0"/>
                </a:solidFill>
                <a:latin typeface="Times New Roman" panose="02020603050405020304" pitchFamily="18" charset="0"/>
                <a:cs typeface="Times New Roman" panose="02020603050405020304" pitchFamily="18" charset="0"/>
              </a:rPr>
              <a:t> Intel® </a:t>
            </a:r>
            <a:r>
              <a:rPr lang="es-ES" sz="3200" b="1" dirty="0" err="1">
                <a:solidFill>
                  <a:srgbClr val="0070C0"/>
                </a:solidFill>
                <a:latin typeface="Times New Roman" panose="02020603050405020304" pitchFamily="18" charset="0"/>
                <a:cs typeface="Times New Roman" panose="02020603050405020304" pitchFamily="18" charset="0"/>
              </a:rPr>
              <a:t>RealSense</a:t>
            </a:r>
            <a:r>
              <a:rPr lang="es-ES" sz="3200" b="1" dirty="0">
                <a:solidFill>
                  <a:srgbClr val="0070C0"/>
                </a:solidFill>
                <a:latin typeface="Times New Roman" panose="02020603050405020304" pitchFamily="18" charset="0"/>
                <a:cs typeface="Times New Roman" panose="02020603050405020304" pitchFamily="18" charset="0"/>
              </a:rPr>
              <a:t>™ </a:t>
            </a:r>
            <a:r>
              <a:rPr lang="es-ES" sz="3200" b="1" dirty="0" err="1">
                <a:solidFill>
                  <a:srgbClr val="0070C0"/>
                </a:solidFill>
                <a:latin typeface="Times New Roman" panose="02020603050405020304" pitchFamily="18" charset="0"/>
                <a:cs typeface="Times New Roman" panose="02020603050405020304" pitchFamily="18" charset="0"/>
              </a:rPr>
              <a:t>LiDAR</a:t>
            </a:r>
            <a:r>
              <a:rPr lang="es-ES" sz="3200" b="1" dirty="0">
                <a:solidFill>
                  <a:srgbClr val="0070C0"/>
                </a:solidFill>
                <a:latin typeface="Times New Roman" panose="02020603050405020304" pitchFamily="18" charset="0"/>
                <a:cs typeface="Times New Roman" panose="02020603050405020304" pitchFamily="18" charset="0"/>
              </a:rPr>
              <a:t> Camera L515</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6</a:t>
            </a:fld>
            <a:endParaRPr lang="fr-FR" b="1" dirty="0">
              <a:solidFill>
                <a:schemeClr val="tx1"/>
              </a:solidFill>
              <a:latin typeface="Abadi" panose="020B0604020104020204" pitchFamily="34" charset="0"/>
            </a:endParaRPr>
          </a:p>
        </p:txBody>
      </p:sp>
      <p:sp>
        <p:nvSpPr>
          <p:cNvPr id="4" name="TextBox 3">
            <a:extLst>
              <a:ext uri="{FF2B5EF4-FFF2-40B4-BE49-F238E27FC236}">
                <a16:creationId xmlns:a16="http://schemas.microsoft.com/office/drawing/2014/main" id="{0E86D466-782E-E1C7-83E4-929D94A853C2}"/>
              </a:ext>
            </a:extLst>
          </p:cNvPr>
          <p:cNvSpPr txBox="1"/>
          <p:nvPr/>
        </p:nvSpPr>
        <p:spPr>
          <a:xfrm>
            <a:off x="-215668" y="1321613"/>
            <a:ext cx="7539002" cy="5369227"/>
          </a:xfrm>
          <a:prstGeom prst="rect">
            <a:avLst/>
          </a:prstGeom>
          <a:noFill/>
        </p:spPr>
        <p:txBody>
          <a:bodyPr wrap="square">
            <a:spAutoFit/>
          </a:bodyPr>
          <a:lstStyle/>
          <a:p>
            <a:pPr marL="800100" lvl="1" indent="-342900" algn="just">
              <a:lnSpc>
                <a:spcPct val="150000"/>
              </a:lnSpc>
              <a:buFont typeface="Wingdings" panose="05000000000000000000" pitchFamily="2" charset="2"/>
              <a:buChar char="q"/>
            </a:pPr>
            <a:r>
              <a:rPr lang="en-US" sz="2800" b="1" dirty="0">
                <a:solidFill>
                  <a:srgbClr val="C00000"/>
                </a:solidFill>
                <a:latin typeface="Times New Roman" panose="02020603050405020304" pitchFamily="18" charset="0"/>
                <a:cs typeface="Times New Roman" panose="02020603050405020304" pitchFamily="18" charset="0"/>
              </a:rPr>
              <a:t>Integrating with Raspberry Pi Broad</a:t>
            </a:r>
          </a:p>
          <a:p>
            <a:pPr marL="800100" lvl="1" indent="-342900" algn="just">
              <a:lnSpc>
                <a:spcPct val="150000"/>
              </a:lnSpc>
              <a:buFont typeface="Wingdings" panose="05000000000000000000" pitchFamily="2" charset="2"/>
              <a:buChar char="v"/>
            </a:pPr>
            <a:r>
              <a:rPr lang="en-US" sz="2000" b="1" dirty="0">
                <a:solidFill>
                  <a:srgbClr val="002060"/>
                </a:solidFill>
                <a:latin typeface="Times New Roman" panose="02020603050405020304" pitchFamily="18" charset="0"/>
                <a:cs typeface="Times New Roman" panose="02020603050405020304" pitchFamily="18" charset="0"/>
              </a:rPr>
              <a:t>Raspberry Pi 4 or Raspberry Pi 5 Board</a:t>
            </a:r>
          </a:p>
          <a:p>
            <a:pPr marL="1257300" lvl="2" indent="-342900" algn="just">
              <a:lnSpc>
                <a:spcPct val="15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Either the Raspberry Pi 4 or the Raspberry Pi 5 will work, but the </a:t>
            </a:r>
            <a:r>
              <a:rPr lang="en-US" sz="2000" b="1" dirty="0">
                <a:latin typeface="Times New Roman" panose="02020603050405020304" pitchFamily="18" charset="0"/>
                <a:cs typeface="Times New Roman" panose="02020603050405020304" pitchFamily="18" charset="0"/>
              </a:rPr>
              <a:t>Raspberry Pi 5 is recommended</a:t>
            </a:r>
            <a:r>
              <a:rPr lang="en-US" sz="2000" dirty="0">
                <a:latin typeface="Times New Roman" panose="02020603050405020304" pitchFamily="18" charset="0"/>
                <a:cs typeface="Times New Roman" panose="02020603050405020304" pitchFamily="18" charset="0"/>
              </a:rPr>
              <a:t> due to its better processing power and performance.</a:t>
            </a:r>
          </a:p>
          <a:p>
            <a:pPr lvl="2" algn="just">
              <a:lnSpc>
                <a:spcPct val="150000"/>
              </a:lnSpc>
            </a:pPr>
            <a:endParaRPr lang="en-US" sz="300" dirty="0">
              <a:latin typeface="Times New Roman" panose="02020603050405020304" pitchFamily="18" charset="0"/>
              <a:cs typeface="Times New Roman" panose="02020603050405020304" pitchFamily="18" charset="0"/>
            </a:endParaRPr>
          </a:p>
          <a:p>
            <a:pPr lvl="2" algn="just">
              <a:lnSpc>
                <a:spcPct val="150000"/>
              </a:lnSpc>
            </a:pPr>
            <a:r>
              <a:rPr lang="en-US" sz="2000" dirty="0">
                <a:latin typeface="Times New Roman" panose="02020603050405020304" pitchFamily="18" charset="0"/>
                <a:cs typeface="Times New Roman" panose="02020603050405020304" pitchFamily="18" charset="0"/>
              </a:rPr>
              <a:t>The Raspberry Pi 4 will still work, but it may face performance bottlenecks with more complex tasks or higher frame rates.</a:t>
            </a:r>
          </a:p>
          <a:p>
            <a:pPr marL="800100" lvl="1" indent="-342900" algn="just">
              <a:lnSpc>
                <a:spcPct val="150000"/>
              </a:lnSpc>
              <a:buFont typeface="Wingdings" panose="05000000000000000000" pitchFamily="2" charset="2"/>
              <a:buChar char="v"/>
            </a:pPr>
            <a:r>
              <a:rPr lang="en-US" sz="2000" b="1" dirty="0">
                <a:solidFill>
                  <a:srgbClr val="002060"/>
                </a:solidFill>
                <a:latin typeface="Times New Roman" panose="02020603050405020304" pitchFamily="18" charset="0"/>
                <a:cs typeface="Times New Roman" panose="02020603050405020304" pitchFamily="18" charset="0"/>
              </a:rPr>
              <a:t>USB 3.0 Type-C to Type-A Cable</a:t>
            </a:r>
          </a:p>
          <a:p>
            <a:pPr marL="1257300" lvl="2" indent="-342900" algn="just">
              <a:lnSpc>
                <a:spcPct val="15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The Raspberry Pi 4 and 5 have USB 3.0 Type-A ports, so we’ll need a </a:t>
            </a:r>
            <a:r>
              <a:rPr lang="en-US" sz="2000" b="1" dirty="0">
                <a:latin typeface="Times New Roman" panose="02020603050405020304" pitchFamily="18" charset="0"/>
                <a:cs typeface="Times New Roman" panose="02020603050405020304" pitchFamily="18" charset="0"/>
              </a:rPr>
              <a:t>USB 3.0 Type-C to Type-A cable </a:t>
            </a:r>
            <a:r>
              <a:rPr lang="en-US" sz="2000" dirty="0">
                <a:latin typeface="Times New Roman" panose="02020603050405020304" pitchFamily="18" charset="0"/>
                <a:cs typeface="Times New Roman" panose="02020603050405020304" pitchFamily="18" charset="0"/>
              </a:rPr>
              <a:t>for transfer data at high speeds, which is necessary for depth sensing</a:t>
            </a:r>
          </a:p>
        </p:txBody>
      </p:sp>
      <p:pic>
        <p:nvPicPr>
          <p:cNvPr id="2" name="Picture 1" descr="A green electronic device with many different components&#10;&#10;Description automatically generated">
            <a:extLst>
              <a:ext uri="{FF2B5EF4-FFF2-40B4-BE49-F238E27FC236}">
                <a16:creationId xmlns:a16="http://schemas.microsoft.com/office/drawing/2014/main" id="{559FBA38-8FCF-41C0-9D76-EAFEB6302E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72427" y="2088723"/>
            <a:ext cx="2227112" cy="1254005"/>
          </a:xfrm>
          <a:prstGeom prst="rect">
            <a:avLst/>
          </a:prstGeom>
        </p:spPr>
      </p:pic>
      <p:pic>
        <p:nvPicPr>
          <p:cNvPr id="5" name="Picture 4">
            <a:extLst>
              <a:ext uri="{FF2B5EF4-FFF2-40B4-BE49-F238E27FC236}">
                <a16:creationId xmlns:a16="http://schemas.microsoft.com/office/drawing/2014/main" id="{DFD4E518-E939-24C2-2589-D962E44BD2DA}"/>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7213603" y="1788590"/>
            <a:ext cx="2600098" cy="1856971"/>
          </a:xfrm>
          <a:prstGeom prst="rect">
            <a:avLst/>
          </a:prstGeom>
        </p:spPr>
      </p:pic>
      <p:sp>
        <p:nvSpPr>
          <p:cNvPr id="6" name="TextBox 5">
            <a:extLst>
              <a:ext uri="{FF2B5EF4-FFF2-40B4-BE49-F238E27FC236}">
                <a16:creationId xmlns:a16="http://schemas.microsoft.com/office/drawing/2014/main" id="{605081EF-F1F9-FB87-96E5-9A18EEBB09C8}"/>
              </a:ext>
            </a:extLst>
          </p:cNvPr>
          <p:cNvSpPr txBox="1"/>
          <p:nvPr/>
        </p:nvSpPr>
        <p:spPr>
          <a:xfrm>
            <a:off x="7568839" y="3515272"/>
            <a:ext cx="1872803" cy="400110"/>
          </a:xfrm>
          <a:prstGeom prst="rect">
            <a:avLst/>
          </a:prstGeom>
          <a:noFill/>
          <a:effectLst/>
        </p:spPr>
        <p:txBody>
          <a:bodyPr wrap="square" rtlCol="0">
            <a:spAutoFit/>
          </a:bodyPr>
          <a:lstStyle/>
          <a:p>
            <a:r>
              <a:rPr lang="es-ES" sz="2000" b="1" dirty="0">
                <a:solidFill>
                  <a:srgbClr val="002060"/>
                </a:solidFill>
                <a:latin typeface="Times New Roman" panose="02020603050405020304" pitchFamily="18" charset="0"/>
                <a:cs typeface="Times New Roman" panose="02020603050405020304" pitchFamily="18" charset="0"/>
              </a:rPr>
              <a:t>Raspberry Pi 4</a:t>
            </a:r>
            <a:endParaRPr lang="en-US" sz="2000" b="1" dirty="0">
              <a:solidFill>
                <a:srgbClr val="00206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D2A5FFF-E479-3CB8-3EB6-CDB4A611BE8E}"/>
              </a:ext>
            </a:extLst>
          </p:cNvPr>
          <p:cNvSpPr txBox="1"/>
          <p:nvPr/>
        </p:nvSpPr>
        <p:spPr>
          <a:xfrm>
            <a:off x="10049582" y="3515272"/>
            <a:ext cx="1872803" cy="400110"/>
          </a:xfrm>
          <a:prstGeom prst="rect">
            <a:avLst/>
          </a:prstGeom>
          <a:noFill/>
          <a:effectLst/>
        </p:spPr>
        <p:txBody>
          <a:bodyPr wrap="square" rtlCol="0">
            <a:spAutoFit/>
          </a:bodyPr>
          <a:lstStyle/>
          <a:p>
            <a:r>
              <a:rPr lang="es-ES" sz="2000" b="1" dirty="0">
                <a:solidFill>
                  <a:srgbClr val="002060"/>
                </a:solidFill>
                <a:latin typeface="Times New Roman" panose="02020603050405020304" pitchFamily="18" charset="0"/>
                <a:cs typeface="Times New Roman" panose="02020603050405020304" pitchFamily="18" charset="0"/>
              </a:rPr>
              <a:t>Raspberry Pi 5</a:t>
            </a:r>
            <a:endParaRPr lang="en-US" sz="2000" b="1" dirty="0">
              <a:solidFill>
                <a:srgbClr val="00206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E1FCF6D2-1441-35D4-BEEB-27523EABDA3D}"/>
              </a:ext>
            </a:extLst>
          </p:cNvPr>
          <p:cNvPicPr>
            <a:picLocks noChangeAspect="1"/>
          </p:cNvPicPr>
          <p:nvPr/>
        </p:nvPicPr>
        <p:blipFill>
          <a:blip r:embed="rId8"/>
          <a:stretch>
            <a:fillRect/>
          </a:stretch>
        </p:blipFill>
        <p:spPr>
          <a:xfrm>
            <a:off x="7476798" y="4406276"/>
            <a:ext cx="2600098" cy="1950074"/>
          </a:xfrm>
          <a:prstGeom prst="rect">
            <a:avLst/>
          </a:prstGeom>
        </p:spPr>
      </p:pic>
      <p:sp>
        <p:nvSpPr>
          <p:cNvPr id="10" name="TextBox 9">
            <a:extLst>
              <a:ext uri="{FF2B5EF4-FFF2-40B4-BE49-F238E27FC236}">
                <a16:creationId xmlns:a16="http://schemas.microsoft.com/office/drawing/2014/main" id="{1EC1D19D-3CE9-334E-5A25-ECB6E182D1C5}"/>
              </a:ext>
            </a:extLst>
          </p:cNvPr>
          <p:cNvSpPr txBox="1"/>
          <p:nvPr/>
        </p:nvSpPr>
        <p:spPr>
          <a:xfrm>
            <a:off x="10062589" y="5006222"/>
            <a:ext cx="3915177" cy="707886"/>
          </a:xfrm>
          <a:prstGeom prst="rect">
            <a:avLst/>
          </a:prstGeom>
          <a:noFill/>
          <a:effectLst/>
        </p:spPr>
        <p:txBody>
          <a:bodyPr wrap="square" rtlCol="0">
            <a:spAutoFit/>
          </a:bodyPr>
          <a:lstStyle/>
          <a:p>
            <a:r>
              <a:rPr lang="es-ES" sz="2000" b="1" dirty="0">
                <a:solidFill>
                  <a:srgbClr val="002060"/>
                </a:solidFill>
                <a:latin typeface="Times New Roman" panose="02020603050405020304" pitchFamily="18" charset="0"/>
                <a:cs typeface="Times New Roman" panose="02020603050405020304" pitchFamily="18" charset="0"/>
              </a:rPr>
              <a:t>USB 3.0 </a:t>
            </a:r>
            <a:r>
              <a:rPr lang="es-ES" sz="2000" b="1" dirty="0" err="1">
                <a:solidFill>
                  <a:srgbClr val="002060"/>
                </a:solidFill>
                <a:latin typeface="Times New Roman" panose="02020603050405020304" pitchFamily="18" charset="0"/>
                <a:cs typeface="Times New Roman" panose="02020603050405020304" pitchFamily="18" charset="0"/>
              </a:rPr>
              <a:t>Type</a:t>
            </a:r>
            <a:r>
              <a:rPr lang="es-ES" sz="2000" b="1" dirty="0">
                <a:solidFill>
                  <a:srgbClr val="002060"/>
                </a:solidFill>
                <a:latin typeface="Times New Roman" panose="02020603050405020304" pitchFamily="18" charset="0"/>
                <a:cs typeface="Times New Roman" panose="02020603050405020304" pitchFamily="18" charset="0"/>
              </a:rPr>
              <a:t>-C </a:t>
            </a:r>
          </a:p>
          <a:p>
            <a:r>
              <a:rPr lang="es-ES" sz="2000" b="1" dirty="0" err="1">
                <a:solidFill>
                  <a:srgbClr val="002060"/>
                </a:solidFill>
                <a:latin typeface="Times New Roman" panose="02020603050405020304" pitchFamily="18" charset="0"/>
                <a:cs typeface="Times New Roman" panose="02020603050405020304" pitchFamily="18" charset="0"/>
              </a:rPr>
              <a:t>to</a:t>
            </a:r>
            <a:r>
              <a:rPr lang="es-ES" sz="2000" b="1" dirty="0">
                <a:solidFill>
                  <a:srgbClr val="002060"/>
                </a:solidFill>
                <a:latin typeface="Times New Roman" panose="02020603050405020304" pitchFamily="18" charset="0"/>
                <a:cs typeface="Times New Roman" panose="02020603050405020304" pitchFamily="18" charset="0"/>
              </a:rPr>
              <a:t> </a:t>
            </a:r>
            <a:r>
              <a:rPr lang="es-ES" sz="2000" b="1" dirty="0" err="1">
                <a:solidFill>
                  <a:srgbClr val="002060"/>
                </a:solidFill>
                <a:latin typeface="Times New Roman" panose="02020603050405020304" pitchFamily="18" charset="0"/>
                <a:cs typeface="Times New Roman" panose="02020603050405020304" pitchFamily="18" charset="0"/>
              </a:rPr>
              <a:t>Type</a:t>
            </a:r>
            <a:r>
              <a:rPr lang="es-ES" sz="2000" b="1" dirty="0">
                <a:solidFill>
                  <a:srgbClr val="002060"/>
                </a:solidFill>
                <a:latin typeface="Times New Roman" panose="02020603050405020304" pitchFamily="18" charset="0"/>
                <a:cs typeface="Times New Roman" panose="02020603050405020304" pitchFamily="18" charset="0"/>
              </a:rPr>
              <a:t>-A Cable</a:t>
            </a:r>
            <a:endParaRPr lang="en-US" sz="20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3099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74" name="Picture 2" descr="Power Supply System (12V 15A, 180W): Buy Online at Best Price in Egypt -  Souq is now Amazon.eg">
            <a:extLst>
              <a:ext uri="{FF2B5EF4-FFF2-40B4-BE49-F238E27FC236}">
                <a16:creationId xmlns:a16="http://schemas.microsoft.com/office/drawing/2014/main" id="{FA533ED6-1C12-6128-6A45-8E7E07DE9A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2210" y="1929347"/>
            <a:ext cx="2030082" cy="184165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6E4CE59-112E-4683-4813-73FFD6441640}"/>
              </a:ext>
            </a:extLst>
          </p:cNvPr>
          <p:cNvSpPr txBox="1"/>
          <p:nvPr/>
        </p:nvSpPr>
        <p:spPr>
          <a:xfrm>
            <a:off x="1902766" y="87001"/>
            <a:ext cx="8386466" cy="646331"/>
          </a:xfrm>
          <a:prstGeom prst="rect">
            <a:avLst/>
          </a:prstGeom>
          <a:noFill/>
          <a:effectLst/>
        </p:spPr>
        <p:txBody>
          <a:bodyPr wrap="square" rtlCol="0">
            <a:spAutoFit/>
          </a:bodyPr>
          <a:lstStyle/>
          <a:p>
            <a:pPr algn="ctr"/>
            <a:r>
              <a:rPr lang="en-US" sz="3600" b="1" dirty="0">
                <a:latin typeface="Aharoni" panose="02010803020104030203" pitchFamily="2" charset="-79"/>
                <a:cs typeface="Aharoni" panose="02010803020104030203" pitchFamily="2" charset="-79"/>
              </a:rPr>
              <a:t>LiDAR INSTRUMENT</a:t>
            </a:r>
          </a:p>
        </p:txBody>
      </p:sp>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ivision of Health Sciences Graduate School of Medical Sciences, Kanazawa  University">
            <a:extLst>
              <a:ext uri="{FF2B5EF4-FFF2-40B4-BE49-F238E27FC236}">
                <a16:creationId xmlns:a16="http://schemas.microsoft.com/office/drawing/2014/main" id="{91615151-131E-0A0D-42AC-53F3D07FCD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0D3AA71-E8D4-8E0C-A88A-2218E9D145C2}"/>
              </a:ext>
            </a:extLst>
          </p:cNvPr>
          <p:cNvSpPr txBox="1"/>
          <p:nvPr/>
        </p:nvSpPr>
        <p:spPr>
          <a:xfrm>
            <a:off x="237553" y="794887"/>
            <a:ext cx="11322399" cy="584775"/>
          </a:xfrm>
          <a:prstGeom prst="rect">
            <a:avLst/>
          </a:prstGeom>
          <a:noFill/>
          <a:effectLst/>
        </p:spPr>
        <p:txBody>
          <a:bodyPr wrap="square" rtlCol="0">
            <a:spAutoFit/>
          </a:bodyPr>
          <a:lstStyle/>
          <a:p>
            <a:r>
              <a:rPr lang="es-ES" sz="3200" b="1" dirty="0">
                <a:solidFill>
                  <a:srgbClr val="0070C0"/>
                </a:solidFill>
                <a:latin typeface="Times New Roman" panose="02020603050405020304" pitchFamily="18" charset="0"/>
                <a:cs typeface="Times New Roman" panose="02020603050405020304" pitchFamily="18" charset="0"/>
              </a:rPr>
              <a:t> Intel® </a:t>
            </a:r>
            <a:r>
              <a:rPr lang="es-ES" sz="3200" b="1" dirty="0" err="1">
                <a:solidFill>
                  <a:srgbClr val="0070C0"/>
                </a:solidFill>
                <a:latin typeface="Times New Roman" panose="02020603050405020304" pitchFamily="18" charset="0"/>
                <a:cs typeface="Times New Roman" panose="02020603050405020304" pitchFamily="18" charset="0"/>
              </a:rPr>
              <a:t>RealSense</a:t>
            </a:r>
            <a:r>
              <a:rPr lang="es-ES" sz="3200" b="1" dirty="0">
                <a:solidFill>
                  <a:srgbClr val="0070C0"/>
                </a:solidFill>
                <a:latin typeface="Times New Roman" panose="02020603050405020304" pitchFamily="18" charset="0"/>
                <a:cs typeface="Times New Roman" panose="02020603050405020304" pitchFamily="18" charset="0"/>
              </a:rPr>
              <a:t>™ </a:t>
            </a:r>
            <a:r>
              <a:rPr lang="es-ES" sz="3200" b="1" dirty="0" err="1">
                <a:solidFill>
                  <a:srgbClr val="0070C0"/>
                </a:solidFill>
                <a:latin typeface="Times New Roman" panose="02020603050405020304" pitchFamily="18" charset="0"/>
                <a:cs typeface="Times New Roman" panose="02020603050405020304" pitchFamily="18" charset="0"/>
              </a:rPr>
              <a:t>LiDAR</a:t>
            </a:r>
            <a:r>
              <a:rPr lang="es-ES" sz="3200" b="1" dirty="0">
                <a:solidFill>
                  <a:srgbClr val="0070C0"/>
                </a:solidFill>
                <a:latin typeface="Times New Roman" panose="02020603050405020304" pitchFamily="18" charset="0"/>
                <a:cs typeface="Times New Roman" panose="02020603050405020304" pitchFamily="18" charset="0"/>
              </a:rPr>
              <a:t> Camera L515</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7</a:t>
            </a:fld>
            <a:endParaRPr lang="fr-FR" b="1" dirty="0">
              <a:solidFill>
                <a:schemeClr val="tx1"/>
              </a:solidFill>
              <a:latin typeface="Abadi" panose="020B0604020104020204" pitchFamily="34" charset="0"/>
            </a:endParaRPr>
          </a:p>
        </p:txBody>
      </p:sp>
      <p:sp>
        <p:nvSpPr>
          <p:cNvPr id="4" name="TextBox 3">
            <a:extLst>
              <a:ext uri="{FF2B5EF4-FFF2-40B4-BE49-F238E27FC236}">
                <a16:creationId xmlns:a16="http://schemas.microsoft.com/office/drawing/2014/main" id="{0E86D466-782E-E1C7-83E4-929D94A853C2}"/>
              </a:ext>
            </a:extLst>
          </p:cNvPr>
          <p:cNvSpPr txBox="1"/>
          <p:nvPr/>
        </p:nvSpPr>
        <p:spPr>
          <a:xfrm>
            <a:off x="-215668" y="1321613"/>
            <a:ext cx="7539002" cy="5369227"/>
          </a:xfrm>
          <a:prstGeom prst="rect">
            <a:avLst/>
          </a:prstGeom>
          <a:noFill/>
        </p:spPr>
        <p:txBody>
          <a:bodyPr wrap="square">
            <a:spAutoFit/>
          </a:bodyPr>
          <a:lstStyle/>
          <a:p>
            <a:pPr marL="800100" lvl="1" indent="-342900" algn="just">
              <a:lnSpc>
                <a:spcPct val="150000"/>
              </a:lnSpc>
              <a:buFont typeface="Wingdings" panose="05000000000000000000" pitchFamily="2" charset="2"/>
              <a:buChar char="q"/>
            </a:pPr>
            <a:r>
              <a:rPr lang="en-US" sz="2800" b="1" dirty="0">
                <a:solidFill>
                  <a:srgbClr val="C00000"/>
                </a:solidFill>
                <a:latin typeface="Times New Roman" panose="02020603050405020304" pitchFamily="18" charset="0"/>
                <a:cs typeface="Times New Roman" panose="02020603050405020304" pitchFamily="18" charset="0"/>
              </a:rPr>
              <a:t>Integrating with Raspberry Pi Broad</a:t>
            </a:r>
          </a:p>
          <a:p>
            <a:pPr marL="800100" lvl="1" indent="-342900" algn="just">
              <a:lnSpc>
                <a:spcPct val="150000"/>
              </a:lnSpc>
              <a:buFont typeface="Wingdings" panose="05000000000000000000" pitchFamily="2" charset="2"/>
              <a:buChar char="v"/>
            </a:pPr>
            <a:r>
              <a:rPr lang="en-US" sz="2000" b="1" dirty="0">
                <a:solidFill>
                  <a:srgbClr val="002060"/>
                </a:solidFill>
                <a:latin typeface="Times New Roman" panose="02020603050405020304" pitchFamily="18" charset="0"/>
                <a:cs typeface="Times New Roman" panose="02020603050405020304" pitchFamily="18" charset="0"/>
              </a:rPr>
              <a:t>Power Supply</a:t>
            </a:r>
          </a:p>
          <a:p>
            <a:pPr marL="1257300" lvl="2" indent="-342900" algn="just">
              <a:lnSpc>
                <a:spcPct val="15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The Raspberry Pi 4 requires a 5V 3A USB-C power supply </a:t>
            </a:r>
          </a:p>
          <a:p>
            <a:pPr marL="1257300" lvl="2" indent="-342900" algn="just">
              <a:lnSpc>
                <a:spcPct val="15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The Raspberry Pi 5 requires a 5V 5A USB-C power supply.</a:t>
            </a:r>
          </a:p>
          <a:p>
            <a:pPr lvl="2" algn="just">
              <a:lnSpc>
                <a:spcPct val="150000"/>
              </a:lnSpc>
            </a:pPr>
            <a:endParaRPr lang="en-US" sz="300" dirty="0">
              <a:latin typeface="Times New Roman" panose="02020603050405020304" pitchFamily="18" charset="0"/>
              <a:cs typeface="Times New Roman" panose="02020603050405020304" pitchFamily="18" charset="0"/>
            </a:endParaRPr>
          </a:p>
          <a:p>
            <a:pPr lvl="2" algn="just">
              <a:lnSpc>
                <a:spcPct val="150000"/>
              </a:lnSpc>
            </a:pPr>
            <a:r>
              <a:rPr lang="en-US" sz="2000" dirty="0">
                <a:latin typeface="Times New Roman" panose="02020603050405020304" pitchFamily="18" charset="0"/>
                <a:cs typeface="Times New Roman" panose="02020603050405020304" pitchFamily="18" charset="0"/>
              </a:rPr>
              <a:t>The L515 typically consumes around </a:t>
            </a:r>
            <a:r>
              <a:rPr lang="en-US" sz="2000" b="1" dirty="0">
                <a:latin typeface="Times New Roman" panose="02020603050405020304" pitchFamily="18" charset="0"/>
                <a:cs typeface="Times New Roman" panose="02020603050405020304" pitchFamily="18" charset="0"/>
              </a:rPr>
              <a:t>3.5W of power</a:t>
            </a:r>
            <a:r>
              <a:rPr lang="en-US" sz="2000" dirty="0">
                <a:latin typeface="Times New Roman" panose="02020603050405020304" pitchFamily="18" charset="0"/>
                <a:cs typeface="Times New Roman" panose="02020603050405020304" pitchFamily="18" charset="0"/>
              </a:rPr>
              <a:t> during operation, so a stable and sufficient power supply is essential.</a:t>
            </a:r>
          </a:p>
          <a:p>
            <a:pPr marL="800100" lvl="1" indent="-342900" algn="just">
              <a:lnSpc>
                <a:spcPct val="150000"/>
              </a:lnSpc>
              <a:buFont typeface="Wingdings" panose="05000000000000000000" pitchFamily="2" charset="2"/>
              <a:buChar char="v"/>
            </a:pPr>
            <a:r>
              <a:rPr lang="en-US" sz="2000" b="1" dirty="0">
                <a:solidFill>
                  <a:srgbClr val="002060"/>
                </a:solidFill>
                <a:latin typeface="Times New Roman" panose="02020603050405020304" pitchFamily="18" charset="0"/>
                <a:cs typeface="Times New Roman" panose="02020603050405020304" pitchFamily="18" charset="0"/>
              </a:rPr>
              <a:t>Cooling System (Optional but Recommended)</a:t>
            </a:r>
          </a:p>
          <a:p>
            <a:pPr marL="1257300" lvl="2" indent="-342900" algn="just">
              <a:lnSpc>
                <a:spcPct val="15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It’s a good idea to use a </a:t>
            </a:r>
            <a:r>
              <a:rPr lang="en-US" sz="2000" b="1" dirty="0">
                <a:latin typeface="Times New Roman" panose="02020603050405020304" pitchFamily="18" charset="0"/>
                <a:cs typeface="Times New Roman" panose="02020603050405020304" pitchFamily="18" charset="0"/>
              </a:rPr>
              <a:t>cooling fan or heat sinks</a:t>
            </a:r>
            <a:r>
              <a:rPr lang="en-US" sz="2000" dirty="0">
                <a:latin typeface="Times New Roman" panose="02020603050405020304" pitchFamily="18" charset="0"/>
                <a:cs typeface="Times New Roman" panose="02020603050405020304" pitchFamily="18" charset="0"/>
              </a:rPr>
              <a:t> for Raspberry Pi 4 or 5, especially when running tasks that demand high CPU/GPU usage, such as real-time depth data processing or point cloud generation.</a:t>
            </a:r>
          </a:p>
        </p:txBody>
      </p:sp>
      <p:sp>
        <p:nvSpPr>
          <p:cNvPr id="6" name="TextBox 5">
            <a:extLst>
              <a:ext uri="{FF2B5EF4-FFF2-40B4-BE49-F238E27FC236}">
                <a16:creationId xmlns:a16="http://schemas.microsoft.com/office/drawing/2014/main" id="{605081EF-F1F9-FB87-96E5-9A18EEBB09C8}"/>
              </a:ext>
            </a:extLst>
          </p:cNvPr>
          <p:cNvSpPr txBox="1"/>
          <p:nvPr/>
        </p:nvSpPr>
        <p:spPr>
          <a:xfrm>
            <a:off x="9393807" y="3343671"/>
            <a:ext cx="2652060" cy="400110"/>
          </a:xfrm>
          <a:prstGeom prst="rect">
            <a:avLst/>
          </a:prstGeom>
          <a:noFill/>
          <a:effectLst/>
        </p:spPr>
        <p:txBody>
          <a:bodyPr wrap="square" rtlCol="0">
            <a:spAutoFit/>
          </a:bodyPr>
          <a:lstStyle/>
          <a:p>
            <a:r>
              <a:rPr lang="es-ES" sz="2000" b="1" dirty="0" err="1">
                <a:solidFill>
                  <a:srgbClr val="002060"/>
                </a:solidFill>
                <a:latin typeface="Times New Roman" panose="02020603050405020304" pitchFamily="18" charset="0"/>
                <a:cs typeface="Times New Roman" panose="02020603050405020304" pitchFamily="18" charset="0"/>
              </a:rPr>
              <a:t>Power</a:t>
            </a:r>
            <a:r>
              <a:rPr lang="es-ES" sz="2000" b="1" dirty="0">
                <a:solidFill>
                  <a:srgbClr val="002060"/>
                </a:solidFill>
                <a:latin typeface="Times New Roman" panose="02020603050405020304" pitchFamily="18" charset="0"/>
                <a:cs typeface="Times New Roman" panose="02020603050405020304" pitchFamily="18" charset="0"/>
              </a:rPr>
              <a:t> </a:t>
            </a:r>
            <a:r>
              <a:rPr lang="es-ES" sz="2000" b="1" dirty="0" err="1">
                <a:solidFill>
                  <a:srgbClr val="002060"/>
                </a:solidFill>
                <a:latin typeface="Times New Roman" panose="02020603050405020304" pitchFamily="18" charset="0"/>
                <a:cs typeface="Times New Roman" panose="02020603050405020304" pitchFamily="18" charset="0"/>
              </a:rPr>
              <a:t>Supply</a:t>
            </a:r>
            <a:r>
              <a:rPr lang="es-ES" sz="2000" b="1" dirty="0">
                <a:solidFill>
                  <a:srgbClr val="002060"/>
                </a:solidFill>
                <a:latin typeface="Times New Roman" panose="02020603050405020304" pitchFamily="18" charset="0"/>
                <a:cs typeface="Times New Roman" panose="02020603050405020304" pitchFamily="18" charset="0"/>
              </a:rPr>
              <a:t> </a:t>
            </a:r>
            <a:r>
              <a:rPr lang="es-ES" sz="2000" b="1" dirty="0" err="1">
                <a:solidFill>
                  <a:srgbClr val="002060"/>
                </a:solidFill>
                <a:latin typeface="Times New Roman" panose="02020603050405020304" pitchFamily="18" charset="0"/>
                <a:cs typeface="Times New Roman" panose="02020603050405020304" pitchFamily="18" charset="0"/>
              </a:rPr>
              <a:t>System</a:t>
            </a:r>
            <a:endParaRPr lang="en-US" sz="2000" b="1" dirty="0">
              <a:solidFill>
                <a:srgbClr val="002060"/>
              </a:solidFill>
              <a:latin typeface="Times New Roman" panose="02020603050405020304" pitchFamily="18" charset="0"/>
              <a:cs typeface="Times New Roman" panose="02020603050405020304" pitchFamily="18" charset="0"/>
            </a:endParaRPr>
          </a:p>
        </p:txBody>
      </p:sp>
      <p:pic>
        <p:nvPicPr>
          <p:cNvPr id="3076" name="Picture 4" descr="High-Speed 12V CPU Cooling Fan with Hydraulic Bearing and Aluminum Heatsink  in Bangladesh at BDT 2502, Rating: 5">
            <a:extLst>
              <a:ext uri="{FF2B5EF4-FFF2-40B4-BE49-F238E27FC236}">
                <a16:creationId xmlns:a16="http://schemas.microsoft.com/office/drawing/2014/main" id="{E4431FB9-6ED2-D58D-0A9D-1347F18F18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30205" y="4385636"/>
            <a:ext cx="2214092" cy="221409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8E8DE5B-2038-5166-FE31-75936596DAF2}"/>
              </a:ext>
            </a:extLst>
          </p:cNvPr>
          <p:cNvSpPr txBox="1"/>
          <p:nvPr/>
        </p:nvSpPr>
        <p:spPr>
          <a:xfrm>
            <a:off x="9539940" y="5348766"/>
            <a:ext cx="2652060" cy="400110"/>
          </a:xfrm>
          <a:prstGeom prst="rect">
            <a:avLst/>
          </a:prstGeom>
          <a:noFill/>
          <a:effectLst/>
        </p:spPr>
        <p:txBody>
          <a:bodyPr wrap="square" rtlCol="0">
            <a:spAutoFit/>
          </a:bodyPr>
          <a:lstStyle/>
          <a:p>
            <a:r>
              <a:rPr lang="es-ES" sz="2000" b="1" dirty="0" err="1">
                <a:solidFill>
                  <a:srgbClr val="002060"/>
                </a:solidFill>
                <a:latin typeface="Times New Roman" panose="02020603050405020304" pitchFamily="18" charset="0"/>
                <a:cs typeface="Times New Roman" panose="02020603050405020304" pitchFamily="18" charset="0"/>
              </a:rPr>
              <a:t>Cooling</a:t>
            </a:r>
            <a:r>
              <a:rPr lang="es-ES" sz="2000" b="1" dirty="0">
                <a:solidFill>
                  <a:srgbClr val="002060"/>
                </a:solidFill>
                <a:latin typeface="Times New Roman" panose="02020603050405020304" pitchFamily="18" charset="0"/>
                <a:cs typeface="Times New Roman" panose="02020603050405020304" pitchFamily="18" charset="0"/>
              </a:rPr>
              <a:t> Fan</a:t>
            </a:r>
            <a:endParaRPr lang="en-US" sz="20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1432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74" name="Picture 2" descr="Power Supply System (12V 15A, 180W): Buy Online at Best Price in Egypt -  Souq is now Amazon.eg">
            <a:extLst>
              <a:ext uri="{FF2B5EF4-FFF2-40B4-BE49-F238E27FC236}">
                <a16:creationId xmlns:a16="http://schemas.microsoft.com/office/drawing/2014/main" id="{FA533ED6-1C12-6128-6A45-8E7E07DE9A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3554897"/>
            <a:ext cx="1653090" cy="149965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6E4CE59-112E-4683-4813-73FFD6441640}"/>
              </a:ext>
            </a:extLst>
          </p:cNvPr>
          <p:cNvSpPr txBox="1"/>
          <p:nvPr/>
        </p:nvSpPr>
        <p:spPr>
          <a:xfrm>
            <a:off x="1902766" y="87001"/>
            <a:ext cx="8386466" cy="646331"/>
          </a:xfrm>
          <a:prstGeom prst="rect">
            <a:avLst/>
          </a:prstGeom>
          <a:noFill/>
          <a:effectLst/>
        </p:spPr>
        <p:txBody>
          <a:bodyPr wrap="square" rtlCol="0">
            <a:spAutoFit/>
          </a:bodyPr>
          <a:lstStyle/>
          <a:p>
            <a:pPr algn="ctr"/>
            <a:r>
              <a:rPr lang="en-US" sz="3600" b="1" dirty="0">
                <a:latin typeface="Aharoni" panose="02010803020104030203" pitchFamily="2" charset="-79"/>
                <a:cs typeface="Aharoni" panose="02010803020104030203" pitchFamily="2" charset="-79"/>
              </a:rPr>
              <a:t>LiDAR INSTRUMENT</a:t>
            </a:r>
          </a:p>
        </p:txBody>
      </p:sp>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ivision of Health Sciences Graduate School of Medical Sciences, Kanazawa  University">
            <a:extLst>
              <a:ext uri="{FF2B5EF4-FFF2-40B4-BE49-F238E27FC236}">
                <a16:creationId xmlns:a16="http://schemas.microsoft.com/office/drawing/2014/main" id="{91615151-131E-0A0D-42AC-53F3D07FCD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0D3AA71-E8D4-8E0C-A88A-2218E9D145C2}"/>
              </a:ext>
            </a:extLst>
          </p:cNvPr>
          <p:cNvSpPr txBox="1"/>
          <p:nvPr/>
        </p:nvSpPr>
        <p:spPr>
          <a:xfrm>
            <a:off x="237553" y="794887"/>
            <a:ext cx="11322399" cy="584775"/>
          </a:xfrm>
          <a:prstGeom prst="rect">
            <a:avLst/>
          </a:prstGeom>
          <a:noFill/>
          <a:effectLst/>
        </p:spPr>
        <p:txBody>
          <a:bodyPr wrap="square" rtlCol="0">
            <a:spAutoFit/>
          </a:bodyPr>
          <a:lstStyle/>
          <a:p>
            <a:r>
              <a:rPr lang="es-ES" sz="3200" b="1" dirty="0">
                <a:solidFill>
                  <a:srgbClr val="0070C0"/>
                </a:solidFill>
                <a:latin typeface="Times New Roman" panose="02020603050405020304" pitchFamily="18" charset="0"/>
                <a:cs typeface="Times New Roman" panose="02020603050405020304" pitchFamily="18" charset="0"/>
              </a:rPr>
              <a:t> Intel® </a:t>
            </a:r>
            <a:r>
              <a:rPr lang="es-ES" sz="3200" b="1" dirty="0" err="1">
                <a:solidFill>
                  <a:srgbClr val="0070C0"/>
                </a:solidFill>
                <a:latin typeface="Times New Roman" panose="02020603050405020304" pitchFamily="18" charset="0"/>
                <a:cs typeface="Times New Roman" panose="02020603050405020304" pitchFamily="18" charset="0"/>
              </a:rPr>
              <a:t>RealSense</a:t>
            </a:r>
            <a:r>
              <a:rPr lang="es-ES" sz="3200" b="1" dirty="0">
                <a:solidFill>
                  <a:srgbClr val="0070C0"/>
                </a:solidFill>
                <a:latin typeface="Times New Roman" panose="02020603050405020304" pitchFamily="18" charset="0"/>
                <a:cs typeface="Times New Roman" panose="02020603050405020304" pitchFamily="18" charset="0"/>
              </a:rPr>
              <a:t>™ </a:t>
            </a:r>
            <a:r>
              <a:rPr lang="es-ES" sz="3200" b="1" dirty="0" err="1">
                <a:solidFill>
                  <a:srgbClr val="0070C0"/>
                </a:solidFill>
                <a:latin typeface="Times New Roman" panose="02020603050405020304" pitchFamily="18" charset="0"/>
                <a:cs typeface="Times New Roman" panose="02020603050405020304" pitchFamily="18" charset="0"/>
              </a:rPr>
              <a:t>LiDAR</a:t>
            </a:r>
            <a:r>
              <a:rPr lang="es-ES" sz="3200" b="1" dirty="0">
                <a:solidFill>
                  <a:srgbClr val="0070C0"/>
                </a:solidFill>
                <a:latin typeface="Times New Roman" panose="02020603050405020304" pitchFamily="18" charset="0"/>
                <a:cs typeface="Times New Roman" panose="02020603050405020304" pitchFamily="18" charset="0"/>
              </a:rPr>
              <a:t> Camera L515</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8</a:t>
            </a:fld>
            <a:endParaRPr lang="fr-FR" b="1" dirty="0">
              <a:solidFill>
                <a:schemeClr val="tx1"/>
              </a:solidFill>
              <a:latin typeface="Abadi" panose="020B0604020104020204" pitchFamily="34" charset="0"/>
            </a:endParaRPr>
          </a:p>
        </p:txBody>
      </p:sp>
      <p:sp>
        <p:nvSpPr>
          <p:cNvPr id="4" name="TextBox 3">
            <a:extLst>
              <a:ext uri="{FF2B5EF4-FFF2-40B4-BE49-F238E27FC236}">
                <a16:creationId xmlns:a16="http://schemas.microsoft.com/office/drawing/2014/main" id="{0E86D466-782E-E1C7-83E4-929D94A853C2}"/>
              </a:ext>
            </a:extLst>
          </p:cNvPr>
          <p:cNvSpPr txBox="1"/>
          <p:nvPr/>
        </p:nvSpPr>
        <p:spPr>
          <a:xfrm>
            <a:off x="-215668" y="1321613"/>
            <a:ext cx="7539002" cy="661207"/>
          </a:xfrm>
          <a:prstGeom prst="rect">
            <a:avLst/>
          </a:prstGeom>
          <a:noFill/>
        </p:spPr>
        <p:txBody>
          <a:bodyPr wrap="square">
            <a:spAutoFit/>
          </a:bodyPr>
          <a:lstStyle/>
          <a:p>
            <a:pPr marL="800100" lvl="1" indent="-342900" algn="just">
              <a:lnSpc>
                <a:spcPct val="150000"/>
              </a:lnSpc>
              <a:buFont typeface="Wingdings" panose="05000000000000000000" pitchFamily="2" charset="2"/>
              <a:buChar char="q"/>
            </a:pPr>
            <a:r>
              <a:rPr lang="en-US" sz="2800" b="1" dirty="0">
                <a:solidFill>
                  <a:srgbClr val="C00000"/>
                </a:solidFill>
                <a:latin typeface="Times New Roman" panose="02020603050405020304" pitchFamily="18" charset="0"/>
                <a:cs typeface="Times New Roman" panose="02020603050405020304" pitchFamily="18" charset="0"/>
              </a:rPr>
              <a:t>Integrating with Raspberry Pi Broad</a:t>
            </a:r>
          </a:p>
        </p:txBody>
      </p:sp>
      <p:pic>
        <p:nvPicPr>
          <p:cNvPr id="3076" name="Picture 4" descr="High-Speed 12V CPU Cooling Fan with Hydraulic Bearing and Aluminum Heatsink  in Bangladesh at BDT 2502, Rating: 5">
            <a:extLst>
              <a:ext uri="{FF2B5EF4-FFF2-40B4-BE49-F238E27FC236}">
                <a16:creationId xmlns:a16="http://schemas.microsoft.com/office/drawing/2014/main" id="{E4431FB9-6ED2-D58D-0A9D-1347F18F18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5672" y="2144834"/>
            <a:ext cx="1687366" cy="168736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a:extLst>
              <a:ext uri="{FF2B5EF4-FFF2-40B4-BE49-F238E27FC236}">
                <a16:creationId xmlns:a16="http://schemas.microsoft.com/office/drawing/2014/main" id="{47AFBA52-078E-3CCE-9E60-3A597CCEEA1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6163" t="9137" r="11903" b="7769"/>
          <a:stretch/>
        </p:blipFill>
        <p:spPr bwMode="auto">
          <a:xfrm>
            <a:off x="1583733" y="2609522"/>
            <a:ext cx="2548115" cy="383803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green electronic device with many different components&#10;&#10;Description automatically generated">
            <a:extLst>
              <a:ext uri="{FF2B5EF4-FFF2-40B4-BE49-F238E27FC236}">
                <a16:creationId xmlns:a16="http://schemas.microsoft.com/office/drawing/2014/main" id="{EC7A229A-B460-F78D-A3D1-D2C78B32570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32950" y="4121276"/>
            <a:ext cx="2658793" cy="1497069"/>
          </a:xfrm>
          <a:prstGeom prst="rect">
            <a:avLst/>
          </a:prstGeom>
        </p:spPr>
      </p:pic>
      <p:cxnSp>
        <p:nvCxnSpPr>
          <p:cNvPr id="7" name="Connector: Curved 6">
            <a:extLst>
              <a:ext uri="{FF2B5EF4-FFF2-40B4-BE49-F238E27FC236}">
                <a16:creationId xmlns:a16="http://schemas.microsoft.com/office/drawing/2014/main" id="{52AD3529-A13F-635F-6553-B5EC6870E1ED}"/>
              </a:ext>
            </a:extLst>
          </p:cNvPr>
          <p:cNvCxnSpPr>
            <a:cxnSpLocks/>
            <a:stCxn id="2" idx="0"/>
            <a:endCxn id="3" idx="1"/>
          </p:cNvCxnSpPr>
          <p:nvPr/>
        </p:nvCxnSpPr>
        <p:spPr>
          <a:xfrm rot="16200000" flipH="1">
            <a:off x="2515225" y="2952087"/>
            <a:ext cx="2260289" cy="1575159"/>
          </a:xfrm>
          <a:prstGeom prst="curvedConnector4">
            <a:avLst>
              <a:gd name="adj1" fmla="val -10114"/>
              <a:gd name="adj2" fmla="val 49561"/>
            </a:avLst>
          </a:prstGeom>
          <a:ln w="5715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Connector: Curved 11">
            <a:extLst>
              <a:ext uri="{FF2B5EF4-FFF2-40B4-BE49-F238E27FC236}">
                <a16:creationId xmlns:a16="http://schemas.microsoft.com/office/drawing/2014/main" id="{7F1B0C03-CD88-6580-E366-A127157A7500}"/>
              </a:ext>
            </a:extLst>
          </p:cNvPr>
          <p:cNvCxnSpPr>
            <a:cxnSpLocks/>
            <a:stCxn id="3" idx="0"/>
            <a:endCxn id="3076" idx="3"/>
          </p:cNvCxnSpPr>
          <p:nvPr/>
        </p:nvCxnSpPr>
        <p:spPr>
          <a:xfrm rot="5400000" flipH="1" flipV="1">
            <a:off x="5526313" y="3224552"/>
            <a:ext cx="1132759" cy="660691"/>
          </a:xfrm>
          <a:prstGeom prst="curvedConnector4">
            <a:avLst>
              <a:gd name="adj1" fmla="val 12760"/>
              <a:gd name="adj2" fmla="val 134600"/>
            </a:avLst>
          </a:prstGeom>
          <a:ln w="57150">
            <a:solidFill>
              <a:srgbClr val="00009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61B95138-F946-5563-6375-9F4AC4E6B51B}"/>
              </a:ext>
            </a:extLst>
          </p:cNvPr>
          <p:cNvCxnSpPr>
            <a:cxnSpLocks/>
            <a:stCxn id="3" idx="3"/>
            <a:endCxn id="3074" idx="1"/>
          </p:cNvCxnSpPr>
          <p:nvPr/>
        </p:nvCxnSpPr>
        <p:spPr>
          <a:xfrm flipV="1">
            <a:off x="7091743" y="4304724"/>
            <a:ext cx="1518857" cy="565087"/>
          </a:xfrm>
          <a:prstGeom prst="curvedConnector3">
            <a:avLst>
              <a:gd name="adj1" fmla="val 50000"/>
            </a:avLst>
          </a:prstGeom>
          <a:ln w="571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Connector: Curved 24">
            <a:extLst>
              <a:ext uri="{FF2B5EF4-FFF2-40B4-BE49-F238E27FC236}">
                <a16:creationId xmlns:a16="http://schemas.microsoft.com/office/drawing/2014/main" id="{D4982D82-DFAA-616C-7AEC-A938E30CBD6E}"/>
              </a:ext>
            </a:extLst>
          </p:cNvPr>
          <p:cNvCxnSpPr>
            <a:cxnSpLocks/>
            <a:stCxn id="2" idx="2"/>
            <a:endCxn id="3" idx="2"/>
          </p:cNvCxnSpPr>
          <p:nvPr/>
        </p:nvCxnSpPr>
        <p:spPr>
          <a:xfrm rot="5400000" flipH="1" flipV="1">
            <a:off x="3895464" y="4580672"/>
            <a:ext cx="829210" cy="2904556"/>
          </a:xfrm>
          <a:prstGeom prst="curvedConnector3">
            <a:avLst>
              <a:gd name="adj1" fmla="val -17230"/>
            </a:avLst>
          </a:prstGeom>
          <a:ln w="5715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5AB0E662-6F1B-54EB-D0CB-F1F2159494EB}"/>
              </a:ext>
            </a:extLst>
          </p:cNvPr>
          <p:cNvSpPr txBox="1"/>
          <p:nvPr/>
        </p:nvSpPr>
        <p:spPr>
          <a:xfrm>
            <a:off x="9239101" y="3028890"/>
            <a:ext cx="2618336" cy="400110"/>
          </a:xfrm>
          <a:prstGeom prst="rect">
            <a:avLst/>
          </a:prstGeom>
          <a:noFill/>
          <a:effectLst/>
        </p:spPr>
        <p:txBody>
          <a:bodyPr wrap="square" rtlCol="0">
            <a:spAutoFit/>
          </a:bodyPr>
          <a:lstStyle/>
          <a:p>
            <a:r>
              <a:rPr lang="es-ES" sz="2000" b="1" dirty="0" err="1">
                <a:solidFill>
                  <a:srgbClr val="002060"/>
                </a:solidFill>
                <a:latin typeface="Times New Roman" panose="02020603050405020304" pitchFamily="18" charset="0"/>
                <a:cs typeface="Times New Roman" panose="02020603050405020304" pitchFamily="18" charset="0"/>
              </a:rPr>
              <a:t>Power</a:t>
            </a:r>
            <a:r>
              <a:rPr lang="es-ES" sz="2000" b="1" dirty="0">
                <a:solidFill>
                  <a:srgbClr val="002060"/>
                </a:solidFill>
                <a:latin typeface="Times New Roman" panose="02020603050405020304" pitchFamily="18" charset="0"/>
                <a:cs typeface="Times New Roman" panose="02020603050405020304" pitchFamily="18" charset="0"/>
              </a:rPr>
              <a:t> </a:t>
            </a:r>
            <a:r>
              <a:rPr lang="es-ES" sz="2000" b="1" dirty="0" err="1">
                <a:solidFill>
                  <a:srgbClr val="002060"/>
                </a:solidFill>
                <a:latin typeface="Times New Roman" panose="02020603050405020304" pitchFamily="18" charset="0"/>
                <a:cs typeface="Times New Roman" panose="02020603050405020304" pitchFamily="18" charset="0"/>
              </a:rPr>
              <a:t>Supply</a:t>
            </a:r>
            <a:r>
              <a:rPr lang="es-ES" sz="2000" b="1" dirty="0">
                <a:solidFill>
                  <a:srgbClr val="002060"/>
                </a:solidFill>
                <a:latin typeface="Times New Roman" panose="02020603050405020304" pitchFamily="18" charset="0"/>
                <a:cs typeface="Times New Roman" panose="02020603050405020304" pitchFamily="18" charset="0"/>
              </a:rPr>
              <a:t> 25 W</a:t>
            </a:r>
            <a:endParaRPr lang="en-US" sz="2000" b="1" dirty="0">
              <a:solidFill>
                <a:srgbClr val="002060"/>
              </a:solidFill>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4E2A686B-BE4E-87DC-D533-F1ABB40D90EF}"/>
              </a:ext>
            </a:extLst>
          </p:cNvPr>
          <p:cNvSpPr txBox="1"/>
          <p:nvPr/>
        </p:nvSpPr>
        <p:spPr>
          <a:xfrm>
            <a:off x="1506546" y="3752399"/>
            <a:ext cx="837906" cy="400110"/>
          </a:xfrm>
          <a:prstGeom prst="rect">
            <a:avLst/>
          </a:prstGeom>
          <a:noFill/>
          <a:effectLst/>
        </p:spPr>
        <p:txBody>
          <a:bodyPr wrap="square" rtlCol="0">
            <a:spAutoFit/>
          </a:bodyPr>
          <a:lstStyle/>
          <a:p>
            <a:r>
              <a:rPr lang="es-ES" sz="2000" b="1" dirty="0">
                <a:solidFill>
                  <a:srgbClr val="002060"/>
                </a:solidFill>
                <a:latin typeface="Times New Roman" panose="02020603050405020304" pitchFamily="18" charset="0"/>
                <a:cs typeface="Times New Roman" panose="02020603050405020304" pitchFamily="18" charset="0"/>
              </a:rPr>
              <a:t>L515</a:t>
            </a:r>
            <a:endParaRPr lang="en-US" sz="2000" b="1" dirty="0">
              <a:solidFill>
                <a:srgbClr val="002060"/>
              </a:solidFill>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47A9586E-C743-997B-A1BB-86F491FBD047}"/>
              </a:ext>
            </a:extLst>
          </p:cNvPr>
          <p:cNvSpPr txBox="1"/>
          <p:nvPr/>
        </p:nvSpPr>
        <p:spPr>
          <a:xfrm>
            <a:off x="6183179" y="2340559"/>
            <a:ext cx="1687366" cy="400110"/>
          </a:xfrm>
          <a:prstGeom prst="rect">
            <a:avLst/>
          </a:prstGeom>
          <a:noFill/>
          <a:effectLst/>
        </p:spPr>
        <p:txBody>
          <a:bodyPr wrap="square" rtlCol="0">
            <a:spAutoFit/>
          </a:bodyPr>
          <a:lstStyle/>
          <a:p>
            <a:r>
              <a:rPr lang="es-ES" sz="2000" b="1" dirty="0" err="1">
                <a:solidFill>
                  <a:srgbClr val="000099"/>
                </a:solidFill>
                <a:latin typeface="Times New Roman" panose="02020603050405020304" pitchFamily="18" charset="0"/>
                <a:cs typeface="Times New Roman" panose="02020603050405020304" pitchFamily="18" charset="0"/>
              </a:rPr>
              <a:t>Cooling</a:t>
            </a:r>
            <a:r>
              <a:rPr lang="es-ES" sz="2000" b="1" dirty="0">
                <a:solidFill>
                  <a:srgbClr val="000099"/>
                </a:solidFill>
                <a:latin typeface="Times New Roman" panose="02020603050405020304" pitchFamily="18" charset="0"/>
                <a:cs typeface="Times New Roman" panose="02020603050405020304" pitchFamily="18" charset="0"/>
              </a:rPr>
              <a:t> Fan</a:t>
            </a:r>
            <a:endParaRPr lang="en-US" sz="2000" b="1" dirty="0">
              <a:solidFill>
                <a:srgbClr val="000099"/>
              </a:solidFill>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7F81F108-7CAE-6CDB-0E84-47FCF00F2A49}"/>
              </a:ext>
            </a:extLst>
          </p:cNvPr>
          <p:cNvSpPr txBox="1"/>
          <p:nvPr/>
        </p:nvSpPr>
        <p:spPr>
          <a:xfrm>
            <a:off x="5607393" y="6062826"/>
            <a:ext cx="2234577" cy="338554"/>
          </a:xfrm>
          <a:prstGeom prst="rect">
            <a:avLst/>
          </a:prstGeom>
          <a:noFill/>
          <a:effectLst/>
        </p:spPr>
        <p:txBody>
          <a:bodyPr wrap="square" rtlCol="0">
            <a:spAutoFit/>
          </a:bodyPr>
          <a:lstStyle/>
          <a:p>
            <a:r>
              <a:rPr lang="es-ES" sz="1600" b="1" dirty="0">
                <a:solidFill>
                  <a:srgbClr val="00B050"/>
                </a:solidFill>
                <a:latin typeface="Times New Roman" panose="02020603050405020304" pitchFamily="18" charset="0"/>
                <a:cs typeface="Times New Roman" panose="02020603050405020304" pitchFamily="18" charset="0"/>
              </a:rPr>
              <a:t>3.5 W </a:t>
            </a:r>
            <a:r>
              <a:rPr lang="es-ES" sz="1600" b="1" dirty="0" err="1">
                <a:solidFill>
                  <a:srgbClr val="00B050"/>
                </a:solidFill>
                <a:latin typeface="Times New Roman" panose="02020603050405020304" pitchFamily="18" charset="0"/>
                <a:cs typeface="Times New Roman" panose="02020603050405020304" pitchFamily="18" charset="0"/>
              </a:rPr>
              <a:t>Supply</a:t>
            </a:r>
            <a:r>
              <a:rPr lang="es-ES" sz="1600" b="1" dirty="0">
                <a:solidFill>
                  <a:srgbClr val="00B050"/>
                </a:solidFill>
                <a:latin typeface="Times New Roman" panose="02020603050405020304" pitchFamily="18" charset="0"/>
                <a:cs typeface="Times New Roman" panose="02020603050405020304" pitchFamily="18" charset="0"/>
              </a:rPr>
              <a:t> Line</a:t>
            </a:r>
            <a:endParaRPr lang="en-US" sz="1600" b="1" dirty="0">
              <a:solidFill>
                <a:srgbClr val="00B050"/>
              </a:solidFill>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5EDF69C6-E6F5-33C4-80D6-B3CC162D6E8A}"/>
              </a:ext>
            </a:extLst>
          </p:cNvPr>
          <p:cNvSpPr txBox="1"/>
          <p:nvPr/>
        </p:nvSpPr>
        <p:spPr>
          <a:xfrm>
            <a:off x="7202568" y="4975738"/>
            <a:ext cx="2234577" cy="338554"/>
          </a:xfrm>
          <a:prstGeom prst="rect">
            <a:avLst/>
          </a:prstGeom>
          <a:noFill/>
          <a:effectLst/>
        </p:spPr>
        <p:txBody>
          <a:bodyPr wrap="square" rtlCol="0">
            <a:spAutoFit/>
          </a:bodyPr>
          <a:lstStyle/>
          <a:p>
            <a:r>
              <a:rPr lang="es-ES" sz="1600" b="1" dirty="0">
                <a:solidFill>
                  <a:srgbClr val="FFC000"/>
                </a:solidFill>
                <a:latin typeface="Times New Roman" panose="02020603050405020304" pitchFamily="18" charset="0"/>
                <a:cs typeface="Times New Roman" panose="02020603050405020304" pitchFamily="18" charset="0"/>
              </a:rPr>
              <a:t>25 W </a:t>
            </a:r>
            <a:r>
              <a:rPr lang="es-ES" sz="1600" b="1" dirty="0" err="1">
                <a:solidFill>
                  <a:srgbClr val="FFC000"/>
                </a:solidFill>
                <a:latin typeface="Times New Roman" panose="02020603050405020304" pitchFamily="18" charset="0"/>
                <a:cs typeface="Times New Roman" panose="02020603050405020304" pitchFamily="18" charset="0"/>
              </a:rPr>
              <a:t>Supply</a:t>
            </a:r>
            <a:r>
              <a:rPr lang="es-ES" sz="1600" b="1" dirty="0">
                <a:solidFill>
                  <a:srgbClr val="FFC000"/>
                </a:solidFill>
                <a:latin typeface="Times New Roman" panose="02020603050405020304" pitchFamily="18" charset="0"/>
                <a:cs typeface="Times New Roman" panose="02020603050405020304" pitchFamily="18" charset="0"/>
              </a:rPr>
              <a:t> Line</a:t>
            </a:r>
            <a:endParaRPr lang="en-US" sz="1600" b="1" dirty="0">
              <a:solidFill>
                <a:srgbClr val="FFC000"/>
              </a:solidFill>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CB34C8F5-B8ED-ABDD-028B-3F5BC557BDB8}"/>
              </a:ext>
            </a:extLst>
          </p:cNvPr>
          <p:cNvSpPr txBox="1"/>
          <p:nvPr/>
        </p:nvSpPr>
        <p:spPr>
          <a:xfrm>
            <a:off x="6713781" y="3415840"/>
            <a:ext cx="2234577" cy="338554"/>
          </a:xfrm>
          <a:prstGeom prst="rect">
            <a:avLst/>
          </a:prstGeom>
          <a:noFill/>
          <a:effectLst/>
        </p:spPr>
        <p:txBody>
          <a:bodyPr wrap="square" rtlCol="0">
            <a:spAutoFit/>
          </a:bodyPr>
          <a:lstStyle/>
          <a:p>
            <a:r>
              <a:rPr lang="es-ES" sz="1600" b="1" dirty="0" err="1">
                <a:solidFill>
                  <a:srgbClr val="000099"/>
                </a:solidFill>
                <a:latin typeface="Times New Roman" panose="02020603050405020304" pitchFamily="18" charset="0"/>
                <a:cs typeface="Times New Roman" panose="02020603050405020304" pitchFamily="18" charset="0"/>
              </a:rPr>
              <a:t>Cooling</a:t>
            </a:r>
            <a:r>
              <a:rPr lang="es-ES" sz="1600" b="1" dirty="0">
                <a:solidFill>
                  <a:srgbClr val="000099"/>
                </a:solidFill>
                <a:latin typeface="Times New Roman" panose="02020603050405020304" pitchFamily="18" charset="0"/>
                <a:cs typeface="Times New Roman" panose="02020603050405020304" pitchFamily="18" charset="0"/>
              </a:rPr>
              <a:t> </a:t>
            </a:r>
            <a:r>
              <a:rPr lang="es-ES" sz="1600" b="1" dirty="0" err="1">
                <a:solidFill>
                  <a:srgbClr val="000099"/>
                </a:solidFill>
                <a:latin typeface="Times New Roman" panose="02020603050405020304" pitchFamily="18" charset="0"/>
                <a:cs typeface="Times New Roman" panose="02020603050405020304" pitchFamily="18" charset="0"/>
              </a:rPr>
              <a:t>System</a:t>
            </a:r>
            <a:r>
              <a:rPr lang="es-ES" sz="1600" b="1" dirty="0">
                <a:solidFill>
                  <a:srgbClr val="000099"/>
                </a:solidFill>
                <a:latin typeface="Times New Roman" panose="02020603050405020304" pitchFamily="18" charset="0"/>
                <a:cs typeface="Times New Roman" panose="02020603050405020304" pitchFamily="18" charset="0"/>
              </a:rPr>
              <a:t> Line</a:t>
            </a:r>
            <a:endParaRPr lang="en-US" sz="1600" b="1" dirty="0">
              <a:solidFill>
                <a:srgbClr val="000099"/>
              </a:solidFill>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E055C8BA-97E0-35A6-3ADC-550E55F8A012}"/>
              </a:ext>
            </a:extLst>
          </p:cNvPr>
          <p:cNvSpPr txBox="1"/>
          <p:nvPr/>
        </p:nvSpPr>
        <p:spPr>
          <a:xfrm>
            <a:off x="3717229" y="3648105"/>
            <a:ext cx="2234577" cy="338554"/>
          </a:xfrm>
          <a:prstGeom prst="rect">
            <a:avLst/>
          </a:prstGeom>
          <a:noFill/>
          <a:effectLst/>
        </p:spPr>
        <p:txBody>
          <a:bodyPr wrap="square" rtlCol="0">
            <a:spAutoFit/>
          </a:bodyPr>
          <a:lstStyle/>
          <a:p>
            <a:r>
              <a:rPr lang="es-ES" sz="1600" b="1" dirty="0">
                <a:solidFill>
                  <a:schemeClr val="accent6">
                    <a:lumMod val="50000"/>
                  </a:schemeClr>
                </a:solidFill>
                <a:latin typeface="Times New Roman" panose="02020603050405020304" pitchFamily="18" charset="0"/>
                <a:cs typeface="Times New Roman" panose="02020603050405020304" pitchFamily="18" charset="0"/>
              </a:rPr>
              <a:t>Data Transfer Line</a:t>
            </a:r>
            <a:endParaRPr lang="en-US" sz="1600" b="1" dirty="0">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5379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6E4CE59-112E-4683-4813-73FFD6441640}"/>
              </a:ext>
            </a:extLst>
          </p:cNvPr>
          <p:cNvSpPr txBox="1"/>
          <p:nvPr/>
        </p:nvSpPr>
        <p:spPr>
          <a:xfrm>
            <a:off x="1902766" y="87001"/>
            <a:ext cx="8386466" cy="646331"/>
          </a:xfrm>
          <a:prstGeom prst="rect">
            <a:avLst/>
          </a:prstGeom>
          <a:noFill/>
          <a:effectLst/>
        </p:spPr>
        <p:txBody>
          <a:bodyPr wrap="square" rtlCol="0">
            <a:spAutoFit/>
          </a:bodyPr>
          <a:lstStyle/>
          <a:p>
            <a:pPr algn="ctr"/>
            <a:r>
              <a:rPr lang="en-US" sz="3600" b="1" dirty="0">
                <a:latin typeface="Aharoni" panose="02010803020104030203" pitchFamily="2" charset="-79"/>
                <a:cs typeface="Aharoni" panose="02010803020104030203" pitchFamily="2" charset="-79"/>
              </a:rPr>
              <a:t>LiDAR INSTRUMENT</a:t>
            </a:r>
          </a:p>
        </p:txBody>
      </p:sp>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ivision of Health Sciences Graduate School of Medical Sciences, Kanazawa  University">
            <a:extLst>
              <a:ext uri="{FF2B5EF4-FFF2-40B4-BE49-F238E27FC236}">
                <a16:creationId xmlns:a16="http://schemas.microsoft.com/office/drawing/2014/main" id="{91615151-131E-0A0D-42AC-53F3D07FC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0D3AA71-E8D4-8E0C-A88A-2218E9D145C2}"/>
              </a:ext>
            </a:extLst>
          </p:cNvPr>
          <p:cNvSpPr txBox="1"/>
          <p:nvPr/>
        </p:nvSpPr>
        <p:spPr>
          <a:xfrm>
            <a:off x="237553" y="794887"/>
            <a:ext cx="11322399" cy="584775"/>
          </a:xfrm>
          <a:prstGeom prst="rect">
            <a:avLst/>
          </a:prstGeom>
          <a:noFill/>
          <a:effectLst/>
        </p:spPr>
        <p:txBody>
          <a:bodyPr wrap="square" rtlCol="0">
            <a:spAutoFit/>
          </a:bodyPr>
          <a:lstStyle/>
          <a:p>
            <a:r>
              <a:rPr lang="es-ES" sz="3200" b="1" dirty="0">
                <a:solidFill>
                  <a:srgbClr val="0070C0"/>
                </a:solidFill>
                <a:latin typeface="Times New Roman" panose="02020603050405020304" pitchFamily="18" charset="0"/>
                <a:cs typeface="Times New Roman" panose="02020603050405020304" pitchFamily="18" charset="0"/>
              </a:rPr>
              <a:t> Intel® </a:t>
            </a:r>
            <a:r>
              <a:rPr lang="es-ES" sz="3200" b="1" dirty="0" err="1">
                <a:solidFill>
                  <a:srgbClr val="0070C0"/>
                </a:solidFill>
                <a:latin typeface="Times New Roman" panose="02020603050405020304" pitchFamily="18" charset="0"/>
                <a:cs typeface="Times New Roman" panose="02020603050405020304" pitchFamily="18" charset="0"/>
              </a:rPr>
              <a:t>RealSense</a:t>
            </a:r>
            <a:r>
              <a:rPr lang="es-ES" sz="3200" b="1" dirty="0">
                <a:solidFill>
                  <a:srgbClr val="0070C0"/>
                </a:solidFill>
                <a:latin typeface="Times New Roman" panose="02020603050405020304" pitchFamily="18" charset="0"/>
                <a:cs typeface="Times New Roman" panose="02020603050405020304" pitchFamily="18" charset="0"/>
              </a:rPr>
              <a:t>™ </a:t>
            </a:r>
            <a:r>
              <a:rPr lang="es-ES" sz="3200" b="1" dirty="0" err="1">
                <a:solidFill>
                  <a:srgbClr val="0070C0"/>
                </a:solidFill>
                <a:latin typeface="Times New Roman" panose="02020603050405020304" pitchFamily="18" charset="0"/>
                <a:cs typeface="Times New Roman" panose="02020603050405020304" pitchFamily="18" charset="0"/>
              </a:rPr>
              <a:t>LiDAR</a:t>
            </a:r>
            <a:r>
              <a:rPr lang="es-ES" sz="3200" b="1" dirty="0">
                <a:solidFill>
                  <a:srgbClr val="0070C0"/>
                </a:solidFill>
                <a:latin typeface="Times New Roman" panose="02020603050405020304" pitchFamily="18" charset="0"/>
                <a:cs typeface="Times New Roman" panose="02020603050405020304" pitchFamily="18" charset="0"/>
              </a:rPr>
              <a:t> Camera L515</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9</a:t>
            </a:fld>
            <a:endParaRPr lang="fr-FR" b="1" dirty="0">
              <a:solidFill>
                <a:schemeClr val="tx1"/>
              </a:solidFill>
              <a:latin typeface="Abadi" panose="020B0604020104020204" pitchFamily="34" charset="0"/>
            </a:endParaRPr>
          </a:p>
        </p:txBody>
      </p:sp>
      <p:sp>
        <p:nvSpPr>
          <p:cNvPr id="4" name="TextBox 3">
            <a:extLst>
              <a:ext uri="{FF2B5EF4-FFF2-40B4-BE49-F238E27FC236}">
                <a16:creationId xmlns:a16="http://schemas.microsoft.com/office/drawing/2014/main" id="{0E86D466-782E-E1C7-83E4-929D94A853C2}"/>
              </a:ext>
            </a:extLst>
          </p:cNvPr>
          <p:cNvSpPr txBox="1"/>
          <p:nvPr/>
        </p:nvSpPr>
        <p:spPr>
          <a:xfrm>
            <a:off x="3899132" y="1321613"/>
            <a:ext cx="7539002" cy="661207"/>
          </a:xfrm>
          <a:prstGeom prst="rect">
            <a:avLst/>
          </a:prstGeom>
          <a:noFill/>
        </p:spPr>
        <p:txBody>
          <a:bodyPr wrap="square">
            <a:spAutoFit/>
          </a:bodyPr>
          <a:lstStyle/>
          <a:p>
            <a:pPr lvl="1" algn="just">
              <a:lnSpc>
                <a:spcPct val="150000"/>
              </a:lnSpc>
            </a:pPr>
            <a:r>
              <a:rPr lang="en-US" sz="2800" b="1" dirty="0">
                <a:solidFill>
                  <a:srgbClr val="C00000"/>
                </a:solidFill>
                <a:latin typeface="Times New Roman" panose="02020603050405020304" pitchFamily="18" charset="0"/>
                <a:cs typeface="Times New Roman" panose="02020603050405020304" pitchFamily="18" charset="0"/>
              </a:rPr>
              <a:t>Color VS Depth Data</a:t>
            </a:r>
          </a:p>
        </p:txBody>
      </p:sp>
      <p:pic>
        <p:nvPicPr>
          <p:cNvPr id="6" name="Picture 5">
            <a:extLst>
              <a:ext uri="{FF2B5EF4-FFF2-40B4-BE49-F238E27FC236}">
                <a16:creationId xmlns:a16="http://schemas.microsoft.com/office/drawing/2014/main" id="{42D91192-A5AA-D669-C73D-B36568E31274}"/>
              </a:ext>
            </a:extLst>
          </p:cNvPr>
          <p:cNvPicPr>
            <a:picLocks noChangeAspect="1"/>
          </p:cNvPicPr>
          <p:nvPr/>
        </p:nvPicPr>
        <p:blipFill>
          <a:blip r:embed="rId5"/>
          <a:stretch>
            <a:fillRect/>
          </a:stretch>
        </p:blipFill>
        <p:spPr>
          <a:xfrm>
            <a:off x="196660" y="2133665"/>
            <a:ext cx="5899339" cy="4222685"/>
          </a:xfrm>
          <a:prstGeom prst="rect">
            <a:avLst/>
          </a:prstGeom>
        </p:spPr>
      </p:pic>
      <p:pic>
        <p:nvPicPr>
          <p:cNvPr id="10" name="Picture 9">
            <a:extLst>
              <a:ext uri="{FF2B5EF4-FFF2-40B4-BE49-F238E27FC236}">
                <a16:creationId xmlns:a16="http://schemas.microsoft.com/office/drawing/2014/main" id="{A01E72ED-C7BC-F58E-1916-0D2E93D9BDAF}"/>
              </a:ext>
            </a:extLst>
          </p:cNvPr>
          <p:cNvPicPr>
            <a:picLocks noChangeAspect="1"/>
          </p:cNvPicPr>
          <p:nvPr/>
        </p:nvPicPr>
        <p:blipFill>
          <a:blip r:embed="rId6"/>
          <a:stretch>
            <a:fillRect/>
          </a:stretch>
        </p:blipFill>
        <p:spPr>
          <a:xfrm>
            <a:off x="6095999" y="2133665"/>
            <a:ext cx="5985118" cy="4222685"/>
          </a:xfrm>
          <a:prstGeom prst="rect">
            <a:avLst/>
          </a:prstGeom>
        </p:spPr>
      </p:pic>
    </p:spTree>
    <p:extLst>
      <p:ext uri="{BB962C8B-B14F-4D97-AF65-F5344CB8AC3E}">
        <p14:creationId xmlns:p14="http://schemas.microsoft.com/office/powerpoint/2010/main" val="3866191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
            <a:extLst>
              <a:ext uri="{FF2B5EF4-FFF2-40B4-BE49-F238E27FC236}">
                <a16:creationId xmlns:a16="http://schemas.microsoft.com/office/drawing/2014/main" id="{7B67EDF3-89FD-93C0-5841-368E971B8A3C}"/>
              </a:ext>
            </a:extLst>
          </p:cNvPr>
          <p:cNvSpPr/>
          <p:nvPr/>
        </p:nvSpPr>
        <p:spPr>
          <a:xfrm>
            <a:off x="0" y="-1096"/>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 name="!!REC">
            <a:extLst>
              <a:ext uri="{FF2B5EF4-FFF2-40B4-BE49-F238E27FC236}">
                <a16:creationId xmlns:a16="http://schemas.microsoft.com/office/drawing/2014/main" id="{62FAD631-C746-5D7C-7B99-F62F787F66F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TextBox 10">
            <a:extLst>
              <a:ext uri="{FF2B5EF4-FFF2-40B4-BE49-F238E27FC236}">
                <a16:creationId xmlns:a16="http://schemas.microsoft.com/office/drawing/2014/main" id="{06E4CE59-112E-4683-4813-73FFD6441640}"/>
              </a:ext>
            </a:extLst>
          </p:cNvPr>
          <p:cNvSpPr txBox="1"/>
          <p:nvPr/>
        </p:nvSpPr>
        <p:spPr>
          <a:xfrm>
            <a:off x="1902766" y="87001"/>
            <a:ext cx="8386466" cy="646331"/>
          </a:xfrm>
          <a:prstGeom prst="rect">
            <a:avLst/>
          </a:prstGeom>
          <a:noFill/>
          <a:effectLst/>
        </p:spPr>
        <p:txBody>
          <a:bodyPr wrap="square" rtlCol="0">
            <a:spAutoFit/>
          </a:bodyPr>
          <a:lstStyle/>
          <a:p>
            <a:pPr algn="ctr"/>
            <a:r>
              <a:rPr lang="en-US" sz="3600" dirty="0">
                <a:latin typeface="Aharoni" panose="02010803020104030203" pitchFamily="2" charset="-79"/>
                <a:cs typeface="Aharoni" panose="02010803020104030203" pitchFamily="2" charset="-79"/>
              </a:rPr>
              <a:t>LiDAR</a:t>
            </a:r>
          </a:p>
        </p:txBody>
      </p:sp>
      <p:grpSp>
        <p:nvGrpSpPr>
          <p:cNvPr id="3" name="Group 2">
            <a:extLst>
              <a:ext uri="{FF2B5EF4-FFF2-40B4-BE49-F238E27FC236}">
                <a16:creationId xmlns:a16="http://schemas.microsoft.com/office/drawing/2014/main" id="{77D9E427-2DAB-B755-C543-3A6675FB67FB}"/>
              </a:ext>
            </a:extLst>
          </p:cNvPr>
          <p:cNvGrpSpPr/>
          <p:nvPr/>
        </p:nvGrpSpPr>
        <p:grpSpPr>
          <a:xfrm>
            <a:off x="9982200" y="-202106"/>
            <a:ext cx="2134545" cy="1024482"/>
            <a:chOff x="8381055" y="-202106"/>
            <a:chExt cx="2134545" cy="1024482"/>
          </a:xfrm>
        </p:grpSpPr>
        <p:grpSp>
          <p:nvGrpSpPr>
            <p:cNvPr id="6" name="Group 5">
              <a:extLst>
                <a:ext uri="{FF2B5EF4-FFF2-40B4-BE49-F238E27FC236}">
                  <a16:creationId xmlns:a16="http://schemas.microsoft.com/office/drawing/2014/main" id="{5820049F-75F1-A0FA-0627-D9C02388944E}"/>
                </a:ext>
              </a:extLst>
            </p:cNvPr>
            <p:cNvGrpSpPr/>
            <p:nvPr/>
          </p:nvGrpSpPr>
          <p:grpSpPr>
            <a:xfrm>
              <a:off x="9319106" y="47827"/>
              <a:ext cx="1196494" cy="576524"/>
              <a:chOff x="9106493" y="2785014"/>
              <a:chExt cx="1196494" cy="576524"/>
            </a:xfrm>
          </p:grpSpPr>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6720" b="32723"/>
              <a:stretch/>
            </p:blipFill>
            <p:spPr bwMode="auto">
              <a:xfrm>
                <a:off x="9106493" y="2785014"/>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logo with text on it&#10;&#10;Description automatically generated">
                <a:extLst>
                  <a:ext uri="{FF2B5EF4-FFF2-40B4-BE49-F238E27FC236}">
                    <a16:creationId xmlns:a16="http://schemas.microsoft.com/office/drawing/2014/main" id="{0EA42647-1E02-776A-8EE8-DD142B9A9E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6194" y="2804745"/>
                <a:ext cx="556793" cy="556793"/>
              </a:xfrm>
              <a:prstGeom prst="rect">
                <a:avLst/>
              </a:prstGeom>
            </p:spPr>
          </p:pic>
        </p:grpSp>
        <p:pic>
          <p:nvPicPr>
            <p:cNvPr id="7" name="Picture 3">
              <a:extLst>
                <a:ext uri="{FF2B5EF4-FFF2-40B4-BE49-F238E27FC236}">
                  <a16:creationId xmlns:a16="http://schemas.microsoft.com/office/drawing/2014/main" id="{44BC0E71-6C7A-C3A1-7121-95EA608BD0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1055" y="-202106"/>
              <a:ext cx="943158" cy="1024482"/>
            </a:xfrm>
            <a:prstGeom prst="rect">
              <a:avLst/>
            </a:prstGeom>
            <a:noFill/>
            <a:extLst>
              <a:ext uri="{909E8E84-426E-40DD-AFC4-6F175D3DCCD1}">
                <a14:hiddenFill xmlns:a14="http://schemas.microsoft.com/office/drawing/2010/main">
                  <a:solidFill>
                    <a:srgbClr val="FFFFFF"/>
                  </a:solidFill>
                </a14:hiddenFill>
              </a:ext>
            </a:extLst>
          </p:spPr>
        </p:pic>
      </p:gr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10</a:t>
            </a:fld>
            <a:endParaRPr lang="fr-FR" b="1" dirty="0">
              <a:solidFill>
                <a:schemeClr val="tx1"/>
              </a:solidFill>
              <a:latin typeface="Abadi" panose="020B0604020104020204" pitchFamily="34" charset="0"/>
            </a:endParaRPr>
          </a:p>
        </p:txBody>
      </p:sp>
      <p:sp>
        <p:nvSpPr>
          <p:cNvPr id="4" name="TextBox 3">
            <a:extLst>
              <a:ext uri="{FF2B5EF4-FFF2-40B4-BE49-F238E27FC236}">
                <a16:creationId xmlns:a16="http://schemas.microsoft.com/office/drawing/2014/main" id="{F767BA9D-0B46-D907-29E7-D1E77533BD80}"/>
              </a:ext>
            </a:extLst>
          </p:cNvPr>
          <p:cNvSpPr txBox="1"/>
          <p:nvPr/>
        </p:nvSpPr>
        <p:spPr>
          <a:xfrm>
            <a:off x="-158891" y="1216558"/>
            <a:ext cx="10550665" cy="1514325"/>
          </a:xfrm>
          <a:prstGeom prst="rect">
            <a:avLst/>
          </a:prstGeom>
          <a:noFill/>
        </p:spPr>
        <p:txBody>
          <a:bodyPr wrap="square">
            <a:spAutoFit/>
          </a:bodyPr>
          <a:lstStyle/>
          <a:p>
            <a:pPr marL="800100" lvl="1" indent="-342900" algn="just">
              <a:lnSpc>
                <a:spcPct val="150000"/>
              </a:lnSpc>
              <a:buFont typeface="Wingdings" panose="05000000000000000000" pitchFamily="2" charset="2"/>
              <a:buChar char="q"/>
            </a:pPr>
            <a:r>
              <a:rPr lang="en-US" sz="2400" b="1" dirty="0">
                <a:solidFill>
                  <a:srgbClr val="000099"/>
                </a:solidFill>
                <a:latin typeface="Times New Roman" panose="02020603050405020304" pitchFamily="18" charset="0"/>
                <a:cs typeface="Times New Roman" panose="02020603050405020304" pitchFamily="18" charset="0"/>
              </a:rPr>
              <a:t>Overview of LiDAR (Light Detection and Ranging) Technology:</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LiDAR operates by emitting laser pulses and measuring the time it takes for the light to return after hitting an object, allowing for the creation of detailed 3D maps.</a:t>
            </a:r>
          </a:p>
        </p:txBody>
      </p:sp>
      <p:sp>
        <p:nvSpPr>
          <p:cNvPr id="5" name="TextBox 4">
            <a:extLst>
              <a:ext uri="{FF2B5EF4-FFF2-40B4-BE49-F238E27FC236}">
                <a16:creationId xmlns:a16="http://schemas.microsoft.com/office/drawing/2014/main" id="{AE284BBF-01A2-1B0D-710D-76D74BF23F75}"/>
              </a:ext>
            </a:extLst>
          </p:cNvPr>
          <p:cNvSpPr txBox="1"/>
          <p:nvPr/>
        </p:nvSpPr>
        <p:spPr>
          <a:xfrm>
            <a:off x="237553" y="631783"/>
            <a:ext cx="11322399" cy="584775"/>
          </a:xfrm>
          <a:prstGeom prst="rect">
            <a:avLst/>
          </a:prstGeom>
          <a:noFill/>
          <a:effectLst/>
        </p:spPr>
        <p:txBody>
          <a:bodyPr wrap="square" rtlCol="0">
            <a:spAutoFit/>
          </a:bodyPr>
          <a:lstStyle/>
          <a:p>
            <a:r>
              <a:rPr lang="en-US" sz="3200" dirty="0">
                <a:solidFill>
                  <a:srgbClr val="990000"/>
                </a:solidFill>
                <a:latin typeface="Aharoni" panose="02010803020104030203" pitchFamily="2" charset="-79"/>
                <a:cs typeface="Aharoni" panose="02010803020104030203" pitchFamily="2" charset="-79"/>
              </a:rPr>
              <a:t>LiDAR Technology: Overview</a:t>
            </a:r>
          </a:p>
        </p:txBody>
      </p:sp>
      <p:sp>
        <p:nvSpPr>
          <p:cNvPr id="10" name="กล่องข้อความ 22">
            <a:extLst>
              <a:ext uri="{FF2B5EF4-FFF2-40B4-BE49-F238E27FC236}">
                <a16:creationId xmlns:a16="http://schemas.microsoft.com/office/drawing/2014/main" id="{7DA60966-2951-E6B4-8E49-97CC60EC14A5}"/>
              </a:ext>
            </a:extLst>
          </p:cNvPr>
          <p:cNvSpPr txBox="1"/>
          <p:nvPr/>
        </p:nvSpPr>
        <p:spPr>
          <a:xfrm>
            <a:off x="7945481" y="5071279"/>
            <a:ext cx="6523507"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chemeClr val="tx1">
                    <a:lumMod val="50000"/>
                    <a:lumOff val="50000"/>
                  </a:schemeClr>
                </a:solidFill>
                <a:latin typeface="Times New Roman" panose="02020603050405020304" pitchFamily="18" charset="0"/>
                <a:cs typeface="Times New Roman" panose="02020603050405020304" pitchFamily="18" charset="0"/>
              </a:rPr>
              <a:t>https://blog.lidarnews.com/lidar-technology-explained-at-the-electronics-level/</a:t>
            </a:r>
          </a:p>
        </p:txBody>
      </p:sp>
      <p:pic>
        <p:nvPicPr>
          <p:cNvPr id="2050" name="Picture 2" descr="Lidar Technology Explained at the Electronics Level | In the Scan">
            <a:extLst>
              <a:ext uri="{FF2B5EF4-FFF2-40B4-BE49-F238E27FC236}">
                <a16:creationId xmlns:a16="http://schemas.microsoft.com/office/drawing/2014/main" id="{1975823F-F1A8-AA15-CBF5-0154120D7E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0088" y="3174116"/>
            <a:ext cx="4684358" cy="194525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Table 11">
            <a:extLst>
              <a:ext uri="{FF2B5EF4-FFF2-40B4-BE49-F238E27FC236}">
                <a16:creationId xmlns:a16="http://schemas.microsoft.com/office/drawing/2014/main" id="{FD1A59B3-15EF-1841-3589-2579B32F4D73}"/>
              </a:ext>
            </a:extLst>
          </p:cNvPr>
          <p:cNvGraphicFramePr>
            <a:graphicFrameLocks noGrp="1"/>
          </p:cNvGraphicFramePr>
          <p:nvPr/>
        </p:nvGraphicFramePr>
        <p:xfrm>
          <a:off x="731493" y="2730883"/>
          <a:ext cx="6193090" cy="3935245"/>
        </p:xfrm>
        <a:graphic>
          <a:graphicData uri="http://schemas.openxmlformats.org/drawingml/2006/table">
            <a:tbl>
              <a:tblPr firstRow="1" bandRow="1">
                <a:tableStyleId>{21E4AEA4-8DFA-4A89-87EB-49C32662AFE0}</a:tableStyleId>
              </a:tblPr>
              <a:tblGrid>
                <a:gridCol w="2846162">
                  <a:extLst>
                    <a:ext uri="{9D8B030D-6E8A-4147-A177-3AD203B41FA5}">
                      <a16:colId xmlns:a16="http://schemas.microsoft.com/office/drawing/2014/main" val="1230497389"/>
                    </a:ext>
                  </a:extLst>
                </a:gridCol>
                <a:gridCol w="3346928">
                  <a:extLst>
                    <a:ext uri="{9D8B030D-6E8A-4147-A177-3AD203B41FA5}">
                      <a16:colId xmlns:a16="http://schemas.microsoft.com/office/drawing/2014/main" val="1673752573"/>
                    </a:ext>
                  </a:extLst>
                </a:gridCol>
              </a:tblGrid>
              <a:tr h="377571">
                <a:tc>
                  <a:txBody>
                    <a:bodyPr/>
                    <a:lstStyle/>
                    <a:p>
                      <a:pPr algn="ctr"/>
                      <a:r>
                        <a:rPr lang="en-US" sz="1600" b="1" dirty="0">
                          <a:solidFill>
                            <a:schemeClr val="tx1"/>
                          </a:solidFill>
                          <a:latin typeface="Times New Roman" panose="02020603050405020304" pitchFamily="18" charset="0"/>
                          <a:cs typeface="Times New Roman" panose="02020603050405020304" pitchFamily="18" charset="0"/>
                        </a:rPr>
                        <a:t>Feature</a:t>
                      </a:r>
                      <a:endParaRPr lang="en-US" sz="1600" dirty="0">
                        <a:solidFill>
                          <a:schemeClr val="tx1"/>
                        </a:solidFill>
                        <a:latin typeface="Times New Roman" panose="02020603050405020304" pitchFamily="18" charset="0"/>
                        <a:cs typeface="Times New Roman" panose="02020603050405020304" pitchFamily="18" charset="0"/>
                      </a:endParaRPr>
                    </a:p>
                  </a:txBody>
                  <a:tcPr marL="76209" marR="76209" marT="31492" marB="31492" anchor="ctr"/>
                </a:tc>
                <a:tc>
                  <a:txBody>
                    <a:bodyPr/>
                    <a:lstStyle/>
                    <a:p>
                      <a:pPr algn="ctr"/>
                      <a:r>
                        <a:rPr lang="en-US" sz="1600" b="1" dirty="0">
                          <a:solidFill>
                            <a:schemeClr val="tx1"/>
                          </a:solidFill>
                          <a:latin typeface="Times New Roman" panose="02020603050405020304" pitchFamily="18" charset="0"/>
                          <a:cs typeface="Times New Roman" panose="02020603050405020304" pitchFamily="18" charset="0"/>
                        </a:rPr>
                        <a:t>LiDAR</a:t>
                      </a:r>
                      <a:endParaRPr lang="en-US" sz="1600" dirty="0">
                        <a:solidFill>
                          <a:schemeClr val="tx1"/>
                        </a:solidFill>
                        <a:latin typeface="Times New Roman" panose="02020603050405020304" pitchFamily="18" charset="0"/>
                        <a:cs typeface="Times New Roman" panose="02020603050405020304" pitchFamily="18" charset="0"/>
                      </a:endParaRPr>
                    </a:p>
                  </a:txBody>
                  <a:tcPr marL="76209" marR="76209" marT="31492" marB="31492" anchor="ctr"/>
                </a:tc>
                <a:extLst>
                  <a:ext uri="{0D108BD9-81ED-4DB2-BD59-A6C34878D82A}">
                    <a16:rowId xmlns:a16="http://schemas.microsoft.com/office/drawing/2014/main" val="560474321"/>
                  </a:ext>
                </a:extLst>
              </a:tr>
              <a:tr h="818782">
                <a:tc>
                  <a:txBody>
                    <a:bodyPr/>
                    <a:lstStyle/>
                    <a:p>
                      <a:pPr algn="ctr"/>
                      <a:r>
                        <a:rPr lang="en-US" sz="1600" b="1" dirty="0">
                          <a:latin typeface="Times New Roman" panose="02020603050405020304" pitchFamily="18" charset="0"/>
                          <a:cs typeface="Times New Roman" panose="02020603050405020304" pitchFamily="18" charset="0"/>
                        </a:rPr>
                        <a:t>Principle of Operation</a:t>
                      </a:r>
                      <a:endParaRPr lang="en-US" sz="1600" dirty="0">
                        <a:latin typeface="Times New Roman" panose="02020603050405020304" pitchFamily="18" charset="0"/>
                        <a:cs typeface="Times New Roman" panose="02020603050405020304" pitchFamily="18" charset="0"/>
                      </a:endParaRPr>
                    </a:p>
                  </a:txBody>
                  <a:tcPr marL="76209" marR="76209" marT="31492" marB="31492" anchor="ctr"/>
                </a:tc>
                <a:tc>
                  <a:txBody>
                    <a:bodyPr/>
                    <a:lstStyle/>
                    <a:p>
                      <a:pPr algn="ctr"/>
                      <a:r>
                        <a:rPr lang="en-US" sz="1600" dirty="0">
                          <a:latin typeface="Times New Roman" panose="02020603050405020304" pitchFamily="18" charset="0"/>
                          <a:cs typeface="Times New Roman" panose="02020603050405020304" pitchFamily="18" charset="0"/>
                        </a:rPr>
                        <a:t>Emits laser pulses and measures return time to calculate distance.</a:t>
                      </a:r>
                    </a:p>
                  </a:txBody>
                  <a:tcPr marL="76209" marR="76209" marT="31492" marB="31492" anchor="ctr"/>
                </a:tc>
                <a:extLst>
                  <a:ext uri="{0D108BD9-81ED-4DB2-BD59-A6C34878D82A}">
                    <a16:rowId xmlns:a16="http://schemas.microsoft.com/office/drawing/2014/main" val="321292657"/>
                  </a:ext>
                </a:extLst>
              </a:tr>
              <a:tr h="818782">
                <a:tc>
                  <a:txBody>
                    <a:bodyPr/>
                    <a:lstStyle/>
                    <a:p>
                      <a:pPr algn="ctr"/>
                      <a:r>
                        <a:rPr lang="en-US" sz="1600" b="1" dirty="0">
                          <a:latin typeface="Times New Roman" panose="02020603050405020304" pitchFamily="18" charset="0"/>
                          <a:cs typeface="Times New Roman" panose="02020603050405020304" pitchFamily="18" charset="0"/>
                        </a:rPr>
                        <a:t>Accuracy</a:t>
                      </a:r>
                      <a:endParaRPr lang="en-US" sz="1600" dirty="0">
                        <a:latin typeface="Times New Roman" panose="02020603050405020304" pitchFamily="18" charset="0"/>
                        <a:cs typeface="Times New Roman" panose="02020603050405020304" pitchFamily="18" charset="0"/>
                      </a:endParaRPr>
                    </a:p>
                  </a:txBody>
                  <a:tcPr marL="76209" marR="76209" marT="31492" marB="31492" anchor="ctr"/>
                </a:tc>
                <a:tc>
                  <a:txBody>
                    <a:bodyPr/>
                    <a:lstStyle/>
                    <a:p>
                      <a:pPr algn="ctr"/>
                      <a:r>
                        <a:rPr lang="en-US" sz="1600" dirty="0">
                          <a:latin typeface="Times New Roman" panose="02020603050405020304" pitchFamily="18" charset="0"/>
                          <a:cs typeface="Times New Roman" panose="02020603050405020304" pitchFamily="18" charset="0"/>
                        </a:rPr>
                        <a:t>Highly accurate, capable of generating 3D data</a:t>
                      </a:r>
                    </a:p>
                  </a:txBody>
                  <a:tcPr marL="76209" marR="76209" marT="31492" marB="31492" anchor="ctr"/>
                </a:tc>
                <a:extLst>
                  <a:ext uri="{0D108BD9-81ED-4DB2-BD59-A6C34878D82A}">
                    <a16:rowId xmlns:a16="http://schemas.microsoft.com/office/drawing/2014/main" val="309895311"/>
                  </a:ext>
                </a:extLst>
              </a:tr>
              <a:tr h="818782">
                <a:tc>
                  <a:txBody>
                    <a:bodyPr/>
                    <a:lstStyle/>
                    <a:p>
                      <a:pPr algn="ctr"/>
                      <a:r>
                        <a:rPr lang="en-US" sz="1600" b="1">
                          <a:latin typeface="Times New Roman" panose="02020603050405020304" pitchFamily="18" charset="0"/>
                          <a:cs typeface="Times New Roman" panose="02020603050405020304" pitchFamily="18" charset="0"/>
                        </a:rPr>
                        <a:t>Performance in Low Light</a:t>
                      </a:r>
                      <a:endParaRPr lang="en-US" sz="1600">
                        <a:latin typeface="Times New Roman" panose="02020603050405020304" pitchFamily="18" charset="0"/>
                        <a:cs typeface="Times New Roman" panose="02020603050405020304" pitchFamily="18" charset="0"/>
                      </a:endParaRPr>
                    </a:p>
                  </a:txBody>
                  <a:tcPr marL="76209" marR="76209" marT="31492" marB="31492" anchor="ctr"/>
                </a:tc>
                <a:tc>
                  <a:txBody>
                    <a:bodyPr/>
                    <a:lstStyle/>
                    <a:p>
                      <a:pPr algn="ctr"/>
                      <a:r>
                        <a:rPr lang="en-US" sz="1600" dirty="0">
                          <a:latin typeface="Times New Roman" panose="02020603050405020304" pitchFamily="18" charset="0"/>
                          <a:cs typeface="Times New Roman" panose="02020603050405020304" pitchFamily="18" charset="0"/>
                        </a:rPr>
                        <a:t>Performs well in low light or total darkness.</a:t>
                      </a:r>
                    </a:p>
                  </a:txBody>
                  <a:tcPr marL="76209" marR="76209" marT="31492" marB="31492" anchor="ctr"/>
                </a:tc>
                <a:extLst>
                  <a:ext uri="{0D108BD9-81ED-4DB2-BD59-A6C34878D82A}">
                    <a16:rowId xmlns:a16="http://schemas.microsoft.com/office/drawing/2014/main" val="131477993"/>
                  </a:ext>
                </a:extLst>
              </a:tr>
              <a:tr h="0">
                <a:tc>
                  <a:txBody>
                    <a:bodyPr/>
                    <a:lstStyle/>
                    <a:p>
                      <a:pPr algn="ctr"/>
                      <a:r>
                        <a:rPr lang="en-US" sz="1600" b="1" dirty="0">
                          <a:latin typeface="Times New Roman" panose="02020603050405020304" pitchFamily="18" charset="0"/>
                          <a:cs typeface="Times New Roman" panose="02020603050405020304" pitchFamily="18" charset="0"/>
                        </a:rPr>
                        <a:t>Lighting Dependency</a:t>
                      </a:r>
                      <a:endParaRPr lang="en-US" sz="1600" dirty="0">
                        <a:latin typeface="Times New Roman" panose="02020603050405020304" pitchFamily="18" charset="0"/>
                        <a:cs typeface="Times New Roman" panose="02020603050405020304" pitchFamily="18" charset="0"/>
                      </a:endParaRPr>
                    </a:p>
                  </a:txBody>
                  <a:tcPr marL="76209" marR="76209" marT="31492" marB="31492" anchor="ctr"/>
                </a:tc>
                <a:tc>
                  <a:txBody>
                    <a:bodyPr/>
                    <a:lstStyle/>
                    <a:p>
                      <a:pPr algn="ctr"/>
                      <a:r>
                        <a:rPr lang="en-US" sz="1600" dirty="0">
                          <a:latin typeface="Times New Roman" panose="02020603050405020304" pitchFamily="18" charset="0"/>
                          <a:cs typeface="Times New Roman" panose="02020603050405020304" pitchFamily="18" charset="0"/>
                        </a:rPr>
                        <a:t>Independent of ambient light; works in all lighting conditions.</a:t>
                      </a:r>
                    </a:p>
                  </a:txBody>
                  <a:tcPr marL="76209" marR="76209" marT="31492" marB="31492" anchor="ctr"/>
                </a:tc>
                <a:extLst>
                  <a:ext uri="{0D108BD9-81ED-4DB2-BD59-A6C34878D82A}">
                    <a16:rowId xmlns:a16="http://schemas.microsoft.com/office/drawing/2014/main" val="325302473"/>
                  </a:ext>
                </a:extLst>
              </a:tr>
              <a:tr h="0">
                <a:tc>
                  <a:txBody>
                    <a:bodyPr/>
                    <a:lstStyle/>
                    <a:p>
                      <a:pPr algn="ctr"/>
                      <a:r>
                        <a:rPr lang="en-US" sz="1600" b="1" dirty="0">
                          <a:latin typeface="Times New Roman" panose="02020603050405020304" pitchFamily="18" charset="0"/>
                          <a:cs typeface="Times New Roman" panose="02020603050405020304" pitchFamily="18" charset="0"/>
                        </a:rPr>
                        <a:t>Multiple returns</a:t>
                      </a:r>
                    </a:p>
                  </a:txBody>
                  <a:tcPr marL="76209" marR="76209" marT="31492" marB="31492" anchor="ctr"/>
                </a:tc>
                <a:tc>
                  <a:txBody>
                    <a:bodyPr/>
                    <a:lstStyle/>
                    <a:p>
                      <a:pPr algn="ctr"/>
                      <a:r>
                        <a:rPr lang="en-US" sz="1600" dirty="0">
                          <a:latin typeface="Times New Roman" panose="02020603050405020304" pitchFamily="18" charset="0"/>
                          <a:cs typeface="Times New Roman" panose="02020603050405020304" pitchFamily="18" charset="0"/>
                        </a:rPr>
                        <a:t>LiDAR can "penetrate" certain surfaces</a:t>
                      </a:r>
                    </a:p>
                  </a:txBody>
                  <a:tcPr marL="76209" marR="76209" marT="31492" marB="31492" anchor="ctr"/>
                </a:tc>
                <a:extLst>
                  <a:ext uri="{0D108BD9-81ED-4DB2-BD59-A6C34878D82A}">
                    <a16:rowId xmlns:a16="http://schemas.microsoft.com/office/drawing/2014/main" val="3122416338"/>
                  </a:ext>
                </a:extLst>
              </a:tr>
            </a:tbl>
          </a:graphicData>
        </a:graphic>
      </p:graphicFrame>
      <p:sp>
        <p:nvSpPr>
          <p:cNvPr id="13" name="TextBox 12">
            <a:extLst>
              <a:ext uri="{FF2B5EF4-FFF2-40B4-BE49-F238E27FC236}">
                <a16:creationId xmlns:a16="http://schemas.microsoft.com/office/drawing/2014/main" id="{67AD453B-3A07-3BA2-A284-7F7A48B98337}"/>
              </a:ext>
            </a:extLst>
          </p:cNvPr>
          <p:cNvSpPr txBox="1"/>
          <p:nvPr/>
        </p:nvSpPr>
        <p:spPr>
          <a:xfrm>
            <a:off x="8046371" y="2679240"/>
            <a:ext cx="3643057" cy="498663"/>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LiDAR Working Principle</a:t>
            </a:r>
          </a:p>
        </p:txBody>
      </p:sp>
    </p:spTree>
    <p:extLst>
      <p:ext uri="{BB962C8B-B14F-4D97-AF65-F5344CB8AC3E}">
        <p14:creationId xmlns:p14="http://schemas.microsoft.com/office/powerpoint/2010/main" val="10084430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Shape&#10;&#10;Description automatically generated with medium confidence">
            <a:extLst>
              <a:ext uri="{FF2B5EF4-FFF2-40B4-BE49-F238E27FC236}">
                <a16:creationId xmlns:a16="http://schemas.microsoft.com/office/drawing/2014/main" id="{47649F62-D3A9-12F2-84CE-3B02B89EAB4A}"/>
              </a:ext>
            </a:extLst>
          </p:cNvPr>
          <p:cNvPicPr>
            <a:picLocks noChangeAspect="1"/>
          </p:cNvPicPr>
          <p:nvPr/>
        </p:nvPicPr>
        <p:blipFill>
          <a:blip r:embed="rId8">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3429000"/>
            <a:ext cx="12192000" cy="3429000"/>
          </a:xfrm>
          <a:prstGeom prst="rect">
            <a:avLst/>
          </a:prstGeom>
        </p:spPr>
      </p:pic>
      <p:grpSp>
        <p:nvGrpSpPr>
          <p:cNvPr id="3" name="Group 2">
            <a:extLst>
              <a:ext uri="{FF2B5EF4-FFF2-40B4-BE49-F238E27FC236}">
                <a16:creationId xmlns:a16="http://schemas.microsoft.com/office/drawing/2014/main" id="{77D9E427-2DAB-B755-C543-3A6675FB67FB}"/>
              </a:ext>
            </a:extLst>
          </p:cNvPr>
          <p:cNvGrpSpPr/>
          <p:nvPr/>
        </p:nvGrpSpPr>
        <p:grpSpPr>
          <a:xfrm>
            <a:off x="9982200" y="-202106"/>
            <a:ext cx="2134545" cy="1024482"/>
            <a:chOff x="8381055" y="-202106"/>
            <a:chExt cx="2134545" cy="1024482"/>
          </a:xfrm>
        </p:grpSpPr>
        <p:grpSp>
          <p:nvGrpSpPr>
            <p:cNvPr id="6" name="Group 5">
              <a:extLst>
                <a:ext uri="{FF2B5EF4-FFF2-40B4-BE49-F238E27FC236}">
                  <a16:creationId xmlns:a16="http://schemas.microsoft.com/office/drawing/2014/main" id="{5820049F-75F1-A0FA-0627-D9C02388944E}"/>
                </a:ext>
              </a:extLst>
            </p:cNvPr>
            <p:cNvGrpSpPr/>
            <p:nvPr/>
          </p:nvGrpSpPr>
          <p:grpSpPr>
            <a:xfrm>
              <a:off x="9319106" y="47827"/>
              <a:ext cx="1196494" cy="576524"/>
              <a:chOff x="9106493" y="2785014"/>
              <a:chExt cx="1196494" cy="576524"/>
            </a:xfrm>
          </p:grpSpPr>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r="46720" b="32723"/>
              <a:stretch/>
            </p:blipFill>
            <p:spPr bwMode="auto">
              <a:xfrm>
                <a:off x="9106493" y="2785014"/>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logo with text on it&#10;&#10;Description automatically generated">
                <a:extLst>
                  <a:ext uri="{FF2B5EF4-FFF2-40B4-BE49-F238E27FC236}">
                    <a16:creationId xmlns:a16="http://schemas.microsoft.com/office/drawing/2014/main" id="{0EA42647-1E02-776A-8EE8-DD142B9A9EA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746194" y="2804745"/>
                <a:ext cx="556793" cy="556793"/>
              </a:xfrm>
              <a:prstGeom prst="rect">
                <a:avLst/>
              </a:prstGeom>
            </p:spPr>
          </p:pic>
        </p:grpSp>
        <p:pic>
          <p:nvPicPr>
            <p:cNvPr id="7" name="Picture 3">
              <a:extLst>
                <a:ext uri="{FF2B5EF4-FFF2-40B4-BE49-F238E27FC236}">
                  <a16:creationId xmlns:a16="http://schemas.microsoft.com/office/drawing/2014/main" id="{44BC0E71-6C7A-C3A1-7121-95EA608BD08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81055" y="-202106"/>
              <a:ext cx="943158" cy="1024482"/>
            </a:xfrm>
            <a:prstGeom prst="rect">
              <a:avLst/>
            </a:prstGeom>
            <a:noFill/>
            <a:extLst>
              <a:ext uri="{909E8E84-426E-40DD-AFC4-6F175D3DCCD1}">
                <a14:hiddenFill xmlns:a14="http://schemas.microsoft.com/office/drawing/2010/main">
                  <a:solidFill>
                    <a:srgbClr val="FFFFFF"/>
                  </a:solidFill>
                </a14:hiddenFill>
              </a:ext>
            </a:extLst>
          </p:spPr>
        </p:pic>
      </p:gr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11</a:t>
            </a:fld>
            <a:endParaRPr lang="fr-FR" b="1" dirty="0">
              <a:solidFill>
                <a:schemeClr val="tx1"/>
              </a:solidFill>
              <a:latin typeface="Abadi" panose="020B0604020104020204" pitchFamily="34" charset="0"/>
            </a:endParaRPr>
          </a:p>
        </p:txBody>
      </p:sp>
      <p:sp>
        <p:nvSpPr>
          <p:cNvPr id="4" name="TextBox 3">
            <a:extLst>
              <a:ext uri="{FF2B5EF4-FFF2-40B4-BE49-F238E27FC236}">
                <a16:creationId xmlns:a16="http://schemas.microsoft.com/office/drawing/2014/main" id="{F767BA9D-0B46-D907-29E7-D1E77533BD80}"/>
              </a:ext>
            </a:extLst>
          </p:cNvPr>
          <p:cNvSpPr txBox="1"/>
          <p:nvPr/>
        </p:nvSpPr>
        <p:spPr>
          <a:xfrm>
            <a:off x="-158890" y="1216558"/>
            <a:ext cx="7997966" cy="4278864"/>
          </a:xfrm>
          <a:prstGeom prst="rect">
            <a:avLst/>
          </a:prstGeom>
          <a:noFill/>
        </p:spPr>
        <p:txBody>
          <a:bodyPr wrap="square">
            <a:spAutoFit/>
          </a:bodyPr>
          <a:lstStyle/>
          <a:p>
            <a:pPr marL="800100" lvl="1" indent="-342900" algn="just">
              <a:lnSpc>
                <a:spcPct val="150000"/>
              </a:lnSpc>
              <a:buFont typeface="Wingdings" panose="05000000000000000000" pitchFamily="2" charset="2"/>
              <a:buChar char="q"/>
            </a:pPr>
            <a:r>
              <a:rPr lang="en-US" sz="2800" b="1" dirty="0">
                <a:solidFill>
                  <a:srgbClr val="000099"/>
                </a:solidFill>
                <a:latin typeface="Times New Roman" panose="02020603050405020304" pitchFamily="18" charset="0"/>
                <a:cs typeface="Times New Roman" panose="02020603050405020304" pitchFamily="18" charset="0"/>
              </a:rPr>
              <a:t>LiDAR Data Type:</a:t>
            </a:r>
          </a:p>
          <a:p>
            <a:pPr marL="1257300" lvl="2" indent="-342900" algn="just">
              <a:lnSpc>
                <a:spcPct val="150000"/>
              </a:lnSpc>
              <a:buFont typeface="Wingdings" panose="05000000000000000000" pitchFamily="2" charset="2"/>
              <a:buChar char="v"/>
            </a:pPr>
            <a:r>
              <a:rPr lang="en-US" sz="2400" b="1" dirty="0" err="1">
                <a:latin typeface="Times New Roman" panose="02020603050405020304" pitchFamily="18" charset="0"/>
                <a:cs typeface="Times New Roman" panose="02020603050405020304" pitchFamily="18" charset="0"/>
              </a:rPr>
              <a:t>Pointcloud</a:t>
            </a:r>
            <a:r>
              <a:rPr lang="en-US" sz="2400" b="1" dirty="0">
                <a:latin typeface="Times New Roman" panose="02020603050405020304" pitchFamily="18" charset="0"/>
                <a:cs typeface="Times New Roman" panose="02020603050405020304" pitchFamily="18" charset="0"/>
              </a:rPr>
              <a:t> data</a:t>
            </a:r>
          </a:p>
          <a:p>
            <a:pPr marL="1714500" lvl="3" indent="-342900" algn="just">
              <a:lnSpc>
                <a:spcPct val="150000"/>
              </a:lnSpc>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Represents the 3D structure of the environment captured by LiDAR.</a:t>
            </a:r>
          </a:p>
          <a:p>
            <a:pPr marL="1714500" lvl="3" indent="-342900" algn="just">
              <a:lnSpc>
                <a:spcPct val="150000"/>
              </a:lnSpc>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Consists of a collection of points, each with X, Y, Z coordinates, representing the surfaces in the 3D space.</a:t>
            </a:r>
          </a:p>
          <a:p>
            <a:pPr marL="1714500" lvl="3" indent="-342900" algn="just">
              <a:lnSpc>
                <a:spcPct val="150000"/>
              </a:lnSpc>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Provides detailed spatial information, enabling accurate modeling and analysis of the environment.</a:t>
            </a:r>
          </a:p>
        </p:txBody>
      </p:sp>
      <p:sp>
        <p:nvSpPr>
          <p:cNvPr id="5" name="TextBox 4">
            <a:extLst>
              <a:ext uri="{FF2B5EF4-FFF2-40B4-BE49-F238E27FC236}">
                <a16:creationId xmlns:a16="http://schemas.microsoft.com/office/drawing/2014/main" id="{AE284BBF-01A2-1B0D-710D-76D74BF23F75}"/>
              </a:ext>
            </a:extLst>
          </p:cNvPr>
          <p:cNvSpPr txBox="1"/>
          <p:nvPr/>
        </p:nvSpPr>
        <p:spPr>
          <a:xfrm>
            <a:off x="237553" y="631783"/>
            <a:ext cx="11322399" cy="584775"/>
          </a:xfrm>
          <a:prstGeom prst="rect">
            <a:avLst/>
          </a:prstGeom>
          <a:noFill/>
          <a:effectLst/>
        </p:spPr>
        <p:txBody>
          <a:bodyPr wrap="square" rtlCol="0">
            <a:spAutoFit/>
          </a:bodyPr>
          <a:lstStyle/>
          <a:p>
            <a:r>
              <a:rPr lang="en-US" sz="3200" dirty="0">
                <a:solidFill>
                  <a:srgbClr val="990000"/>
                </a:solidFill>
                <a:latin typeface="Aharoni" panose="02010803020104030203" pitchFamily="2" charset="-79"/>
                <a:cs typeface="Aharoni" panose="02010803020104030203" pitchFamily="2" charset="-79"/>
              </a:rPr>
              <a:t>LiDAR Technology: Data Type</a:t>
            </a:r>
          </a:p>
        </p:txBody>
      </p:sp>
      <p:pic>
        <p:nvPicPr>
          <p:cNvPr id="23" name="20240910-1003-19.5333192">
            <a:hlinkClick r:id="" action="ppaction://media"/>
            <a:extLst>
              <a:ext uri="{FF2B5EF4-FFF2-40B4-BE49-F238E27FC236}">
                <a16:creationId xmlns:a16="http://schemas.microsoft.com/office/drawing/2014/main" id="{A373CEFD-9264-E524-88D2-9997CE44E4FB}"/>
              </a:ext>
            </a:extLst>
          </p:cNvPr>
          <p:cNvPicPr>
            <a:picLocks noChangeAspect="1"/>
          </p:cNvPicPr>
          <p:nvPr>
            <a:videoFile r:link="rId3"/>
            <p:extLst>
              <p:ext uri="{DAA4B4D4-6D71-4841-9C94-3DE7FCFB9230}">
                <p14:media xmlns:p14="http://schemas.microsoft.com/office/powerpoint/2010/main" r:embed="rId2"/>
              </p:ext>
            </p:extLst>
          </p:nvPr>
        </p:nvPicPr>
        <p:blipFill>
          <a:blip r:embed="rId12"/>
          <a:stretch>
            <a:fillRect/>
          </a:stretch>
        </p:blipFill>
        <p:spPr>
          <a:xfrm>
            <a:off x="8610600" y="1396605"/>
            <a:ext cx="2778068" cy="1767862"/>
          </a:xfrm>
          <a:prstGeom prst="rect">
            <a:avLst/>
          </a:prstGeom>
        </p:spPr>
      </p:pic>
      <p:pic>
        <p:nvPicPr>
          <p:cNvPr id="24" name="20240910-1004-00.4264970">
            <a:hlinkClick r:id="" action="ppaction://media"/>
            <a:extLst>
              <a:ext uri="{FF2B5EF4-FFF2-40B4-BE49-F238E27FC236}">
                <a16:creationId xmlns:a16="http://schemas.microsoft.com/office/drawing/2014/main" id="{E11BEEB2-858C-376C-A10C-5554F1157C40}"/>
              </a:ext>
            </a:extLst>
          </p:cNvPr>
          <p:cNvPicPr>
            <a:picLocks noChangeAspect="1"/>
          </p:cNvPicPr>
          <p:nvPr>
            <a:videoFile r:link="rId5"/>
            <p:extLst>
              <p:ext uri="{DAA4B4D4-6D71-4841-9C94-3DE7FCFB9230}">
                <p14:media xmlns:p14="http://schemas.microsoft.com/office/powerpoint/2010/main" r:embed="rId4"/>
              </p:ext>
            </p:extLst>
          </p:nvPr>
        </p:nvPicPr>
        <p:blipFill>
          <a:blip r:embed="rId13"/>
          <a:stretch>
            <a:fillRect/>
          </a:stretch>
        </p:blipFill>
        <p:spPr>
          <a:xfrm>
            <a:off x="8466788" y="3344514"/>
            <a:ext cx="3093164" cy="1872543"/>
          </a:xfrm>
          <a:prstGeom prst="rect">
            <a:avLst/>
          </a:prstGeom>
        </p:spPr>
      </p:pic>
      <p:sp>
        <p:nvSpPr>
          <p:cNvPr id="10" name="TextBox 9">
            <a:extLst>
              <a:ext uri="{FF2B5EF4-FFF2-40B4-BE49-F238E27FC236}">
                <a16:creationId xmlns:a16="http://schemas.microsoft.com/office/drawing/2014/main" id="{ADF8F76B-1F1F-7645-A06D-0AA6FF924FEA}"/>
              </a:ext>
            </a:extLst>
          </p:cNvPr>
          <p:cNvSpPr txBox="1"/>
          <p:nvPr/>
        </p:nvSpPr>
        <p:spPr>
          <a:xfrm>
            <a:off x="1902766" y="87001"/>
            <a:ext cx="8386466" cy="646331"/>
          </a:xfrm>
          <a:prstGeom prst="rect">
            <a:avLst/>
          </a:prstGeom>
          <a:noFill/>
          <a:effectLst/>
        </p:spPr>
        <p:txBody>
          <a:bodyPr wrap="square" rtlCol="0">
            <a:spAutoFit/>
          </a:bodyPr>
          <a:lstStyle/>
          <a:p>
            <a:pPr algn="ctr"/>
            <a:r>
              <a:rPr lang="en-US" sz="3600" dirty="0">
                <a:latin typeface="Aharoni" panose="02010803020104030203" pitchFamily="2" charset="-79"/>
                <a:cs typeface="Aharoni" panose="02010803020104030203" pitchFamily="2" charset="-79"/>
              </a:rPr>
              <a:t>LiDAR</a:t>
            </a:r>
          </a:p>
        </p:txBody>
      </p:sp>
    </p:spTree>
    <p:custDataLst>
      <p:tags r:id="rId1"/>
    </p:custDataLst>
    <p:extLst>
      <p:ext uri="{BB962C8B-B14F-4D97-AF65-F5344CB8AC3E}">
        <p14:creationId xmlns:p14="http://schemas.microsoft.com/office/powerpoint/2010/main" val="38548848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770" fill="hold"/>
                                        <p:tgtEl>
                                          <p:spTgt spid="23"/>
                                        </p:tgtEl>
                                      </p:cBhvr>
                                    </p:cmd>
                                  </p:childTnLst>
                                </p:cTn>
                              </p:par>
                              <p:par>
                                <p:cTn id="7" presetID="1" presetClass="mediacall" presetSubtype="0" fill="hold" nodeType="withEffect">
                                  <p:stCondLst>
                                    <p:cond delay="0"/>
                                  </p:stCondLst>
                                  <p:childTnLst>
                                    <p:cmd type="call" cmd="playFrom(0.0)">
                                      <p:cBhvr>
                                        <p:cTn id="8" dur="8789"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fill="hold" display="0">
                  <p:stCondLst>
                    <p:cond delay="indefinite"/>
                  </p:stCondLst>
                </p:cTn>
                <p:tgtEl>
                  <p:spTgt spid="23"/>
                </p:tgtEl>
              </p:cMediaNode>
            </p:video>
            <p:video>
              <p:cMediaNode vol="80000">
                <p:cTn id="10" fill="hold" display="0">
                  <p:stCondLst>
                    <p:cond delay="indefinite"/>
                  </p:stCondLst>
                </p:cTn>
                <p:tgtEl>
                  <p:spTgt spid="24"/>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
            <a:extLst>
              <a:ext uri="{FF2B5EF4-FFF2-40B4-BE49-F238E27FC236}">
                <a16:creationId xmlns:a16="http://schemas.microsoft.com/office/drawing/2014/main" id="{7B67EDF3-89FD-93C0-5841-368E971B8A3C}"/>
              </a:ext>
            </a:extLst>
          </p:cNvPr>
          <p:cNvSpPr/>
          <p:nvPr/>
        </p:nvSpPr>
        <p:spPr>
          <a:xfrm>
            <a:off x="0" y="-1096"/>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3" name="Group 2">
            <a:extLst>
              <a:ext uri="{FF2B5EF4-FFF2-40B4-BE49-F238E27FC236}">
                <a16:creationId xmlns:a16="http://schemas.microsoft.com/office/drawing/2014/main" id="{77D9E427-2DAB-B755-C543-3A6675FB67FB}"/>
              </a:ext>
            </a:extLst>
          </p:cNvPr>
          <p:cNvGrpSpPr/>
          <p:nvPr/>
        </p:nvGrpSpPr>
        <p:grpSpPr>
          <a:xfrm>
            <a:off x="9982200" y="-202106"/>
            <a:ext cx="2134545" cy="1024482"/>
            <a:chOff x="8381055" y="-202106"/>
            <a:chExt cx="2134545" cy="1024482"/>
          </a:xfrm>
        </p:grpSpPr>
        <p:grpSp>
          <p:nvGrpSpPr>
            <p:cNvPr id="6" name="Group 5">
              <a:extLst>
                <a:ext uri="{FF2B5EF4-FFF2-40B4-BE49-F238E27FC236}">
                  <a16:creationId xmlns:a16="http://schemas.microsoft.com/office/drawing/2014/main" id="{5820049F-75F1-A0FA-0627-D9C02388944E}"/>
                </a:ext>
              </a:extLst>
            </p:cNvPr>
            <p:cNvGrpSpPr/>
            <p:nvPr/>
          </p:nvGrpSpPr>
          <p:grpSpPr>
            <a:xfrm>
              <a:off x="9319106" y="47827"/>
              <a:ext cx="1196494" cy="576524"/>
              <a:chOff x="9106493" y="2785014"/>
              <a:chExt cx="1196494" cy="576524"/>
            </a:xfrm>
          </p:grpSpPr>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46720" b="32723"/>
              <a:stretch/>
            </p:blipFill>
            <p:spPr bwMode="auto">
              <a:xfrm>
                <a:off x="9106493" y="2785014"/>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logo with text on it&#10;&#10;Description automatically generated">
                <a:extLst>
                  <a:ext uri="{FF2B5EF4-FFF2-40B4-BE49-F238E27FC236}">
                    <a16:creationId xmlns:a16="http://schemas.microsoft.com/office/drawing/2014/main" id="{0EA42647-1E02-776A-8EE8-DD142B9A9E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46194" y="2804745"/>
                <a:ext cx="556793" cy="556793"/>
              </a:xfrm>
              <a:prstGeom prst="rect">
                <a:avLst/>
              </a:prstGeom>
            </p:spPr>
          </p:pic>
        </p:grpSp>
        <p:pic>
          <p:nvPicPr>
            <p:cNvPr id="7" name="Picture 3">
              <a:extLst>
                <a:ext uri="{FF2B5EF4-FFF2-40B4-BE49-F238E27FC236}">
                  <a16:creationId xmlns:a16="http://schemas.microsoft.com/office/drawing/2014/main" id="{44BC0E71-6C7A-C3A1-7121-95EA608BD0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1055" y="-202106"/>
              <a:ext cx="943158" cy="1024482"/>
            </a:xfrm>
            <a:prstGeom prst="rect">
              <a:avLst/>
            </a:prstGeom>
            <a:noFill/>
            <a:extLst>
              <a:ext uri="{909E8E84-426E-40DD-AFC4-6F175D3DCCD1}">
                <a14:hiddenFill xmlns:a14="http://schemas.microsoft.com/office/drawing/2010/main">
                  <a:solidFill>
                    <a:srgbClr val="FFFFFF"/>
                  </a:solidFill>
                </a14:hiddenFill>
              </a:ext>
            </a:extLst>
          </p:spPr>
        </p:pic>
      </p:gr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12</a:t>
            </a:fld>
            <a:endParaRPr lang="fr-FR" b="1" dirty="0">
              <a:solidFill>
                <a:schemeClr val="tx1"/>
              </a:solidFill>
              <a:latin typeface="Abadi" panose="020B0604020104020204" pitchFamily="34" charset="0"/>
            </a:endParaRPr>
          </a:p>
        </p:txBody>
      </p:sp>
      <p:sp>
        <p:nvSpPr>
          <p:cNvPr id="5" name="TextBox 4">
            <a:extLst>
              <a:ext uri="{FF2B5EF4-FFF2-40B4-BE49-F238E27FC236}">
                <a16:creationId xmlns:a16="http://schemas.microsoft.com/office/drawing/2014/main" id="{AE284BBF-01A2-1B0D-710D-76D74BF23F75}"/>
              </a:ext>
            </a:extLst>
          </p:cNvPr>
          <p:cNvSpPr txBox="1"/>
          <p:nvPr/>
        </p:nvSpPr>
        <p:spPr>
          <a:xfrm>
            <a:off x="237553" y="631783"/>
            <a:ext cx="11322399" cy="584775"/>
          </a:xfrm>
          <a:prstGeom prst="rect">
            <a:avLst/>
          </a:prstGeom>
          <a:noFill/>
          <a:effectLst/>
        </p:spPr>
        <p:txBody>
          <a:bodyPr wrap="square" rtlCol="0">
            <a:spAutoFit/>
          </a:bodyPr>
          <a:lstStyle/>
          <a:p>
            <a:r>
              <a:rPr lang="en-US" sz="3200" dirty="0">
                <a:solidFill>
                  <a:srgbClr val="990000"/>
                </a:solidFill>
                <a:latin typeface="Aharoni" panose="02010803020104030203" pitchFamily="2" charset="-79"/>
                <a:cs typeface="Aharoni" panose="02010803020104030203" pitchFamily="2" charset="-79"/>
              </a:rPr>
              <a:t>LiDAR Technology: Application</a:t>
            </a:r>
          </a:p>
        </p:txBody>
      </p:sp>
      <p:grpSp>
        <p:nvGrpSpPr>
          <p:cNvPr id="15" name="Group 14">
            <a:extLst>
              <a:ext uri="{FF2B5EF4-FFF2-40B4-BE49-F238E27FC236}">
                <a16:creationId xmlns:a16="http://schemas.microsoft.com/office/drawing/2014/main" id="{A87C88B9-0E31-28DC-A47F-27B2BBC4280A}"/>
              </a:ext>
            </a:extLst>
          </p:cNvPr>
          <p:cNvGrpSpPr/>
          <p:nvPr/>
        </p:nvGrpSpPr>
        <p:grpSpPr>
          <a:xfrm>
            <a:off x="6753736" y="566735"/>
            <a:ext cx="5200711" cy="3459519"/>
            <a:chOff x="6279396" y="1223990"/>
            <a:chExt cx="5088740" cy="3437320"/>
          </a:xfrm>
        </p:grpSpPr>
        <p:pic>
          <p:nvPicPr>
            <p:cNvPr id="2" name="Picture 1" descr="A diagram of a sensor system&#10;&#10;Description automatically generated">
              <a:extLst>
                <a:ext uri="{FF2B5EF4-FFF2-40B4-BE49-F238E27FC236}">
                  <a16:creationId xmlns:a16="http://schemas.microsoft.com/office/drawing/2014/main" id="{D5259D76-6DBF-0CDC-EB40-D30ACA554A54}"/>
                </a:ext>
              </a:extLst>
            </p:cNvPr>
            <p:cNvPicPr>
              <a:picLocks noChangeAspect="1"/>
            </p:cNvPicPr>
            <p:nvPr/>
          </p:nvPicPr>
          <p:blipFill>
            <a:blip r:embed="rId9"/>
            <a:stretch>
              <a:fillRect/>
            </a:stretch>
          </p:blipFill>
          <p:spPr>
            <a:xfrm>
              <a:off x="6279396" y="1223990"/>
              <a:ext cx="5088740" cy="3437320"/>
            </a:xfrm>
            <a:prstGeom prst="rect">
              <a:avLst/>
            </a:prstGeom>
          </p:spPr>
        </p:pic>
        <p:sp>
          <p:nvSpPr>
            <p:cNvPr id="10" name="Rectangle: Rounded Corners 9">
              <a:extLst>
                <a:ext uri="{FF2B5EF4-FFF2-40B4-BE49-F238E27FC236}">
                  <a16:creationId xmlns:a16="http://schemas.microsoft.com/office/drawing/2014/main" id="{8170BD5A-7051-F13D-6188-715452118CF2}"/>
                </a:ext>
              </a:extLst>
            </p:cNvPr>
            <p:cNvSpPr/>
            <p:nvPr/>
          </p:nvSpPr>
          <p:spPr>
            <a:xfrm>
              <a:off x="9284896" y="2405063"/>
              <a:ext cx="1004336" cy="523875"/>
            </a:xfrm>
            <a:prstGeom prst="roundRect">
              <a:avLst/>
            </a:prstGeom>
            <a:solidFill>
              <a:srgbClr val="FF00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F01CEFC4-FFA3-8312-2D90-B9E90F7FFC0B}"/>
                </a:ext>
              </a:extLst>
            </p:cNvPr>
            <p:cNvSpPr/>
            <p:nvPr/>
          </p:nvSpPr>
          <p:spPr>
            <a:xfrm>
              <a:off x="7839075" y="3233947"/>
              <a:ext cx="1231899" cy="523875"/>
            </a:xfrm>
            <a:prstGeom prst="roundRect">
              <a:avLst/>
            </a:prstGeom>
            <a:solidFill>
              <a:srgbClr val="FF00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26040AD-D45C-B8B8-2DDA-66606D082D36}"/>
                </a:ext>
              </a:extLst>
            </p:cNvPr>
            <p:cNvSpPr/>
            <p:nvPr/>
          </p:nvSpPr>
          <p:spPr>
            <a:xfrm>
              <a:off x="6975475" y="4024630"/>
              <a:ext cx="1231899" cy="523875"/>
            </a:xfrm>
            <a:prstGeom prst="roundRect">
              <a:avLst/>
            </a:prstGeom>
            <a:solidFill>
              <a:srgbClr val="FF00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619BE466-BB57-4E77-5085-E12CCF493AB3}"/>
                </a:ext>
              </a:extLst>
            </p:cNvPr>
            <p:cNvSpPr/>
            <p:nvPr/>
          </p:nvSpPr>
          <p:spPr>
            <a:xfrm>
              <a:off x="8642350" y="4049810"/>
              <a:ext cx="1231899" cy="511322"/>
            </a:xfrm>
            <a:prstGeom prst="roundRect">
              <a:avLst/>
            </a:prstGeom>
            <a:solidFill>
              <a:srgbClr val="FF00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graphicFrame>
        <p:nvGraphicFramePr>
          <p:cNvPr id="21" name="Table 20">
            <a:extLst>
              <a:ext uri="{FF2B5EF4-FFF2-40B4-BE49-F238E27FC236}">
                <a16:creationId xmlns:a16="http://schemas.microsoft.com/office/drawing/2014/main" id="{04BA665B-D11A-5635-3CF7-E880968A6C31}"/>
              </a:ext>
            </a:extLst>
          </p:cNvPr>
          <p:cNvGraphicFramePr>
            <a:graphicFrameLocks noGrp="1"/>
          </p:cNvGraphicFramePr>
          <p:nvPr/>
        </p:nvGraphicFramePr>
        <p:xfrm>
          <a:off x="3430968" y="4358050"/>
          <a:ext cx="5330061" cy="2394912"/>
        </p:xfrm>
        <a:graphic>
          <a:graphicData uri="http://schemas.openxmlformats.org/drawingml/2006/table">
            <a:tbl>
              <a:tblPr firstRow="1" bandRow="1">
                <a:tableStyleId>{21E4AEA4-8DFA-4A89-87EB-49C32662AFE0}</a:tableStyleId>
              </a:tblPr>
              <a:tblGrid>
                <a:gridCol w="1776687">
                  <a:extLst>
                    <a:ext uri="{9D8B030D-6E8A-4147-A177-3AD203B41FA5}">
                      <a16:colId xmlns:a16="http://schemas.microsoft.com/office/drawing/2014/main" val="3304095307"/>
                    </a:ext>
                  </a:extLst>
                </a:gridCol>
                <a:gridCol w="1776687">
                  <a:extLst>
                    <a:ext uri="{9D8B030D-6E8A-4147-A177-3AD203B41FA5}">
                      <a16:colId xmlns:a16="http://schemas.microsoft.com/office/drawing/2014/main" val="2394586676"/>
                    </a:ext>
                  </a:extLst>
                </a:gridCol>
                <a:gridCol w="1776687">
                  <a:extLst>
                    <a:ext uri="{9D8B030D-6E8A-4147-A177-3AD203B41FA5}">
                      <a16:colId xmlns:a16="http://schemas.microsoft.com/office/drawing/2014/main" val="1748636184"/>
                    </a:ext>
                  </a:extLst>
                </a:gridCol>
              </a:tblGrid>
              <a:tr h="405307">
                <a:tc>
                  <a:txBody>
                    <a:bodyPr/>
                    <a:lstStyle/>
                    <a:p>
                      <a:pPr marL="182880" marR="0" algn="l">
                        <a:lnSpc>
                          <a:spcPct val="150000"/>
                        </a:lnSpc>
                        <a:spcBef>
                          <a:spcPts val="0"/>
                        </a:spcBef>
                        <a:spcAft>
                          <a:spcPts val="0"/>
                        </a:spcAft>
                      </a:pPr>
                      <a:r>
                        <a:rPr lang="en-US" sz="1800" b="1" i="0" kern="100" dirty="0">
                          <a:solidFill>
                            <a:srgbClr val="000000"/>
                          </a:solidFill>
                          <a:effectLst/>
                          <a:latin typeface="Times New Roman" panose="02020603050405020304" pitchFamily="18" charset="0"/>
                          <a:cs typeface="Times New Roman" panose="02020603050405020304" pitchFamily="18" charset="0"/>
                        </a:rPr>
                        <a:t> </a:t>
                      </a:r>
                      <a:endParaRPr lang="en-US" sz="1800" i="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4954" marR="74954" marT="0" marB="0" anchor="ctr"/>
                </a:tc>
                <a:tc>
                  <a:txBody>
                    <a:bodyPr/>
                    <a:lstStyle/>
                    <a:p>
                      <a:pPr marL="182880" marR="0" algn="ctr">
                        <a:lnSpc>
                          <a:spcPct val="150000"/>
                        </a:lnSpc>
                        <a:spcBef>
                          <a:spcPts val="0"/>
                        </a:spcBef>
                        <a:spcAft>
                          <a:spcPts val="0"/>
                        </a:spcAft>
                      </a:pPr>
                      <a:r>
                        <a:rPr lang="en-US" sz="1800" b="1" i="0" kern="100" dirty="0">
                          <a:solidFill>
                            <a:srgbClr val="000000"/>
                          </a:solidFill>
                          <a:effectLst/>
                          <a:latin typeface="Times New Roman" panose="02020603050405020304" pitchFamily="18" charset="0"/>
                          <a:cs typeface="Times New Roman" panose="02020603050405020304" pitchFamily="18" charset="0"/>
                        </a:rPr>
                        <a:t>2D LiDAR</a:t>
                      </a:r>
                      <a:endParaRPr lang="en-US" sz="1800" i="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4954" marR="74954" marT="0" marB="0" anchor="ctr"/>
                </a:tc>
                <a:tc>
                  <a:txBody>
                    <a:bodyPr/>
                    <a:lstStyle/>
                    <a:p>
                      <a:pPr marL="182880" marR="0" algn="ctr">
                        <a:lnSpc>
                          <a:spcPct val="150000"/>
                        </a:lnSpc>
                        <a:spcBef>
                          <a:spcPts val="0"/>
                        </a:spcBef>
                        <a:spcAft>
                          <a:spcPts val="0"/>
                        </a:spcAft>
                      </a:pPr>
                      <a:r>
                        <a:rPr lang="en-US" sz="1800" b="1" i="0" kern="100" dirty="0">
                          <a:solidFill>
                            <a:srgbClr val="000000"/>
                          </a:solidFill>
                          <a:effectLst/>
                          <a:latin typeface="Times New Roman" panose="02020603050405020304" pitchFamily="18" charset="0"/>
                          <a:cs typeface="Times New Roman" panose="02020603050405020304" pitchFamily="18" charset="0"/>
                        </a:rPr>
                        <a:t>3D LiDAR</a:t>
                      </a:r>
                      <a:endParaRPr lang="en-US" sz="1800" i="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4954" marR="74954" marT="0" marB="0" anchor="ctr"/>
                </a:tc>
                <a:extLst>
                  <a:ext uri="{0D108BD9-81ED-4DB2-BD59-A6C34878D82A}">
                    <a16:rowId xmlns:a16="http://schemas.microsoft.com/office/drawing/2014/main" val="403099250"/>
                  </a:ext>
                </a:extLst>
              </a:tr>
              <a:tr h="405307">
                <a:tc>
                  <a:txBody>
                    <a:bodyPr/>
                    <a:lstStyle/>
                    <a:p>
                      <a:pPr marL="182880" marR="0" algn="l">
                        <a:lnSpc>
                          <a:spcPct val="150000"/>
                        </a:lnSpc>
                        <a:spcBef>
                          <a:spcPts val="0"/>
                        </a:spcBef>
                        <a:spcAft>
                          <a:spcPts val="0"/>
                        </a:spcAft>
                      </a:pPr>
                      <a:r>
                        <a:rPr lang="en-US" sz="1800" i="0" kern="100" dirty="0">
                          <a:solidFill>
                            <a:srgbClr val="000000"/>
                          </a:solidFill>
                          <a:effectLst/>
                          <a:latin typeface="Times New Roman" panose="02020603050405020304" pitchFamily="18" charset="0"/>
                          <a:cs typeface="Times New Roman" panose="02020603050405020304" pitchFamily="18" charset="0"/>
                        </a:rPr>
                        <a:t>Dimension</a:t>
                      </a:r>
                      <a:endParaRPr lang="en-US" sz="1800" i="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4954" marR="74954" marT="0" marB="0" anchor="ctr"/>
                </a:tc>
                <a:tc>
                  <a:txBody>
                    <a:bodyPr/>
                    <a:lstStyle/>
                    <a:p>
                      <a:pPr marL="182880" marR="0" algn="ctr">
                        <a:lnSpc>
                          <a:spcPct val="150000"/>
                        </a:lnSpc>
                        <a:spcBef>
                          <a:spcPts val="0"/>
                        </a:spcBef>
                        <a:spcAft>
                          <a:spcPts val="0"/>
                        </a:spcAft>
                      </a:pPr>
                      <a:r>
                        <a:rPr lang="en-US" sz="1800" i="0" kern="100" dirty="0">
                          <a:solidFill>
                            <a:srgbClr val="000000"/>
                          </a:solidFill>
                          <a:effectLst/>
                          <a:latin typeface="Times New Roman" panose="02020603050405020304" pitchFamily="18" charset="0"/>
                          <a:cs typeface="Times New Roman" panose="02020603050405020304" pitchFamily="18" charset="0"/>
                        </a:rPr>
                        <a:t>2, (</a:t>
                      </a:r>
                      <a:r>
                        <a:rPr lang="en-US" sz="1800" i="0" kern="100" dirty="0" err="1">
                          <a:solidFill>
                            <a:srgbClr val="000000"/>
                          </a:solidFill>
                          <a:effectLst/>
                          <a:latin typeface="Times New Roman" panose="02020603050405020304" pitchFamily="18" charset="0"/>
                          <a:cs typeface="Times New Roman" panose="02020603050405020304" pitchFamily="18" charset="0"/>
                        </a:rPr>
                        <a:t>x,y</a:t>
                      </a:r>
                      <a:r>
                        <a:rPr lang="en-US" sz="1800" i="0" kern="100" dirty="0">
                          <a:solidFill>
                            <a:srgbClr val="000000"/>
                          </a:solidFill>
                          <a:effectLst/>
                          <a:latin typeface="Times New Roman" panose="02020603050405020304" pitchFamily="18" charset="0"/>
                          <a:cs typeface="Times New Roman" panose="02020603050405020304" pitchFamily="18" charset="0"/>
                        </a:rPr>
                        <a:t>) axes</a:t>
                      </a:r>
                      <a:endParaRPr lang="en-US" sz="1800" i="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4954" marR="74954" marT="0" marB="0" anchor="ctr"/>
                </a:tc>
                <a:tc>
                  <a:txBody>
                    <a:bodyPr/>
                    <a:lstStyle/>
                    <a:p>
                      <a:pPr marL="182880" marR="0" algn="ctr">
                        <a:lnSpc>
                          <a:spcPct val="150000"/>
                        </a:lnSpc>
                        <a:spcBef>
                          <a:spcPts val="0"/>
                        </a:spcBef>
                        <a:spcAft>
                          <a:spcPts val="0"/>
                        </a:spcAft>
                      </a:pPr>
                      <a:r>
                        <a:rPr lang="en-US" sz="1800" i="0" kern="100" dirty="0">
                          <a:solidFill>
                            <a:srgbClr val="000000"/>
                          </a:solidFill>
                          <a:effectLst/>
                          <a:latin typeface="Times New Roman" panose="02020603050405020304" pitchFamily="18" charset="0"/>
                          <a:cs typeface="Times New Roman" panose="02020603050405020304" pitchFamily="18" charset="0"/>
                        </a:rPr>
                        <a:t>3, (</a:t>
                      </a:r>
                      <a:r>
                        <a:rPr lang="en-US" sz="1800" i="0" kern="100" dirty="0" err="1">
                          <a:solidFill>
                            <a:srgbClr val="000000"/>
                          </a:solidFill>
                          <a:effectLst/>
                          <a:latin typeface="Times New Roman" panose="02020603050405020304" pitchFamily="18" charset="0"/>
                          <a:cs typeface="Times New Roman" panose="02020603050405020304" pitchFamily="18" charset="0"/>
                        </a:rPr>
                        <a:t>x,y,z</a:t>
                      </a:r>
                      <a:r>
                        <a:rPr lang="en-US" sz="1800" i="0" kern="100" dirty="0">
                          <a:solidFill>
                            <a:srgbClr val="000000"/>
                          </a:solidFill>
                          <a:effectLst/>
                          <a:latin typeface="Times New Roman" panose="02020603050405020304" pitchFamily="18" charset="0"/>
                          <a:cs typeface="Times New Roman" panose="02020603050405020304" pitchFamily="18" charset="0"/>
                        </a:rPr>
                        <a:t>) axes</a:t>
                      </a:r>
                      <a:endParaRPr lang="en-US" sz="1800" i="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4954" marR="74954" marT="0" marB="0" anchor="ctr"/>
                </a:tc>
                <a:extLst>
                  <a:ext uri="{0D108BD9-81ED-4DB2-BD59-A6C34878D82A}">
                    <a16:rowId xmlns:a16="http://schemas.microsoft.com/office/drawing/2014/main" val="2404579096"/>
                  </a:ext>
                </a:extLst>
              </a:tr>
              <a:tr h="525279">
                <a:tc>
                  <a:txBody>
                    <a:bodyPr/>
                    <a:lstStyle/>
                    <a:p>
                      <a:pPr marL="182880" marR="0" algn="l">
                        <a:lnSpc>
                          <a:spcPct val="150000"/>
                        </a:lnSpc>
                        <a:spcBef>
                          <a:spcPts val="0"/>
                        </a:spcBef>
                        <a:spcAft>
                          <a:spcPts val="0"/>
                        </a:spcAft>
                      </a:pPr>
                      <a:r>
                        <a:rPr lang="en-US" sz="1800" i="0" kern="100" dirty="0">
                          <a:solidFill>
                            <a:srgbClr val="000000"/>
                          </a:solidFill>
                          <a:effectLst/>
                          <a:latin typeface="Times New Roman" panose="02020603050405020304" pitchFamily="18" charset="0"/>
                          <a:cs typeface="Times New Roman" panose="02020603050405020304" pitchFamily="18" charset="0"/>
                        </a:rPr>
                        <a:t>No of Light Beams Emitted</a:t>
                      </a:r>
                      <a:endParaRPr lang="en-US" sz="1800" i="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4954" marR="74954" marT="0" marB="0" anchor="ctr"/>
                </a:tc>
                <a:tc>
                  <a:txBody>
                    <a:bodyPr/>
                    <a:lstStyle/>
                    <a:p>
                      <a:pPr marL="182880" marR="0" algn="ctr">
                        <a:lnSpc>
                          <a:spcPct val="150000"/>
                        </a:lnSpc>
                        <a:spcBef>
                          <a:spcPts val="0"/>
                        </a:spcBef>
                        <a:spcAft>
                          <a:spcPts val="0"/>
                        </a:spcAft>
                      </a:pPr>
                      <a:r>
                        <a:rPr lang="en-US" sz="1800" i="0" kern="100" dirty="0">
                          <a:solidFill>
                            <a:srgbClr val="000000"/>
                          </a:solidFill>
                          <a:effectLst/>
                          <a:latin typeface="Times New Roman" panose="02020603050405020304" pitchFamily="18" charset="0"/>
                          <a:cs typeface="Times New Roman" panose="02020603050405020304" pitchFamily="18" charset="0"/>
                        </a:rPr>
                        <a:t>1</a:t>
                      </a:r>
                      <a:endParaRPr lang="en-US" sz="1800" i="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4954" marR="74954" marT="0" marB="0" anchor="ctr"/>
                </a:tc>
                <a:tc>
                  <a:txBody>
                    <a:bodyPr/>
                    <a:lstStyle/>
                    <a:p>
                      <a:pPr marL="182880" marR="0" algn="ctr">
                        <a:lnSpc>
                          <a:spcPct val="150000"/>
                        </a:lnSpc>
                        <a:spcBef>
                          <a:spcPts val="0"/>
                        </a:spcBef>
                        <a:spcAft>
                          <a:spcPts val="0"/>
                        </a:spcAft>
                      </a:pPr>
                      <a:r>
                        <a:rPr lang="en-US" sz="1800" i="0" kern="100" dirty="0">
                          <a:solidFill>
                            <a:srgbClr val="000000"/>
                          </a:solidFill>
                          <a:effectLst/>
                          <a:latin typeface="Times New Roman" panose="02020603050405020304" pitchFamily="18" charset="0"/>
                          <a:cs typeface="Times New Roman" panose="02020603050405020304" pitchFamily="18" charset="0"/>
                        </a:rPr>
                        <a:t>Multiple</a:t>
                      </a:r>
                      <a:endParaRPr lang="en-US" sz="1800" i="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4954" marR="74954" marT="0" marB="0" anchor="ctr"/>
                </a:tc>
                <a:extLst>
                  <a:ext uri="{0D108BD9-81ED-4DB2-BD59-A6C34878D82A}">
                    <a16:rowId xmlns:a16="http://schemas.microsoft.com/office/drawing/2014/main" val="857335385"/>
                  </a:ext>
                </a:extLst>
              </a:tr>
              <a:tr h="405307">
                <a:tc>
                  <a:txBody>
                    <a:bodyPr/>
                    <a:lstStyle/>
                    <a:p>
                      <a:pPr marL="182880" marR="0" algn="l">
                        <a:lnSpc>
                          <a:spcPct val="150000"/>
                        </a:lnSpc>
                        <a:spcBef>
                          <a:spcPts val="0"/>
                        </a:spcBef>
                        <a:spcAft>
                          <a:spcPts val="0"/>
                        </a:spcAft>
                      </a:pPr>
                      <a:r>
                        <a:rPr lang="en-US" sz="1800" i="0" kern="100" dirty="0">
                          <a:solidFill>
                            <a:srgbClr val="000000"/>
                          </a:solidFill>
                          <a:effectLst/>
                          <a:latin typeface="Times New Roman" panose="02020603050405020304" pitchFamily="18" charset="0"/>
                          <a:cs typeface="Times New Roman" panose="02020603050405020304" pitchFamily="18" charset="0"/>
                        </a:rPr>
                        <a:t>Cost</a:t>
                      </a:r>
                      <a:endParaRPr lang="en-US" sz="1800" i="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4954" marR="74954" marT="0" marB="0" anchor="ctr"/>
                </a:tc>
                <a:tc>
                  <a:txBody>
                    <a:bodyPr/>
                    <a:lstStyle/>
                    <a:p>
                      <a:pPr marL="182880" marR="0" algn="ctr">
                        <a:lnSpc>
                          <a:spcPct val="150000"/>
                        </a:lnSpc>
                        <a:spcBef>
                          <a:spcPts val="0"/>
                        </a:spcBef>
                        <a:spcAft>
                          <a:spcPts val="0"/>
                        </a:spcAft>
                      </a:pPr>
                      <a:r>
                        <a:rPr lang="en-US" sz="1800" i="0" kern="100" dirty="0">
                          <a:solidFill>
                            <a:srgbClr val="000000"/>
                          </a:solidFill>
                          <a:effectLst/>
                          <a:latin typeface="Times New Roman" panose="02020603050405020304" pitchFamily="18" charset="0"/>
                          <a:cs typeface="Times New Roman" panose="02020603050405020304" pitchFamily="18" charset="0"/>
                        </a:rPr>
                        <a:t>Less Expensive</a:t>
                      </a:r>
                      <a:endParaRPr lang="en-US" sz="1800" i="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4954" marR="74954" marT="0" marB="0" anchor="ctr"/>
                </a:tc>
                <a:tc>
                  <a:txBody>
                    <a:bodyPr/>
                    <a:lstStyle/>
                    <a:p>
                      <a:pPr marL="182880" marR="0" algn="ctr">
                        <a:lnSpc>
                          <a:spcPct val="150000"/>
                        </a:lnSpc>
                        <a:spcBef>
                          <a:spcPts val="0"/>
                        </a:spcBef>
                        <a:spcAft>
                          <a:spcPts val="0"/>
                        </a:spcAft>
                      </a:pPr>
                      <a:r>
                        <a:rPr lang="en-US" sz="1800" i="0" kern="100" dirty="0">
                          <a:solidFill>
                            <a:srgbClr val="000000"/>
                          </a:solidFill>
                          <a:effectLst/>
                          <a:latin typeface="Times New Roman" panose="02020603050405020304" pitchFamily="18" charset="0"/>
                          <a:cs typeface="Times New Roman" panose="02020603050405020304" pitchFamily="18" charset="0"/>
                        </a:rPr>
                        <a:t>Expensive</a:t>
                      </a:r>
                      <a:endParaRPr lang="en-US" sz="1800" i="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4954" marR="74954" marT="0" marB="0" anchor="ctr"/>
                </a:tc>
                <a:extLst>
                  <a:ext uri="{0D108BD9-81ED-4DB2-BD59-A6C34878D82A}">
                    <a16:rowId xmlns:a16="http://schemas.microsoft.com/office/drawing/2014/main" val="1457756828"/>
                  </a:ext>
                </a:extLst>
              </a:tr>
              <a:tr h="405307">
                <a:tc>
                  <a:txBody>
                    <a:bodyPr/>
                    <a:lstStyle/>
                    <a:p>
                      <a:pPr marL="182880" marR="0" algn="l">
                        <a:lnSpc>
                          <a:spcPct val="150000"/>
                        </a:lnSpc>
                        <a:spcBef>
                          <a:spcPts val="0"/>
                        </a:spcBef>
                        <a:spcAft>
                          <a:spcPts val="0"/>
                        </a:spcAft>
                      </a:pPr>
                      <a:r>
                        <a:rPr lang="en-US" sz="1800" i="0" kern="100" dirty="0">
                          <a:solidFill>
                            <a:srgbClr val="000000"/>
                          </a:solidFill>
                          <a:effectLst/>
                          <a:latin typeface="Times New Roman" panose="02020603050405020304" pitchFamily="18" charset="0"/>
                          <a:ea typeface="Times New Roman" panose="02020603050405020304" pitchFamily="18" charset="0"/>
                        </a:rPr>
                        <a:t>Response Time</a:t>
                      </a:r>
                    </a:p>
                  </a:txBody>
                  <a:tcPr marL="74954" marR="74954" marT="0" marB="0" anchor="ctr"/>
                </a:tc>
                <a:tc>
                  <a:txBody>
                    <a:bodyPr/>
                    <a:lstStyle/>
                    <a:p>
                      <a:pPr marL="182880" marR="0" algn="ctr">
                        <a:lnSpc>
                          <a:spcPct val="150000"/>
                        </a:lnSpc>
                        <a:spcBef>
                          <a:spcPts val="0"/>
                        </a:spcBef>
                        <a:spcAft>
                          <a:spcPts val="0"/>
                        </a:spcAft>
                      </a:pPr>
                      <a:r>
                        <a:rPr lang="en-US" sz="1800" i="0" kern="100" dirty="0">
                          <a:solidFill>
                            <a:srgbClr val="000000"/>
                          </a:solidFill>
                          <a:effectLst/>
                          <a:latin typeface="Times New Roman" panose="02020603050405020304" pitchFamily="18" charset="0"/>
                          <a:ea typeface="Times New Roman" panose="02020603050405020304" pitchFamily="18" charset="0"/>
                        </a:rPr>
                        <a:t>Quick</a:t>
                      </a:r>
                    </a:p>
                  </a:txBody>
                  <a:tcPr marL="74954" marR="74954" marT="0" marB="0" anchor="ctr"/>
                </a:tc>
                <a:tc>
                  <a:txBody>
                    <a:bodyPr/>
                    <a:lstStyle/>
                    <a:p>
                      <a:pPr marL="182880" marR="0" algn="ctr">
                        <a:lnSpc>
                          <a:spcPct val="150000"/>
                        </a:lnSpc>
                        <a:spcBef>
                          <a:spcPts val="0"/>
                        </a:spcBef>
                        <a:spcAft>
                          <a:spcPts val="0"/>
                        </a:spcAft>
                      </a:pPr>
                      <a:r>
                        <a:rPr lang="en-US" sz="1800" i="0" kern="100" dirty="0">
                          <a:solidFill>
                            <a:srgbClr val="000000"/>
                          </a:solidFill>
                          <a:effectLst/>
                          <a:latin typeface="Times New Roman" panose="02020603050405020304" pitchFamily="18" charset="0"/>
                          <a:ea typeface="Times New Roman" panose="02020603050405020304" pitchFamily="18" charset="0"/>
                        </a:rPr>
                        <a:t>Slow</a:t>
                      </a:r>
                    </a:p>
                  </a:txBody>
                  <a:tcPr marL="74954" marR="74954" marT="0" marB="0" anchor="ctr"/>
                </a:tc>
                <a:extLst>
                  <a:ext uri="{0D108BD9-81ED-4DB2-BD59-A6C34878D82A}">
                    <a16:rowId xmlns:a16="http://schemas.microsoft.com/office/drawing/2014/main" val="1475603189"/>
                  </a:ext>
                </a:extLst>
              </a:tr>
            </a:tbl>
          </a:graphicData>
        </a:graphic>
      </p:graphicFrame>
      <p:sp>
        <p:nvSpPr>
          <p:cNvPr id="4" name="TextBox 3">
            <a:extLst>
              <a:ext uri="{FF2B5EF4-FFF2-40B4-BE49-F238E27FC236}">
                <a16:creationId xmlns:a16="http://schemas.microsoft.com/office/drawing/2014/main" id="{F767BA9D-0B46-D907-29E7-D1E77533BD80}"/>
              </a:ext>
            </a:extLst>
          </p:cNvPr>
          <p:cNvSpPr txBox="1"/>
          <p:nvPr/>
        </p:nvSpPr>
        <p:spPr>
          <a:xfrm>
            <a:off x="-158890" y="1112617"/>
            <a:ext cx="7997966" cy="3453318"/>
          </a:xfrm>
          <a:prstGeom prst="rect">
            <a:avLst/>
          </a:prstGeom>
          <a:noFill/>
        </p:spPr>
        <p:txBody>
          <a:bodyPr wrap="square">
            <a:spAutoFit/>
          </a:bodyPr>
          <a:lstStyle/>
          <a:p>
            <a:pPr marL="800100" lvl="1" indent="-342900" algn="just">
              <a:lnSpc>
                <a:spcPct val="150000"/>
              </a:lnSpc>
              <a:buFont typeface="Wingdings" panose="05000000000000000000" pitchFamily="2" charset="2"/>
              <a:buChar char="q"/>
            </a:pPr>
            <a:r>
              <a:rPr lang="en-US" sz="2400" b="1" dirty="0">
                <a:solidFill>
                  <a:srgbClr val="000099"/>
                </a:solidFill>
                <a:latin typeface="Times New Roman" panose="02020603050405020304" pitchFamily="18" charset="0"/>
                <a:cs typeface="Times New Roman" panose="02020603050405020304" pitchFamily="18" charset="0"/>
              </a:rPr>
              <a:t>Applications of LiDAR Technology:</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Autonomous Vehicles and Robotics.</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Environmental Monitoring.</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Urban Planning.</a:t>
            </a:r>
          </a:p>
          <a:p>
            <a:pPr marL="800100" lvl="1" indent="-342900" algn="just">
              <a:lnSpc>
                <a:spcPct val="150000"/>
              </a:lnSpc>
              <a:buFont typeface="Wingdings" panose="05000000000000000000" pitchFamily="2" charset="2"/>
              <a:buChar char="q"/>
            </a:pPr>
            <a:r>
              <a:rPr lang="en-US" sz="2400" b="1" dirty="0">
                <a:solidFill>
                  <a:srgbClr val="000099"/>
                </a:solidFill>
                <a:latin typeface="Times New Roman" panose="02020603050405020304" pitchFamily="18" charset="0"/>
                <a:cs typeface="Times New Roman" panose="02020603050405020304" pitchFamily="18" charset="0"/>
              </a:rPr>
              <a:t>LiDAR-Based Detection and Person Tracking:</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3D LiDAR Systems</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2D LiDAR Systems</a:t>
            </a:r>
          </a:p>
        </p:txBody>
      </p:sp>
      <p:grpSp>
        <p:nvGrpSpPr>
          <p:cNvPr id="25" name="Group 24">
            <a:extLst>
              <a:ext uri="{FF2B5EF4-FFF2-40B4-BE49-F238E27FC236}">
                <a16:creationId xmlns:a16="http://schemas.microsoft.com/office/drawing/2014/main" id="{12A56473-0B3E-4031-5D9D-38D857A4D74D}"/>
              </a:ext>
            </a:extLst>
          </p:cNvPr>
          <p:cNvGrpSpPr/>
          <p:nvPr/>
        </p:nvGrpSpPr>
        <p:grpSpPr>
          <a:xfrm>
            <a:off x="8816946" y="4464005"/>
            <a:ext cx="4212730" cy="2277600"/>
            <a:chOff x="8816946" y="4464005"/>
            <a:chExt cx="4212730" cy="2277600"/>
          </a:xfrm>
        </p:grpSpPr>
        <p:pic>
          <p:nvPicPr>
            <p:cNvPr id="22" name="Picture 21" descr="A close-up of a camera&#10;&#10;Description automatically generated">
              <a:extLst>
                <a:ext uri="{FF2B5EF4-FFF2-40B4-BE49-F238E27FC236}">
                  <a16:creationId xmlns:a16="http://schemas.microsoft.com/office/drawing/2014/main" id="{314D4945-C532-F2AB-4280-6B1A50FBCD3B}"/>
                </a:ext>
              </a:extLst>
            </p:cNvPr>
            <p:cNvPicPr>
              <a:picLocks noChangeAspect="1"/>
            </p:cNvPicPr>
            <p:nvPr/>
          </p:nvPicPr>
          <p:blipFill>
            <a:blip r:embed="rId10"/>
            <a:stretch>
              <a:fillRect/>
            </a:stretch>
          </p:blipFill>
          <p:spPr>
            <a:xfrm>
              <a:off x="8816946" y="4464005"/>
              <a:ext cx="3327565" cy="1827259"/>
            </a:xfrm>
            <a:prstGeom prst="rect">
              <a:avLst/>
            </a:prstGeom>
          </p:spPr>
        </p:pic>
        <p:sp>
          <p:nvSpPr>
            <p:cNvPr id="24" name="TextBox 23">
              <a:extLst>
                <a:ext uri="{FF2B5EF4-FFF2-40B4-BE49-F238E27FC236}">
                  <a16:creationId xmlns:a16="http://schemas.microsoft.com/office/drawing/2014/main" id="{3E318060-2472-3524-EA09-A51687EA2854}"/>
                </a:ext>
              </a:extLst>
            </p:cNvPr>
            <p:cNvSpPr txBox="1"/>
            <p:nvPr/>
          </p:nvSpPr>
          <p:spPr>
            <a:xfrm>
              <a:off x="9386619" y="6242942"/>
              <a:ext cx="3643057" cy="498663"/>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2D LiDAR</a:t>
              </a:r>
            </a:p>
          </p:txBody>
        </p:sp>
      </p:grpSp>
      <p:grpSp>
        <p:nvGrpSpPr>
          <p:cNvPr id="19" name="Group 18">
            <a:extLst>
              <a:ext uri="{FF2B5EF4-FFF2-40B4-BE49-F238E27FC236}">
                <a16:creationId xmlns:a16="http://schemas.microsoft.com/office/drawing/2014/main" id="{B87032BE-2731-B227-D45A-134C1C02BD15}"/>
              </a:ext>
            </a:extLst>
          </p:cNvPr>
          <p:cNvGrpSpPr/>
          <p:nvPr/>
        </p:nvGrpSpPr>
        <p:grpSpPr>
          <a:xfrm>
            <a:off x="140449" y="4538012"/>
            <a:ext cx="3303008" cy="2266921"/>
            <a:chOff x="140449" y="4538012"/>
            <a:chExt cx="3303008" cy="2266921"/>
          </a:xfrm>
        </p:grpSpPr>
        <p:pic>
          <p:nvPicPr>
            <p:cNvPr id="17" name="20240913-0858-08.3078786">
              <a:hlinkClick r:id="" action="ppaction://media"/>
              <a:extLst>
                <a:ext uri="{FF2B5EF4-FFF2-40B4-BE49-F238E27FC236}">
                  <a16:creationId xmlns:a16="http://schemas.microsoft.com/office/drawing/2014/main" id="{3800B314-8836-D235-8E02-B0CBBF6E24B8}"/>
                </a:ext>
              </a:extLst>
            </p:cNvPr>
            <p:cNvPicPr>
              <a:picLocks noChangeAspect="1"/>
            </p:cNvPicPr>
            <p:nvPr>
              <a:videoFile r:link="rId3"/>
              <p:extLst>
                <p:ext uri="{DAA4B4D4-6D71-4841-9C94-3DE7FCFB9230}">
                  <p14:media xmlns:p14="http://schemas.microsoft.com/office/powerpoint/2010/main" r:embed="rId2"/>
                </p:ext>
              </p:extLst>
            </p:nvPr>
          </p:nvPicPr>
          <p:blipFill>
            <a:blip r:embed="rId11"/>
            <a:stretch>
              <a:fillRect/>
            </a:stretch>
          </p:blipFill>
          <p:spPr>
            <a:xfrm>
              <a:off x="1317120" y="4538012"/>
              <a:ext cx="2126337" cy="2266921"/>
            </a:xfrm>
            <a:prstGeom prst="rect">
              <a:avLst/>
            </a:prstGeom>
          </p:spPr>
        </p:pic>
        <p:sp>
          <p:nvSpPr>
            <p:cNvPr id="18" name="TextBox 17">
              <a:extLst>
                <a:ext uri="{FF2B5EF4-FFF2-40B4-BE49-F238E27FC236}">
                  <a16:creationId xmlns:a16="http://schemas.microsoft.com/office/drawing/2014/main" id="{3F2E539B-E530-5036-B608-045EBC824D90}"/>
                </a:ext>
              </a:extLst>
            </p:cNvPr>
            <p:cNvSpPr txBox="1"/>
            <p:nvPr/>
          </p:nvSpPr>
          <p:spPr>
            <a:xfrm>
              <a:off x="140449" y="6222812"/>
              <a:ext cx="1575035" cy="498663"/>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3D LiDAR</a:t>
              </a:r>
            </a:p>
          </p:txBody>
        </p:sp>
      </p:grpSp>
      <p:sp>
        <p:nvSpPr>
          <p:cNvPr id="23" name="TextBox 22">
            <a:extLst>
              <a:ext uri="{FF2B5EF4-FFF2-40B4-BE49-F238E27FC236}">
                <a16:creationId xmlns:a16="http://schemas.microsoft.com/office/drawing/2014/main" id="{759154F1-E19A-9B37-F870-E797E9148796}"/>
              </a:ext>
            </a:extLst>
          </p:cNvPr>
          <p:cNvSpPr txBox="1"/>
          <p:nvPr/>
        </p:nvSpPr>
        <p:spPr>
          <a:xfrm>
            <a:off x="1902766" y="87001"/>
            <a:ext cx="8386466" cy="646331"/>
          </a:xfrm>
          <a:prstGeom prst="rect">
            <a:avLst/>
          </a:prstGeom>
          <a:noFill/>
          <a:effectLst/>
        </p:spPr>
        <p:txBody>
          <a:bodyPr wrap="square" rtlCol="0">
            <a:spAutoFit/>
          </a:bodyPr>
          <a:lstStyle/>
          <a:p>
            <a:pPr algn="ctr"/>
            <a:r>
              <a:rPr lang="en-US" sz="3600" dirty="0">
                <a:latin typeface="Aharoni" panose="02010803020104030203" pitchFamily="2" charset="-79"/>
                <a:cs typeface="Aharoni" panose="02010803020104030203" pitchFamily="2" charset="-79"/>
              </a:rPr>
              <a:t>LiDAR</a:t>
            </a:r>
          </a:p>
        </p:txBody>
      </p:sp>
    </p:spTree>
    <p:custDataLst>
      <p:tags r:id="rId1"/>
    </p:custDataLst>
    <p:extLst>
      <p:ext uri="{BB962C8B-B14F-4D97-AF65-F5344CB8AC3E}">
        <p14:creationId xmlns:p14="http://schemas.microsoft.com/office/powerpoint/2010/main" val="3651252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9" fill="hold" display="0">
                  <p:stCondLst>
                    <p:cond delay="indefinite"/>
                  </p:stCondLst>
                </p:cTn>
                <p:tgtEl>
                  <p:spTgt spid="17"/>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
            <a:extLst>
              <a:ext uri="{FF2B5EF4-FFF2-40B4-BE49-F238E27FC236}">
                <a16:creationId xmlns:a16="http://schemas.microsoft.com/office/drawing/2014/main" id="{7B67EDF3-89FD-93C0-5841-368E971B8A3C}"/>
              </a:ext>
            </a:extLst>
          </p:cNvPr>
          <p:cNvSpPr/>
          <p:nvPr/>
        </p:nvSpPr>
        <p:spPr>
          <a:xfrm>
            <a:off x="0" y="-1096"/>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3" name="Group 2">
            <a:extLst>
              <a:ext uri="{FF2B5EF4-FFF2-40B4-BE49-F238E27FC236}">
                <a16:creationId xmlns:a16="http://schemas.microsoft.com/office/drawing/2014/main" id="{77D9E427-2DAB-B755-C543-3A6675FB67FB}"/>
              </a:ext>
            </a:extLst>
          </p:cNvPr>
          <p:cNvGrpSpPr/>
          <p:nvPr/>
        </p:nvGrpSpPr>
        <p:grpSpPr>
          <a:xfrm>
            <a:off x="9982200" y="-202106"/>
            <a:ext cx="2134545" cy="1024482"/>
            <a:chOff x="8381055" y="-202106"/>
            <a:chExt cx="2134545" cy="1024482"/>
          </a:xfrm>
        </p:grpSpPr>
        <p:grpSp>
          <p:nvGrpSpPr>
            <p:cNvPr id="6" name="Group 5">
              <a:extLst>
                <a:ext uri="{FF2B5EF4-FFF2-40B4-BE49-F238E27FC236}">
                  <a16:creationId xmlns:a16="http://schemas.microsoft.com/office/drawing/2014/main" id="{5820049F-75F1-A0FA-0627-D9C02388944E}"/>
                </a:ext>
              </a:extLst>
            </p:cNvPr>
            <p:cNvGrpSpPr/>
            <p:nvPr/>
          </p:nvGrpSpPr>
          <p:grpSpPr>
            <a:xfrm>
              <a:off x="9319106" y="47827"/>
              <a:ext cx="1196494" cy="576524"/>
              <a:chOff x="9106493" y="2785014"/>
              <a:chExt cx="1196494" cy="576524"/>
            </a:xfrm>
          </p:grpSpPr>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6720" b="32723"/>
              <a:stretch/>
            </p:blipFill>
            <p:spPr bwMode="auto">
              <a:xfrm>
                <a:off x="9106493" y="2785014"/>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logo with text on it&#10;&#10;Description automatically generated">
                <a:extLst>
                  <a:ext uri="{FF2B5EF4-FFF2-40B4-BE49-F238E27FC236}">
                    <a16:creationId xmlns:a16="http://schemas.microsoft.com/office/drawing/2014/main" id="{0EA42647-1E02-776A-8EE8-DD142B9A9E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46194" y="2804745"/>
                <a:ext cx="556793" cy="556793"/>
              </a:xfrm>
              <a:prstGeom prst="rect">
                <a:avLst/>
              </a:prstGeom>
            </p:spPr>
          </p:pic>
        </p:grpSp>
        <p:pic>
          <p:nvPicPr>
            <p:cNvPr id="7" name="Picture 3">
              <a:extLst>
                <a:ext uri="{FF2B5EF4-FFF2-40B4-BE49-F238E27FC236}">
                  <a16:creationId xmlns:a16="http://schemas.microsoft.com/office/drawing/2014/main" id="{44BC0E71-6C7A-C3A1-7121-95EA608BD0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1055" y="-202106"/>
              <a:ext cx="943158" cy="1024482"/>
            </a:xfrm>
            <a:prstGeom prst="rect">
              <a:avLst/>
            </a:prstGeom>
            <a:noFill/>
            <a:extLst>
              <a:ext uri="{909E8E84-426E-40DD-AFC4-6F175D3DCCD1}">
                <a14:hiddenFill xmlns:a14="http://schemas.microsoft.com/office/drawing/2010/main">
                  <a:solidFill>
                    <a:srgbClr val="FFFFFF"/>
                  </a:solidFill>
                </a14:hiddenFill>
              </a:ext>
            </a:extLst>
          </p:spPr>
        </p:pic>
      </p:gr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13</a:t>
            </a:fld>
            <a:endParaRPr lang="fr-FR" b="1" dirty="0">
              <a:solidFill>
                <a:schemeClr val="tx1"/>
              </a:solidFill>
              <a:latin typeface="Abadi" panose="020B0604020104020204" pitchFamily="34" charset="0"/>
            </a:endParaRPr>
          </a:p>
        </p:txBody>
      </p:sp>
      <p:sp>
        <p:nvSpPr>
          <p:cNvPr id="5" name="TextBox 4">
            <a:extLst>
              <a:ext uri="{FF2B5EF4-FFF2-40B4-BE49-F238E27FC236}">
                <a16:creationId xmlns:a16="http://schemas.microsoft.com/office/drawing/2014/main" id="{AE284BBF-01A2-1B0D-710D-76D74BF23F75}"/>
              </a:ext>
            </a:extLst>
          </p:cNvPr>
          <p:cNvSpPr txBox="1"/>
          <p:nvPr/>
        </p:nvSpPr>
        <p:spPr>
          <a:xfrm>
            <a:off x="237553" y="631783"/>
            <a:ext cx="11322399" cy="584775"/>
          </a:xfrm>
          <a:prstGeom prst="rect">
            <a:avLst/>
          </a:prstGeom>
          <a:noFill/>
          <a:effectLst/>
        </p:spPr>
        <p:txBody>
          <a:bodyPr wrap="square" rtlCol="0">
            <a:spAutoFit/>
          </a:bodyPr>
          <a:lstStyle/>
          <a:p>
            <a:r>
              <a:rPr lang="en-US" sz="3200" dirty="0">
                <a:solidFill>
                  <a:srgbClr val="990000"/>
                </a:solidFill>
                <a:latin typeface="Abadi" panose="020B0604020104020204" pitchFamily="34" charset="0"/>
                <a:cs typeface="Aharoni" panose="02010803020104030203" pitchFamily="2" charset="-79"/>
              </a:rPr>
              <a:t>3</a:t>
            </a:r>
            <a:r>
              <a:rPr lang="en-US" sz="3200" dirty="0">
                <a:solidFill>
                  <a:srgbClr val="990000"/>
                </a:solidFill>
                <a:latin typeface="Aharoni" panose="02010803020104030203" pitchFamily="2" charset="-79"/>
                <a:cs typeface="Aharoni" panose="02010803020104030203" pitchFamily="2" charset="-79"/>
              </a:rPr>
              <a:t>D Object Processing with LiDAR</a:t>
            </a:r>
          </a:p>
        </p:txBody>
      </p:sp>
      <p:sp>
        <p:nvSpPr>
          <p:cNvPr id="4" name="TextBox 3">
            <a:extLst>
              <a:ext uri="{FF2B5EF4-FFF2-40B4-BE49-F238E27FC236}">
                <a16:creationId xmlns:a16="http://schemas.microsoft.com/office/drawing/2014/main" id="{F767BA9D-0B46-D907-29E7-D1E77533BD80}"/>
              </a:ext>
            </a:extLst>
          </p:cNvPr>
          <p:cNvSpPr txBox="1"/>
          <p:nvPr/>
        </p:nvSpPr>
        <p:spPr>
          <a:xfrm>
            <a:off x="7401698" y="1630174"/>
            <a:ext cx="4618481" cy="1654748"/>
          </a:xfrm>
          <a:prstGeom prst="rect">
            <a:avLst/>
          </a:prstGeom>
          <a:noFill/>
        </p:spPr>
        <p:txBody>
          <a:bodyPr wrap="square">
            <a:spAutoFit/>
          </a:bodyPr>
          <a:lstStyle/>
          <a:p>
            <a:pPr lvl="1" algn="ctr">
              <a:lnSpc>
                <a:spcPct val="150000"/>
              </a:lnSpc>
            </a:pPr>
            <a:r>
              <a:rPr lang="en-US" sz="3600" b="1" dirty="0">
                <a:solidFill>
                  <a:srgbClr val="000099"/>
                </a:solidFill>
                <a:latin typeface="Times New Roman" panose="02020603050405020304" pitchFamily="18" charset="0"/>
                <a:cs typeface="Times New Roman" panose="02020603050405020304" pitchFamily="18" charset="0"/>
              </a:rPr>
              <a:t>Data Processing Workflow</a:t>
            </a:r>
          </a:p>
        </p:txBody>
      </p:sp>
      <p:graphicFrame>
        <p:nvGraphicFramePr>
          <p:cNvPr id="30" name="Diagram 29">
            <a:extLst>
              <a:ext uri="{FF2B5EF4-FFF2-40B4-BE49-F238E27FC236}">
                <a16:creationId xmlns:a16="http://schemas.microsoft.com/office/drawing/2014/main" id="{0CF207E8-2BEF-BDC1-D233-ADDB00B6BE03}"/>
              </a:ext>
            </a:extLst>
          </p:cNvPr>
          <p:cNvGraphicFramePr/>
          <p:nvPr/>
        </p:nvGraphicFramePr>
        <p:xfrm>
          <a:off x="516953" y="1360831"/>
          <a:ext cx="9465247" cy="527579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2" name="TextBox 31">
            <a:extLst>
              <a:ext uri="{FF2B5EF4-FFF2-40B4-BE49-F238E27FC236}">
                <a16:creationId xmlns:a16="http://schemas.microsoft.com/office/drawing/2014/main" id="{9D9446CA-B173-89ED-02CA-B91E7EB5CF44}"/>
              </a:ext>
            </a:extLst>
          </p:cNvPr>
          <p:cNvSpPr txBox="1"/>
          <p:nvPr/>
        </p:nvSpPr>
        <p:spPr>
          <a:xfrm>
            <a:off x="1902766" y="87001"/>
            <a:ext cx="8386466" cy="646331"/>
          </a:xfrm>
          <a:prstGeom prst="rect">
            <a:avLst/>
          </a:prstGeom>
          <a:noFill/>
          <a:effectLst/>
        </p:spPr>
        <p:txBody>
          <a:bodyPr wrap="square" rtlCol="0">
            <a:spAutoFit/>
          </a:bodyPr>
          <a:lstStyle/>
          <a:p>
            <a:pPr algn="ctr"/>
            <a:r>
              <a:rPr lang="en-US" sz="3600" dirty="0">
                <a:latin typeface="Aharoni" panose="02010803020104030203" pitchFamily="2" charset="-79"/>
                <a:cs typeface="Aharoni" panose="02010803020104030203" pitchFamily="2" charset="-79"/>
              </a:rPr>
              <a:t>LiDAR</a:t>
            </a:r>
          </a:p>
        </p:txBody>
      </p:sp>
    </p:spTree>
    <p:custDataLst>
      <p:tags r:id="rId1"/>
    </p:custDataLst>
    <p:extLst>
      <p:ext uri="{BB962C8B-B14F-4D97-AF65-F5344CB8AC3E}">
        <p14:creationId xmlns:p14="http://schemas.microsoft.com/office/powerpoint/2010/main" val="2497450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
            <a:extLst>
              <a:ext uri="{FF2B5EF4-FFF2-40B4-BE49-F238E27FC236}">
                <a16:creationId xmlns:a16="http://schemas.microsoft.com/office/drawing/2014/main" id="{7B67EDF3-89FD-93C0-5841-368E971B8A3C}"/>
              </a:ext>
            </a:extLst>
          </p:cNvPr>
          <p:cNvSpPr/>
          <p:nvPr/>
        </p:nvSpPr>
        <p:spPr>
          <a:xfrm>
            <a:off x="0" y="-1096"/>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3" name="Group 2">
            <a:extLst>
              <a:ext uri="{FF2B5EF4-FFF2-40B4-BE49-F238E27FC236}">
                <a16:creationId xmlns:a16="http://schemas.microsoft.com/office/drawing/2014/main" id="{77D9E427-2DAB-B755-C543-3A6675FB67FB}"/>
              </a:ext>
            </a:extLst>
          </p:cNvPr>
          <p:cNvGrpSpPr/>
          <p:nvPr/>
        </p:nvGrpSpPr>
        <p:grpSpPr>
          <a:xfrm>
            <a:off x="9982200" y="-202106"/>
            <a:ext cx="2134545" cy="1024482"/>
            <a:chOff x="8381055" y="-202106"/>
            <a:chExt cx="2134545" cy="1024482"/>
          </a:xfrm>
        </p:grpSpPr>
        <p:grpSp>
          <p:nvGrpSpPr>
            <p:cNvPr id="6" name="Group 5">
              <a:extLst>
                <a:ext uri="{FF2B5EF4-FFF2-40B4-BE49-F238E27FC236}">
                  <a16:creationId xmlns:a16="http://schemas.microsoft.com/office/drawing/2014/main" id="{5820049F-75F1-A0FA-0627-D9C02388944E}"/>
                </a:ext>
              </a:extLst>
            </p:cNvPr>
            <p:cNvGrpSpPr/>
            <p:nvPr/>
          </p:nvGrpSpPr>
          <p:grpSpPr>
            <a:xfrm>
              <a:off x="9319106" y="47827"/>
              <a:ext cx="1196494" cy="576524"/>
              <a:chOff x="9106493" y="2785014"/>
              <a:chExt cx="1196494" cy="576524"/>
            </a:xfrm>
          </p:grpSpPr>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D2ABCD3B-3271-D5CB-5A5E-DBD8E7ACAC4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6720" b="32723"/>
              <a:stretch/>
            </p:blipFill>
            <p:spPr bwMode="auto">
              <a:xfrm>
                <a:off x="9106493" y="2785014"/>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logo with text on it&#10;&#10;Description automatically generated">
                <a:extLst>
                  <a:ext uri="{FF2B5EF4-FFF2-40B4-BE49-F238E27FC236}">
                    <a16:creationId xmlns:a16="http://schemas.microsoft.com/office/drawing/2014/main" id="{0EA42647-1E02-776A-8EE8-DD142B9A9E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46194" y="2804745"/>
                <a:ext cx="556793" cy="556793"/>
              </a:xfrm>
              <a:prstGeom prst="rect">
                <a:avLst/>
              </a:prstGeom>
            </p:spPr>
          </p:pic>
        </p:grpSp>
        <p:pic>
          <p:nvPicPr>
            <p:cNvPr id="7" name="Picture 3">
              <a:extLst>
                <a:ext uri="{FF2B5EF4-FFF2-40B4-BE49-F238E27FC236}">
                  <a16:creationId xmlns:a16="http://schemas.microsoft.com/office/drawing/2014/main" id="{44BC0E71-6C7A-C3A1-7121-95EA608BD0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1055" y="-202106"/>
              <a:ext cx="943158" cy="1024482"/>
            </a:xfrm>
            <a:prstGeom prst="rect">
              <a:avLst/>
            </a:prstGeom>
            <a:noFill/>
            <a:extLst>
              <a:ext uri="{909E8E84-426E-40DD-AFC4-6F175D3DCCD1}">
                <a14:hiddenFill xmlns:a14="http://schemas.microsoft.com/office/drawing/2010/main">
                  <a:solidFill>
                    <a:srgbClr val="FFFFFF"/>
                  </a:solidFill>
                </a14:hiddenFill>
              </a:ext>
            </a:extLst>
          </p:spPr>
        </p:pic>
      </p:grpSp>
      <p:sp>
        <p:nvSpPr>
          <p:cNvPr id="29" name="Slide Number Placeholder 28">
            <a:extLst>
              <a:ext uri="{FF2B5EF4-FFF2-40B4-BE49-F238E27FC236}">
                <a16:creationId xmlns:a16="http://schemas.microsoft.com/office/drawing/2014/main" id="{3D62EF3B-5545-0463-2234-377643E2CEFE}"/>
              </a:ext>
            </a:extLst>
          </p:cNvPr>
          <p:cNvSpPr>
            <a:spLocks noGrp="1"/>
          </p:cNvSpPr>
          <p:nvPr>
            <p:ph type="sldNum" sz="quarter" idx="12"/>
          </p:nvPr>
        </p:nvSpPr>
        <p:spPr/>
        <p:txBody>
          <a:bodyPr/>
          <a:lstStyle/>
          <a:p>
            <a:fld id="{AEFA81D6-7E61-41E9-BB6F-B62DDBA2B54E}" type="slidenum">
              <a:rPr lang="fr-FR" b="1" smtClean="0">
                <a:solidFill>
                  <a:schemeClr val="tx1"/>
                </a:solidFill>
                <a:latin typeface="Abadi" panose="020B0604020104020204" pitchFamily="34" charset="0"/>
              </a:rPr>
              <a:t>14</a:t>
            </a:fld>
            <a:endParaRPr lang="fr-FR" b="1" dirty="0">
              <a:solidFill>
                <a:schemeClr val="tx1"/>
              </a:solidFill>
              <a:latin typeface="Abadi" panose="020B0604020104020204" pitchFamily="34" charset="0"/>
            </a:endParaRPr>
          </a:p>
        </p:txBody>
      </p:sp>
      <p:sp>
        <p:nvSpPr>
          <p:cNvPr id="5" name="TextBox 4">
            <a:extLst>
              <a:ext uri="{FF2B5EF4-FFF2-40B4-BE49-F238E27FC236}">
                <a16:creationId xmlns:a16="http://schemas.microsoft.com/office/drawing/2014/main" id="{AE284BBF-01A2-1B0D-710D-76D74BF23F75}"/>
              </a:ext>
            </a:extLst>
          </p:cNvPr>
          <p:cNvSpPr txBox="1"/>
          <p:nvPr/>
        </p:nvSpPr>
        <p:spPr>
          <a:xfrm>
            <a:off x="237553" y="631783"/>
            <a:ext cx="11322399" cy="584775"/>
          </a:xfrm>
          <a:prstGeom prst="rect">
            <a:avLst/>
          </a:prstGeom>
          <a:noFill/>
          <a:effectLst/>
        </p:spPr>
        <p:txBody>
          <a:bodyPr wrap="square" rtlCol="0">
            <a:spAutoFit/>
          </a:bodyPr>
          <a:lstStyle/>
          <a:p>
            <a:r>
              <a:rPr lang="en-US" sz="3200" b="1" dirty="0">
                <a:solidFill>
                  <a:srgbClr val="990000"/>
                </a:solidFill>
                <a:latin typeface="Aharoni" panose="02010803020104030203" pitchFamily="2" charset="-79"/>
                <a:cs typeface="Aharoni" panose="02010803020104030203" pitchFamily="2" charset="-79"/>
              </a:rPr>
              <a:t>Tools and Libraries</a:t>
            </a:r>
          </a:p>
        </p:txBody>
      </p:sp>
      <p:sp>
        <p:nvSpPr>
          <p:cNvPr id="10" name="Rectangle 1">
            <a:extLst>
              <a:ext uri="{FF2B5EF4-FFF2-40B4-BE49-F238E27FC236}">
                <a16:creationId xmlns:a16="http://schemas.microsoft.com/office/drawing/2014/main" id="{AA56745E-506B-9D97-FAA6-2B6AF853BFEB}"/>
              </a:ext>
            </a:extLst>
          </p:cNvPr>
          <p:cNvSpPr>
            <a:spLocks noChangeArrowheads="1"/>
          </p:cNvSpPr>
          <p:nvPr/>
        </p:nvSpPr>
        <p:spPr bwMode="auto">
          <a:xfrm>
            <a:off x="237553" y="1138441"/>
            <a:ext cx="7572907" cy="1421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1" eaLnBrk="0" fontAlgn="base" hangingPunct="0">
              <a:lnSpc>
                <a:spcPct val="15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Point Cloud Library (PCL) for processing.</a:t>
            </a:r>
          </a:p>
          <a:p>
            <a:pPr lvl="1" eaLnBrk="0" fontAlgn="base" hangingPunct="0">
              <a:lnSpc>
                <a:spcPct val="15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Open3D for visualization and manipulation.</a:t>
            </a:r>
          </a:p>
          <a:p>
            <a:pPr lvl="1" eaLnBrk="0" fontAlgn="base" hangingPunct="0">
              <a:lnSpc>
                <a:spcPct val="15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LiDAR-specific algorithms for object detection and classification. </a:t>
            </a:r>
          </a:p>
        </p:txBody>
      </p:sp>
      <p:pic>
        <p:nvPicPr>
          <p:cNvPr id="13" name="Picture 12">
            <a:extLst>
              <a:ext uri="{FF2B5EF4-FFF2-40B4-BE49-F238E27FC236}">
                <a16:creationId xmlns:a16="http://schemas.microsoft.com/office/drawing/2014/main" id="{0B62BE90-FF4E-45ED-1265-BA3AD0E735FB}"/>
              </a:ext>
            </a:extLst>
          </p:cNvPr>
          <p:cNvPicPr>
            <a:picLocks noChangeAspect="1"/>
          </p:cNvPicPr>
          <p:nvPr/>
        </p:nvPicPr>
        <p:blipFill>
          <a:blip r:embed="rId7"/>
          <a:stretch>
            <a:fillRect/>
          </a:stretch>
        </p:blipFill>
        <p:spPr>
          <a:xfrm>
            <a:off x="2421337" y="2712429"/>
            <a:ext cx="6954829" cy="3992405"/>
          </a:xfrm>
          <a:prstGeom prst="rect">
            <a:avLst/>
          </a:prstGeom>
        </p:spPr>
      </p:pic>
      <p:sp>
        <p:nvSpPr>
          <p:cNvPr id="15" name="TextBox 14">
            <a:extLst>
              <a:ext uri="{FF2B5EF4-FFF2-40B4-BE49-F238E27FC236}">
                <a16:creationId xmlns:a16="http://schemas.microsoft.com/office/drawing/2014/main" id="{82A88C8F-6207-8223-05A7-3B1272A27E41}"/>
              </a:ext>
            </a:extLst>
          </p:cNvPr>
          <p:cNvSpPr txBox="1"/>
          <p:nvPr/>
        </p:nvSpPr>
        <p:spPr>
          <a:xfrm>
            <a:off x="1902766" y="87001"/>
            <a:ext cx="8386466" cy="646331"/>
          </a:xfrm>
          <a:prstGeom prst="rect">
            <a:avLst/>
          </a:prstGeom>
          <a:noFill/>
          <a:effectLst/>
        </p:spPr>
        <p:txBody>
          <a:bodyPr wrap="square" rtlCol="0">
            <a:spAutoFit/>
          </a:bodyPr>
          <a:lstStyle/>
          <a:p>
            <a:pPr algn="ctr"/>
            <a:r>
              <a:rPr lang="en-US" sz="3600" dirty="0">
                <a:latin typeface="Aharoni" panose="02010803020104030203" pitchFamily="2" charset="-79"/>
                <a:cs typeface="Aharoni" panose="02010803020104030203" pitchFamily="2" charset="-79"/>
              </a:rPr>
              <a:t>LiDAR</a:t>
            </a:r>
          </a:p>
        </p:txBody>
      </p:sp>
    </p:spTree>
    <p:custDataLst>
      <p:tags r:id="rId1"/>
    </p:custDataLst>
    <p:extLst>
      <p:ext uri="{BB962C8B-B14F-4D97-AF65-F5344CB8AC3E}">
        <p14:creationId xmlns:p14="http://schemas.microsoft.com/office/powerpoint/2010/main" val="890417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9A43385-7E39-9905-E472-13613585AE32}"/>
              </a:ext>
            </a:extLst>
          </p:cNvPr>
          <p:cNvPicPr>
            <a:picLocks noChangeAspect="1"/>
          </p:cNvPicPr>
          <p:nvPr/>
        </p:nvPicPr>
        <p:blipFill>
          <a:blip r:embed="rId2"/>
          <a:stretch>
            <a:fillRect/>
          </a:stretch>
        </p:blipFill>
        <p:spPr>
          <a:xfrm>
            <a:off x="5339082" y="5897507"/>
            <a:ext cx="1188180" cy="960493"/>
          </a:xfrm>
          <a:prstGeom prst="rect">
            <a:avLst/>
          </a:prstGeom>
        </p:spPr>
      </p:pic>
      <p:pic>
        <p:nvPicPr>
          <p:cNvPr id="2056" name="Picture 8" descr="PUCK Small 3D LiDAR Sensor">
            <a:extLst>
              <a:ext uri="{FF2B5EF4-FFF2-40B4-BE49-F238E27FC236}">
                <a16:creationId xmlns:a16="http://schemas.microsoft.com/office/drawing/2014/main" id="{8451C3A9-9917-2FDC-720A-C82C2DB1E7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7492" y="5829300"/>
            <a:ext cx="1028700" cy="10287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d-40 LiDAR Sensor - Livox">
            <a:extLst>
              <a:ext uri="{FF2B5EF4-FFF2-40B4-BE49-F238E27FC236}">
                <a16:creationId xmlns:a16="http://schemas.microsoft.com/office/drawing/2014/main" id="{81F6F0AB-AE90-03F5-C161-857E1093A6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1790" y="5829300"/>
            <a:ext cx="1028700" cy="10287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50368F80-BF1C-E197-1541-575D81E9AF11}"/>
              </a:ext>
            </a:extLst>
          </p:cNvPr>
          <p:cNvGraphicFramePr>
            <a:graphicFrameLocks noGrp="1"/>
          </p:cNvGraphicFramePr>
          <p:nvPr/>
        </p:nvGraphicFramePr>
        <p:xfrm>
          <a:off x="335280" y="638921"/>
          <a:ext cx="11076430" cy="5259344"/>
        </p:xfrm>
        <a:graphic>
          <a:graphicData uri="http://schemas.openxmlformats.org/drawingml/2006/table">
            <a:tbl>
              <a:tblPr firstRow="1" firstCol="1">
                <a:tableStyleId>{7E9639D4-E3E2-4D34-9284-5A2195B3D0D7}</a:tableStyleId>
              </a:tblPr>
              <a:tblGrid>
                <a:gridCol w="2215286">
                  <a:extLst>
                    <a:ext uri="{9D8B030D-6E8A-4147-A177-3AD203B41FA5}">
                      <a16:colId xmlns:a16="http://schemas.microsoft.com/office/drawing/2014/main" val="131468598"/>
                    </a:ext>
                  </a:extLst>
                </a:gridCol>
                <a:gridCol w="2215286">
                  <a:extLst>
                    <a:ext uri="{9D8B030D-6E8A-4147-A177-3AD203B41FA5}">
                      <a16:colId xmlns:a16="http://schemas.microsoft.com/office/drawing/2014/main" val="1232473973"/>
                    </a:ext>
                  </a:extLst>
                </a:gridCol>
                <a:gridCol w="2215286">
                  <a:extLst>
                    <a:ext uri="{9D8B030D-6E8A-4147-A177-3AD203B41FA5}">
                      <a16:colId xmlns:a16="http://schemas.microsoft.com/office/drawing/2014/main" val="3024706798"/>
                    </a:ext>
                  </a:extLst>
                </a:gridCol>
                <a:gridCol w="2215286">
                  <a:extLst>
                    <a:ext uri="{9D8B030D-6E8A-4147-A177-3AD203B41FA5}">
                      <a16:colId xmlns:a16="http://schemas.microsoft.com/office/drawing/2014/main" val="3890366487"/>
                    </a:ext>
                  </a:extLst>
                </a:gridCol>
                <a:gridCol w="2215286">
                  <a:extLst>
                    <a:ext uri="{9D8B030D-6E8A-4147-A177-3AD203B41FA5}">
                      <a16:colId xmlns:a16="http://schemas.microsoft.com/office/drawing/2014/main" val="2638949546"/>
                    </a:ext>
                  </a:extLst>
                </a:gridCol>
              </a:tblGrid>
              <a:tr h="645988">
                <a:tc>
                  <a:txBody>
                    <a:bodyPr/>
                    <a:lstStyle/>
                    <a:p>
                      <a:pPr algn="ctr" fontAlgn="t"/>
                      <a:r>
                        <a:rPr lang="en-US" sz="1600" u="none" strike="noStrike" dirty="0">
                          <a:effectLst/>
                        </a:rPr>
                        <a:t>Feature</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600" u="none" strike="noStrike" dirty="0">
                          <a:effectLst/>
                        </a:rPr>
                        <a:t>Intel RealSense L515</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600" u="none" strike="noStrike" dirty="0">
                          <a:effectLst/>
                        </a:rPr>
                        <a:t>Hokuyo UST-10LX</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600" u="none" strike="noStrike" dirty="0" err="1">
                          <a:effectLst/>
                        </a:rPr>
                        <a:t>Livox</a:t>
                      </a:r>
                      <a:r>
                        <a:rPr lang="en-US" sz="1600" u="none" strike="noStrike" dirty="0">
                          <a:effectLst/>
                        </a:rPr>
                        <a:t> Mid-40</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600" u="none" strike="noStrike" dirty="0" err="1">
                          <a:effectLst/>
                        </a:rPr>
                        <a:t>Velodyne</a:t>
                      </a:r>
                      <a:r>
                        <a:rPr lang="en-US" sz="1600" u="none" strike="noStrike" dirty="0">
                          <a:effectLst/>
                        </a:rPr>
                        <a:t> Puck VLP-16</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18534"/>
                  </a:ext>
                </a:extLst>
              </a:tr>
              <a:tr h="645988">
                <a:tc>
                  <a:txBody>
                    <a:bodyPr/>
                    <a:lstStyle/>
                    <a:p>
                      <a:pPr algn="ctr" fontAlgn="b"/>
                      <a:r>
                        <a:rPr lang="en-US" sz="1600" u="none" strike="noStrike">
                          <a:effectLst/>
                        </a:rPr>
                        <a:t>Depth Resolution</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Up to 1024 × 768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Low resolution</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Up to 100,000 points/second</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Up to 300,000 points/second</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1609999"/>
                  </a:ext>
                </a:extLst>
              </a:tr>
              <a:tr h="645988">
                <a:tc>
                  <a:txBody>
                    <a:bodyPr/>
                    <a:lstStyle/>
                    <a:p>
                      <a:pPr algn="ctr" fontAlgn="b"/>
                      <a:r>
                        <a:rPr lang="en-US" sz="1600" u="none" strike="noStrike" dirty="0">
                          <a:effectLst/>
                        </a:rPr>
                        <a:t>Range</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r>
                        <a:rPr lang="en-US" sz="1600" u="none" strike="noStrike" dirty="0">
                          <a:effectLst/>
                        </a:rPr>
                        <a:t>0.25 m to 9 m</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r>
                        <a:rPr lang="en-US" sz="1600" u="none" strike="noStrike" dirty="0">
                          <a:effectLst/>
                        </a:rPr>
                        <a:t>Up to 10 m</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r>
                        <a:rPr lang="en-US" sz="1600" u="none" strike="noStrike" dirty="0">
                          <a:effectLst/>
                        </a:rPr>
                        <a:t>0.2 m to 260 m</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r>
                        <a:rPr lang="en-US" sz="1600" u="none" strike="noStrike" dirty="0">
                          <a:effectLst/>
                        </a:rPr>
                        <a:t>0.5 m to 100 m</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107686767"/>
                  </a:ext>
                </a:extLst>
              </a:tr>
              <a:tr h="645988">
                <a:tc>
                  <a:txBody>
                    <a:bodyPr/>
                    <a:lstStyle/>
                    <a:p>
                      <a:pPr algn="ctr" fontAlgn="b"/>
                      <a:r>
                        <a:rPr lang="en-US" sz="1600" u="none" strike="noStrike">
                          <a:effectLst/>
                        </a:rPr>
                        <a:t>Field of View</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70° (H), 55° (V)</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270°</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38.4°</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360°</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7535873"/>
                  </a:ext>
                </a:extLst>
              </a:tr>
              <a:tr h="645988">
                <a:tc>
                  <a:txBody>
                    <a:bodyPr/>
                    <a:lstStyle/>
                    <a:p>
                      <a:pPr algn="ctr" fontAlgn="b"/>
                      <a:r>
                        <a:rPr lang="en-US" sz="1600" u="none" strike="noStrike" dirty="0">
                          <a:effectLst/>
                        </a:rPr>
                        <a:t>Lighting Conditions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r>
                        <a:rPr lang="en-US" sz="1600" u="none" strike="noStrike" dirty="0">
                          <a:effectLst/>
                        </a:rPr>
                        <a:t>Works in all lighting conditions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r>
                        <a:rPr lang="en-US" sz="1600" u="none" strike="noStrike" dirty="0">
                          <a:effectLst/>
                        </a:rPr>
                        <a:t>Limited by lighting</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r>
                        <a:rPr lang="en-US" sz="1600" u="none" strike="noStrike" dirty="0">
                          <a:effectLst/>
                        </a:rPr>
                        <a:t>Works in all lighting conditions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r>
                        <a:rPr lang="en-US" sz="1600" u="none" strike="noStrike" dirty="0">
                          <a:effectLst/>
                        </a:rPr>
                        <a:t>Works in all lighting conditions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94798325"/>
                  </a:ext>
                </a:extLst>
              </a:tr>
              <a:tr h="645988">
                <a:tc>
                  <a:txBody>
                    <a:bodyPr/>
                    <a:lstStyle/>
                    <a:p>
                      <a:pPr algn="ctr" fontAlgn="b"/>
                      <a:r>
                        <a:rPr lang="en-US" sz="1600" u="none" strike="noStrike" dirty="0">
                          <a:effectLst/>
                        </a:rPr>
                        <a:t>Accuracy</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b"/>
                      <a:r>
                        <a:rPr lang="da-DK" sz="1600" u="none" strike="noStrike">
                          <a:effectLst/>
                        </a:rPr>
                        <a:t>±5 mm at 2.5 m</a:t>
                      </a:r>
                      <a:endParaRPr lang="da-DK" sz="1600" b="0" i="0" u="none" strike="noStrike">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b"/>
                      <a:r>
                        <a:rPr lang="da-DK" sz="1600" u="none" strike="noStrike" dirty="0">
                          <a:effectLst/>
                        </a:rPr>
                        <a:t>±30 mm at 10 m</a:t>
                      </a:r>
                      <a:endParaRPr lang="da-DK"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b"/>
                      <a:r>
                        <a:rPr lang="en-US" sz="1600" u="none" strike="noStrike" dirty="0">
                          <a:effectLst/>
                        </a:rPr>
                        <a:t>±2 cm</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b"/>
                      <a:r>
                        <a:rPr lang="en-US" sz="1600" u="none" strike="noStrike" dirty="0">
                          <a:effectLst/>
                        </a:rPr>
                        <a:t>±3 cm</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855520194"/>
                  </a:ext>
                </a:extLst>
              </a:tr>
              <a:tr h="645988">
                <a:tc>
                  <a:txBody>
                    <a:bodyPr/>
                    <a:lstStyle/>
                    <a:p>
                      <a:pPr algn="ctr" fontAlgn="b"/>
                      <a:r>
                        <a:rPr lang="en-US" sz="1600" u="none" strike="noStrike" dirty="0">
                          <a:effectLst/>
                        </a:rPr>
                        <a:t>Cost (YEN)</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1600" u="none" strike="noStrike" dirty="0">
                          <a:effectLst/>
                        </a:rPr>
                        <a:t>¥118,800</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1600" u="none" strike="noStrike" dirty="0">
                          <a:effectLst/>
                        </a:rPr>
                        <a:t>¥164,000</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1600" u="none" strike="noStrike" dirty="0">
                          <a:effectLst/>
                        </a:rPr>
                        <a:t>¥78,000</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1600" u="none" strike="noStrike" dirty="0">
                          <a:effectLst/>
                        </a:rPr>
                        <a:t>¥250,000</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239205553"/>
                  </a:ext>
                </a:extLst>
              </a:tr>
              <a:tr h="645988">
                <a:tc>
                  <a:txBody>
                    <a:bodyPr/>
                    <a:lstStyle/>
                    <a:p>
                      <a:pPr algn="ctr" fontAlgn="b"/>
                      <a:r>
                        <a:rPr lang="en-US" sz="1600" u="none" strike="noStrike">
                          <a:effectLst/>
                        </a:rPr>
                        <a:t>Raspberry Pi Compatibility</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Compatible with additional processing power</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May require additional adapters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Compatible with proper integration</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Compatible with additional processing power</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908" marR="5908" marT="59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884503"/>
                  </a:ext>
                </a:extLst>
              </a:tr>
            </a:tbl>
          </a:graphicData>
        </a:graphic>
      </p:graphicFrame>
      <p:sp>
        <p:nvSpPr>
          <p:cNvPr id="6" name="TextBox 5">
            <a:extLst>
              <a:ext uri="{FF2B5EF4-FFF2-40B4-BE49-F238E27FC236}">
                <a16:creationId xmlns:a16="http://schemas.microsoft.com/office/drawing/2014/main" id="{7C30E97F-192C-66E3-165A-6A98B7C4B31A}"/>
              </a:ext>
            </a:extLst>
          </p:cNvPr>
          <p:cNvSpPr txBox="1"/>
          <p:nvPr/>
        </p:nvSpPr>
        <p:spPr>
          <a:xfrm>
            <a:off x="2413915" y="0"/>
            <a:ext cx="6913569" cy="707886"/>
          </a:xfrm>
          <a:prstGeom prst="rect">
            <a:avLst/>
          </a:prstGeom>
          <a:noFill/>
          <a:effectLst/>
        </p:spPr>
        <p:txBody>
          <a:bodyPr wrap="square" rtlCol="0">
            <a:spAutoFit/>
          </a:bodyPr>
          <a:lstStyle/>
          <a:p>
            <a:pPr algn="ctr"/>
            <a:r>
              <a:rPr lang="en-US" sz="4000" dirty="0">
                <a:latin typeface="ADLaM Display" panose="02010000000000000000" pitchFamily="2" charset="0"/>
                <a:ea typeface="ADLaM Display" panose="02010000000000000000" pitchFamily="2" charset="0"/>
                <a:cs typeface="ADLaM Display" panose="02010000000000000000" pitchFamily="2" charset="0"/>
              </a:rPr>
              <a:t>3</a:t>
            </a:r>
            <a:r>
              <a:rPr lang="en-US" sz="4000" dirty="0">
                <a:latin typeface="Aharoni" panose="02010803020104030203" pitchFamily="2" charset="-79"/>
                <a:cs typeface="Aharoni" panose="02010803020104030203" pitchFamily="2" charset="-79"/>
              </a:rPr>
              <a:t>D LiDAR CAMERA REVIEW</a:t>
            </a:r>
          </a:p>
        </p:txBody>
      </p:sp>
      <p:pic>
        <p:nvPicPr>
          <p:cNvPr id="7" name="Picture 6" descr="A close-up of a camera&#10;&#10;Description automatically generated">
            <a:extLst>
              <a:ext uri="{FF2B5EF4-FFF2-40B4-BE49-F238E27FC236}">
                <a16:creationId xmlns:a16="http://schemas.microsoft.com/office/drawing/2014/main" id="{C020B42E-226D-FABF-E971-EE3A48DF19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6835" y="5960942"/>
            <a:ext cx="1429837" cy="865528"/>
          </a:xfrm>
          <a:prstGeom prst="rect">
            <a:avLst/>
          </a:prstGeom>
        </p:spPr>
      </p:pic>
    </p:spTree>
    <p:extLst>
      <p:ext uri="{BB962C8B-B14F-4D97-AF65-F5344CB8AC3E}">
        <p14:creationId xmlns:p14="http://schemas.microsoft.com/office/powerpoint/2010/main" val="6901134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1"/>
</p:tagLst>
</file>

<file path=ppt/tags/tag2.xml><?xml version="1.0" encoding="utf-8"?>
<p:tagLst xmlns:a="http://schemas.openxmlformats.org/drawingml/2006/main" xmlns:r="http://schemas.openxmlformats.org/officeDocument/2006/relationships" xmlns:p="http://schemas.openxmlformats.org/presentationml/2006/main">
  <p:tag name="TIMING" val="|14.8|10.5|32.4"/>
</p:tagLst>
</file>

<file path=ppt/tags/tag3.xml><?xml version="1.0" encoding="utf-8"?>
<p:tagLst xmlns:a="http://schemas.openxmlformats.org/drawingml/2006/main" xmlns:r="http://schemas.openxmlformats.org/officeDocument/2006/relationships" xmlns:p="http://schemas.openxmlformats.org/presentationml/2006/main">
  <p:tag name="TIMING" val="|14.8|10.5|32.4"/>
</p:tagLst>
</file>

<file path=ppt/tags/tag4.xml><?xml version="1.0" encoding="utf-8"?>
<p:tagLst xmlns:a="http://schemas.openxmlformats.org/drawingml/2006/main" xmlns:r="http://schemas.openxmlformats.org/officeDocument/2006/relationships" xmlns:p="http://schemas.openxmlformats.org/presentationml/2006/main">
  <p:tag name="TIMING" val="|14.8|10.5|32.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772</TotalTime>
  <Words>1959</Words>
  <Application>Microsoft Office PowerPoint</Application>
  <PresentationFormat>Widescreen</PresentationFormat>
  <Paragraphs>260</Paragraphs>
  <Slides>15</Slides>
  <Notes>14</Notes>
  <HiddenSlides>3</HiddenSlides>
  <MMClips>3</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Abadi</vt:lpstr>
      <vt:lpstr>ADLaM Display</vt:lpstr>
      <vt:lpstr>Aharoni</vt:lpstr>
      <vt:lpstr>Arial</vt:lpstr>
      <vt:lpstr>Calibri</vt:lpstr>
      <vt:lpstr>Calibri Light</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NAPAT NAOWARANGSEE</dc:creator>
  <cp:lastModifiedBy>Napat Naowarangsee</cp:lastModifiedBy>
  <cp:revision>10</cp:revision>
  <dcterms:created xsi:type="dcterms:W3CDTF">2024-10-17T01:13:06Z</dcterms:created>
  <dcterms:modified xsi:type="dcterms:W3CDTF">2025-09-10T05:30:54Z</dcterms:modified>
</cp:coreProperties>
</file>