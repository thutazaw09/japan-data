
<file path=[Content_Types].xml><?xml version="1.0" encoding="utf-8"?>
<Types xmlns="http://schemas.openxmlformats.org/package/2006/content-types">
  <Default Extension="jfif" ContentType="image/jpeg"/>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954" y="21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1700" b="1" i="0">
                <a:solidFill>
                  <a:schemeClr val="tx1"/>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700" b="1"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700" b="1"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700" b="1"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351529" y="179980"/>
            <a:ext cx="1851660" cy="284480"/>
          </a:xfrm>
          <a:prstGeom prst="rect">
            <a:avLst/>
          </a:prstGeom>
        </p:spPr>
        <p:txBody>
          <a:bodyPr wrap="square" lIns="0" tIns="0" rIns="0" bIns="0">
            <a:spAutoFit/>
          </a:bodyPr>
          <a:lstStyle>
            <a:lvl1pPr>
              <a:defRPr sz="1700" b="1" i="0">
                <a:solidFill>
                  <a:schemeClr val="tx1"/>
                </a:solidFill>
                <a:latin typeface="Calibri"/>
                <a:cs typeface="Calibri"/>
              </a:defRPr>
            </a:lvl1pPr>
          </a:lstStyle>
          <a:p>
            <a:endParaRPr/>
          </a:p>
        </p:txBody>
      </p:sp>
      <p:sp>
        <p:nvSpPr>
          <p:cNvPr id="3" name="Holder 3"/>
          <p:cNvSpPr>
            <a:spLocks noGrp="1"/>
          </p:cNvSpPr>
          <p:nvPr>
            <p:ph type="body" idx="1"/>
          </p:nvPr>
        </p:nvSpPr>
        <p:spPr>
          <a:xfrm>
            <a:off x="485140" y="2919370"/>
            <a:ext cx="5087620" cy="387095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2/3/2026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fif"/><Relationship Id="rId3" Type="http://schemas.openxmlformats.org/officeDocument/2006/relationships/image" Target="../media/image2.jpg"/><Relationship Id="rId7"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image" Target="../media/image4.jpeg"/><Relationship Id="rId10" Type="http://schemas.openxmlformats.org/officeDocument/2006/relationships/image" Target="../media/image9.jfif"/><Relationship Id="rId4" Type="http://schemas.openxmlformats.org/officeDocument/2006/relationships/image" Target="../media/image3.jfif"/><Relationship Id="rId9" Type="http://schemas.openxmlformats.org/officeDocument/2006/relationships/image" Target="../media/image8.jfif"/></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78790" y="1905910"/>
            <a:ext cx="1482725" cy="284480"/>
          </a:xfrm>
          <a:prstGeom prst="rect">
            <a:avLst/>
          </a:prstGeom>
        </p:spPr>
        <p:txBody>
          <a:bodyPr vert="horz" wrap="square" lIns="0" tIns="12700" rIns="0" bIns="0" rtlCol="0">
            <a:spAutoFit/>
          </a:bodyPr>
          <a:lstStyle/>
          <a:p>
            <a:pPr marL="12700">
              <a:lnSpc>
                <a:spcPct val="100000"/>
              </a:lnSpc>
              <a:spcBef>
                <a:spcPts val="100"/>
              </a:spcBef>
            </a:pPr>
            <a:r>
              <a:rPr sz="1700" spc="-20" dirty="0">
                <a:solidFill>
                  <a:srgbClr val="538134"/>
                </a:solidFill>
                <a:latin typeface="Calibri"/>
                <a:cs typeface="Calibri"/>
              </a:rPr>
              <a:t>self-</a:t>
            </a:r>
            <a:r>
              <a:rPr sz="1700" spc="-10" dirty="0">
                <a:solidFill>
                  <a:srgbClr val="538134"/>
                </a:solidFill>
                <a:latin typeface="Calibri"/>
                <a:cs typeface="Calibri"/>
              </a:rPr>
              <a:t>introduction</a:t>
            </a:r>
            <a:endParaRPr sz="1700">
              <a:latin typeface="Calibri"/>
              <a:cs typeface="Calibri"/>
            </a:endParaRPr>
          </a:p>
        </p:txBody>
      </p:sp>
      <p:sp>
        <p:nvSpPr>
          <p:cNvPr id="3" name="object 3"/>
          <p:cNvSpPr txBox="1"/>
          <p:nvPr/>
        </p:nvSpPr>
        <p:spPr>
          <a:xfrm>
            <a:off x="485140" y="2919370"/>
            <a:ext cx="5087618" cy="3806811"/>
          </a:xfrm>
          <a:prstGeom prst="rect">
            <a:avLst/>
          </a:prstGeom>
          <a:ln w="76194">
            <a:solidFill>
              <a:srgbClr val="6FAC46"/>
            </a:solidFill>
          </a:ln>
        </p:spPr>
        <p:txBody>
          <a:bodyPr vert="horz" wrap="square" lIns="0" tIns="5715" rIns="0" bIns="0" rtlCol="0">
            <a:spAutoFit/>
          </a:bodyPr>
          <a:lstStyle/>
          <a:p>
            <a:pPr>
              <a:lnSpc>
                <a:spcPct val="100000"/>
              </a:lnSpc>
              <a:spcBef>
                <a:spcPts val="45"/>
              </a:spcBef>
            </a:pPr>
            <a:endParaRPr sz="900" dirty="0">
              <a:latin typeface="Times New Roman"/>
              <a:cs typeface="Times New Roman"/>
            </a:endParaRPr>
          </a:p>
          <a:p>
            <a:pPr marL="131445" algn="just">
              <a:lnSpc>
                <a:spcPct val="100000"/>
              </a:lnSpc>
            </a:pPr>
            <a:r>
              <a:rPr lang="en-US" sz="1000" dirty="0"/>
              <a:t>My current research focuses on the design, modeling, and numerical analysis of braided Nitinol tracheal stents for biomedical and veterinary airway applications, with particular emphasis on mechanical stability and failure prevention. An equation-driven parametric approach is employed to construct accurate three-dimensional braided stent geometries, enabling systematic control of key design parameters such as braiding angle, wire diameter, pitch, and the total number of wires. This parametric framework allows efficient exploration of design variations and their influence on stent flexibility, radial strength, and axial stiffness. The mechanical response of the stent is represented using a nonlinear </a:t>
            </a:r>
            <a:r>
              <a:rPr lang="en-US" sz="1000" dirty="0" err="1"/>
              <a:t>superelastic</a:t>
            </a:r>
            <a:r>
              <a:rPr lang="en-US" sz="1000" dirty="0"/>
              <a:t> Nitinol constitutive model calibrated from experimental tensile testing data. This approach captures stress-induced phase transformation, hysteresis, and large deformation behavior, which are essential for realistically predicting stent performance under physiological loading. Finite element simulations are carried out to evaluate stress distribution, deformation patterns, and potential failure regions within the braided structure, providing quantitative insight into design-dependent mechanical behavior.</a:t>
            </a:r>
          </a:p>
          <a:p>
            <a:pPr marL="131445" algn="just">
              <a:lnSpc>
                <a:spcPct val="100000"/>
              </a:lnSpc>
            </a:pPr>
            <a:r>
              <a:rPr lang="en-US" sz="1000" dirty="0"/>
              <a:t>To replicate in-vivo operating conditions, coupled fluid–structure interaction (FSI) simulations are performed to investigate the interaction between obstructed airflow and stent deformation inside the trachea. These simulations clarify how airflow-induced forces contribute to stent compression, localized stress concentration, and long-term mechanical instability. By integrating parametric geometry, advanced material modeling, and FSI analysis, this research aims to establish robust design guidelines for braided tracheal stents, ultimately contributing to improved durability, safety, and clinical effectiveness in airway support applications.</a:t>
            </a:r>
            <a:endParaRPr lang="en-US" sz="1000" dirty="0">
              <a:latin typeface="Calibri"/>
              <a:cs typeface="Calibri"/>
            </a:endParaRPr>
          </a:p>
          <a:p>
            <a:pPr marL="131445">
              <a:lnSpc>
                <a:spcPct val="100000"/>
              </a:lnSpc>
            </a:pPr>
            <a:endParaRPr lang="en-US" sz="900" dirty="0">
              <a:latin typeface="Calibri"/>
              <a:cs typeface="Calibri"/>
            </a:endParaRPr>
          </a:p>
          <a:p>
            <a:pPr marL="131445">
              <a:lnSpc>
                <a:spcPct val="100000"/>
              </a:lnSpc>
            </a:pPr>
            <a:endParaRPr lang="en-US" sz="900" dirty="0">
              <a:latin typeface="Calibri"/>
              <a:cs typeface="Calibri"/>
            </a:endParaRPr>
          </a:p>
        </p:txBody>
      </p:sp>
      <p:grpSp>
        <p:nvGrpSpPr>
          <p:cNvPr id="4" name="object 4"/>
          <p:cNvGrpSpPr/>
          <p:nvPr/>
        </p:nvGrpSpPr>
        <p:grpSpPr>
          <a:xfrm>
            <a:off x="-6289" y="-6289"/>
            <a:ext cx="12204700" cy="156210"/>
            <a:chOff x="-6289" y="-6289"/>
            <a:chExt cx="12204700" cy="156210"/>
          </a:xfrm>
        </p:grpSpPr>
        <p:sp>
          <p:nvSpPr>
            <p:cNvPr id="5" name="object 5"/>
            <p:cNvSpPr/>
            <p:nvPr/>
          </p:nvSpPr>
          <p:spPr>
            <a:xfrm>
              <a:off x="0" y="0"/>
              <a:ext cx="12192000" cy="143510"/>
            </a:xfrm>
            <a:custGeom>
              <a:avLst/>
              <a:gdLst/>
              <a:ahLst/>
              <a:cxnLst/>
              <a:rect l="l" t="t" r="r" b="b"/>
              <a:pathLst>
                <a:path w="12192000" h="143510">
                  <a:moveTo>
                    <a:pt x="12191759" y="143150"/>
                  </a:moveTo>
                  <a:lnTo>
                    <a:pt x="0" y="143150"/>
                  </a:lnTo>
                  <a:lnTo>
                    <a:pt x="0" y="0"/>
                  </a:lnTo>
                  <a:lnTo>
                    <a:pt x="12191759" y="0"/>
                  </a:lnTo>
                  <a:lnTo>
                    <a:pt x="12191759" y="143150"/>
                  </a:lnTo>
                  <a:close/>
                </a:path>
              </a:pathLst>
            </a:custGeom>
            <a:solidFill>
              <a:srgbClr val="6FAC46"/>
            </a:solidFill>
          </p:spPr>
          <p:txBody>
            <a:bodyPr wrap="square" lIns="0" tIns="0" rIns="0" bIns="0" rtlCol="0"/>
            <a:lstStyle/>
            <a:p>
              <a:endParaRPr/>
            </a:p>
          </p:txBody>
        </p:sp>
        <p:sp>
          <p:nvSpPr>
            <p:cNvPr id="6" name="object 6"/>
            <p:cNvSpPr/>
            <p:nvPr/>
          </p:nvSpPr>
          <p:spPr>
            <a:xfrm>
              <a:off x="0" y="0"/>
              <a:ext cx="12192000" cy="143510"/>
            </a:xfrm>
            <a:custGeom>
              <a:avLst/>
              <a:gdLst/>
              <a:ahLst/>
              <a:cxnLst/>
              <a:rect l="l" t="t" r="r" b="b"/>
              <a:pathLst>
                <a:path w="12192000" h="143510">
                  <a:moveTo>
                    <a:pt x="12191759" y="143150"/>
                  </a:moveTo>
                  <a:lnTo>
                    <a:pt x="6096000" y="143150"/>
                  </a:lnTo>
                  <a:lnTo>
                    <a:pt x="0" y="143150"/>
                  </a:lnTo>
                  <a:lnTo>
                    <a:pt x="0" y="0"/>
                  </a:lnTo>
                </a:path>
              </a:pathLst>
            </a:custGeom>
            <a:ln w="12579">
              <a:solidFill>
                <a:srgbClr val="517E33"/>
              </a:solidFill>
            </a:ln>
          </p:spPr>
          <p:txBody>
            <a:bodyPr wrap="square" lIns="0" tIns="0" rIns="0" bIns="0" rtlCol="0"/>
            <a:lstStyle/>
            <a:p>
              <a:endParaRPr/>
            </a:p>
          </p:txBody>
        </p:sp>
      </p:grpSp>
      <p:sp>
        <p:nvSpPr>
          <p:cNvPr id="7" name="object 7"/>
          <p:cNvSpPr txBox="1"/>
          <p:nvPr/>
        </p:nvSpPr>
        <p:spPr>
          <a:xfrm>
            <a:off x="3417570" y="588920"/>
            <a:ext cx="1611630" cy="1268296"/>
          </a:xfrm>
          <a:prstGeom prst="rect">
            <a:avLst/>
          </a:prstGeom>
          <a:ln w="76194">
            <a:solidFill>
              <a:srgbClr val="6FAC46"/>
            </a:solidFill>
          </a:ln>
        </p:spPr>
        <p:txBody>
          <a:bodyPr vert="horz" wrap="square" lIns="0" tIns="97790" rIns="0" bIns="0" rtlCol="0">
            <a:spAutoFit/>
          </a:bodyPr>
          <a:lstStyle/>
          <a:p>
            <a:pPr marL="121285" lvl="1">
              <a:spcBef>
                <a:spcPts val="770"/>
              </a:spcBef>
            </a:pPr>
            <a:r>
              <a:rPr lang="en-US" sz="900" b="1" spc="-20" dirty="0">
                <a:latin typeface="Calibri"/>
                <a:cs typeface="Calibri"/>
              </a:rPr>
              <a:t>THU TA ZAW </a:t>
            </a:r>
            <a:endParaRPr sz="900" dirty="0">
              <a:latin typeface="Calibri"/>
              <a:cs typeface="Calibri"/>
            </a:endParaRPr>
          </a:p>
          <a:p>
            <a:pPr marL="121285">
              <a:lnSpc>
                <a:spcPct val="100000"/>
              </a:lnSpc>
            </a:pPr>
            <a:r>
              <a:rPr sz="1700" spc="335" dirty="0">
                <a:latin typeface="Lucida Sans Unicode"/>
                <a:cs typeface="Lucida Sans Unicode"/>
              </a:rPr>
              <a:t>●●</a:t>
            </a:r>
            <a:r>
              <a:rPr sz="1700" spc="310" dirty="0">
                <a:latin typeface="Lucida Sans Unicode"/>
                <a:cs typeface="Lucida Sans Unicode"/>
              </a:rPr>
              <a:t> ●●</a:t>
            </a:r>
            <a:endParaRPr lang="en-US" sz="1700" dirty="0">
              <a:latin typeface="Lucida Sans Unicode"/>
              <a:cs typeface="Lucida Sans Unicode"/>
            </a:endParaRPr>
          </a:p>
          <a:p>
            <a:pPr marL="121285">
              <a:lnSpc>
                <a:spcPct val="100000"/>
              </a:lnSpc>
            </a:pPr>
            <a:r>
              <a:rPr sz="1000" spc="-10" dirty="0">
                <a:latin typeface="Calibri"/>
                <a:cs typeface="Calibri"/>
              </a:rPr>
              <a:t>Affiliation</a:t>
            </a:r>
            <a:r>
              <a:rPr sz="1000" spc="500" dirty="0">
                <a:latin typeface="Calibri"/>
                <a:cs typeface="Calibri"/>
              </a:rPr>
              <a:t> </a:t>
            </a:r>
            <a:endParaRPr lang="en-US" sz="1000" spc="500" dirty="0">
              <a:latin typeface="Calibri"/>
              <a:cs typeface="Calibri"/>
            </a:endParaRPr>
          </a:p>
          <a:p>
            <a:pPr marL="121285">
              <a:lnSpc>
                <a:spcPct val="100000"/>
              </a:lnSpc>
            </a:pPr>
            <a:r>
              <a:rPr sz="1000" spc="-10" dirty="0">
                <a:latin typeface="Calibri"/>
                <a:cs typeface="Calibri"/>
              </a:rPr>
              <a:t>Graduate</a:t>
            </a:r>
            <a:r>
              <a:rPr sz="1000" spc="-15" dirty="0">
                <a:latin typeface="Calibri"/>
                <a:cs typeface="Calibri"/>
              </a:rPr>
              <a:t> </a:t>
            </a:r>
            <a:r>
              <a:rPr sz="1000" dirty="0">
                <a:latin typeface="Calibri"/>
                <a:cs typeface="Calibri"/>
              </a:rPr>
              <a:t>School</a:t>
            </a:r>
            <a:r>
              <a:rPr sz="1000" spc="-20" dirty="0">
                <a:latin typeface="Calibri"/>
                <a:cs typeface="Calibri"/>
              </a:rPr>
              <a:t> </a:t>
            </a:r>
            <a:r>
              <a:rPr sz="1000" spc="-25" dirty="0">
                <a:latin typeface="Calibri"/>
                <a:cs typeface="Calibri"/>
              </a:rPr>
              <a:t>of</a:t>
            </a:r>
            <a:endParaRPr sz="1000" dirty="0">
              <a:latin typeface="Calibri"/>
              <a:cs typeface="Calibri"/>
            </a:endParaRPr>
          </a:p>
          <a:p>
            <a:pPr marL="121285">
              <a:lnSpc>
                <a:spcPts val="1160"/>
              </a:lnSpc>
            </a:pPr>
            <a:r>
              <a:rPr lang="en-US" sz="1000" dirty="0">
                <a:latin typeface="Calibri"/>
                <a:cs typeface="Calibri"/>
              </a:rPr>
              <a:t>Natural Science and Technology</a:t>
            </a:r>
          </a:p>
          <a:p>
            <a:pPr marL="121285">
              <a:lnSpc>
                <a:spcPts val="1160"/>
              </a:lnSpc>
            </a:pPr>
            <a:endParaRPr sz="1000" dirty="0">
              <a:latin typeface="Calibri"/>
              <a:cs typeface="Calibri"/>
            </a:endParaRPr>
          </a:p>
        </p:txBody>
      </p:sp>
      <p:grpSp>
        <p:nvGrpSpPr>
          <p:cNvPr id="8" name="object 8"/>
          <p:cNvGrpSpPr/>
          <p:nvPr/>
        </p:nvGrpSpPr>
        <p:grpSpPr>
          <a:xfrm>
            <a:off x="6181090" y="1610000"/>
            <a:ext cx="1409700" cy="177800"/>
            <a:chOff x="6181090" y="1610000"/>
            <a:chExt cx="1409700" cy="177800"/>
          </a:xfrm>
        </p:grpSpPr>
        <p:sp>
          <p:nvSpPr>
            <p:cNvPr id="9" name="object 9"/>
            <p:cNvSpPr/>
            <p:nvPr/>
          </p:nvSpPr>
          <p:spPr>
            <a:xfrm>
              <a:off x="6187440" y="1616350"/>
              <a:ext cx="1397000" cy="165100"/>
            </a:xfrm>
            <a:custGeom>
              <a:avLst/>
              <a:gdLst/>
              <a:ahLst/>
              <a:cxnLst/>
              <a:rect l="l" t="t" r="r" b="b"/>
              <a:pathLst>
                <a:path w="1397000" h="165100">
                  <a:moveTo>
                    <a:pt x="1397000" y="0"/>
                  </a:moveTo>
                  <a:lnTo>
                    <a:pt x="0" y="0"/>
                  </a:lnTo>
                  <a:lnTo>
                    <a:pt x="0" y="165100"/>
                  </a:lnTo>
                  <a:lnTo>
                    <a:pt x="698500" y="165100"/>
                  </a:lnTo>
                  <a:lnTo>
                    <a:pt x="1397000" y="165100"/>
                  </a:lnTo>
                  <a:lnTo>
                    <a:pt x="1397000" y="0"/>
                  </a:lnTo>
                  <a:close/>
                </a:path>
              </a:pathLst>
            </a:custGeom>
            <a:solidFill>
              <a:srgbClr val="6FAC46"/>
            </a:solidFill>
          </p:spPr>
          <p:txBody>
            <a:bodyPr wrap="square" lIns="0" tIns="0" rIns="0" bIns="0" rtlCol="0"/>
            <a:lstStyle/>
            <a:p>
              <a:endParaRPr/>
            </a:p>
          </p:txBody>
        </p:sp>
        <p:sp>
          <p:nvSpPr>
            <p:cNvPr id="10" name="object 10"/>
            <p:cNvSpPr/>
            <p:nvPr/>
          </p:nvSpPr>
          <p:spPr>
            <a:xfrm>
              <a:off x="6187440" y="1616350"/>
              <a:ext cx="1397000" cy="165100"/>
            </a:xfrm>
            <a:custGeom>
              <a:avLst/>
              <a:gdLst/>
              <a:ahLst/>
              <a:cxnLst/>
              <a:rect l="l" t="t" r="r" b="b"/>
              <a:pathLst>
                <a:path w="1397000" h="165100">
                  <a:moveTo>
                    <a:pt x="698500" y="165100"/>
                  </a:moveTo>
                  <a:lnTo>
                    <a:pt x="0" y="165100"/>
                  </a:lnTo>
                  <a:lnTo>
                    <a:pt x="0" y="0"/>
                  </a:lnTo>
                  <a:lnTo>
                    <a:pt x="1397000" y="0"/>
                  </a:lnTo>
                  <a:lnTo>
                    <a:pt x="1397000" y="165100"/>
                  </a:lnTo>
                  <a:lnTo>
                    <a:pt x="698500" y="165100"/>
                  </a:lnTo>
                  <a:close/>
                </a:path>
              </a:pathLst>
            </a:custGeom>
            <a:ln w="12579">
              <a:solidFill>
                <a:srgbClr val="517E33"/>
              </a:solidFill>
            </a:ln>
          </p:spPr>
          <p:txBody>
            <a:bodyPr wrap="square" lIns="0" tIns="0" rIns="0" bIns="0" rtlCol="0"/>
            <a:lstStyle/>
            <a:p>
              <a:endParaRPr/>
            </a:p>
          </p:txBody>
        </p:sp>
      </p:grpSp>
      <p:sp>
        <p:nvSpPr>
          <p:cNvPr id="11" name="object 11"/>
          <p:cNvSpPr txBox="1"/>
          <p:nvPr/>
        </p:nvSpPr>
        <p:spPr>
          <a:xfrm>
            <a:off x="6183629" y="1625240"/>
            <a:ext cx="1395095" cy="147320"/>
          </a:xfrm>
          <a:prstGeom prst="rect">
            <a:avLst/>
          </a:prstGeom>
        </p:spPr>
        <p:txBody>
          <a:bodyPr vert="horz" wrap="square" lIns="0" tIns="12700" rIns="0" bIns="0" rtlCol="0">
            <a:spAutoFit/>
          </a:bodyPr>
          <a:lstStyle/>
          <a:p>
            <a:pPr marL="21590">
              <a:lnSpc>
                <a:spcPct val="100000"/>
              </a:lnSpc>
              <a:spcBef>
                <a:spcPts val="100"/>
              </a:spcBef>
            </a:pPr>
            <a:r>
              <a:rPr sz="800" spc="-10" dirty="0">
                <a:solidFill>
                  <a:srgbClr val="FFFFFF"/>
                </a:solidFill>
                <a:latin typeface="Calibri"/>
                <a:cs typeface="Calibri"/>
              </a:rPr>
              <a:t>Impressive</a:t>
            </a:r>
            <a:r>
              <a:rPr sz="800" spc="35" dirty="0">
                <a:solidFill>
                  <a:srgbClr val="FFFFFF"/>
                </a:solidFill>
                <a:latin typeface="Calibri"/>
                <a:cs typeface="Calibri"/>
              </a:rPr>
              <a:t> </a:t>
            </a:r>
            <a:r>
              <a:rPr sz="800" spc="-10" dirty="0">
                <a:solidFill>
                  <a:srgbClr val="FFFFFF"/>
                </a:solidFill>
                <a:latin typeface="Calibri"/>
                <a:cs typeface="Calibri"/>
              </a:rPr>
              <a:t>classes/research</a:t>
            </a:r>
            <a:endParaRPr sz="800">
              <a:latin typeface="Calibri"/>
              <a:cs typeface="Calibri"/>
            </a:endParaRPr>
          </a:p>
        </p:txBody>
      </p:sp>
      <p:grpSp>
        <p:nvGrpSpPr>
          <p:cNvPr id="12" name="object 12"/>
          <p:cNvGrpSpPr/>
          <p:nvPr/>
        </p:nvGrpSpPr>
        <p:grpSpPr>
          <a:xfrm>
            <a:off x="6196329" y="3564530"/>
            <a:ext cx="2167890" cy="201930"/>
            <a:chOff x="6196329" y="3564530"/>
            <a:chExt cx="2167890" cy="201930"/>
          </a:xfrm>
        </p:grpSpPr>
        <p:sp>
          <p:nvSpPr>
            <p:cNvPr id="13" name="object 13"/>
            <p:cNvSpPr/>
            <p:nvPr/>
          </p:nvSpPr>
          <p:spPr>
            <a:xfrm>
              <a:off x="6202679" y="3570880"/>
              <a:ext cx="2155190" cy="189230"/>
            </a:xfrm>
            <a:custGeom>
              <a:avLst/>
              <a:gdLst/>
              <a:ahLst/>
              <a:cxnLst/>
              <a:rect l="l" t="t" r="r" b="b"/>
              <a:pathLst>
                <a:path w="2155190" h="189229">
                  <a:moveTo>
                    <a:pt x="2155190" y="0"/>
                  </a:moveTo>
                  <a:lnTo>
                    <a:pt x="0" y="0"/>
                  </a:lnTo>
                  <a:lnTo>
                    <a:pt x="0" y="189230"/>
                  </a:lnTo>
                  <a:lnTo>
                    <a:pt x="1078229" y="189230"/>
                  </a:lnTo>
                  <a:lnTo>
                    <a:pt x="2155190" y="189230"/>
                  </a:lnTo>
                  <a:lnTo>
                    <a:pt x="2155190" y="0"/>
                  </a:lnTo>
                  <a:close/>
                </a:path>
              </a:pathLst>
            </a:custGeom>
            <a:solidFill>
              <a:srgbClr val="6FAC46"/>
            </a:solidFill>
          </p:spPr>
          <p:txBody>
            <a:bodyPr wrap="square" lIns="0" tIns="0" rIns="0" bIns="0" rtlCol="0"/>
            <a:lstStyle/>
            <a:p>
              <a:endParaRPr/>
            </a:p>
          </p:txBody>
        </p:sp>
        <p:sp>
          <p:nvSpPr>
            <p:cNvPr id="14" name="object 14"/>
            <p:cNvSpPr/>
            <p:nvPr/>
          </p:nvSpPr>
          <p:spPr>
            <a:xfrm>
              <a:off x="6202679" y="3570880"/>
              <a:ext cx="2155190" cy="189230"/>
            </a:xfrm>
            <a:custGeom>
              <a:avLst/>
              <a:gdLst/>
              <a:ahLst/>
              <a:cxnLst/>
              <a:rect l="l" t="t" r="r" b="b"/>
              <a:pathLst>
                <a:path w="2155190" h="189229">
                  <a:moveTo>
                    <a:pt x="1078229" y="189230"/>
                  </a:moveTo>
                  <a:lnTo>
                    <a:pt x="0" y="189230"/>
                  </a:lnTo>
                  <a:lnTo>
                    <a:pt x="0" y="0"/>
                  </a:lnTo>
                  <a:lnTo>
                    <a:pt x="2155190" y="0"/>
                  </a:lnTo>
                  <a:lnTo>
                    <a:pt x="2155190" y="189230"/>
                  </a:lnTo>
                  <a:lnTo>
                    <a:pt x="1078229" y="189230"/>
                  </a:lnTo>
                  <a:close/>
                </a:path>
              </a:pathLst>
            </a:custGeom>
            <a:ln w="12579">
              <a:solidFill>
                <a:srgbClr val="517E33"/>
              </a:solidFill>
            </a:ln>
          </p:spPr>
          <p:txBody>
            <a:bodyPr wrap="square" lIns="0" tIns="0" rIns="0" bIns="0" rtlCol="0"/>
            <a:lstStyle/>
            <a:p>
              <a:endParaRPr/>
            </a:p>
          </p:txBody>
        </p:sp>
      </p:grpSp>
      <p:sp>
        <p:nvSpPr>
          <p:cNvPr id="15" name="object 15"/>
          <p:cNvSpPr txBox="1"/>
          <p:nvPr/>
        </p:nvSpPr>
        <p:spPr>
          <a:xfrm>
            <a:off x="6202679" y="3592470"/>
            <a:ext cx="2149475" cy="147320"/>
          </a:xfrm>
          <a:prstGeom prst="rect">
            <a:avLst/>
          </a:prstGeom>
        </p:spPr>
        <p:txBody>
          <a:bodyPr vert="horz" wrap="square" lIns="0" tIns="12700" rIns="0" bIns="0" rtlCol="0">
            <a:spAutoFit/>
          </a:bodyPr>
          <a:lstStyle/>
          <a:p>
            <a:pPr marL="17780">
              <a:lnSpc>
                <a:spcPct val="100000"/>
              </a:lnSpc>
              <a:spcBef>
                <a:spcPts val="100"/>
              </a:spcBef>
            </a:pPr>
            <a:r>
              <a:rPr sz="800" dirty="0">
                <a:solidFill>
                  <a:srgbClr val="FFFFFF"/>
                </a:solidFill>
                <a:latin typeface="Calibri"/>
                <a:cs typeface="Calibri"/>
              </a:rPr>
              <a:t>My</a:t>
            </a:r>
            <a:r>
              <a:rPr sz="800" spc="-15" dirty="0">
                <a:solidFill>
                  <a:srgbClr val="FFFFFF"/>
                </a:solidFill>
                <a:latin typeface="Calibri"/>
                <a:cs typeface="Calibri"/>
              </a:rPr>
              <a:t> </a:t>
            </a:r>
            <a:r>
              <a:rPr sz="800" dirty="0">
                <a:solidFill>
                  <a:srgbClr val="FFFFFF"/>
                </a:solidFill>
                <a:latin typeface="Calibri"/>
                <a:cs typeface="Calibri"/>
              </a:rPr>
              <a:t>way!</a:t>
            </a:r>
            <a:r>
              <a:rPr sz="800" spc="200" dirty="0">
                <a:solidFill>
                  <a:srgbClr val="FFFFFF"/>
                </a:solidFill>
                <a:latin typeface="Calibri"/>
                <a:cs typeface="Calibri"/>
              </a:rPr>
              <a:t>  </a:t>
            </a:r>
            <a:r>
              <a:rPr sz="800" spc="-10" dirty="0">
                <a:solidFill>
                  <a:srgbClr val="FFFFFF"/>
                </a:solidFill>
                <a:latin typeface="Calibri"/>
                <a:cs typeface="Calibri"/>
              </a:rPr>
              <a:t>Useful learning </a:t>
            </a:r>
            <a:r>
              <a:rPr sz="800" dirty="0">
                <a:solidFill>
                  <a:srgbClr val="FFFFFF"/>
                </a:solidFill>
                <a:latin typeface="Calibri"/>
                <a:cs typeface="Calibri"/>
              </a:rPr>
              <a:t>methods to</a:t>
            </a:r>
            <a:r>
              <a:rPr sz="800" spc="-10" dirty="0">
                <a:solidFill>
                  <a:srgbClr val="FFFFFF"/>
                </a:solidFill>
                <a:latin typeface="Calibri"/>
                <a:cs typeface="Calibri"/>
              </a:rPr>
              <a:t> </a:t>
            </a:r>
            <a:r>
              <a:rPr sz="800" spc="-20" dirty="0">
                <a:solidFill>
                  <a:srgbClr val="FFFFFF"/>
                </a:solidFill>
                <a:latin typeface="Calibri"/>
                <a:cs typeface="Calibri"/>
              </a:rPr>
              <a:t>know</a:t>
            </a:r>
            <a:endParaRPr sz="800">
              <a:latin typeface="Calibri"/>
              <a:cs typeface="Calibri"/>
            </a:endParaRPr>
          </a:p>
        </p:txBody>
      </p:sp>
      <p:sp>
        <p:nvSpPr>
          <p:cNvPr id="16" name="object 16"/>
          <p:cNvSpPr/>
          <p:nvPr/>
        </p:nvSpPr>
        <p:spPr>
          <a:xfrm>
            <a:off x="6183629" y="5182510"/>
            <a:ext cx="1988820" cy="189230"/>
          </a:xfrm>
          <a:custGeom>
            <a:avLst/>
            <a:gdLst/>
            <a:ahLst/>
            <a:cxnLst/>
            <a:rect l="l" t="t" r="r" b="b"/>
            <a:pathLst>
              <a:path w="1988820" h="189229">
                <a:moveTo>
                  <a:pt x="1988820" y="0"/>
                </a:moveTo>
                <a:lnTo>
                  <a:pt x="0" y="0"/>
                </a:lnTo>
                <a:lnTo>
                  <a:pt x="0" y="189229"/>
                </a:lnTo>
                <a:lnTo>
                  <a:pt x="994410" y="189229"/>
                </a:lnTo>
                <a:lnTo>
                  <a:pt x="1988820" y="189229"/>
                </a:lnTo>
                <a:lnTo>
                  <a:pt x="1988820" y="0"/>
                </a:lnTo>
                <a:close/>
              </a:path>
            </a:pathLst>
          </a:custGeom>
          <a:solidFill>
            <a:srgbClr val="6FAC46"/>
          </a:solidFill>
        </p:spPr>
        <p:txBody>
          <a:bodyPr wrap="square" lIns="0" tIns="0" rIns="0" bIns="0" rtlCol="0"/>
          <a:lstStyle/>
          <a:p>
            <a:endParaRPr/>
          </a:p>
        </p:txBody>
      </p:sp>
      <p:sp>
        <p:nvSpPr>
          <p:cNvPr id="17" name="object 17"/>
          <p:cNvSpPr txBox="1"/>
          <p:nvPr/>
        </p:nvSpPr>
        <p:spPr>
          <a:xfrm>
            <a:off x="6192520" y="5182510"/>
            <a:ext cx="1979930" cy="189230"/>
          </a:xfrm>
          <a:prstGeom prst="rect">
            <a:avLst/>
          </a:prstGeom>
          <a:ln w="12579">
            <a:solidFill>
              <a:srgbClr val="517E33"/>
            </a:solidFill>
          </a:ln>
        </p:spPr>
        <p:txBody>
          <a:bodyPr vert="horz" wrap="square" lIns="0" tIns="33019" rIns="0" bIns="0" rtlCol="0">
            <a:spAutoFit/>
          </a:bodyPr>
          <a:lstStyle/>
          <a:p>
            <a:pPr marL="9525">
              <a:lnSpc>
                <a:spcPct val="100000"/>
              </a:lnSpc>
              <a:spcBef>
                <a:spcPts val="259"/>
              </a:spcBef>
            </a:pPr>
            <a:r>
              <a:rPr sz="800" spc="-10" dirty="0">
                <a:solidFill>
                  <a:srgbClr val="FFFFFF"/>
                </a:solidFill>
                <a:latin typeface="Calibri"/>
                <a:cs typeface="Calibri"/>
              </a:rPr>
              <a:t>Hobbies</a:t>
            </a:r>
            <a:r>
              <a:rPr sz="800" spc="5" dirty="0">
                <a:solidFill>
                  <a:srgbClr val="FFFFFF"/>
                </a:solidFill>
                <a:latin typeface="Calibri"/>
                <a:cs typeface="Calibri"/>
              </a:rPr>
              <a:t> </a:t>
            </a:r>
            <a:r>
              <a:rPr sz="800" dirty="0">
                <a:solidFill>
                  <a:srgbClr val="FFFFFF"/>
                </a:solidFill>
                <a:latin typeface="Calibri"/>
                <a:cs typeface="Calibri"/>
              </a:rPr>
              <a:t>and</a:t>
            </a:r>
            <a:r>
              <a:rPr sz="800" spc="10" dirty="0">
                <a:solidFill>
                  <a:srgbClr val="FFFFFF"/>
                </a:solidFill>
                <a:latin typeface="Calibri"/>
                <a:cs typeface="Calibri"/>
              </a:rPr>
              <a:t> </a:t>
            </a:r>
            <a:r>
              <a:rPr sz="800" spc="-10" dirty="0">
                <a:solidFill>
                  <a:srgbClr val="FFFFFF"/>
                </a:solidFill>
                <a:latin typeface="Calibri"/>
                <a:cs typeface="Calibri"/>
              </a:rPr>
              <a:t>Extracurricular</a:t>
            </a:r>
            <a:r>
              <a:rPr sz="800" dirty="0">
                <a:solidFill>
                  <a:srgbClr val="FFFFFF"/>
                </a:solidFill>
                <a:latin typeface="Calibri"/>
                <a:cs typeface="Calibri"/>
              </a:rPr>
              <a:t> </a:t>
            </a:r>
            <a:r>
              <a:rPr sz="800" spc="-10" dirty="0">
                <a:solidFill>
                  <a:srgbClr val="FFFFFF"/>
                </a:solidFill>
                <a:latin typeface="Calibri"/>
                <a:cs typeface="Calibri"/>
              </a:rPr>
              <a:t>Activities</a:t>
            </a:r>
            <a:endParaRPr sz="800">
              <a:latin typeface="Calibri"/>
              <a:cs typeface="Calibri"/>
            </a:endParaRPr>
          </a:p>
        </p:txBody>
      </p:sp>
      <p:grpSp>
        <p:nvGrpSpPr>
          <p:cNvPr id="18" name="object 18"/>
          <p:cNvGrpSpPr/>
          <p:nvPr/>
        </p:nvGrpSpPr>
        <p:grpSpPr>
          <a:xfrm>
            <a:off x="9169400" y="3549290"/>
            <a:ext cx="2261870" cy="201930"/>
            <a:chOff x="9169400" y="3549290"/>
            <a:chExt cx="2261870" cy="201930"/>
          </a:xfrm>
        </p:grpSpPr>
        <p:sp>
          <p:nvSpPr>
            <p:cNvPr id="19" name="object 19"/>
            <p:cNvSpPr/>
            <p:nvPr/>
          </p:nvSpPr>
          <p:spPr>
            <a:xfrm>
              <a:off x="9175750" y="3555640"/>
              <a:ext cx="2249170" cy="189230"/>
            </a:xfrm>
            <a:custGeom>
              <a:avLst/>
              <a:gdLst/>
              <a:ahLst/>
              <a:cxnLst/>
              <a:rect l="l" t="t" r="r" b="b"/>
              <a:pathLst>
                <a:path w="2249170" h="189229">
                  <a:moveTo>
                    <a:pt x="2249170" y="0"/>
                  </a:moveTo>
                  <a:lnTo>
                    <a:pt x="0" y="0"/>
                  </a:lnTo>
                  <a:lnTo>
                    <a:pt x="0" y="189230"/>
                  </a:lnTo>
                  <a:lnTo>
                    <a:pt x="1125220" y="189230"/>
                  </a:lnTo>
                  <a:lnTo>
                    <a:pt x="2249170" y="189230"/>
                  </a:lnTo>
                  <a:lnTo>
                    <a:pt x="2249170" y="0"/>
                  </a:lnTo>
                  <a:close/>
                </a:path>
              </a:pathLst>
            </a:custGeom>
            <a:solidFill>
              <a:srgbClr val="6FAC46"/>
            </a:solidFill>
          </p:spPr>
          <p:txBody>
            <a:bodyPr wrap="square" lIns="0" tIns="0" rIns="0" bIns="0" rtlCol="0"/>
            <a:lstStyle/>
            <a:p>
              <a:endParaRPr/>
            </a:p>
          </p:txBody>
        </p:sp>
        <p:sp>
          <p:nvSpPr>
            <p:cNvPr id="20" name="object 20"/>
            <p:cNvSpPr/>
            <p:nvPr/>
          </p:nvSpPr>
          <p:spPr>
            <a:xfrm>
              <a:off x="9175750" y="3555640"/>
              <a:ext cx="2249170" cy="189230"/>
            </a:xfrm>
            <a:custGeom>
              <a:avLst/>
              <a:gdLst/>
              <a:ahLst/>
              <a:cxnLst/>
              <a:rect l="l" t="t" r="r" b="b"/>
              <a:pathLst>
                <a:path w="2249170" h="189229">
                  <a:moveTo>
                    <a:pt x="1125220" y="189230"/>
                  </a:moveTo>
                  <a:lnTo>
                    <a:pt x="0" y="189230"/>
                  </a:lnTo>
                  <a:lnTo>
                    <a:pt x="0" y="0"/>
                  </a:lnTo>
                  <a:lnTo>
                    <a:pt x="2249170" y="0"/>
                  </a:lnTo>
                  <a:lnTo>
                    <a:pt x="2249170" y="189230"/>
                  </a:lnTo>
                  <a:lnTo>
                    <a:pt x="1125220" y="189230"/>
                  </a:lnTo>
                  <a:close/>
                </a:path>
              </a:pathLst>
            </a:custGeom>
            <a:ln w="12579">
              <a:solidFill>
                <a:srgbClr val="517E33"/>
              </a:solidFill>
            </a:ln>
          </p:spPr>
          <p:txBody>
            <a:bodyPr wrap="square" lIns="0" tIns="0" rIns="0" bIns="0" rtlCol="0"/>
            <a:lstStyle/>
            <a:p>
              <a:endParaRPr/>
            </a:p>
          </p:txBody>
        </p:sp>
      </p:grpSp>
      <p:sp>
        <p:nvSpPr>
          <p:cNvPr id="21" name="object 21"/>
          <p:cNvSpPr txBox="1"/>
          <p:nvPr/>
        </p:nvSpPr>
        <p:spPr>
          <a:xfrm>
            <a:off x="9170669" y="3584850"/>
            <a:ext cx="2248535" cy="132080"/>
          </a:xfrm>
          <a:prstGeom prst="rect">
            <a:avLst/>
          </a:prstGeom>
        </p:spPr>
        <p:txBody>
          <a:bodyPr vert="horz" wrap="square" lIns="0" tIns="12700" rIns="0" bIns="0" rtlCol="0">
            <a:spAutoFit/>
          </a:bodyPr>
          <a:lstStyle/>
          <a:p>
            <a:pPr marL="22225">
              <a:lnSpc>
                <a:spcPct val="100000"/>
              </a:lnSpc>
              <a:spcBef>
                <a:spcPts val="100"/>
              </a:spcBef>
            </a:pPr>
            <a:r>
              <a:rPr sz="700" spc="-10" dirty="0">
                <a:solidFill>
                  <a:srgbClr val="FFFFFF"/>
                </a:solidFill>
                <a:latin typeface="Calibri"/>
                <a:cs typeface="Calibri"/>
              </a:rPr>
              <a:t>Kanazawa</a:t>
            </a:r>
            <a:r>
              <a:rPr sz="700" dirty="0">
                <a:solidFill>
                  <a:srgbClr val="FFFFFF"/>
                </a:solidFill>
                <a:latin typeface="Calibri"/>
                <a:cs typeface="Calibri"/>
              </a:rPr>
              <a:t> </a:t>
            </a:r>
            <a:r>
              <a:rPr sz="700" spc="-10" dirty="0">
                <a:solidFill>
                  <a:srgbClr val="FFFFFF"/>
                </a:solidFill>
                <a:latin typeface="Calibri"/>
                <a:cs typeface="Calibri"/>
              </a:rPr>
              <a:t>lifestyle</a:t>
            </a:r>
            <a:r>
              <a:rPr sz="700" spc="-5" dirty="0">
                <a:solidFill>
                  <a:srgbClr val="FFFFFF"/>
                </a:solidFill>
                <a:latin typeface="Calibri"/>
                <a:cs typeface="Calibri"/>
              </a:rPr>
              <a:t> </a:t>
            </a:r>
            <a:r>
              <a:rPr sz="700" spc="-10" dirty="0">
                <a:solidFill>
                  <a:srgbClr val="FFFFFF"/>
                </a:solidFill>
                <a:latin typeface="Calibri"/>
                <a:cs typeface="Calibri"/>
              </a:rPr>
              <a:t>recommendations</a:t>
            </a:r>
            <a:r>
              <a:rPr sz="700" dirty="0">
                <a:solidFill>
                  <a:srgbClr val="FFFFFF"/>
                </a:solidFill>
                <a:latin typeface="Calibri"/>
                <a:cs typeface="Calibri"/>
              </a:rPr>
              <a:t> </a:t>
            </a:r>
            <a:r>
              <a:rPr sz="700" spc="-10" dirty="0">
                <a:solidFill>
                  <a:srgbClr val="FFFFFF"/>
                </a:solidFill>
                <a:latin typeface="Calibri"/>
                <a:cs typeface="Calibri"/>
              </a:rPr>
              <a:t>(spots, stores,</a:t>
            </a:r>
            <a:r>
              <a:rPr sz="700" spc="-5" dirty="0">
                <a:solidFill>
                  <a:srgbClr val="FFFFFF"/>
                </a:solidFill>
                <a:latin typeface="Calibri"/>
                <a:cs typeface="Calibri"/>
              </a:rPr>
              <a:t> </a:t>
            </a:r>
            <a:r>
              <a:rPr sz="700" spc="-20" dirty="0">
                <a:solidFill>
                  <a:srgbClr val="FFFFFF"/>
                </a:solidFill>
                <a:latin typeface="Calibri"/>
                <a:cs typeface="Calibri"/>
              </a:rPr>
              <a:t>etc.)</a:t>
            </a:r>
            <a:endParaRPr sz="700">
              <a:latin typeface="Calibri"/>
              <a:cs typeface="Calibri"/>
            </a:endParaRPr>
          </a:p>
        </p:txBody>
      </p:sp>
      <p:grpSp>
        <p:nvGrpSpPr>
          <p:cNvPr id="22" name="object 22"/>
          <p:cNvGrpSpPr/>
          <p:nvPr/>
        </p:nvGrpSpPr>
        <p:grpSpPr>
          <a:xfrm>
            <a:off x="9169400" y="1582060"/>
            <a:ext cx="750570" cy="177800"/>
            <a:chOff x="9169400" y="1582060"/>
            <a:chExt cx="750570" cy="177800"/>
          </a:xfrm>
        </p:grpSpPr>
        <p:sp>
          <p:nvSpPr>
            <p:cNvPr id="23" name="object 23"/>
            <p:cNvSpPr/>
            <p:nvPr/>
          </p:nvSpPr>
          <p:spPr>
            <a:xfrm>
              <a:off x="9175750" y="1588410"/>
              <a:ext cx="737870" cy="165100"/>
            </a:xfrm>
            <a:custGeom>
              <a:avLst/>
              <a:gdLst/>
              <a:ahLst/>
              <a:cxnLst/>
              <a:rect l="l" t="t" r="r" b="b"/>
              <a:pathLst>
                <a:path w="737870" h="165100">
                  <a:moveTo>
                    <a:pt x="737870" y="0"/>
                  </a:moveTo>
                  <a:lnTo>
                    <a:pt x="0" y="0"/>
                  </a:lnTo>
                  <a:lnTo>
                    <a:pt x="0" y="165100"/>
                  </a:lnTo>
                  <a:lnTo>
                    <a:pt x="368300" y="165100"/>
                  </a:lnTo>
                  <a:lnTo>
                    <a:pt x="737870" y="165100"/>
                  </a:lnTo>
                  <a:lnTo>
                    <a:pt x="737870" y="0"/>
                  </a:lnTo>
                  <a:close/>
                </a:path>
              </a:pathLst>
            </a:custGeom>
            <a:solidFill>
              <a:srgbClr val="6FAC46"/>
            </a:solidFill>
          </p:spPr>
          <p:txBody>
            <a:bodyPr wrap="square" lIns="0" tIns="0" rIns="0" bIns="0" rtlCol="0"/>
            <a:lstStyle/>
            <a:p>
              <a:endParaRPr/>
            </a:p>
          </p:txBody>
        </p:sp>
        <p:sp>
          <p:nvSpPr>
            <p:cNvPr id="24" name="object 24"/>
            <p:cNvSpPr/>
            <p:nvPr/>
          </p:nvSpPr>
          <p:spPr>
            <a:xfrm>
              <a:off x="9175750" y="1588410"/>
              <a:ext cx="737870" cy="165100"/>
            </a:xfrm>
            <a:custGeom>
              <a:avLst/>
              <a:gdLst/>
              <a:ahLst/>
              <a:cxnLst/>
              <a:rect l="l" t="t" r="r" b="b"/>
              <a:pathLst>
                <a:path w="737870" h="165100">
                  <a:moveTo>
                    <a:pt x="368300" y="165100"/>
                  </a:moveTo>
                  <a:lnTo>
                    <a:pt x="0" y="165100"/>
                  </a:lnTo>
                  <a:lnTo>
                    <a:pt x="0" y="0"/>
                  </a:lnTo>
                  <a:lnTo>
                    <a:pt x="737870" y="0"/>
                  </a:lnTo>
                  <a:lnTo>
                    <a:pt x="737870" y="165100"/>
                  </a:lnTo>
                  <a:lnTo>
                    <a:pt x="368300" y="165100"/>
                  </a:lnTo>
                  <a:close/>
                </a:path>
              </a:pathLst>
            </a:custGeom>
            <a:ln w="12579">
              <a:solidFill>
                <a:srgbClr val="517E33"/>
              </a:solidFill>
            </a:ln>
          </p:spPr>
          <p:txBody>
            <a:bodyPr wrap="square" lIns="0" tIns="0" rIns="0" bIns="0" rtlCol="0"/>
            <a:lstStyle/>
            <a:p>
              <a:endParaRPr/>
            </a:p>
          </p:txBody>
        </p:sp>
      </p:grpSp>
      <p:sp>
        <p:nvSpPr>
          <p:cNvPr id="25" name="object 25"/>
          <p:cNvSpPr txBox="1"/>
          <p:nvPr/>
        </p:nvSpPr>
        <p:spPr>
          <a:xfrm>
            <a:off x="9168069" y="1597300"/>
            <a:ext cx="739775" cy="147320"/>
          </a:xfrm>
          <a:prstGeom prst="rect">
            <a:avLst/>
          </a:prstGeom>
        </p:spPr>
        <p:txBody>
          <a:bodyPr vert="horz" wrap="square" lIns="0" tIns="12700" rIns="0" bIns="0" rtlCol="0">
            <a:spAutoFit/>
          </a:bodyPr>
          <a:lstStyle/>
          <a:p>
            <a:pPr marL="26670">
              <a:lnSpc>
                <a:spcPct val="100000"/>
              </a:lnSpc>
              <a:spcBef>
                <a:spcPts val="100"/>
              </a:spcBef>
            </a:pPr>
            <a:r>
              <a:rPr sz="800" spc="-10" dirty="0">
                <a:solidFill>
                  <a:srgbClr val="FFFFFF"/>
                </a:solidFill>
                <a:latin typeface="Calibri"/>
                <a:cs typeface="Calibri"/>
              </a:rPr>
              <a:t>Future</a:t>
            </a:r>
            <a:r>
              <a:rPr sz="800" spc="10" dirty="0">
                <a:solidFill>
                  <a:srgbClr val="FFFFFF"/>
                </a:solidFill>
                <a:latin typeface="Calibri"/>
                <a:cs typeface="Calibri"/>
              </a:rPr>
              <a:t> </a:t>
            </a:r>
            <a:r>
              <a:rPr sz="800" spc="-10" dirty="0">
                <a:solidFill>
                  <a:srgbClr val="FFFFFF"/>
                </a:solidFill>
                <a:latin typeface="Calibri"/>
                <a:cs typeface="Calibri"/>
              </a:rPr>
              <a:t>Dreams</a:t>
            </a:r>
            <a:endParaRPr sz="800">
              <a:latin typeface="Calibri"/>
              <a:cs typeface="Calibri"/>
            </a:endParaRPr>
          </a:p>
        </p:txBody>
      </p:sp>
      <p:sp>
        <p:nvSpPr>
          <p:cNvPr id="26" name="object 26"/>
          <p:cNvSpPr/>
          <p:nvPr/>
        </p:nvSpPr>
        <p:spPr>
          <a:xfrm>
            <a:off x="473709" y="2229760"/>
            <a:ext cx="5099050" cy="575310"/>
          </a:xfrm>
          <a:custGeom>
            <a:avLst/>
            <a:gdLst/>
            <a:ahLst/>
            <a:cxnLst/>
            <a:rect l="l" t="t" r="r" b="b"/>
            <a:pathLst>
              <a:path w="5099050" h="575310">
                <a:moveTo>
                  <a:pt x="2550160" y="575309"/>
                </a:moveTo>
                <a:lnTo>
                  <a:pt x="0" y="575309"/>
                </a:lnTo>
                <a:lnTo>
                  <a:pt x="0" y="0"/>
                </a:lnTo>
                <a:lnTo>
                  <a:pt x="5099050" y="0"/>
                </a:lnTo>
                <a:lnTo>
                  <a:pt x="5099050" y="575309"/>
                </a:lnTo>
                <a:lnTo>
                  <a:pt x="2550160" y="575309"/>
                </a:lnTo>
                <a:close/>
              </a:path>
            </a:pathLst>
          </a:custGeom>
          <a:ln w="3175">
            <a:solidFill>
              <a:srgbClr val="000000"/>
            </a:solidFill>
          </a:ln>
        </p:spPr>
        <p:txBody>
          <a:bodyPr wrap="square" lIns="0" tIns="0" rIns="0" bIns="0" rtlCol="0"/>
          <a:lstStyle/>
          <a:p>
            <a:endParaRPr/>
          </a:p>
        </p:txBody>
      </p:sp>
      <p:grpSp>
        <p:nvGrpSpPr>
          <p:cNvPr id="27" name="object 27"/>
          <p:cNvGrpSpPr/>
          <p:nvPr/>
        </p:nvGrpSpPr>
        <p:grpSpPr>
          <a:xfrm>
            <a:off x="6183629" y="1775100"/>
            <a:ext cx="2489200" cy="1708150"/>
            <a:chOff x="6183629" y="1775100"/>
            <a:chExt cx="2489200" cy="1708150"/>
          </a:xfrm>
        </p:grpSpPr>
        <p:sp>
          <p:nvSpPr>
            <p:cNvPr id="28" name="object 28"/>
            <p:cNvSpPr/>
            <p:nvPr/>
          </p:nvSpPr>
          <p:spPr>
            <a:xfrm>
              <a:off x="6183629" y="1775100"/>
              <a:ext cx="2489200" cy="1708150"/>
            </a:xfrm>
            <a:custGeom>
              <a:avLst/>
              <a:gdLst/>
              <a:ahLst/>
              <a:cxnLst/>
              <a:rect l="l" t="t" r="r" b="b"/>
              <a:pathLst>
                <a:path w="2489200" h="1708150">
                  <a:moveTo>
                    <a:pt x="2489200" y="0"/>
                  </a:moveTo>
                  <a:lnTo>
                    <a:pt x="0" y="0"/>
                  </a:lnTo>
                  <a:lnTo>
                    <a:pt x="0" y="1708150"/>
                  </a:lnTo>
                  <a:lnTo>
                    <a:pt x="1244600" y="1708150"/>
                  </a:lnTo>
                  <a:lnTo>
                    <a:pt x="2489200" y="1708150"/>
                  </a:lnTo>
                  <a:lnTo>
                    <a:pt x="2489200" y="0"/>
                  </a:lnTo>
                  <a:close/>
                </a:path>
              </a:pathLst>
            </a:custGeom>
            <a:solidFill>
              <a:srgbClr val="FFFFFF"/>
            </a:solidFill>
          </p:spPr>
          <p:txBody>
            <a:bodyPr wrap="square" lIns="0" tIns="0" rIns="0" bIns="0" rtlCol="0"/>
            <a:lstStyle/>
            <a:p>
              <a:endParaRPr dirty="0"/>
            </a:p>
          </p:txBody>
        </p:sp>
        <p:sp>
          <p:nvSpPr>
            <p:cNvPr id="29" name="object 29"/>
            <p:cNvSpPr/>
            <p:nvPr/>
          </p:nvSpPr>
          <p:spPr>
            <a:xfrm>
              <a:off x="6183629" y="1775100"/>
              <a:ext cx="2489200" cy="1708150"/>
            </a:xfrm>
            <a:custGeom>
              <a:avLst/>
              <a:gdLst/>
              <a:ahLst/>
              <a:cxnLst/>
              <a:rect l="l" t="t" r="r" b="b"/>
              <a:pathLst>
                <a:path w="2489200" h="1708150">
                  <a:moveTo>
                    <a:pt x="1244600" y="1708150"/>
                  </a:moveTo>
                  <a:lnTo>
                    <a:pt x="0" y="1708150"/>
                  </a:lnTo>
                  <a:lnTo>
                    <a:pt x="0" y="0"/>
                  </a:lnTo>
                  <a:lnTo>
                    <a:pt x="2489200" y="0"/>
                  </a:lnTo>
                  <a:lnTo>
                    <a:pt x="2489200" y="1708150"/>
                  </a:lnTo>
                  <a:lnTo>
                    <a:pt x="1244600" y="1708150"/>
                  </a:lnTo>
                  <a:close/>
                </a:path>
              </a:pathLst>
            </a:custGeom>
            <a:ln w="3175">
              <a:solidFill>
                <a:srgbClr val="000000"/>
              </a:solidFill>
            </a:ln>
          </p:spPr>
          <p:txBody>
            <a:bodyPr wrap="square" lIns="0" tIns="0" rIns="0" bIns="0" rtlCol="0"/>
            <a:lstStyle/>
            <a:p>
              <a:endParaRPr/>
            </a:p>
          </p:txBody>
        </p:sp>
      </p:grpSp>
      <p:sp>
        <p:nvSpPr>
          <p:cNvPr id="30" name="object 30"/>
          <p:cNvSpPr txBox="1"/>
          <p:nvPr/>
        </p:nvSpPr>
        <p:spPr>
          <a:xfrm>
            <a:off x="511809" y="258720"/>
            <a:ext cx="2204720" cy="1477010"/>
          </a:xfrm>
          <a:prstGeom prst="rect">
            <a:avLst/>
          </a:prstGeom>
          <a:ln w="3175">
            <a:solidFill>
              <a:srgbClr val="000000"/>
            </a:solidFill>
          </a:ln>
        </p:spPr>
        <p:txBody>
          <a:bodyPr vert="horz" wrap="square" lIns="0" tIns="0" rIns="0" bIns="0" rtlCol="0">
            <a:spAutoFit/>
          </a:bodyPr>
          <a:lstStyle/>
          <a:p>
            <a:pPr marL="19050">
              <a:lnSpc>
                <a:spcPct val="100000"/>
              </a:lnSpc>
            </a:pPr>
            <a:r>
              <a:rPr sz="1800" spc="-10" dirty="0">
                <a:latin typeface="Calibri"/>
                <a:cs typeface="Calibri"/>
              </a:rPr>
              <a:t>Photo</a:t>
            </a:r>
            <a:endParaRPr sz="1800">
              <a:latin typeface="Calibri"/>
              <a:cs typeface="Calibri"/>
            </a:endParaRPr>
          </a:p>
        </p:txBody>
      </p:sp>
      <p:sp>
        <p:nvSpPr>
          <p:cNvPr id="31" name="object 31"/>
          <p:cNvSpPr txBox="1"/>
          <p:nvPr/>
        </p:nvSpPr>
        <p:spPr>
          <a:xfrm>
            <a:off x="6193790" y="247290"/>
            <a:ext cx="2498090" cy="1200150"/>
          </a:xfrm>
          <a:prstGeom prst="rect">
            <a:avLst/>
          </a:prstGeom>
          <a:ln w="3175">
            <a:solidFill>
              <a:srgbClr val="000000"/>
            </a:solidFill>
          </a:ln>
        </p:spPr>
        <p:txBody>
          <a:bodyPr vert="horz" wrap="square" lIns="0" tIns="0" rIns="0" bIns="0" rtlCol="0">
            <a:spAutoFit/>
          </a:bodyPr>
          <a:lstStyle/>
          <a:p>
            <a:pPr marL="17780">
              <a:lnSpc>
                <a:spcPct val="100000"/>
              </a:lnSpc>
            </a:pPr>
            <a:r>
              <a:rPr sz="1800" dirty="0">
                <a:latin typeface="Calibri"/>
                <a:cs typeface="Calibri"/>
              </a:rPr>
              <a:t>Photo</a:t>
            </a:r>
            <a:r>
              <a:rPr sz="1800" spc="-35" dirty="0">
                <a:latin typeface="Calibri"/>
                <a:cs typeface="Calibri"/>
              </a:rPr>
              <a:t> </a:t>
            </a:r>
            <a:r>
              <a:rPr sz="1800" dirty="0">
                <a:latin typeface="Calibri"/>
                <a:cs typeface="Calibri"/>
              </a:rPr>
              <a:t>or</a:t>
            </a:r>
            <a:r>
              <a:rPr sz="1800" spc="-30" dirty="0">
                <a:latin typeface="Calibri"/>
                <a:cs typeface="Calibri"/>
              </a:rPr>
              <a:t> </a:t>
            </a:r>
            <a:r>
              <a:rPr sz="1800" spc="-10" dirty="0">
                <a:latin typeface="Calibri"/>
                <a:cs typeface="Calibri"/>
              </a:rPr>
              <a:t>illustration</a:t>
            </a:r>
            <a:endParaRPr sz="1800" dirty="0">
              <a:latin typeface="Calibri"/>
              <a:cs typeface="Calibri"/>
            </a:endParaRPr>
          </a:p>
        </p:txBody>
      </p:sp>
      <p:sp>
        <p:nvSpPr>
          <p:cNvPr id="32" name="object 32"/>
          <p:cNvSpPr txBox="1"/>
          <p:nvPr/>
        </p:nvSpPr>
        <p:spPr>
          <a:xfrm>
            <a:off x="9161780" y="247290"/>
            <a:ext cx="2471420" cy="1200150"/>
          </a:xfrm>
          <a:prstGeom prst="rect">
            <a:avLst/>
          </a:prstGeom>
          <a:ln w="3175">
            <a:solidFill>
              <a:srgbClr val="000000"/>
            </a:solidFill>
          </a:ln>
        </p:spPr>
        <p:txBody>
          <a:bodyPr vert="horz" wrap="square" lIns="0" tIns="0" rIns="0" bIns="0" rtlCol="0">
            <a:spAutoFit/>
          </a:bodyPr>
          <a:lstStyle/>
          <a:p>
            <a:pPr marL="19050">
              <a:lnSpc>
                <a:spcPct val="100000"/>
              </a:lnSpc>
            </a:pPr>
            <a:r>
              <a:rPr sz="1800" dirty="0">
                <a:latin typeface="Calibri"/>
                <a:cs typeface="Calibri"/>
              </a:rPr>
              <a:t>Photo</a:t>
            </a:r>
            <a:r>
              <a:rPr sz="1800" spc="-40" dirty="0">
                <a:latin typeface="Calibri"/>
                <a:cs typeface="Calibri"/>
              </a:rPr>
              <a:t> </a:t>
            </a:r>
            <a:r>
              <a:rPr sz="1800" dirty="0">
                <a:latin typeface="Calibri"/>
                <a:cs typeface="Calibri"/>
              </a:rPr>
              <a:t>or</a:t>
            </a:r>
            <a:r>
              <a:rPr sz="1800" spc="-40" dirty="0">
                <a:latin typeface="Calibri"/>
                <a:cs typeface="Calibri"/>
              </a:rPr>
              <a:t> </a:t>
            </a:r>
            <a:r>
              <a:rPr sz="1800" spc="-10" dirty="0">
                <a:latin typeface="Calibri"/>
                <a:cs typeface="Calibri"/>
              </a:rPr>
              <a:t>illustration</a:t>
            </a:r>
            <a:endParaRPr sz="1800" dirty="0">
              <a:latin typeface="Calibri"/>
              <a:cs typeface="Calibri"/>
            </a:endParaRPr>
          </a:p>
        </p:txBody>
      </p:sp>
      <p:sp>
        <p:nvSpPr>
          <p:cNvPr id="33" name="object 33"/>
          <p:cNvSpPr txBox="1"/>
          <p:nvPr/>
        </p:nvSpPr>
        <p:spPr>
          <a:xfrm>
            <a:off x="9170669" y="5500010"/>
            <a:ext cx="2486660" cy="1200150"/>
          </a:xfrm>
          <a:prstGeom prst="rect">
            <a:avLst/>
          </a:prstGeom>
          <a:ln w="3175">
            <a:solidFill>
              <a:srgbClr val="000000"/>
            </a:solidFill>
          </a:ln>
        </p:spPr>
        <p:txBody>
          <a:bodyPr vert="horz" wrap="square" lIns="0" tIns="0" rIns="0" bIns="0" rtlCol="0">
            <a:spAutoFit/>
          </a:bodyPr>
          <a:lstStyle/>
          <a:p>
            <a:pPr marL="19050">
              <a:lnSpc>
                <a:spcPct val="100000"/>
              </a:lnSpc>
            </a:pPr>
            <a:r>
              <a:rPr sz="1800" dirty="0">
                <a:latin typeface="Calibri"/>
                <a:cs typeface="Calibri"/>
              </a:rPr>
              <a:t>Photo</a:t>
            </a:r>
            <a:r>
              <a:rPr sz="1800" spc="-35" dirty="0">
                <a:latin typeface="Calibri"/>
                <a:cs typeface="Calibri"/>
              </a:rPr>
              <a:t> </a:t>
            </a:r>
            <a:r>
              <a:rPr sz="1800" dirty="0">
                <a:latin typeface="Calibri"/>
                <a:cs typeface="Calibri"/>
              </a:rPr>
              <a:t>or</a:t>
            </a:r>
            <a:r>
              <a:rPr sz="1800" spc="-45" dirty="0">
                <a:latin typeface="Calibri"/>
                <a:cs typeface="Calibri"/>
              </a:rPr>
              <a:t> </a:t>
            </a:r>
            <a:r>
              <a:rPr sz="1800" spc="-10" dirty="0">
                <a:latin typeface="Calibri"/>
                <a:cs typeface="Calibri"/>
              </a:rPr>
              <a:t>illustration</a:t>
            </a:r>
            <a:endParaRPr sz="1800" dirty="0">
              <a:latin typeface="Calibri"/>
              <a:cs typeface="Calibri"/>
            </a:endParaRPr>
          </a:p>
        </p:txBody>
      </p:sp>
      <p:sp>
        <p:nvSpPr>
          <p:cNvPr id="34" name="object 34"/>
          <p:cNvSpPr/>
          <p:nvPr/>
        </p:nvSpPr>
        <p:spPr>
          <a:xfrm>
            <a:off x="9161780" y="1761130"/>
            <a:ext cx="2471420" cy="1706880"/>
          </a:xfrm>
          <a:custGeom>
            <a:avLst/>
            <a:gdLst/>
            <a:ahLst/>
            <a:cxnLst/>
            <a:rect l="l" t="t" r="r" b="b"/>
            <a:pathLst>
              <a:path w="2471420" h="1706879">
                <a:moveTo>
                  <a:pt x="1235710" y="1706880"/>
                </a:moveTo>
                <a:lnTo>
                  <a:pt x="0" y="1706880"/>
                </a:lnTo>
                <a:lnTo>
                  <a:pt x="0" y="0"/>
                </a:lnTo>
                <a:lnTo>
                  <a:pt x="2471420" y="0"/>
                </a:lnTo>
                <a:lnTo>
                  <a:pt x="2471420" y="1706880"/>
                </a:lnTo>
                <a:lnTo>
                  <a:pt x="1235710" y="1706880"/>
                </a:lnTo>
                <a:close/>
              </a:path>
            </a:pathLst>
          </a:custGeom>
          <a:ln w="3175">
            <a:solidFill>
              <a:srgbClr val="000000"/>
            </a:solidFill>
          </a:ln>
        </p:spPr>
        <p:txBody>
          <a:bodyPr wrap="square" lIns="0" tIns="0" rIns="0" bIns="0" rtlCol="0"/>
          <a:lstStyle/>
          <a:p>
            <a:endParaRPr/>
          </a:p>
        </p:txBody>
      </p:sp>
      <p:sp>
        <p:nvSpPr>
          <p:cNvPr id="35" name="object 35"/>
          <p:cNvSpPr/>
          <p:nvPr/>
        </p:nvSpPr>
        <p:spPr>
          <a:xfrm>
            <a:off x="9170669" y="3747410"/>
            <a:ext cx="2470150" cy="1592580"/>
          </a:xfrm>
          <a:custGeom>
            <a:avLst/>
            <a:gdLst/>
            <a:ahLst/>
            <a:cxnLst/>
            <a:rect l="l" t="t" r="r" b="b"/>
            <a:pathLst>
              <a:path w="2470150" h="1592579">
                <a:moveTo>
                  <a:pt x="1235709" y="1592579"/>
                </a:moveTo>
                <a:lnTo>
                  <a:pt x="0" y="1592579"/>
                </a:lnTo>
                <a:lnTo>
                  <a:pt x="0" y="0"/>
                </a:lnTo>
                <a:lnTo>
                  <a:pt x="2470150" y="0"/>
                </a:lnTo>
                <a:lnTo>
                  <a:pt x="2470150" y="1592579"/>
                </a:lnTo>
                <a:lnTo>
                  <a:pt x="1235709" y="1592579"/>
                </a:lnTo>
                <a:close/>
              </a:path>
            </a:pathLst>
          </a:custGeom>
          <a:ln w="3175">
            <a:solidFill>
              <a:srgbClr val="000000"/>
            </a:solidFill>
          </a:ln>
        </p:spPr>
        <p:txBody>
          <a:bodyPr wrap="square" lIns="0" tIns="0" rIns="0" bIns="0" rtlCol="0"/>
          <a:lstStyle/>
          <a:p>
            <a:endParaRPr/>
          </a:p>
        </p:txBody>
      </p:sp>
      <p:grpSp>
        <p:nvGrpSpPr>
          <p:cNvPr id="36" name="object 36"/>
          <p:cNvGrpSpPr/>
          <p:nvPr/>
        </p:nvGrpSpPr>
        <p:grpSpPr>
          <a:xfrm>
            <a:off x="6202679" y="3749950"/>
            <a:ext cx="2489200" cy="1361440"/>
            <a:chOff x="6202679" y="3749950"/>
            <a:chExt cx="2489200" cy="1361440"/>
          </a:xfrm>
        </p:grpSpPr>
        <p:sp>
          <p:nvSpPr>
            <p:cNvPr id="37" name="object 37"/>
            <p:cNvSpPr/>
            <p:nvPr/>
          </p:nvSpPr>
          <p:spPr>
            <a:xfrm>
              <a:off x="6202679" y="3749950"/>
              <a:ext cx="2489200" cy="1361440"/>
            </a:xfrm>
            <a:custGeom>
              <a:avLst/>
              <a:gdLst/>
              <a:ahLst/>
              <a:cxnLst/>
              <a:rect l="l" t="t" r="r" b="b"/>
              <a:pathLst>
                <a:path w="2489200" h="1361439">
                  <a:moveTo>
                    <a:pt x="2489200" y="0"/>
                  </a:moveTo>
                  <a:lnTo>
                    <a:pt x="0" y="0"/>
                  </a:lnTo>
                  <a:lnTo>
                    <a:pt x="0" y="1361439"/>
                  </a:lnTo>
                  <a:lnTo>
                    <a:pt x="1244600" y="1361439"/>
                  </a:lnTo>
                  <a:lnTo>
                    <a:pt x="2489200" y="1361439"/>
                  </a:lnTo>
                  <a:lnTo>
                    <a:pt x="2489200" y="0"/>
                  </a:lnTo>
                  <a:close/>
                </a:path>
              </a:pathLst>
            </a:custGeom>
            <a:solidFill>
              <a:srgbClr val="FFFFFF"/>
            </a:solidFill>
          </p:spPr>
          <p:txBody>
            <a:bodyPr wrap="square" lIns="0" tIns="0" rIns="0" bIns="0" rtlCol="0"/>
            <a:lstStyle/>
            <a:p>
              <a:endParaRPr/>
            </a:p>
          </p:txBody>
        </p:sp>
        <p:sp>
          <p:nvSpPr>
            <p:cNvPr id="38" name="object 38"/>
            <p:cNvSpPr/>
            <p:nvPr/>
          </p:nvSpPr>
          <p:spPr>
            <a:xfrm>
              <a:off x="6202679" y="3749950"/>
              <a:ext cx="2489200" cy="1361440"/>
            </a:xfrm>
            <a:custGeom>
              <a:avLst/>
              <a:gdLst/>
              <a:ahLst/>
              <a:cxnLst/>
              <a:rect l="l" t="t" r="r" b="b"/>
              <a:pathLst>
                <a:path w="2489200" h="1361439">
                  <a:moveTo>
                    <a:pt x="1244600" y="1361439"/>
                  </a:moveTo>
                  <a:lnTo>
                    <a:pt x="0" y="1361439"/>
                  </a:lnTo>
                  <a:lnTo>
                    <a:pt x="0" y="0"/>
                  </a:lnTo>
                  <a:lnTo>
                    <a:pt x="2489200" y="0"/>
                  </a:lnTo>
                  <a:lnTo>
                    <a:pt x="2489200" y="1361439"/>
                  </a:lnTo>
                  <a:lnTo>
                    <a:pt x="1244600" y="1361439"/>
                  </a:lnTo>
                  <a:close/>
                </a:path>
              </a:pathLst>
            </a:custGeom>
            <a:ln w="3175">
              <a:solidFill>
                <a:srgbClr val="000000"/>
              </a:solidFill>
            </a:ln>
          </p:spPr>
          <p:txBody>
            <a:bodyPr wrap="square" lIns="0" tIns="0" rIns="0" bIns="0" rtlCol="0"/>
            <a:lstStyle/>
            <a:p>
              <a:endParaRPr/>
            </a:p>
          </p:txBody>
        </p:sp>
      </p:grpSp>
      <p:sp>
        <p:nvSpPr>
          <p:cNvPr id="39" name="object 39"/>
          <p:cNvSpPr/>
          <p:nvPr/>
        </p:nvSpPr>
        <p:spPr>
          <a:xfrm>
            <a:off x="6192520" y="5374280"/>
            <a:ext cx="2490470" cy="1361440"/>
          </a:xfrm>
          <a:custGeom>
            <a:avLst/>
            <a:gdLst/>
            <a:ahLst/>
            <a:cxnLst/>
            <a:rect l="l" t="t" r="r" b="b"/>
            <a:pathLst>
              <a:path w="2490470" h="1361440">
                <a:moveTo>
                  <a:pt x="1245870" y="1361440"/>
                </a:moveTo>
                <a:lnTo>
                  <a:pt x="0" y="1361440"/>
                </a:lnTo>
                <a:lnTo>
                  <a:pt x="0" y="0"/>
                </a:lnTo>
                <a:lnTo>
                  <a:pt x="2490470" y="0"/>
                </a:lnTo>
                <a:lnTo>
                  <a:pt x="2490470" y="1361440"/>
                </a:lnTo>
                <a:lnTo>
                  <a:pt x="1245870" y="1361440"/>
                </a:lnTo>
                <a:close/>
              </a:path>
            </a:pathLst>
          </a:custGeom>
          <a:ln w="3175">
            <a:solidFill>
              <a:srgbClr val="000000"/>
            </a:solidFill>
          </a:ln>
        </p:spPr>
        <p:txBody>
          <a:bodyPr wrap="square" lIns="0" tIns="0" rIns="0" bIns="0" rtlCol="0"/>
          <a:lstStyle/>
          <a:p>
            <a:endParaRPr/>
          </a:p>
        </p:txBody>
      </p:sp>
      <p:sp>
        <p:nvSpPr>
          <p:cNvPr id="40" name="object 40"/>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My</a:t>
            </a:r>
            <a:r>
              <a:rPr spc="-40" dirty="0"/>
              <a:t> </a:t>
            </a:r>
            <a:r>
              <a:rPr dirty="0"/>
              <a:t>Learning</a:t>
            </a:r>
            <a:r>
              <a:rPr spc="-40" dirty="0"/>
              <a:t> </a:t>
            </a:r>
            <a:r>
              <a:rPr spc="-10" dirty="0"/>
              <a:t>Catalog</a:t>
            </a:r>
          </a:p>
        </p:txBody>
      </p:sp>
      <p:sp>
        <p:nvSpPr>
          <p:cNvPr id="41" name="TextBox 40">
            <a:extLst>
              <a:ext uri="{FF2B5EF4-FFF2-40B4-BE49-F238E27FC236}">
                <a16:creationId xmlns:a16="http://schemas.microsoft.com/office/drawing/2014/main" id="{923BFB72-0415-7ACC-3353-D2A793515AE3}"/>
              </a:ext>
            </a:extLst>
          </p:cNvPr>
          <p:cNvSpPr txBox="1"/>
          <p:nvPr/>
        </p:nvSpPr>
        <p:spPr>
          <a:xfrm>
            <a:off x="473708" y="2273003"/>
            <a:ext cx="5099050" cy="523220"/>
          </a:xfrm>
          <a:prstGeom prst="rect">
            <a:avLst/>
          </a:prstGeom>
          <a:noFill/>
        </p:spPr>
        <p:txBody>
          <a:bodyPr wrap="square" rtlCol="0">
            <a:spAutoFit/>
          </a:bodyPr>
          <a:lstStyle/>
          <a:p>
            <a:r>
              <a:rPr lang="en-US" sz="1400" dirty="0"/>
              <a:t>I am a graduate student from Myanmar and I love physics. I love to play soccer in my free time.</a:t>
            </a:r>
          </a:p>
        </p:txBody>
      </p:sp>
      <p:pic>
        <p:nvPicPr>
          <p:cNvPr id="43" name="Picture 42">
            <a:extLst>
              <a:ext uri="{FF2B5EF4-FFF2-40B4-BE49-F238E27FC236}">
                <a16:creationId xmlns:a16="http://schemas.microsoft.com/office/drawing/2014/main" id="{4072789D-4691-FE14-9C5E-86EE16B8699D}"/>
              </a:ext>
            </a:extLst>
          </p:cNvPr>
          <p:cNvPicPr>
            <a:picLocks noChangeAspect="1"/>
          </p:cNvPicPr>
          <p:nvPr/>
        </p:nvPicPr>
        <p:blipFill>
          <a:blip r:embed="rId2" cstate="print">
            <a:extLst>
              <a:ext uri="{28A0092B-C50C-407E-A947-70E740481C1C}">
                <a14:useLocalDpi xmlns:a14="http://schemas.microsoft.com/office/drawing/2010/main" val="0"/>
              </a:ext>
            </a:extLst>
          </a:blip>
          <a:srcRect t="34122" b="11778"/>
          <a:stretch>
            <a:fillRect/>
          </a:stretch>
        </p:blipFill>
        <p:spPr>
          <a:xfrm>
            <a:off x="6177913" y="1771290"/>
            <a:ext cx="2505077" cy="1711960"/>
          </a:xfrm>
          <a:prstGeom prst="rect">
            <a:avLst/>
          </a:prstGeom>
        </p:spPr>
      </p:pic>
      <p:pic>
        <p:nvPicPr>
          <p:cNvPr id="45" name="Picture 44">
            <a:extLst>
              <a:ext uri="{FF2B5EF4-FFF2-40B4-BE49-F238E27FC236}">
                <a16:creationId xmlns:a16="http://schemas.microsoft.com/office/drawing/2014/main" id="{56D7EE40-F523-1F00-736A-AF03FC9BEC5B}"/>
              </a:ext>
            </a:extLst>
          </p:cNvPr>
          <p:cNvPicPr>
            <a:picLocks noChangeAspect="1"/>
          </p:cNvPicPr>
          <p:nvPr/>
        </p:nvPicPr>
        <p:blipFill>
          <a:blip r:embed="rId3" cstate="print">
            <a:extLst>
              <a:ext uri="{28A0092B-C50C-407E-A947-70E740481C1C}">
                <a14:useLocalDpi xmlns:a14="http://schemas.microsoft.com/office/drawing/2010/main" val="0"/>
              </a:ext>
            </a:extLst>
          </a:blip>
          <a:srcRect t="32989" r="1619" b="31472"/>
          <a:stretch>
            <a:fillRect/>
          </a:stretch>
        </p:blipFill>
        <p:spPr>
          <a:xfrm>
            <a:off x="9162414" y="3739790"/>
            <a:ext cx="2486660" cy="1600200"/>
          </a:xfrm>
          <a:prstGeom prst="rect">
            <a:avLst/>
          </a:prstGeom>
        </p:spPr>
      </p:pic>
      <p:pic>
        <p:nvPicPr>
          <p:cNvPr id="47" name="Picture 46">
            <a:extLst>
              <a:ext uri="{FF2B5EF4-FFF2-40B4-BE49-F238E27FC236}">
                <a16:creationId xmlns:a16="http://schemas.microsoft.com/office/drawing/2014/main" id="{5F4B988D-E6A8-1581-DAA5-36E1E8D1FD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61780" y="1754420"/>
            <a:ext cx="2481581" cy="1728830"/>
          </a:xfrm>
          <a:prstGeom prst="rect">
            <a:avLst/>
          </a:prstGeom>
        </p:spPr>
      </p:pic>
      <p:pic>
        <p:nvPicPr>
          <p:cNvPr id="49" name="Picture 48">
            <a:extLst>
              <a:ext uri="{FF2B5EF4-FFF2-40B4-BE49-F238E27FC236}">
                <a16:creationId xmlns:a16="http://schemas.microsoft.com/office/drawing/2014/main" id="{C523DEEF-0FEA-01FC-E6BC-C5AFE71C8F2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192519" y="5368550"/>
            <a:ext cx="2494280" cy="1367170"/>
          </a:xfrm>
          <a:prstGeom prst="rect">
            <a:avLst/>
          </a:prstGeom>
        </p:spPr>
      </p:pic>
      <p:pic>
        <p:nvPicPr>
          <p:cNvPr id="51" name="Picture 50">
            <a:extLst>
              <a:ext uri="{FF2B5EF4-FFF2-40B4-BE49-F238E27FC236}">
                <a16:creationId xmlns:a16="http://schemas.microsoft.com/office/drawing/2014/main" id="{8C20BAB3-D84C-BFF6-FE6E-57F21DD9BF0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17171" y="257810"/>
            <a:ext cx="2199358" cy="1477010"/>
          </a:xfrm>
          <a:prstGeom prst="rect">
            <a:avLst/>
          </a:prstGeom>
        </p:spPr>
      </p:pic>
      <p:pic>
        <p:nvPicPr>
          <p:cNvPr id="53" name="Picture 52">
            <a:extLst>
              <a:ext uri="{FF2B5EF4-FFF2-40B4-BE49-F238E27FC236}">
                <a16:creationId xmlns:a16="http://schemas.microsoft.com/office/drawing/2014/main" id="{EC59BD0E-6FA7-E0F6-B84F-9B3521582C3A}"/>
              </a:ext>
            </a:extLst>
          </p:cNvPr>
          <p:cNvPicPr>
            <a:picLocks noChangeAspect="1"/>
          </p:cNvPicPr>
          <p:nvPr/>
        </p:nvPicPr>
        <p:blipFill>
          <a:blip r:embed="rId7" cstate="print">
            <a:extLst>
              <a:ext uri="{28A0092B-C50C-407E-A947-70E740481C1C}">
                <a14:useLocalDpi xmlns:a14="http://schemas.microsoft.com/office/drawing/2010/main" val="0"/>
              </a:ext>
            </a:extLst>
          </a:blip>
          <a:srcRect l="6574" t="14571" r="5469" b="6666"/>
          <a:stretch>
            <a:fillRect/>
          </a:stretch>
        </p:blipFill>
        <p:spPr>
          <a:xfrm>
            <a:off x="6202679" y="3733800"/>
            <a:ext cx="2505419" cy="1387750"/>
          </a:xfrm>
          <a:prstGeom prst="rect">
            <a:avLst/>
          </a:prstGeom>
        </p:spPr>
      </p:pic>
      <p:pic>
        <p:nvPicPr>
          <p:cNvPr id="55" name="Picture 54">
            <a:extLst>
              <a:ext uri="{FF2B5EF4-FFF2-40B4-BE49-F238E27FC236}">
                <a16:creationId xmlns:a16="http://schemas.microsoft.com/office/drawing/2014/main" id="{4B657B41-B454-8670-68E6-DCC9D659B18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164319" y="5500010"/>
            <a:ext cx="2502956" cy="1214396"/>
          </a:xfrm>
          <a:prstGeom prst="rect">
            <a:avLst/>
          </a:prstGeom>
        </p:spPr>
      </p:pic>
      <p:pic>
        <p:nvPicPr>
          <p:cNvPr id="57" name="Picture 56">
            <a:extLst>
              <a:ext uri="{FF2B5EF4-FFF2-40B4-BE49-F238E27FC236}">
                <a16:creationId xmlns:a16="http://schemas.microsoft.com/office/drawing/2014/main" id="{F04A27BC-9741-369C-0C44-25DC823D63C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194569" y="247290"/>
            <a:ext cx="2505419" cy="1210310"/>
          </a:xfrm>
          <a:prstGeom prst="rect">
            <a:avLst/>
          </a:prstGeom>
        </p:spPr>
      </p:pic>
      <p:pic>
        <p:nvPicPr>
          <p:cNvPr id="59" name="Picture 58">
            <a:extLst>
              <a:ext uri="{FF2B5EF4-FFF2-40B4-BE49-F238E27FC236}">
                <a16:creationId xmlns:a16="http://schemas.microsoft.com/office/drawing/2014/main" id="{CADA470A-E62D-02DB-879B-93F3B70BF29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155430" y="243204"/>
            <a:ext cx="2502956" cy="121439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67</TotalTime>
  <Words>345</Words>
  <Application>Microsoft Office PowerPoint</Application>
  <PresentationFormat>Widescreen</PresentationFormat>
  <Paragraphs>20</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Lucida Sans Unicode</vt:lpstr>
      <vt:lpstr>Times New Roman</vt:lpstr>
      <vt:lpstr>Office Theme</vt:lpstr>
      <vt:lpstr>My Learning Catalog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林 透</dc:creator>
  <cp:lastModifiedBy>THU TA ZAW</cp:lastModifiedBy>
  <cp:revision>6</cp:revision>
  <dcterms:created xsi:type="dcterms:W3CDTF">2026-02-03T14:54:32Z</dcterms:created>
  <dcterms:modified xsi:type="dcterms:W3CDTF">2026-02-03T16:03:38Z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2026-01-25T00:00:00Z</vt:filetime>
  </property>
  <property fmtid="{D5CDD505-2E9C-101B-9397-08002B2CF9AE}" pid="3" name="Creator">
    <vt:lpwstr>Impress</vt:lpwstr>
  </property>
  <property fmtid="{D5CDD505-2E9C-101B-9397-08002B2CF9AE}" pid="4" name="Producer">
    <vt:lpwstr>LibreOffice 5.4</vt:lpwstr>
  </property>
  <property fmtid="{D5CDD505-2E9C-101B-9397-08002B2CF9AE}" pid="5" name="LastSaved">
    <vt:filetime>2026-01-25T00:00:00Z</vt:filetime>
  </property>
</Properties>
</file>