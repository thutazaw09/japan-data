
<file path=[Content_Types].xml><?xml version="1.0" encoding="utf-8"?>
<Types xmlns="http://schemas.openxmlformats.org/package/2006/content-types">
  <Default Extension="emf" ContentType="image/x-emf"/>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839" r:id="rId3"/>
    <p:sldId id="840" r:id="rId4"/>
    <p:sldId id="843" r:id="rId5"/>
    <p:sldId id="846" r:id="rId6"/>
    <p:sldId id="842" r:id="rId7"/>
    <p:sldId id="845" r:id="rId8"/>
    <p:sldId id="844" r:id="rId9"/>
    <p:sldId id="847" r:id="rId10"/>
    <p:sldId id="849" r:id="rId11"/>
    <p:sldId id="850" r:id="rId12"/>
    <p:sldId id="852" r:id="rId13"/>
    <p:sldId id="851" r:id="rId14"/>
    <p:sldId id="853" r:id="rId15"/>
    <p:sldId id="854" r:id="rId16"/>
    <p:sldId id="858" r:id="rId17"/>
    <p:sldId id="856" r:id="rId18"/>
  </p:sldIdLst>
  <p:sldSz cx="18288000" cy="10287000"/>
  <p:notesSz cx="6858000" cy="9144000"/>
  <p:embeddedFontLst>
    <p:embeddedFont>
      <p:font typeface="DM Serif Display" pitchFamily="2" charset="0"/>
      <p:regular r:id="rId20"/>
      <p:italic r:id="rId21"/>
    </p:embeddedFont>
    <p:embeddedFont>
      <p:font typeface="Open Sauce"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8" autoAdjust="0"/>
    <p:restoredTop sz="93149" autoAdjust="0"/>
  </p:normalViewPr>
  <p:slideViewPr>
    <p:cSldViewPr>
      <p:cViewPr>
        <p:scale>
          <a:sx n="75" d="100"/>
          <a:sy n="75" d="100"/>
        </p:scale>
        <p:origin x="840" y="-1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2EF82B-E016-44BD-B0C4-D5A3DF34FAF9}" type="datetimeFigureOut">
              <a:rPr lang="en-US" smtClean="0"/>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A7D310-3A65-477A-971E-8091E55376EC}" type="slidenum">
              <a:rPr lang="en-US" smtClean="0"/>
              <a:t>‹#›</a:t>
            </a:fld>
            <a:endParaRPr lang="en-US"/>
          </a:p>
        </p:txBody>
      </p:sp>
    </p:spTree>
    <p:extLst>
      <p:ext uri="{BB962C8B-B14F-4D97-AF65-F5344CB8AC3E}">
        <p14:creationId xmlns:p14="http://schemas.microsoft.com/office/powerpoint/2010/main" val="2993598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A7D310-3A65-477A-971E-8091E55376EC}" type="slidenum">
              <a:rPr lang="en-US" smtClean="0"/>
              <a:t>2</a:t>
            </a:fld>
            <a:endParaRPr lang="en-US"/>
          </a:p>
        </p:txBody>
      </p:sp>
    </p:spTree>
    <p:extLst>
      <p:ext uri="{BB962C8B-B14F-4D97-AF65-F5344CB8AC3E}">
        <p14:creationId xmlns:p14="http://schemas.microsoft.com/office/powerpoint/2010/main" val="1640068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A7D310-3A65-477A-971E-8091E55376EC}" type="slidenum">
              <a:rPr lang="en-US" smtClean="0"/>
              <a:t>5</a:t>
            </a:fld>
            <a:endParaRPr lang="en-US"/>
          </a:p>
        </p:txBody>
      </p:sp>
    </p:spTree>
    <p:extLst>
      <p:ext uri="{BB962C8B-B14F-4D97-AF65-F5344CB8AC3E}">
        <p14:creationId xmlns:p14="http://schemas.microsoft.com/office/powerpoint/2010/main" val="3595900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A7D310-3A65-477A-971E-8091E55376EC}" type="slidenum">
              <a:rPr lang="en-US" smtClean="0"/>
              <a:t>16</a:t>
            </a:fld>
            <a:endParaRPr lang="en-US"/>
          </a:p>
        </p:txBody>
      </p:sp>
    </p:spTree>
    <p:extLst>
      <p:ext uri="{BB962C8B-B14F-4D97-AF65-F5344CB8AC3E}">
        <p14:creationId xmlns:p14="http://schemas.microsoft.com/office/powerpoint/2010/main" val="1699600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jfif"/></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US" dirty="0"/>
          </a:p>
        </p:txBody>
      </p:sp>
      <p:sp>
        <p:nvSpPr>
          <p:cNvPr id="3" name="TextBox 3"/>
          <p:cNvSpPr txBox="1"/>
          <p:nvPr/>
        </p:nvSpPr>
        <p:spPr>
          <a:xfrm>
            <a:off x="2613987" y="2765510"/>
            <a:ext cx="13060024" cy="2484334"/>
          </a:xfrm>
          <a:prstGeom prst="rect">
            <a:avLst/>
          </a:prstGeom>
        </p:spPr>
        <p:txBody>
          <a:bodyPr wrap="square" lIns="0" tIns="0" rIns="0" bIns="0" rtlCol="0" anchor="t">
            <a:spAutoFit/>
          </a:bodyPr>
          <a:lstStyle/>
          <a:p>
            <a:pPr algn="ctr">
              <a:lnSpc>
                <a:spcPts val="20160"/>
              </a:lnSpc>
            </a:pPr>
            <a:r>
              <a:rPr lang="en-US" sz="14400" dirty="0">
                <a:solidFill>
                  <a:srgbClr val="000000"/>
                </a:solidFill>
                <a:latin typeface="DM Serif Display"/>
                <a:ea typeface="DM Serif Display"/>
                <a:cs typeface="DM Serif Display"/>
                <a:sym typeface="DM Serif Display"/>
              </a:rPr>
              <a:t>Presentation VII</a:t>
            </a:r>
          </a:p>
        </p:txBody>
      </p:sp>
      <p:sp>
        <p:nvSpPr>
          <p:cNvPr id="5" name="TextBox 5"/>
          <p:cNvSpPr txBox="1"/>
          <p:nvPr/>
        </p:nvSpPr>
        <p:spPr>
          <a:xfrm>
            <a:off x="7671329" y="8480425"/>
            <a:ext cx="2945342" cy="553165"/>
          </a:xfrm>
          <a:prstGeom prst="rect">
            <a:avLst/>
          </a:prstGeom>
        </p:spPr>
        <p:txBody>
          <a:bodyPr lIns="0" tIns="0" rIns="0" bIns="0" rtlCol="0" anchor="t">
            <a:spAutoFit/>
          </a:bodyPr>
          <a:lstStyle/>
          <a:p>
            <a:pPr algn="ctr">
              <a:lnSpc>
                <a:spcPts val="4480"/>
              </a:lnSpc>
              <a:spcBef>
                <a:spcPct val="0"/>
              </a:spcBef>
            </a:pPr>
            <a:r>
              <a:rPr lang="en-US" sz="3200" dirty="0">
                <a:solidFill>
                  <a:srgbClr val="000000">
                    <a:alpha val="49804"/>
                  </a:srgbClr>
                </a:solidFill>
                <a:latin typeface="DM Serif Display"/>
                <a:ea typeface="DM Serif Display"/>
                <a:cs typeface="DM Serif Display"/>
                <a:sym typeface="DM Serif Display"/>
              </a:rPr>
              <a:t>Thu Ta Zaw</a:t>
            </a:r>
          </a:p>
        </p:txBody>
      </p:sp>
      <p:sp>
        <p:nvSpPr>
          <p:cNvPr id="6" name="TextBox 6"/>
          <p:cNvSpPr txBox="1"/>
          <p:nvPr/>
        </p:nvSpPr>
        <p:spPr>
          <a:xfrm>
            <a:off x="7418762" y="9142095"/>
            <a:ext cx="3450476" cy="258725"/>
          </a:xfrm>
          <a:prstGeom prst="rect">
            <a:avLst/>
          </a:prstGeom>
        </p:spPr>
        <p:txBody>
          <a:bodyPr lIns="0" tIns="0" rIns="0" bIns="0" rtlCol="0" anchor="t">
            <a:spAutoFit/>
          </a:bodyPr>
          <a:lstStyle/>
          <a:p>
            <a:pPr marL="0" lvl="0" indent="0" algn="ctr">
              <a:lnSpc>
                <a:spcPts val="2239"/>
              </a:lnSpc>
              <a:spcBef>
                <a:spcPct val="0"/>
              </a:spcBef>
            </a:pPr>
            <a:r>
              <a:rPr lang="en-US" sz="1599" u="none" strike="noStrike" spc="159" dirty="0">
                <a:solidFill>
                  <a:srgbClr val="000000">
                    <a:alpha val="49804"/>
                  </a:srgbClr>
                </a:solidFill>
                <a:latin typeface="Open Sauce"/>
                <a:ea typeface="Open Sauce"/>
                <a:cs typeface="Open Sauce"/>
                <a:sym typeface="Open Sauce"/>
              </a:rPr>
              <a:t>2415121095</a:t>
            </a:r>
          </a:p>
        </p:txBody>
      </p:sp>
      <p:sp>
        <p:nvSpPr>
          <p:cNvPr id="7" name="TextBox 8">
            <a:extLst>
              <a:ext uri="{FF2B5EF4-FFF2-40B4-BE49-F238E27FC236}">
                <a16:creationId xmlns:a16="http://schemas.microsoft.com/office/drawing/2014/main" id="{7B244B4F-61ED-CD64-3F42-BB24EA8E2BD6}"/>
              </a:ext>
            </a:extLst>
          </p:cNvPr>
          <p:cNvSpPr txBox="1"/>
          <p:nvPr/>
        </p:nvSpPr>
        <p:spPr>
          <a:xfrm>
            <a:off x="7011503" y="4893857"/>
            <a:ext cx="4264992" cy="577081"/>
          </a:xfrm>
          <a:prstGeom prst="rect">
            <a:avLst/>
          </a:prstGeom>
        </p:spPr>
        <p:txBody>
          <a:bodyPr wrap="square" lIns="0" tIns="0" rIns="0" bIns="0" rtlCol="0" anchor="t">
            <a:spAutoFit/>
          </a:bodyPr>
          <a:lstStyle/>
          <a:p>
            <a:pPr marL="302259" lvl="1" algn="l">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grpSp>
        <p:nvGrpSpPr>
          <p:cNvPr id="4" name="Group 3">
            <a:extLst>
              <a:ext uri="{FF2B5EF4-FFF2-40B4-BE49-F238E27FC236}">
                <a16:creationId xmlns:a16="http://schemas.microsoft.com/office/drawing/2014/main" id="{ABCF42FA-AD96-6718-B5FF-6A0BFF7AD7F8}"/>
              </a:ext>
            </a:extLst>
          </p:cNvPr>
          <p:cNvGrpSpPr/>
          <p:nvPr/>
        </p:nvGrpSpPr>
        <p:grpSpPr>
          <a:xfrm>
            <a:off x="13826319" y="0"/>
            <a:ext cx="4461681" cy="2019300"/>
            <a:chOff x="10985984" y="47827"/>
            <a:chExt cx="1034194" cy="467116"/>
          </a:xfrm>
        </p:grpSpPr>
        <p:pic>
          <p:nvPicPr>
            <p:cNvPr id="8" name="Picture 2" descr="ตราสัญลักษณ์เนื่องในโอกาสครบรอบ 60 ปี  แห่งการสถาปนามหาวิทยาลัยเทคโนโลยีพระจอมเกล้าธนบุรี – PR KMUTT">
              <a:extLst>
                <a:ext uri="{FF2B5EF4-FFF2-40B4-BE49-F238E27FC236}">
                  <a16:creationId xmlns:a16="http://schemas.microsoft.com/office/drawing/2014/main" id="{A069B459-3DF4-5F50-9704-697C705997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6720" b="32723"/>
            <a:stretch/>
          </p:blipFill>
          <p:spPr bwMode="auto">
            <a:xfrm>
              <a:off x="10985984" y="47827"/>
              <a:ext cx="573968" cy="4319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Division of Health Sciences Graduate School of Medical Sciences, Kanazawa  University">
              <a:extLst>
                <a:ext uri="{FF2B5EF4-FFF2-40B4-BE49-F238E27FC236}">
                  <a16:creationId xmlns:a16="http://schemas.microsoft.com/office/drawing/2014/main" id="{5554D7E3-09F1-F888-8561-58B8ED11C8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9952" y="54717"/>
              <a:ext cx="460226" cy="46022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4FE5F-C06F-A3D7-A556-D74761CBF8A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4FF2FB2-4B51-8ADE-00B3-4237FAE2F7F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BDEB9C3B-0D92-07EF-0CA0-A3A1DBABE4C4}"/>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B807528D-1E96-ECA4-01C3-2364794CEFEF}"/>
              </a:ext>
            </a:extLst>
          </p:cNvPr>
          <p:cNvSpPr txBox="1"/>
          <p:nvPr/>
        </p:nvSpPr>
        <p:spPr>
          <a:xfrm>
            <a:off x="1023524" y="3067147"/>
            <a:ext cx="10177876" cy="3979936"/>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Hamamatsu C6386-01  </a:t>
            </a:r>
          </a:p>
          <a:p>
            <a:pPr marL="604519" lvl="1" indent="-302260">
              <a:lnSpc>
                <a:spcPts val="4479"/>
              </a:lnSpc>
              <a:buFont typeface="Arial"/>
              <a:buChar char="•"/>
            </a:pPr>
            <a:r>
              <a:rPr lang="en-US" sz="2500" dirty="0"/>
              <a:t>Light to voltage conversion amplifier with optical fiber.</a:t>
            </a:r>
          </a:p>
          <a:p>
            <a:pPr marL="604519" lvl="1" indent="-302260">
              <a:lnSpc>
                <a:spcPts val="4479"/>
              </a:lnSpc>
              <a:buFont typeface="Arial"/>
              <a:buChar char="•"/>
            </a:pPr>
            <a:r>
              <a:rPr lang="en-US" sz="2500" dirty="0"/>
              <a:t>Price : 94,500 yen.</a:t>
            </a:r>
          </a:p>
          <a:p>
            <a:pPr marL="604519" lvl="1" indent="-302260">
              <a:lnSpc>
                <a:spcPts val="4479"/>
              </a:lnSpc>
              <a:buFont typeface="Arial"/>
              <a:buChar char="•"/>
            </a:pPr>
            <a:r>
              <a:rPr lang="en-US" sz="2500" dirty="0"/>
              <a:t>Required Interfacing with RPI 5. (</a:t>
            </a:r>
            <a:r>
              <a:rPr lang="en-US" sz="2800" dirty="0"/>
              <a:t>LabJack U3-HV 37,789 yen).</a:t>
            </a:r>
          </a:p>
          <a:p>
            <a:pPr marL="604519" lvl="1" indent="-302260">
              <a:lnSpc>
                <a:spcPts val="4479"/>
              </a:lnSpc>
              <a:buFont typeface="Arial"/>
              <a:buChar char="•"/>
            </a:pPr>
            <a:r>
              <a:rPr lang="en-US" sz="2800" dirty="0"/>
              <a:t>BNC cable : 3,460 yen. </a:t>
            </a:r>
          </a:p>
          <a:p>
            <a:pPr marL="604519" lvl="1" indent="-302260">
              <a:lnSpc>
                <a:spcPts val="4479"/>
              </a:lnSpc>
              <a:buFont typeface="Arial"/>
              <a:buChar char="•"/>
            </a:pPr>
            <a:r>
              <a:rPr lang="en-US" sz="2800" dirty="0"/>
              <a:t>Can only interface with Oscilloscope.</a:t>
            </a:r>
          </a:p>
          <a:p>
            <a:pPr marL="604519" lvl="1" indent="-302260">
              <a:lnSpc>
                <a:spcPts val="4479"/>
              </a:lnSpc>
              <a:buFont typeface="Arial"/>
              <a:buChar char="•"/>
            </a:pPr>
            <a:endParaRPr lang="en-US" sz="2500" dirty="0"/>
          </a:p>
        </p:txBody>
      </p:sp>
      <p:sp>
        <p:nvSpPr>
          <p:cNvPr id="4" name="TextBox 8">
            <a:extLst>
              <a:ext uri="{FF2B5EF4-FFF2-40B4-BE49-F238E27FC236}">
                <a16:creationId xmlns:a16="http://schemas.microsoft.com/office/drawing/2014/main" id="{1ED899A8-3DAC-E3C2-FA60-E3B03660392C}"/>
              </a:ext>
            </a:extLst>
          </p:cNvPr>
          <p:cNvSpPr txBox="1"/>
          <p:nvPr/>
        </p:nvSpPr>
        <p:spPr>
          <a:xfrm>
            <a:off x="6572250" y="1434743"/>
            <a:ext cx="514350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Light Detector</a:t>
            </a:r>
          </a:p>
        </p:txBody>
      </p:sp>
      <p:pic>
        <p:nvPicPr>
          <p:cNvPr id="9" name="Picture 8" descr="A pair of black boxes with knobs and wires&#10;&#10;AI-generated content may be incorrect.">
            <a:extLst>
              <a:ext uri="{FF2B5EF4-FFF2-40B4-BE49-F238E27FC236}">
                <a16:creationId xmlns:a16="http://schemas.microsoft.com/office/drawing/2014/main" id="{39D1B783-C68D-5D39-7916-D5404E7C2F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83641" y="2476500"/>
            <a:ext cx="4580835" cy="3886200"/>
          </a:xfrm>
          <a:prstGeom prst="rect">
            <a:avLst/>
          </a:prstGeom>
        </p:spPr>
      </p:pic>
      <p:sp>
        <p:nvSpPr>
          <p:cNvPr id="10" name="TextBox 8">
            <a:extLst>
              <a:ext uri="{FF2B5EF4-FFF2-40B4-BE49-F238E27FC236}">
                <a16:creationId xmlns:a16="http://schemas.microsoft.com/office/drawing/2014/main" id="{96BF8BEC-00F5-4FF4-9B22-20A977C95F84}"/>
              </a:ext>
            </a:extLst>
          </p:cNvPr>
          <p:cNvSpPr txBox="1"/>
          <p:nvPr/>
        </p:nvSpPr>
        <p:spPr>
          <a:xfrm>
            <a:off x="13524964" y="6161836"/>
            <a:ext cx="2898188" cy="492251"/>
          </a:xfrm>
          <a:prstGeom prst="rect">
            <a:avLst/>
          </a:prstGeom>
        </p:spPr>
        <p:txBody>
          <a:bodyPr wrap="square" lIns="0" tIns="0" rIns="0" bIns="0" rtlCol="0" anchor="t">
            <a:spAutoFit/>
          </a:bodyPr>
          <a:lstStyle/>
          <a:p>
            <a:pPr marL="302259" lvl="1">
              <a:lnSpc>
                <a:spcPts val="4479"/>
              </a:lnSpc>
            </a:pPr>
            <a:r>
              <a:rPr lang="en-US" dirty="0">
                <a:latin typeface="Times New Roman" panose="02020603050405020304" pitchFamily="18" charset="0"/>
                <a:cs typeface="Times New Roman" panose="02020603050405020304" pitchFamily="18" charset="0"/>
              </a:rPr>
              <a:t>Fig. </a:t>
            </a:r>
            <a:r>
              <a:rPr lang="en-US" dirty="0">
                <a:solidFill>
                  <a:srgbClr val="000000"/>
                </a:solidFill>
                <a:latin typeface="Times New Roman" panose="02020603050405020304" pitchFamily="18" charset="0"/>
                <a:ea typeface="Open Sauce"/>
                <a:cs typeface="Times New Roman" panose="02020603050405020304" pitchFamily="18" charset="0"/>
                <a:sym typeface="Open Sauce"/>
              </a:rPr>
              <a:t>Hamamatsu C6386-01.</a:t>
            </a:r>
            <a:endParaRPr lang="en-US" dirty="0">
              <a:latin typeface="Times New Roman" panose="02020603050405020304" pitchFamily="18" charset="0"/>
              <a:cs typeface="Times New Roman" panose="02020603050405020304" pitchFamily="18" charset="0"/>
            </a:endParaRPr>
          </a:p>
        </p:txBody>
      </p:sp>
      <p:pic>
        <p:nvPicPr>
          <p:cNvPr id="12" name="Picture 11" descr="A screenshot of a computer&#10;&#10;AI-generated content may be incorrect.">
            <a:extLst>
              <a:ext uri="{FF2B5EF4-FFF2-40B4-BE49-F238E27FC236}">
                <a16:creationId xmlns:a16="http://schemas.microsoft.com/office/drawing/2014/main" id="{64A25CBA-3AE9-263A-04FD-5B12BC306D1B}"/>
              </a:ext>
            </a:extLst>
          </p:cNvPr>
          <p:cNvPicPr>
            <a:picLocks noChangeAspect="1"/>
          </p:cNvPicPr>
          <p:nvPr/>
        </p:nvPicPr>
        <p:blipFill>
          <a:blip r:embed="rId5">
            <a:extLst>
              <a:ext uri="{28A0092B-C50C-407E-A947-70E740481C1C}">
                <a14:useLocalDpi xmlns:a14="http://schemas.microsoft.com/office/drawing/2010/main" val="0"/>
              </a:ext>
            </a:extLst>
          </a:blip>
          <a:srcRect l="20835" t="68690" r="46180" b="7778"/>
          <a:stretch>
            <a:fillRect/>
          </a:stretch>
        </p:blipFill>
        <p:spPr>
          <a:xfrm>
            <a:off x="7345749" y="6801465"/>
            <a:ext cx="5002543" cy="2044757"/>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363C4858-B119-2304-3F5B-B67FE01DF186}"/>
              </a:ext>
            </a:extLst>
          </p:cNvPr>
          <p:cNvPicPr>
            <a:picLocks noChangeAspect="1"/>
          </p:cNvPicPr>
          <p:nvPr/>
        </p:nvPicPr>
        <p:blipFill>
          <a:blip r:embed="rId5">
            <a:extLst>
              <a:ext uri="{28A0092B-C50C-407E-A947-70E740481C1C}">
                <a14:useLocalDpi xmlns:a14="http://schemas.microsoft.com/office/drawing/2010/main" val="0"/>
              </a:ext>
            </a:extLst>
          </a:blip>
          <a:srcRect l="21142" t="44483" r="55758" b="38441"/>
          <a:stretch>
            <a:fillRect/>
          </a:stretch>
        </p:blipFill>
        <p:spPr>
          <a:xfrm>
            <a:off x="12683641" y="6892106"/>
            <a:ext cx="4580834" cy="1756594"/>
          </a:xfrm>
          <a:prstGeom prst="rect">
            <a:avLst/>
          </a:prstGeom>
        </p:spPr>
      </p:pic>
      <p:pic>
        <p:nvPicPr>
          <p:cNvPr id="16" name="Picture 15" descr="A screenshot of a computer&#10;&#10;AI-generated content may be incorrect.">
            <a:extLst>
              <a:ext uri="{FF2B5EF4-FFF2-40B4-BE49-F238E27FC236}">
                <a16:creationId xmlns:a16="http://schemas.microsoft.com/office/drawing/2014/main" id="{C1A35394-F91B-76E3-65F0-6C4BB9DFC382}"/>
              </a:ext>
            </a:extLst>
          </p:cNvPr>
          <p:cNvPicPr>
            <a:picLocks noChangeAspect="1"/>
          </p:cNvPicPr>
          <p:nvPr/>
        </p:nvPicPr>
        <p:blipFill>
          <a:blip r:embed="rId5">
            <a:extLst>
              <a:ext uri="{28A0092B-C50C-407E-A947-70E740481C1C}">
                <a14:useLocalDpi xmlns:a14="http://schemas.microsoft.com/office/drawing/2010/main" val="0"/>
              </a:ext>
            </a:extLst>
          </a:blip>
          <a:srcRect l="22251" t="25222" r="34863" b="54956"/>
          <a:stretch>
            <a:fillRect/>
          </a:stretch>
        </p:blipFill>
        <p:spPr>
          <a:xfrm>
            <a:off x="381000" y="6807207"/>
            <a:ext cx="6858000" cy="2039015"/>
          </a:xfrm>
          <a:prstGeom prst="rect">
            <a:avLst/>
          </a:prstGeom>
        </p:spPr>
      </p:pic>
      <p:sp>
        <p:nvSpPr>
          <p:cNvPr id="17" name="TextBox 8">
            <a:extLst>
              <a:ext uri="{FF2B5EF4-FFF2-40B4-BE49-F238E27FC236}">
                <a16:creationId xmlns:a16="http://schemas.microsoft.com/office/drawing/2014/main" id="{DDFD7AB3-BB56-EF30-CA3C-DD1EB9535CB6}"/>
              </a:ext>
            </a:extLst>
          </p:cNvPr>
          <p:cNvSpPr txBox="1"/>
          <p:nvPr/>
        </p:nvSpPr>
        <p:spPr>
          <a:xfrm>
            <a:off x="14002240" y="8595736"/>
            <a:ext cx="1943636" cy="486928"/>
          </a:xfrm>
          <a:prstGeom prst="rect">
            <a:avLst/>
          </a:prstGeom>
        </p:spPr>
        <p:txBody>
          <a:bodyPr wrap="square" lIns="0" tIns="0" rIns="0" bIns="0" rtlCol="0" anchor="t">
            <a:spAutoFit/>
          </a:bodyPr>
          <a:lstStyle/>
          <a:p>
            <a:pPr marL="302259" lvl="1">
              <a:lnSpc>
                <a:spcPts val="4479"/>
              </a:lnSpc>
            </a:pPr>
            <a:r>
              <a:rPr lang="en-US" dirty="0">
                <a:latin typeface="Times New Roman" panose="02020603050405020304" pitchFamily="18" charset="0"/>
                <a:cs typeface="Times New Roman" panose="02020603050405020304" pitchFamily="18" charset="0"/>
              </a:rPr>
              <a:t>Fig. </a:t>
            </a:r>
            <a:r>
              <a:rPr lang="en-US" dirty="0">
                <a:solidFill>
                  <a:srgbClr val="000000"/>
                </a:solidFill>
                <a:latin typeface="Times New Roman" panose="02020603050405020304" pitchFamily="18" charset="0"/>
                <a:ea typeface="Open Sauce"/>
                <a:cs typeface="Times New Roman" panose="02020603050405020304" pitchFamily="18" charset="0"/>
                <a:sym typeface="Open Sauce"/>
              </a:rPr>
              <a:t>Power Cable</a:t>
            </a:r>
            <a:endParaRPr lang="en-US" dirty="0">
              <a:latin typeface="Times New Roman" panose="02020603050405020304" pitchFamily="18" charset="0"/>
              <a:cs typeface="Times New Roman" panose="02020603050405020304" pitchFamily="18" charset="0"/>
            </a:endParaRPr>
          </a:p>
        </p:txBody>
      </p:sp>
      <p:sp>
        <p:nvSpPr>
          <p:cNvPr id="18" name="TextBox 8">
            <a:extLst>
              <a:ext uri="{FF2B5EF4-FFF2-40B4-BE49-F238E27FC236}">
                <a16:creationId xmlns:a16="http://schemas.microsoft.com/office/drawing/2014/main" id="{DE788723-B69E-A2CA-EB83-55DACD30E0EA}"/>
              </a:ext>
            </a:extLst>
          </p:cNvPr>
          <p:cNvSpPr txBox="1"/>
          <p:nvPr/>
        </p:nvSpPr>
        <p:spPr>
          <a:xfrm>
            <a:off x="8818320" y="8695172"/>
            <a:ext cx="2057400" cy="486928"/>
          </a:xfrm>
          <a:prstGeom prst="rect">
            <a:avLst/>
          </a:prstGeom>
        </p:spPr>
        <p:txBody>
          <a:bodyPr wrap="square" lIns="0" tIns="0" rIns="0" bIns="0" rtlCol="0" anchor="t">
            <a:spAutoFit/>
          </a:bodyPr>
          <a:lstStyle/>
          <a:p>
            <a:pPr marL="302259" lvl="1">
              <a:lnSpc>
                <a:spcPts val="4479"/>
              </a:lnSpc>
            </a:pPr>
            <a:r>
              <a:rPr lang="en-US" dirty="0">
                <a:latin typeface="Times New Roman" panose="02020603050405020304" pitchFamily="18" charset="0"/>
                <a:cs typeface="Times New Roman" panose="02020603050405020304" pitchFamily="18" charset="0"/>
              </a:rPr>
              <a:t>Fig. </a:t>
            </a:r>
            <a:r>
              <a:rPr lang="en-US" dirty="0">
                <a:solidFill>
                  <a:srgbClr val="000000"/>
                </a:solidFill>
                <a:latin typeface="Times New Roman" panose="02020603050405020304" pitchFamily="18" charset="0"/>
                <a:ea typeface="Open Sauce"/>
                <a:cs typeface="Times New Roman" panose="02020603050405020304" pitchFamily="18" charset="0"/>
                <a:sym typeface="Open Sauce"/>
              </a:rPr>
              <a:t>BNC-R cable</a:t>
            </a:r>
            <a:endParaRPr lang="en-US" dirty="0">
              <a:latin typeface="Times New Roman" panose="02020603050405020304" pitchFamily="18" charset="0"/>
              <a:cs typeface="Times New Roman" panose="02020603050405020304" pitchFamily="18" charset="0"/>
            </a:endParaRPr>
          </a:p>
        </p:txBody>
      </p:sp>
      <p:sp>
        <p:nvSpPr>
          <p:cNvPr id="19" name="TextBox 8">
            <a:extLst>
              <a:ext uri="{FF2B5EF4-FFF2-40B4-BE49-F238E27FC236}">
                <a16:creationId xmlns:a16="http://schemas.microsoft.com/office/drawing/2014/main" id="{ED664B2C-EEC3-0E95-C504-8F9508D31B6F}"/>
              </a:ext>
            </a:extLst>
          </p:cNvPr>
          <p:cNvSpPr txBox="1"/>
          <p:nvPr/>
        </p:nvSpPr>
        <p:spPr>
          <a:xfrm>
            <a:off x="2457450" y="8695172"/>
            <a:ext cx="2705100" cy="486928"/>
          </a:xfrm>
          <a:prstGeom prst="rect">
            <a:avLst/>
          </a:prstGeom>
        </p:spPr>
        <p:txBody>
          <a:bodyPr wrap="square" lIns="0" tIns="0" rIns="0" bIns="0" rtlCol="0" anchor="t">
            <a:spAutoFit/>
          </a:bodyPr>
          <a:lstStyle/>
          <a:p>
            <a:pPr marL="302259" lvl="1">
              <a:lnSpc>
                <a:spcPts val="4479"/>
              </a:lnSpc>
            </a:pPr>
            <a:r>
              <a:rPr lang="en-US" dirty="0">
                <a:latin typeface="Times New Roman" panose="02020603050405020304" pitchFamily="18" charset="0"/>
                <a:cs typeface="Times New Roman" panose="02020603050405020304" pitchFamily="18" charset="0"/>
              </a:rPr>
              <a:t>Fig. </a:t>
            </a:r>
            <a:r>
              <a:rPr lang="en-US" dirty="0">
                <a:solidFill>
                  <a:srgbClr val="000000"/>
                </a:solidFill>
                <a:latin typeface="Times New Roman" panose="02020603050405020304" pitchFamily="18" charset="0"/>
                <a:ea typeface="Open Sauce"/>
                <a:cs typeface="Times New Roman" panose="02020603050405020304" pitchFamily="18" charset="0"/>
                <a:sym typeface="Open Sauce"/>
              </a:rPr>
              <a:t>Optical Fiber A9511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2617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07A78-80B9-8D41-D28A-34F84F3778C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155028-3B4E-3E6A-2F3C-B27F21C7EE0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256E1AF0-BEB8-F917-28AD-F5E0158AD8F7}"/>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729022D3-F4D1-0E46-E8CC-37DAB5FBB222}"/>
              </a:ext>
            </a:extLst>
          </p:cNvPr>
          <p:cNvSpPr txBox="1"/>
          <p:nvPr/>
        </p:nvSpPr>
        <p:spPr>
          <a:xfrm>
            <a:off x="755816" y="2628122"/>
            <a:ext cx="16236783" cy="6875472"/>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Advance Glycation End Product (AGE). Characterization of the products from reaction between D. Glucose and Serum Albumin</a:t>
            </a:r>
          </a:p>
          <a:p>
            <a:pPr marL="302259" lvl="1">
              <a:lnSpc>
                <a:spcPts val="4479"/>
              </a:lnSpc>
            </a:pPr>
            <a:endParaRPr lang="en-US" sz="4000" b="1" dirty="0">
              <a:solidFill>
                <a:srgbClr val="000000"/>
              </a:solidFill>
              <a:latin typeface="Times New Roman" panose="02020603050405020304" pitchFamily="18" charset="0"/>
              <a:cs typeface="Times New Roman" panose="02020603050405020304" pitchFamily="18" charset="0"/>
              <a:sym typeface="Open Sauce"/>
            </a:endParaRPr>
          </a:p>
          <a:p>
            <a:pPr marL="604519" lvl="1" indent="-302260">
              <a:lnSpc>
                <a:spcPts val="4479"/>
              </a:lnSpc>
              <a:buFont typeface="Arial"/>
              <a:buChar char="•"/>
            </a:pPr>
            <a:r>
              <a:rPr lang="en-US" sz="2500" dirty="0"/>
              <a:t>The objective of this research is to study how AGEs form from the reaction between D-glucose and bovine serum albumin (BSA), and to characterize these products using biochemical and spectroscopic methods.</a:t>
            </a:r>
          </a:p>
          <a:p>
            <a:pPr marL="604519" lvl="1" indent="-302260">
              <a:lnSpc>
                <a:spcPts val="4479"/>
              </a:lnSpc>
              <a:buFont typeface="Arial"/>
              <a:buChar char="•"/>
            </a:pPr>
            <a:r>
              <a:rPr lang="en-US" sz="2500" dirty="0"/>
              <a:t>Since AGEs accumulate during aging and diabetes, altering proteins such as collagen, elastin and myelin, it is importance to characterize. </a:t>
            </a:r>
          </a:p>
          <a:p>
            <a:pPr marL="604519" lvl="1" indent="-302260">
              <a:lnSpc>
                <a:spcPts val="4479"/>
              </a:lnSpc>
              <a:buFont typeface="Arial"/>
              <a:buChar char="•"/>
            </a:pPr>
            <a:r>
              <a:rPr lang="en-US" sz="2500" dirty="0"/>
              <a:t>Use Fluorescence Spectroscopy to track the AGE formation. </a:t>
            </a:r>
          </a:p>
          <a:p>
            <a:pPr marL="604519" lvl="1" indent="-302260">
              <a:lnSpc>
                <a:spcPts val="4479"/>
              </a:lnSpc>
              <a:buFont typeface="Arial"/>
              <a:buChar char="•"/>
            </a:pPr>
            <a:r>
              <a:rPr lang="en-US" sz="2500" dirty="0" err="1"/>
              <a:t>Fructosamine</a:t>
            </a:r>
            <a:r>
              <a:rPr lang="en-US" sz="2500" dirty="0"/>
              <a:t> Assay to quantify early glycation products (Amadori compounds), which is intermediates formed before AGEs.</a:t>
            </a:r>
          </a:p>
          <a:p>
            <a:pPr marL="604519" lvl="1" indent="-302260">
              <a:lnSpc>
                <a:spcPts val="4479"/>
              </a:lnSpc>
              <a:buFont typeface="Arial"/>
              <a:buChar char="•"/>
            </a:pPr>
            <a:r>
              <a:rPr lang="en-US" sz="2500" dirty="0"/>
              <a:t>Applied multiple types of chromatography to isolate and characterize AGE fractions</a:t>
            </a:r>
          </a:p>
          <a:p>
            <a:pPr marL="604519" lvl="1" indent="-302260">
              <a:lnSpc>
                <a:spcPts val="4479"/>
              </a:lnSpc>
              <a:buFont typeface="Arial"/>
              <a:buChar char="•"/>
            </a:pPr>
            <a:r>
              <a:rPr lang="en-US" sz="2800" dirty="0"/>
              <a:t>PAGE and SDS-PAGE to visualize protein size changes, cross-linking, and change heterogeneity.</a:t>
            </a:r>
            <a:endParaRPr lang="en-US" sz="2500" dirty="0"/>
          </a:p>
        </p:txBody>
      </p:sp>
      <p:sp>
        <p:nvSpPr>
          <p:cNvPr id="4" name="TextBox 8">
            <a:extLst>
              <a:ext uri="{FF2B5EF4-FFF2-40B4-BE49-F238E27FC236}">
                <a16:creationId xmlns:a16="http://schemas.microsoft.com/office/drawing/2014/main" id="{FD0257C7-A01E-FC10-EA37-4B84A27739C9}"/>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spTree>
    <p:extLst>
      <p:ext uri="{BB962C8B-B14F-4D97-AF65-F5344CB8AC3E}">
        <p14:creationId xmlns:p14="http://schemas.microsoft.com/office/powerpoint/2010/main" val="2878878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16C4B-1199-FF29-4B98-C0C7B3E0A1D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151DD8-5F9E-537C-8509-2AC4F5A5B43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7B1E40C9-9135-9628-BA19-EE8E54D69BB7}"/>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544968F7-82A2-5271-6F68-AE4A394C4314}"/>
              </a:ext>
            </a:extLst>
          </p:cNvPr>
          <p:cNvSpPr txBox="1"/>
          <p:nvPr/>
        </p:nvSpPr>
        <p:spPr>
          <a:xfrm>
            <a:off x="755816" y="2628122"/>
            <a:ext cx="16236783" cy="6288260"/>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Fluorescence Spectroscopy</a:t>
            </a:r>
          </a:p>
          <a:p>
            <a:pPr marL="302259" lvl="1">
              <a:lnSpc>
                <a:spcPts val="4479"/>
              </a:lnSpc>
            </a:pPr>
            <a:endParaRPr lang="en-US" sz="4000" b="1" dirty="0">
              <a:solidFill>
                <a:srgbClr val="000000"/>
              </a:solidFill>
              <a:latin typeface="Times New Roman" panose="02020603050405020304" pitchFamily="18" charset="0"/>
              <a:cs typeface="Times New Roman" panose="02020603050405020304" pitchFamily="18" charset="0"/>
              <a:sym typeface="Open Sauce"/>
            </a:endParaRPr>
          </a:p>
          <a:p>
            <a:pPr marL="604519" lvl="1" indent="-302260">
              <a:lnSpc>
                <a:spcPts val="4479"/>
              </a:lnSpc>
              <a:buFont typeface="Arial"/>
              <a:buChar char="•"/>
            </a:pPr>
            <a:r>
              <a:rPr lang="en-US" sz="2500" dirty="0"/>
              <a:t>The purpose of performing fluorescence spectroscopy is to detect and quantify AGE formation over time based on their characteristic fluorescence. </a:t>
            </a:r>
          </a:p>
          <a:p>
            <a:pPr marL="604519" lvl="1" indent="-302260">
              <a:lnSpc>
                <a:spcPts val="4479"/>
              </a:lnSpc>
              <a:buFont typeface="Arial"/>
              <a:buChar char="•"/>
            </a:pPr>
            <a:r>
              <a:rPr lang="en-US" sz="2500" dirty="0"/>
              <a:t>Samples of incubation mixture (BSA + glucose) and control (BSA without glucose) were measured under identical conditions.</a:t>
            </a:r>
          </a:p>
          <a:p>
            <a:pPr marL="604519" lvl="1" indent="-302260">
              <a:lnSpc>
                <a:spcPts val="4479"/>
              </a:lnSpc>
              <a:buFont typeface="Arial"/>
              <a:buChar char="•"/>
            </a:pPr>
            <a:r>
              <a:rPr lang="en-US" sz="2500" dirty="0"/>
              <a:t>Fluorescence appeared after only 3 days, indicating early AGE formation, and its intensity increased steadily with incubation time.</a:t>
            </a:r>
          </a:p>
          <a:p>
            <a:pPr marL="604519" lvl="1" indent="-302260">
              <a:lnSpc>
                <a:spcPts val="4479"/>
              </a:lnSpc>
              <a:buFont typeface="Arial"/>
              <a:buChar char="•"/>
            </a:pPr>
            <a:r>
              <a:rPr lang="en-US" sz="2500" dirty="0"/>
              <a:t>Larger AGE aggregates showed higher fluorescence, linking fluorescence strength to molecular size.</a:t>
            </a:r>
          </a:p>
          <a:p>
            <a:pPr marL="604519" lvl="1" indent="-302260">
              <a:lnSpc>
                <a:spcPts val="4479"/>
              </a:lnSpc>
              <a:buFont typeface="Arial"/>
              <a:buChar char="•"/>
            </a:pPr>
            <a:r>
              <a:rPr lang="en-US" sz="2500" dirty="0"/>
              <a:t>AGEs exhibits a specific intrinsic fluorescence with the excitation wavelength of 370 nm and Emission wavelength of 440nm.</a:t>
            </a:r>
          </a:p>
        </p:txBody>
      </p:sp>
      <p:sp>
        <p:nvSpPr>
          <p:cNvPr id="4" name="TextBox 8">
            <a:extLst>
              <a:ext uri="{FF2B5EF4-FFF2-40B4-BE49-F238E27FC236}">
                <a16:creationId xmlns:a16="http://schemas.microsoft.com/office/drawing/2014/main" id="{065CC0B3-1C58-3859-8DAC-36DFD6647EA9}"/>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spTree>
    <p:extLst>
      <p:ext uri="{BB962C8B-B14F-4D97-AF65-F5344CB8AC3E}">
        <p14:creationId xmlns:p14="http://schemas.microsoft.com/office/powerpoint/2010/main" val="2553886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EB033-B1ED-5806-3253-2CF899453FC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6D76418-C2AC-D74F-660E-EFDDD803CD8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F9A0D68C-A355-26B9-B905-D976050453CB}"/>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4" name="TextBox 8">
            <a:extLst>
              <a:ext uri="{FF2B5EF4-FFF2-40B4-BE49-F238E27FC236}">
                <a16:creationId xmlns:a16="http://schemas.microsoft.com/office/drawing/2014/main" id="{CFC5C43A-93B4-8475-97D8-82165491DC77}"/>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pic>
        <p:nvPicPr>
          <p:cNvPr id="6" name="Picture 5" descr="A screenshot of a computer&#10;&#10;AI-generated content may be incorrect.">
            <a:extLst>
              <a:ext uri="{FF2B5EF4-FFF2-40B4-BE49-F238E27FC236}">
                <a16:creationId xmlns:a16="http://schemas.microsoft.com/office/drawing/2014/main" id="{1977C60A-70AA-C839-DD34-632D3F877413}"/>
              </a:ext>
            </a:extLst>
          </p:cNvPr>
          <p:cNvPicPr>
            <a:picLocks noChangeAspect="1"/>
          </p:cNvPicPr>
          <p:nvPr/>
        </p:nvPicPr>
        <p:blipFill>
          <a:blip r:embed="rId4">
            <a:extLst>
              <a:ext uri="{28A0092B-C50C-407E-A947-70E740481C1C}">
                <a14:useLocalDpi xmlns:a14="http://schemas.microsoft.com/office/drawing/2010/main" val="0"/>
              </a:ext>
            </a:extLst>
          </a:blip>
          <a:srcRect l="17500" t="13847" r="51667" b="21537"/>
          <a:stretch>
            <a:fillRect/>
          </a:stretch>
        </p:blipFill>
        <p:spPr>
          <a:xfrm>
            <a:off x="5953125" y="2247900"/>
            <a:ext cx="6381750" cy="7244149"/>
          </a:xfrm>
          <a:prstGeom prst="rect">
            <a:avLst/>
          </a:prstGeom>
        </p:spPr>
      </p:pic>
      <p:sp>
        <p:nvSpPr>
          <p:cNvPr id="5" name="TextBox 8">
            <a:extLst>
              <a:ext uri="{FF2B5EF4-FFF2-40B4-BE49-F238E27FC236}">
                <a16:creationId xmlns:a16="http://schemas.microsoft.com/office/drawing/2014/main" id="{9C3CA06F-EF6B-2831-1FAC-32F5A80E111D}"/>
              </a:ext>
            </a:extLst>
          </p:cNvPr>
          <p:cNvSpPr txBox="1"/>
          <p:nvPr/>
        </p:nvSpPr>
        <p:spPr>
          <a:xfrm>
            <a:off x="5600700" y="9402596"/>
            <a:ext cx="7086600" cy="486928"/>
          </a:xfrm>
          <a:prstGeom prst="rect">
            <a:avLst/>
          </a:prstGeom>
        </p:spPr>
        <p:txBody>
          <a:bodyPr wrap="square" lIns="0" tIns="0" rIns="0" bIns="0" rtlCol="0" anchor="t">
            <a:spAutoFit/>
          </a:bodyPr>
          <a:lstStyle/>
          <a:p>
            <a:pPr marL="302259" lvl="1">
              <a:lnSpc>
                <a:spcPts val="4479"/>
              </a:lnSpc>
            </a:pPr>
            <a:r>
              <a:rPr lang="en-US" dirty="0">
                <a:latin typeface="Times New Roman" panose="02020603050405020304" pitchFamily="18" charset="0"/>
                <a:cs typeface="Times New Roman" panose="02020603050405020304" pitchFamily="18" charset="0"/>
              </a:rPr>
              <a:t>Fig. </a:t>
            </a:r>
            <a:r>
              <a:rPr lang="en-US" dirty="0">
                <a:solidFill>
                  <a:srgbClr val="000000"/>
                </a:solidFill>
                <a:latin typeface="Times New Roman" panose="02020603050405020304" pitchFamily="18" charset="0"/>
                <a:ea typeface="Open Sauce"/>
                <a:cs typeface="Times New Roman" panose="02020603050405020304" pitchFamily="18" charset="0"/>
                <a:sym typeface="Open Sauce"/>
              </a:rPr>
              <a:t>Glycated BSA (%) and Relative fluorescence (%) vs incubation time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954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7A446-98EE-1160-B694-878BA26C6435}"/>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C425AD4B-865D-648E-CCBE-CC2AF17B2D49}"/>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445920FB-2DE3-586A-5EC6-34CF9DD146F5}"/>
              </a:ext>
            </a:extLst>
          </p:cNvPr>
          <p:cNvSpPr txBox="1"/>
          <p:nvPr/>
        </p:nvSpPr>
        <p:spPr>
          <a:xfrm>
            <a:off x="755817" y="2628122"/>
            <a:ext cx="8388184" cy="7466146"/>
          </a:xfrm>
          <a:prstGeom prst="rect">
            <a:avLst/>
          </a:prstGeom>
        </p:spPr>
        <p:txBody>
          <a:bodyPr wrap="square" lIns="0" tIns="0" rIns="0" bIns="0" rtlCol="0" anchor="t">
            <a:spAutoFit/>
          </a:bodyPr>
          <a:lstStyle/>
          <a:p>
            <a:pPr marL="302259" lvl="1">
              <a:lnSpc>
                <a:spcPts val="4479"/>
              </a:lnSpc>
            </a:pPr>
            <a:r>
              <a:rPr lang="en-US" sz="4000" b="1" dirty="0" err="1">
                <a:solidFill>
                  <a:srgbClr val="000000"/>
                </a:solidFill>
                <a:latin typeface="Times New Roman" panose="02020603050405020304" pitchFamily="18" charset="0"/>
                <a:ea typeface="Open Sauce"/>
                <a:cs typeface="Times New Roman" panose="02020603050405020304" pitchFamily="18" charset="0"/>
                <a:sym typeface="Open Sauce"/>
              </a:rPr>
              <a:t>Fructosamine</a:t>
            </a: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 Assay</a:t>
            </a:r>
          </a:p>
          <a:p>
            <a:pPr marL="302259" lvl="1">
              <a:lnSpc>
                <a:spcPts val="4479"/>
              </a:lnSpc>
            </a:pPr>
            <a:endParaRPr lang="en-US" sz="4400" b="1" dirty="0">
              <a:solidFill>
                <a:srgbClr val="000000"/>
              </a:solidFill>
              <a:latin typeface="Times New Roman" panose="02020603050405020304" pitchFamily="18" charset="0"/>
              <a:cs typeface="Times New Roman" panose="02020603050405020304" pitchFamily="18" charset="0"/>
              <a:sym typeface="Open Sauce"/>
            </a:endParaRPr>
          </a:p>
          <a:p>
            <a:pPr marL="604519" lvl="1" indent="-302260">
              <a:lnSpc>
                <a:spcPts val="4479"/>
              </a:lnSpc>
              <a:buFont typeface="Arial"/>
              <a:buChar char="•"/>
            </a:pPr>
            <a:r>
              <a:rPr lang="en-US" sz="3200" dirty="0"/>
              <a:t>The purpose of performing this experiment is to quantify early glycation products (Amadori compounds).</a:t>
            </a:r>
          </a:p>
          <a:p>
            <a:pPr marL="604519" lvl="1" indent="-302260">
              <a:lnSpc>
                <a:spcPts val="4479"/>
              </a:lnSpc>
              <a:buFont typeface="Arial"/>
              <a:buChar char="•"/>
            </a:pPr>
            <a:r>
              <a:rPr lang="en-US" sz="3200" dirty="0"/>
              <a:t>The results showed that the </a:t>
            </a:r>
            <a:r>
              <a:rPr lang="en-US" sz="3200" dirty="0" err="1"/>
              <a:t>fructosamine</a:t>
            </a:r>
            <a:r>
              <a:rPr lang="en-US" sz="3200" dirty="0"/>
              <a:t> level rose rapidly in the first 3-4 days and then plateaued.</a:t>
            </a:r>
          </a:p>
          <a:p>
            <a:pPr marL="604519" lvl="1" indent="-302260">
              <a:lnSpc>
                <a:spcPts val="4479"/>
              </a:lnSpc>
              <a:buFont typeface="Arial"/>
              <a:buChar char="•"/>
            </a:pPr>
            <a:r>
              <a:rPr lang="en-US" sz="3200" dirty="0"/>
              <a:t>The </a:t>
            </a:r>
            <a:r>
              <a:rPr lang="en-US" sz="3200" dirty="0" err="1"/>
              <a:t>fructosamine</a:t>
            </a:r>
            <a:r>
              <a:rPr lang="en-US" sz="3200" dirty="0"/>
              <a:t> signal decreased with the increasement of AGE fluorescence. </a:t>
            </a:r>
          </a:p>
          <a:p>
            <a:pPr marL="604519" lvl="1" indent="-302260">
              <a:lnSpc>
                <a:spcPts val="4479"/>
              </a:lnSpc>
              <a:buFont typeface="Arial"/>
              <a:buChar char="•"/>
            </a:pPr>
            <a:endParaRPr lang="en-US" sz="3200" dirty="0"/>
          </a:p>
          <a:p>
            <a:pPr marL="302259" lvl="1">
              <a:lnSpc>
                <a:spcPts val="4479"/>
              </a:lnSpc>
            </a:pPr>
            <a:endParaRPr lang="en-US" sz="3200" b="1" dirty="0">
              <a:solidFill>
                <a:srgbClr val="000000"/>
              </a:solidFill>
              <a:latin typeface="Times New Roman" panose="02020603050405020304" pitchFamily="18" charset="0"/>
              <a:ea typeface="Open Sauce"/>
              <a:cs typeface="Times New Roman" panose="02020603050405020304" pitchFamily="18" charset="0"/>
              <a:sym typeface="Open Sauce"/>
            </a:endParaRPr>
          </a:p>
          <a:p>
            <a:pPr marL="604519" lvl="1" indent="-302260">
              <a:lnSpc>
                <a:spcPts val="4479"/>
              </a:lnSpc>
              <a:buFont typeface="Arial"/>
              <a:buChar char="•"/>
            </a:pPr>
            <a:endParaRPr lang="en-US" sz="3200" dirty="0"/>
          </a:p>
        </p:txBody>
      </p:sp>
      <p:sp>
        <p:nvSpPr>
          <p:cNvPr id="4" name="TextBox 8">
            <a:extLst>
              <a:ext uri="{FF2B5EF4-FFF2-40B4-BE49-F238E27FC236}">
                <a16:creationId xmlns:a16="http://schemas.microsoft.com/office/drawing/2014/main" id="{2B431B4F-D505-9333-6628-DBDCB0588943}"/>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pic>
        <p:nvPicPr>
          <p:cNvPr id="6" name="Picture 5" descr="A screenshot of a computer&#10;&#10;AI-generated content may be incorrect.">
            <a:extLst>
              <a:ext uri="{FF2B5EF4-FFF2-40B4-BE49-F238E27FC236}">
                <a16:creationId xmlns:a16="http://schemas.microsoft.com/office/drawing/2014/main" id="{33465AE6-3ECC-9228-2C4E-ED73CF138FE8}"/>
              </a:ext>
            </a:extLst>
          </p:cNvPr>
          <p:cNvPicPr>
            <a:picLocks noChangeAspect="1"/>
          </p:cNvPicPr>
          <p:nvPr/>
        </p:nvPicPr>
        <p:blipFill>
          <a:blip r:embed="rId2">
            <a:extLst>
              <a:ext uri="{28A0092B-C50C-407E-A947-70E740481C1C}">
                <a14:useLocalDpi xmlns:a14="http://schemas.microsoft.com/office/drawing/2010/main" val="0"/>
              </a:ext>
            </a:extLst>
          </a:blip>
          <a:srcRect l="4133" t="33847" r="51250" b="13847"/>
          <a:stretch>
            <a:fillRect/>
          </a:stretch>
        </p:blipFill>
        <p:spPr>
          <a:xfrm>
            <a:off x="9372599" y="2628122"/>
            <a:ext cx="8159584" cy="5715001"/>
          </a:xfrm>
          <a:prstGeom prst="rect">
            <a:avLst/>
          </a:prstGeom>
        </p:spPr>
      </p:pic>
      <p:sp>
        <p:nvSpPr>
          <p:cNvPr id="7" name="TextBox 8">
            <a:extLst>
              <a:ext uri="{FF2B5EF4-FFF2-40B4-BE49-F238E27FC236}">
                <a16:creationId xmlns:a16="http://schemas.microsoft.com/office/drawing/2014/main" id="{008A3804-1EF6-25B4-07B1-4792966206FD}"/>
              </a:ext>
            </a:extLst>
          </p:cNvPr>
          <p:cNvSpPr txBox="1"/>
          <p:nvPr/>
        </p:nvSpPr>
        <p:spPr>
          <a:xfrm>
            <a:off x="11186339" y="8099659"/>
            <a:ext cx="4532103" cy="486928"/>
          </a:xfrm>
          <a:prstGeom prst="rect">
            <a:avLst/>
          </a:prstGeom>
        </p:spPr>
        <p:txBody>
          <a:bodyPr wrap="square" lIns="0" tIns="0" rIns="0" bIns="0" rtlCol="0" anchor="t">
            <a:spAutoFit/>
          </a:bodyPr>
          <a:lstStyle/>
          <a:p>
            <a:pPr marL="302259" lvl="1">
              <a:lnSpc>
                <a:spcPts val="4479"/>
              </a:lnSpc>
            </a:pPr>
            <a:r>
              <a:rPr lang="en-US" dirty="0">
                <a:latin typeface="Times New Roman" panose="02020603050405020304" pitchFamily="18" charset="0"/>
                <a:cs typeface="Times New Roman" panose="02020603050405020304" pitchFamily="18" charset="0"/>
              </a:rPr>
              <a:t>Fig. </a:t>
            </a:r>
            <a:r>
              <a:rPr lang="en-US" dirty="0" err="1">
                <a:solidFill>
                  <a:srgbClr val="000000"/>
                </a:solidFill>
                <a:latin typeface="Times New Roman" panose="02020603050405020304" pitchFamily="18" charset="0"/>
                <a:ea typeface="Open Sauce"/>
                <a:cs typeface="Times New Roman" panose="02020603050405020304" pitchFamily="18" charset="0"/>
                <a:sym typeface="Open Sauce"/>
              </a:rPr>
              <a:t>Fructosamine</a:t>
            </a:r>
            <a:r>
              <a:rPr lang="en-US" dirty="0">
                <a:solidFill>
                  <a:srgbClr val="000000"/>
                </a:solidFill>
                <a:latin typeface="Times New Roman" panose="02020603050405020304" pitchFamily="18" charset="0"/>
                <a:ea typeface="Open Sauce"/>
                <a:cs typeface="Times New Roman" panose="02020603050405020304" pitchFamily="18" charset="0"/>
                <a:sym typeface="Open Sauce"/>
              </a:rPr>
              <a:t> level vs incubation time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1554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FACA7-FE20-DFD0-E551-921F9DD09C7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6011DDF-0AF2-3BD5-2370-392EFB08747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A06830E8-3B0F-99F2-E8F6-0038D2E17E57}"/>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9BE2FDFA-ED44-252E-4F31-625A3C73F5AB}"/>
              </a:ext>
            </a:extLst>
          </p:cNvPr>
          <p:cNvSpPr txBox="1"/>
          <p:nvPr/>
        </p:nvSpPr>
        <p:spPr>
          <a:xfrm>
            <a:off x="755816" y="2628122"/>
            <a:ext cx="16236783" cy="6889065"/>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Chromatographic Techniques</a:t>
            </a:r>
          </a:p>
          <a:p>
            <a:pPr marL="302259" lvl="1">
              <a:lnSpc>
                <a:spcPts val="4479"/>
              </a:lnSpc>
            </a:pPr>
            <a:endParaRPr lang="en-US" sz="4400" b="1" dirty="0">
              <a:solidFill>
                <a:srgbClr val="000000"/>
              </a:solidFill>
              <a:latin typeface="Times New Roman" panose="02020603050405020304" pitchFamily="18" charset="0"/>
              <a:cs typeface="Times New Roman" panose="02020603050405020304" pitchFamily="18" charset="0"/>
              <a:sym typeface="Open Sauce"/>
            </a:endParaRPr>
          </a:p>
          <a:p>
            <a:pPr marL="604519" lvl="1" indent="-302260">
              <a:lnSpc>
                <a:spcPts val="4479"/>
              </a:lnSpc>
              <a:buFont typeface="Arial"/>
              <a:buChar char="•"/>
            </a:pPr>
            <a:r>
              <a:rPr lang="en-US" sz="3200" dirty="0"/>
              <a:t>Performed multiple types of chromatography to isolate and characterize AGE fractions.</a:t>
            </a:r>
          </a:p>
          <a:p>
            <a:pPr marL="604519" lvl="1" indent="-302260">
              <a:lnSpc>
                <a:spcPts val="4479"/>
              </a:lnSpc>
              <a:buFont typeface="Arial"/>
              <a:buChar char="•"/>
            </a:pPr>
            <a:r>
              <a:rPr lang="en-US" sz="3200" b="1" dirty="0"/>
              <a:t>Boronated Affinity Gel chromatography </a:t>
            </a:r>
            <a:r>
              <a:rPr lang="en-US" sz="3200" dirty="0"/>
              <a:t>was performed for selective separation of glycated AGE-modified proteins form </a:t>
            </a:r>
            <a:r>
              <a:rPr lang="en-US" sz="3200" dirty="0" err="1"/>
              <a:t>nonglycated</a:t>
            </a:r>
            <a:r>
              <a:rPr lang="en-US" sz="3200" dirty="0"/>
              <a:t> BSA.</a:t>
            </a:r>
          </a:p>
          <a:p>
            <a:pPr marL="604519" lvl="1" indent="-302260">
              <a:lnSpc>
                <a:spcPts val="4479"/>
              </a:lnSpc>
              <a:buFont typeface="Arial"/>
              <a:buChar char="•"/>
            </a:pPr>
            <a:r>
              <a:rPr lang="en-US" sz="3200" b="1" dirty="0"/>
              <a:t>Size-Exclusion chromatography </a:t>
            </a:r>
            <a:r>
              <a:rPr lang="en-US" sz="3200" dirty="0"/>
              <a:t>was performed to monitor changes in molecular size and aggregation of BSA during incubation.</a:t>
            </a:r>
          </a:p>
          <a:p>
            <a:pPr marL="604519" lvl="1" indent="-302260">
              <a:lnSpc>
                <a:spcPts val="4479"/>
              </a:lnSpc>
              <a:buFont typeface="Arial"/>
              <a:buChar char="•"/>
            </a:pPr>
            <a:r>
              <a:rPr lang="en-US" sz="3200" b="1" dirty="0"/>
              <a:t>Anion-Exchange chromatography </a:t>
            </a:r>
            <a:r>
              <a:rPr lang="en-US" sz="3200" dirty="0"/>
              <a:t>was performed to investigate charge changes in glycated proteins.</a:t>
            </a:r>
          </a:p>
          <a:p>
            <a:pPr marL="604519" lvl="1" indent="-302260">
              <a:lnSpc>
                <a:spcPts val="4479"/>
              </a:lnSpc>
              <a:buFont typeface="Arial"/>
              <a:buChar char="•"/>
            </a:pPr>
            <a:r>
              <a:rPr lang="en-US" sz="3200" b="1" dirty="0" err="1"/>
              <a:t>Chromatofocusing</a:t>
            </a:r>
            <a:r>
              <a:rPr lang="en-US" sz="3200" dirty="0"/>
              <a:t> was performed to determine the isoelectric point (pl) distribution of AGE species.</a:t>
            </a:r>
          </a:p>
          <a:p>
            <a:pPr marL="604519" lvl="1" indent="-302260">
              <a:lnSpc>
                <a:spcPts val="4479"/>
              </a:lnSpc>
              <a:buFont typeface="Arial"/>
              <a:buChar char="•"/>
            </a:pPr>
            <a:endParaRPr lang="en-US" sz="3200" dirty="0"/>
          </a:p>
        </p:txBody>
      </p:sp>
      <p:sp>
        <p:nvSpPr>
          <p:cNvPr id="4" name="TextBox 8">
            <a:extLst>
              <a:ext uri="{FF2B5EF4-FFF2-40B4-BE49-F238E27FC236}">
                <a16:creationId xmlns:a16="http://schemas.microsoft.com/office/drawing/2014/main" id="{D47C73F3-AD6C-1A68-88F5-A2456F26B387}"/>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spTree>
    <p:extLst>
      <p:ext uri="{BB962C8B-B14F-4D97-AF65-F5344CB8AC3E}">
        <p14:creationId xmlns:p14="http://schemas.microsoft.com/office/powerpoint/2010/main" val="828044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F7BD6-28A0-2294-9B78-5D550CD9321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593978D-666A-22E3-E756-111557A940C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6AB3C12E-A647-7547-5DCC-7077B172BC7D}"/>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05034EF6-9C14-2C21-B6A9-0A78126BB828}"/>
              </a:ext>
            </a:extLst>
          </p:cNvPr>
          <p:cNvSpPr txBox="1"/>
          <p:nvPr/>
        </p:nvSpPr>
        <p:spPr>
          <a:xfrm>
            <a:off x="755816" y="2628122"/>
            <a:ext cx="16236783" cy="6264535"/>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PAGE and SDS-PAGE</a:t>
            </a:r>
          </a:p>
          <a:p>
            <a:pPr marL="302259" lvl="1">
              <a:lnSpc>
                <a:spcPts val="4479"/>
              </a:lnSpc>
            </a:pPr>
            <a:endParaRPr lang="en-US" sz="4000" b="1" dirty="0">
              <a:solidFill>
                <a:srgbClr val="000000"/>
              </a:solidFill>
              <a:latin typeface="Times New Roman" panose="02020603050405020304" pitchFamily="18" charset="0"/>
              <a:cs typeface="Times New Roman" panose="02020603050405020304" pitchFamily="18" charset="0"/>
              <a:sym typeface="Open Sauce"/>
            </a:endParaRPr>
          </a:p>
          <a:p>
            <a:pPr marL="604519" lvl="1" indent="-302260">
              <a:lnSpc>
                <a:spcPts val="4479"/>
              </a:lnSpc>
              <a:buFont typeface="Arial"/>
              <a:buChar char="•"/>
            </a:pPr>
            <a:r>
              <a:rPr lang="en-US" sz="2500" b="1" dirty="0"/>
              <a:t>Native PAGE </a:t>
            </a:r>
            <a:r>
              <a:rPr lang="en-US" sz="2500" dirty="0"/>
              <a:t>(</a:t>
            </a:r>
            <a:r>
              <a:rPr lang="en-US" sz="2800" dirty="0"/>
              <a:t>Polyacrylamide Gel Electrophoresis) was performed to monitor the migration pattern changes of BSA bands during incubation, and it indicated heterogeneity in charge and size.</a:t>
            </a:r>
          </a:p>
          <a:p>
            <a:pPr marL="604519" lvl="1" indent="-302260">
              <a:lnSpc>
                <a:spcPts val="4479"/>
              </a:lnSpc>
              <a:buFont typeface="Arial"/>
              <a:buChar char="•"/>
            </a:pPr>
            <a:r>
              <a:rPr lang="en-US" sz="2800" dirty="0"/>
              <a:t>SDS-PAGE was conducted to test if mobility charges came form fragmentation or charge modification, and to smaller fragments are detected.</a:t>
            </a:r>
            <a:endParaRPr lang="en-US" sz="2500" dirty="0"/>
          </a:p>
          <a:p>
            <a:pPr marL="604519" lvl="1" indent="-302260">
              <a:lnSpc>
                <a:spcPts val="4479"/>
              </a:lnSpc>
              <a:buFont typeface="Arial"/>
              <a:buChar char="•"/>
            </a:pPr>
            <a:endParaRPr lang="en-US" sz="2500" dirty="0"/>
          </a:p>
          <a:p>
            <a:pPr marL="604519" lvl="1" indent="-302260">
              <a:lnSpc>
                <a:spcPts val="4479"/>
              </a:lnSpc>
              <a:buFont typeface="Arial"/>
              <a:buChar char="•"/>
            </a:pPr>
            <a:endParaRPr lang="en-US" sz="2500" dirty="0"/>
          </a:p>
          <a:p>
            <a:pPr marL="604519" lvl="1" indent="-302260">
              <a:lnSpc>
                <a:spcPts val="4479"/>
              </a:lnSpc>
              <a:buFont typeface="Arial"/>
              <a:buChar char="•"/>
            </a:pPr>
            <a:endParaRPr lang="en-US" sz="2500" dirty="0"/>
          </a:p>
          <a:p>
            <a:pPr marL="604519" lvl="1" indent="-302260">
              <a:lnSpc>
                <a:spcPts val="4479"/>
              </a:lnSpc>
              <a:buFont typeface="Arial"/>
              <a:buChar char="•"/>
            </a:pPr>
            <a:endParaRPr lang="en-US" sz="2500" dirty="0"/>
          </a:p>
          <a:p>
            <a:pPr marL="604519" lvl="1" indent="-302260">
              <a:lnSpc>
                <a:spcPts val="4479"/>
              </a:lnSpc>
              <a:buFont typeface="Arial"/>
              <a:buChar char="•"/>
            </a:pPr>
            <a:endParaRPr lang="en-US" dirty="0"/>
          </a:p>
        </p:txBody>
      </p:sp>
      <p:sp>
        <p:nvSpPr>
          <p:cNvPr id="4" name="TextBox 8">
            <a:extLst>
              <a:ext uri="{FF2B5EF4-FFF2-40B4-BE49-F238E27FC236}">
                <a16:creationId xmlns:a16="http://schemas.microsoft.com/office/drawing/2014/main" id="{C4D66E7B-CF7D-F225-BC1B-5162E1DD74D1}"/>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spTree>
    <p:extLst>
      <p:ext uri="{BB962C8B-B14F-4D97-AF65-F5344CB8AC3E}">
        <p14:creationId xmlns:p14="http://schemas.microsoft.com/office/powerpoint/2010/main" val="381488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87D09-DF25-53E5-F835-8C01C954DFF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C17A05E-6DB0-F909-52EE-B9DBA916F75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014777F2-13FC-1363-924A-30A30966EC6B}"/>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B0980EF2-5D5A-17D3-05F2-2641DD84C8B4}"/>
              </a:ext>
            </a:extLst>
          </p:cNvPr>
          <p:cNvSpPr txBox="1"/>
          <p:nvPr/>
        </p:nvSpPr>
        <p:spPr>
          <a:xfrm>
            <a:off x="755816" y="2628122"/>
            <a:ext cx="16236783" cy="7442422"/>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Aging of proteins: Isolation and identification of a fluorescent chromophore from the reaction of polypeptides with glucose</a:t>
            </a:r>
          </a:p>
          <a:p>
            <a:pPr marL="302259" lvl="1">
              <a:lnSpc>
                <a:spcPts val="4479"/>
              </a:lnSpc>
            </a:pPr>
            <a:endParaRPr lang="en-US" sz="4000" b="1" dirty="0">
              <a:solidFill>
                <a:srgbClr val="000000"/>
              </a:solidFill>
              <a:latin typeface="Times New Roman" panose="02020603050405020304" pitchFamily="18" charset="0"/>
              <a:cs typeface="Times New Roman" panose="02020603050405020304" pitchFamily="18" charset="0"/>
              <a:sym typeface="Open Sauce"/>
            </a:endParaRPr>
          </a:p>
          <a:p>
            <a:pPr marL="604519" lvl="1" indent="-302260">
              <a:lnSpc>
                <a:spcPts val="4479"/>
              </a:lnSpc>
              <a:buFont typeface="Arial"/>
              <a:buChar char="•"/>
            </a:pPr>
            <a:r>
              <a:rPr lang="en-US" sz="2500" dirty="0"/>
              <a:t>The primary objective of this paper is to isolate and identify the fluorescent compound responsible for the natural fluorescence observed in proteins reacted with glucose, which is an indicator of nonenzymatic glycation.</a:t>
            </a:r>
          </a:p>
          <a:p>
            <a:pPr marL="604519" lvl="1" indent="-302260">
              <a:lnSpc>
                <a:spcPts val="4479"/>
              </a:lnSpc>
              <a:buFont typeface="Arial"/>
              <a:buChar char="•"/>
            </a:pPr>
            <a:r>
              <a:rPr lang="en-US" sz="2500" dirty="0"/>
              <a:t>The proteins and polypeptides were incubated with glucose and reaction products were purified using gel filtration and high-performance liquid chromatography (HPLC). </a:t>
            </a:r>
          </a:p>
          <a:p>
            <a:pPr marL="604519" lvl="1" indent="-302260">
              <a:lnSpc>
                <a:spcPts val="4479"/>
              </a:lnSpc>
              <a:buFont typeface="Arial"/>
              <a:buChar char="•"/>
            </a:pPr>
            <a:r>
              <a:rPr lang="en-US" sz="2500" dirty="0"/>
              <a:t>The analysis of fluorescent compound was performed by UV-Vis and fluorescence spectroscopy, Nuclear magnetic resonance spectroscopy and mass spectroscopy.</a:t>
            </a:r>
          </a:p>
          <a:p>
            <a:pPr marL="604519" lvl="1" indent="-302260">
              <a:lnSpc>
                <a:spcPts val="4479"/>
              </a:lnSpc>
              <a:buFont typeface="Arial"/>
              <a:buChar char="•"/>
            </a:pPr>
            <a:r>
              <a:rPr lang="en-US" sz="2500" dirty="0"/>
              <a:t>The results identified a specific fluorescent chromophore with excitation at 370 nm and emission at 440 nm, which is the characteristic of AGEs, and demonstrated that this fluorophore forms nonenzymatically.</a:t>
            </a:r>
          </a:p>
          <a:p>
            <a:pPr marL="604519" lvl="1" indent="-302260">
              <a:lnSpc>
                <a:spcPts val="4479"/>
              </a:lnSpc>
              <a:buFont typeface="Arial"/>
              <a:buChar char="•"/>
            </a:pPr>
            <a:r>
              <a:rPr lang="en-US" sz="2500" dirty="0"/>
              <a:t>Also showed that accumulation of such fluorophores contributes to protein aging and fluorescent cross-links in long –lived tissues. </a:t>
            </a:r>
          </a:p>
        </p:txBody>
      </p:sp>
      <p:sp>
        <p:nvSpPr>
          <p:cNvPr id="4" name="TextBox 8">
            <a:extLst>
              <a:ext uri="{FF2B5EF4-FFF2-40B4-BE49-F238E27FC236}">
                <a16:creationId xmlns:a16="http://schemas.microsoft.com/office/drawing/2014/main" id="{E79A446A-6DE0-1285-6F9B-5A0EDC0A3819}"/>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spTree>
    <p:extLst>
      <p:ext uri="{BB962C8B-B14F-4D97-AF65-F5344CB8AC3E}">
        <p14:creationId xmlns:p14="http://schemas.microsoft.com/office/powerpoint/2010/main" val="1667340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40A28-D3A8-AAA2-9E78-278397578CF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1D1F158-C0E6-A9D5-1CE2-B7E845AB38B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F3891879-B856-3A96-54A2-19080E6DBD9B}"/>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F4BE7DC9-9722-A55D-477E-BFB41D54FCF8}"/>
              </a:ext>
            </a:extLst>
          </p:cNvPr>
          <p:cNvSpPr txBox="1"/>
          <p:nvPr/>
        </p:nvSpPr>
        <p:spPr>
          <a:xfrm>
            <a:off x="755816" y="2628122"/>
            <a:ext cx="16236783" cy="7442422"/>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Study of the optical properties of slid tissue phantoms using single and double integrating sphere systems</a:t>
            </a:r>
          </a:p>
          <a:p>
            <a:pPr marL="302259" lvl="1">
              <a:lnSpc>
                <a:spcPts val="4479"/>
              </a:lnSpc>
            </a:pPr>
            <a:endParaRPr lang="en-US" sz="4000" b="1" dirty="0">
              <a:solidFill>
                <a:srgbClr val="000000"/>
              </a:solidFill>
              <a:latin typeface="Times New Roman" panose="02020603050405020304" pitchFamily="18" charset="0"/>
              <a:cs typeface="Times New Roman" panose="02020603050405020304" pitchFamily="18" charset="0"/>
              <a:sym typeface="Open Sauce"/>
            </a:endParaRPr>
          </a:p>
          <a:p>
            <a:pPr marL="604519" lvl="1" indent="-302260">
              <a:lnSpc>
                <a:spcPts val="4479"/>
              </a:lnSpc>
              <a:buFont typeface="Arial"/>
              <a:buChar char="•"/>
            </a:pPr>
            <a:r>
              <a:rPr lang="en-US" sz="2500" dirty="0"/>
              <a:t>The primary objective of this paper is to determine the optical properties of the studied solid phantoms by using two calibration models based on measurements adopting integrating sphere systems.</a:t>
            </a:r>
          </a:p>
          <a:p>
            <a:pPr marL="604519" lvl="1" indent="-302260">
              <a:lnSpc>
                <a:spcPts val="4479"/>
              </a:lnSpc>
              <a:buFont typeface="Arial"/>
              <a:buChar char="•"/>
            </a:pPr>
            <a:r>
              <a:rPr lang="en-US" sz="2500" dirty="0"/>
              <a:t>Used both single and double integrating sphere measurement techniques.</a:t>
            </a:r>
          </a:p>
          <a:p>
            <a:pPr marL="604519" lvl="1" indent="-302260">
              <a:lnSpc>
                <a:spcPts val="4479"/>
              </a:lnSpc>
              <a:buFont typeface="Arial"/>
              <a:buChar char="•"/>
            </a:pPr>
            <a:r>
              <a:rPr lang="en-US" sz="2500" dirty="0"/>
              <a:t>The results from the integrating sphere measurement are fed into the calibration models using the multiple polynomial regression method and Newton-Raphson algorithm, and the good agreement between the two models have been observed.</a:t>
            </a:r>
          </a:p>
          <a:p>
            <a:pPr marL="604519" lvl="1" indent="-302260">
              <a:lnSpc>
                <a:spcPts val="4479"/>
              </a:lnSpc>
              <a:buFont typeface="Arial"/>
              <a:buChar char="•"/>
            </a:pPr>
            <a:r>
              <a:rPr lang="en-US" sz="2500" dirty="0"/>
              <a:t>The three different factors that have been studied were titanium dioxide effect as a scatter, black carbon as an absorber and the phantom thickness.</a:t>
            </a:r>
          </a:p>
          <a:p>
            <a:pPr marL="604519" lvl="1" indent="-302260">
              <a:lnSpc>
                <a:spcPts val="4479"/>
              </a:lnSpc>
              <a:buFont typeface="Arial"/>
              <a:buChar char="•"/>
            </a:pPr>
            <a:r>
              <a:rPr lang="en-US" sz="2500" dirty="0"/>
              <a:t>Diffuse reflectance, both diffuse and total transmittance have been measured for all phantoms.</a:t>
            </a:r>
          </a:p>
          <a:p>
            <a:pPr marL="604519" lvl="1" indent="-302260">
              <a:lnSpc>
                <a:spcPts val="4479"/>
              </a:lnSpc>
              <a:buFont typeface="Arial"/>
              <a:buChar char="•"/>
            </a:pPr>
            <a:endParaRPr lang="en-US" sz="2500" dirty="0"/>
          </a:p>
        </p:txBody>
      </p:sp>
      <p:sp>
        <p:nvSpPr>
          <p:cNvPr id="4" name="TextBox 8">
            <a:extLst>
              <a:ext uri="{FF2B5EF4-FFF2-40B4-BE49-F238E27FC236}">
                <a16:creationId xmlns:a16="http://schemas.microsoft.com/office/drawing/2014/main" id="{8870BB3B-43CC-A734-9978-8EF2D592EC8C}"/>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spTree>
    <p:extLst>
      <p:ext uri="{BB962C8B-B14F-4D97-AF65-F5344CB8AC3E}">
        <p14:creationId xmlns:p14="http://schemas.microsoft.com/office/powerpoint/2010/main" val="3550224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6AB10-54C5-7482-F975-15EE4AC5474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CD08D3-23C8-19A1-8246-639B2082EA2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670957FB-91B5-21B3-0F5F-464C8156D496}"/>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4" name="TextBox 8">
            <a:extLst>
              <a:ext uri="{FF2B5EF4-FFF2-40B4-BE49-F238E27FC236}">
                <a16:creationId xmlns:a16="http://schemas.microsoft.com/office/drawing/2014/main" id="{A2B61314-FBC9-5F55-F057-713D52713813}"/>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pic>
        <p:nvPicPr>
          <p:cNvPr id="6" name="Picture 5">
            <a:extLst>
              <a:ext uri="{FF2B5EF4-FFF2-40B4-BE49-F238E27FC236}">
                <a16:creationId xmlns:a16="http://schemas.microsoft.com/office/drawing/2014/main" id="{A6A68F99-D2A9-EAF4-4999-F89DC5D28918}"/>
              </a:ext>
            </a:extLst>
          </p:cNvPr>
          <p:cNvPicPr>
            <a:picLocks noChangeAspect="1"/>
          </p:cNvPicPr>
          <p:nvPr/>
        </p:nvPicPr>
        <p:blipFill>
          <a:blip r:embed="rId3"/>
          <a:stretch>
            <a:fillRect/>
          </a:stretch>
        </p:blipFill>
        <p:spPr>
          <a:xfrm>
            <a:off x="3593861" y="2028874"/>
            <a:ext cx="11100277" cy="7422209"/>
          </a:xfrm>
          <a:prstGeom prst="rect">
            <a:avLst/>
          </a:prstGeom>
        </p:spPr>
      </p:pic>
      <p:sp>
        <p:nvSpPr>
          <p:cNvPr id="5" name="TextBox 8">
            <a:extLst>
              <a:ext uri="{FF2B5EF4-FFF2-40B4-BE49-F238E27FC236}">
                <a16:creationId xmlns:a16="http://schemas.microsoft.com/office/drawing/2014/main" id="{11990F0A-4338-F697-4F7C-C1231F6CBF10}"/>
              </a:ext>
            </a:extLst>
          </p:cNvPr>
          <p:cNvSpPr txBox="1"/>
          <p:nvPr/>
        </p:nvSpPr>
        <p:spPr>
          <a:xfrm>
            <a:off x="2079563" y="9382113"/>
            <a:ext cx="14128871" cy="486928"/>
          </a:xfrm>
          <a:prstGeom prst="rect">
            <a:avLst/>
          </a:prstGeom>
        </p:spPr>
        <p:txBody>
          <a:bodyPr wrap="square" lIns="0" tIns="0" rIns="0" bIns="0" rtlCol="0" anchor="t">
            <a:spAutoFit/>
          </a:bodyPr>
          <a:lstStyle/>
          <a:p>
            <a:pPr marL="302259" lvl="1" algn="ctr">
              <a:lnSpc>
                <a:spcPts val="4479"/>
              </a:lnSpc>
            </a:pPr>
            <a:r>
              <a:rPr lang="en-US" dirty="0">
                <a:latin typeface="Times New Roman" panose="02020603050405020304" pitchFamily="18" charset="0"/>
                <a:cs typeface="Times New Roman" panose="02020603050405020304" pitchFamily="18" charset="0"/>
              </a:rPr>
              <a:t>Fig. </a:t>
            </a:r>
            <a:r>
              <a:rPr lang="en-US" dirty="0">
                <a:solidFill>
                  <a:srgbClr val="000000"/>
                </a:solidFill>
                <a:latin typeface="Times New Roman" panose="02020603050405020304" pitchFamily="18" charset="0"/>
                <a:ea typeface="Open Sauce"/>
                <a:cs typeface="Times New Roman" panose="02020603050405020304" pitchFamily="18" charset="0"/>
                <a:sym typeface="Open Sauce"/>
              </a:rPr>
              <a:t>Single and double integrating sphere setup: single and double integrating sphere aligned in a fixed axis and coupled to the same white light source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0207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FCD0-2958-A197-1F0E-8B8262136DE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D1A5F25-AB69-37D6-E100-437025C9B57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F3434934-6489-26AC-A932-A5B43F4FFE77}"/>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56F04A97-879F-927F-87EE-75B8592CF372}"/>
              </a:ext>
            </a:extLst>
          </p:cNvPr>
          <p:cNvSpPr txBox="1"/>
          <p:nvPr/>
        </p:nvSpPr>
        <p:spPr>
          <a:xfrm>
            <a:off x="755817" y="2628122"/>
            <a:ext cx="8388184" cy="6865341"/>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Skin Phantoms</a:t>
            </a:r>
            <a:endParaRPr lang="en-US" sz="4000" b="1" dirty="0">
              <a:solidFill>
                <a:srgbClr val="000000"/>
              </a:solidFill>
              <a:latin typeface="Times New Roman" panose="02020603050405020304" pitchFamily="18" charset="0"/>
              <a:cs typeface="Times New Roman" panose="02020603050405020304" pitchFamily="18" charset="0"/>
              <a:sym typeface="Open Sauce"/>
            </a:endParaRPr>
          </a:p>
          <a:p>
            <a:pPr marL="604519" lvl="1" indent="-302260">
              <a:lnSpc>
                <a:spcPts val="4479"/>
              </a:lnSpc>
              <a:buFont typeface="Arial"/>
              <a:buChar char="•"/>
            </a:pPr>
            <a:r>
              <a:rPr lang="en-US" sz="2500" dirty="0"/>
              <a:t>Two type of skin phantoms were prepared: one with fixed Titanium dioxide and one with fixed carbon.</a:t>
            </a:r>
          </a:p>
          <a:p>
            <a:pPr marL="1061719" lvl="2" indent="-302260">
              <a:lnSpc>
                <a:spcPts val="4479"/>
              </a:lnSpc>
              <a:buFont typeface="Arial"/>
              <a:buChar char="•"/>
            </a:pPr>
            <a:r>
              <a:rPr lang="en-US" sz="2500" dirty="0"/>
              <a:t>Titanium dioxide is a strong scattering of light and black carbon is a strong absorber of light.</a:t>
            </a:r>
          </a:p>
          <a:p>
            <a:pPr marL="759459" lvl="2">
              <a:lnSpc>
                <a:spcPts val="4479"/>
              </a:lnSpc>
            </a:pPr>
            <a:endParaRPr lang="en-US" sz="2500" dirty="0"/>
          </a:p>
          <a:p>
            <a:pPr marL="302259" lvl="1">
              <a:lnSpc>
                <a:spcPts val="4479"/>
              </a:lnSpc>
            </a:pPr>
            <a:r>
              <a:rPr lang="en-US" sz="4000" b="1" dirty="0"/>
              <a:t>Integrating Sphere Systems</a:t>
            </a:r>
          </a:p>
          <a:p>
            <a:pPr marL="604519" lvl="1" indent="-302260">
              <a:lnSpc>
                <a:spcPts val="4479"/>
              </a:lnSpc>
              <a:buFont typeface="Arial"/>
              <a:buChar char="•"/>
            </a:pPr>
            <a:r>
              <a:rPr lang="en-US" sz="2500" dirty="0"/>
              <a:t>Transmittance and reflectance are measured separately by single sphere.</a:t>
            </a:r>
          </a:p>
          <a:p>
            <a:pPr marL="604519" lvl="1" indent="-302260">
              <a:lnSpc>
                <a:spcPts val="4479"/>
              </a:lnSpc>
              <a:buFont typeface="Arial"/>
              <a:buChar char="•"/>
            </a:pPr>
            <a:r>
              <a:rPr lang="en-US" sz="2500" dirty="0"/>
              <a:t>Transmittance and reflectance are measured simultaneously in double sphere, so it can cause less error.</a:t>
            </a:r>
          </a:p>
          <a:p>
            <a:pPr marL="604519" lvl="1" indent="-302260">
              <a:lnSpc>
                <a:spcPts val="4479"/>
              </a:lnSpc>
              <a:buFont typeface="Arial"/>
              <a:buChar char="•"/>
            </a:pPr>
            <a:endParaRPr lang="en-US" sz="2500" dirty="0"/>
          </a:p>
        </p:txBody>
      </p:sp>
      <p:sp>
        <p:nvSpPr>
          <p:cNvPr id="4" name="TextBox 8">
            <a:extLst>
              <a:ext uri="{FF2B5EF4-FFF2-40B4-BE49-F238E27FC236}">
                <a16:creationId xmlns:a16="http://schemas.microsoft.com/office/drawing/2014/main" id="{96DF64FF-5735-7043-74EA-C508D49CC0A2}"/>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pic>
        <p:nvPicPr>
          <p:cNvPr id="6" name="Picture 5">
            <a:extLst>
              <a:ext uri="{FF2B5EF4-FFF2-40B4-BE49-F238E27FC236}">
                <a16:creationId xmlns:a16="http://schemas.microsoft.com/office/drawing/2014/main" id="{8686EA4C-A9F9-286F-85EF-A99687E36EDC}"/>
              </a:ext>
            </a:extLst>
          </p:cNvPr>
          <p:cNvPicPr>
            <a:picLocks noChangeAspect="1"/>
          </p:cNvPicPr>
          <p:nvPr/>
        </p:nvPicPr>
        <p:blipFill>
          <a:blip r:embed="rId3"/>
          <a:stretch>
            <a:fillRect/>
          </a:stretch>
        </p:blipFill>
        <p:spPr>
          <a:xfrm>
            <a:off x="10257504" y="2307312"/>
            <a:ext cx="6916993" cy="7148051"/>
          </a:xfrm>
          <a:prstGeom prst="rect">
            <a:avLst/>
          </a:prstGeom>
        </p:spPr>
      </p:pic>
      <p:sp>
        <p:nvSpPr>
          <p:cNvPr id="7" name="TextBox 8">
            <a:extLst>
              <a:ext uri="{FF2B5EF4-FFF2-40B4-BE49-F238E27FC236}">
                <a16:creationId xmlns:a16="http://schemas.microsoft.com/office/drawing/2014/main" id="{9915288F-7B7E-1FA9-EDFD-942DF5ACFF02}"/>
              </a:ext>
            </a:extLst>
          </p:cNvPr>
          <p:cNvSpPr txBox="1"/>
          <p:nvPr/>
        </p:nvSpPr>
        <p:spPr>
          <a:xfrm>
            <a:off x="9521908" y="9493463"/>
            <a:ext cx="8388184" cy="553998"/>
          </a:xfrm>
          <a:prstGeom prst="rect">
            <a:avLst/>
          </a:prstGeom>
        </p:spPr>
        <p:txBody>
          <a:bodyPr wrap="square" lIns="0" tIns="0" rIns="0" bIns="0" rtlCol="0" anchor="t">
            <a:spAutoFit/>
          </a:bodyPr>
          <a:lstStyle/>
          <a:p>
            <a:pPr marL="302259" lvl="1" algn="ctr"/>
            <a:r>
              <a:rPr lang="en-US" dirty="0">
                <a:latin typeface="Times New Roman" panose="02020603050405020304" pitchFamily="18" charset="0"/>
                <a:cs typeface="Times New Roman" panose="02020603050405020304" pitchFamily="18" charset="0"/>
              </a:rPr>
              <a:t>Fig. Imaging setup: Transmitted He-Ne laser intensity from solid phantoms is imaged by a FireWire CCD camera, and suitable power filters are used to produce clear images.</a:t>
            </a:r>
          </a:p>
        </p:txBody>
      </p:sp>
    </p:spTree>
    <p:extLst>
      <p:ext uri="{BB962C8B-B14F-4D97-AF65-F5344CB8AC3E}">
        <p14:creationId xmlns:p14="http://schemas.microsoft.com/office/powerpoint/2010/main" val="3434591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9C434-3920-CE82-D908-B6601E6ED8C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90DF902-CB28-E5AA-1107-7874C13416F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5C4B44CE-ED28-7AE1-DB6D-29F223729101}"/>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EDE223CA-18EF-3F7D-7091-8245A0C6EE04}"/>
              </a:ext>
            </a:extLst>
          </p:cNvPr>
          <p:cNvSpPr txBox="1"/>
          <p:nvPr/>
        </p:nvSpPr>
        <p:spPr>
          <a:xfrm>
            <a:off x="755816" y="2628122"/>
            <a:ext cx="16236783" cy="7057701"/>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Absorption Coefficient </a:t>
            </a:r>
            <a:endParaRPr lang="en-US" sz="4000" b="1" dirty="0">
              <a:solidFill>
                <a:srgbClr val="000000"/>
              </a:solidFill>
              <a:latin typeface="Times New Roman" panose="02020603050405020304" pitchFamily="18" charset="0"/>
              <a:cs typeface="Times New Roman" panose="02020603050405020304" pitchFamily="18" charset="0"/>
              <a:sym typeface="Open Sauce"/>
            </a:endParaRPr>
          </a:p>
          <a:p>
            <a:pPr marL="302259" lvl="1">
              <a:lnSpc>
                <a:spcPct val="200000"/>
              </a:lnSpc>
            </a:pPr>
            <a:endParaRPr lang="en-US" sz="2500" dirty="0"/>
          </a:p>
          <a:p>
            <a:pPr marL="604519" lvl="1" indent="-302260">
              <a:lnSpc>
                <a:spcPct val="200000"/>
              </a:lnSpc>
              <a:buFont typeface="Arial"/>
              <a:buChar char="•"/>
            </a:pPr>
            <a:r>
              <a:rPr lang="en-US" sz="2500" dirty="0"/>
              <a:t>Absorption coefficient increase when both Titanium dioxide and carbon concentration rise.</a:t>
            </a:r>
          </a:p>
          <a:p>
            <a:pPr marL="604519" lvl="1" indent="-302260">
              <a:lnSpc>
                <a:spcPct val="200000"/>
              </a:lnSpc>
              <a:buFont typeface="Arial"/>
              <a:buChar char="•"/>
            </a:pPr>
            <a:r>
              <a:rPr lang="en-US" sz="2500" dirty="0"/>
              <a:t>It remains stable across all phantom thickness which shows optically uniform phantoms.</a:t>
            </a:r>
          </a:p>
          <a:p>
            <a:pPr marL="604519" lvl="1" indent="-302260">
              <a:lnSpc>
                <a:spcPct val="200000"/>
              </a:lnSpc>
              <a:buFont typeface="Arial"/>
              <a:buChar char="•"/>
            </a:pPr>
            <a:r>
              <a:rPr lang="en-US" sz="2500" dirty="0"/>
              <a:t>When Titanium dioxide increases, photons undergo more multiple scattering events, which make its path longer.</a:t>
            </a:r>
          </a:p>
          <a:p>
            <a:pPr marL="604519" lvl="1" indent="-302260">
              <a:lnSpc>
                <a:spcPct val="200000"/>
              </a:lnSpc>
              <a:buFont typeface="Arial"/>
              <a:buChar char="•"/>
            </a:pPr>
            <a:r>
              <a:rPr lang="en-US" sz="2500" dirty="0"/>
              <a:t>The results showed that for the phantoms with fix carbon and variable Titanium dioxide experienced in gradual rise in absorption coefficient, and those with varied carbon and fixed Titanium dioxide experienced in steeper increasement.</a:t>
            </a:r>
          </a:p>
          <a:p>
            <a:pPr marL="604519" lvl="1" indent="-302260">
              <a:lnSpc>
                <a:spcPct val="200000"/>
              </a:lnSpc>
              <a:buFont typeface="Arial"/>
              <a:buChar char="•"/>
            </a:pPr>
            <a:r>
              <a:rPr lang="en-US" sz="2500" dirty="0"/>
              <a:t>Excellent agreement between the single and double integrating spheres measurements.</a:t>
            </a:r>
          </a:p>
          <a:p>
            <a:pPr marL="604519" lvl="1" indent="-302260">
              <a:lnSpc>
                <a:spcPts val="4479"/>
              </a:lnSpc>
              <a:buFont typeface="Arial"/>
              <a:buChar char="•"/>
            </a:pPr>
            <a:endParaRPr lang="en-US" sz="2500" dirty="0"/>
          </a:p>
          <a:p>
            <a:pPr marL="604519" lvl="1" indent="-302260">
              <a:lnSpc>
                <a:spcPts val="4479"/>
              </a:lnSpc>
              <a:buFont typeface="Arial"/>
              <a:buChar char="•"/>
            </a:pPr>
            <a:endParaRPr lang="en-US" sz="2500" dirty="0"/>
          </a:p>
        </p:txBody>
      </p:sp>
      <p:sp>
        <p:nvSpPr>
          <p:cNvPr id="4" name="TextBox 8">
            <a:extLst>
              <a:ext uri="{FF2B5EF4-FFF2-40B4-BE49-F238E27FC236}">
                <a16:creationId xmlns:a16="http://schemas.microsoft.com/office/drawing/2014/main" id="{2FF2967B-70BE-7CEB-86A7-B337167463E2}"/>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spTree>
    <p:extLst>
      <p:ext uri="{BB962C8B-B14F-4D97-AF65-F5344CB8AC3E}">
        <p14:creationId xmlns:p14="http://schemas.microsoft.com/office/powerpoint/2010/main" val="801915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6CD5B-522A-FD37-124D-08A913513ED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E3CF6A0-370E-D414-4F90-381EE93EBED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D713015B-676C-8D77-56B8-37F052F53B34}"/>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B67CB91B-6052-9B16-525F-65FB78393F78}"/>
              </a:ext>
            </a:extLst>
          </p:cNvPr>
          <p:cNvSpPr txBox="1"/>
          <p:nvPr/>
        </p:nvSpPr>
        <p:spPr>
          <a:xfrm>
            <a:off x="755816" y="2628122"/>
            <a:ext cx="16236783" cy="1863972"/>
          </a:xfrm>
          <a:prstGeom prst="rect">
            <a:avLst/>
          </a:prstGeom>
        </p:spPr>
        <p:txBody>
          <a:bodyPr wrap="square" lIns="0" tIns="0" rIns="0" bIns="0" rtlCol="0" anchor="t">
            <a:spAutoFit/>
          </a:bodyPr>
          <a:lstStyle/>
          <a:p>
            <a:pPr marL="302259" lvl="1">
              <a:lnSpc>
                <a:spcPct val="200000"/>
              </a:lnSpc>
            </a:pPr>
            <a:endParaRPr lang="en-US" sz="2500" dirty="0"/>
          </a:p>
          <a:p>
            <a:pPr marL="604519" lvl="1" indent="-302260">
              <a:lnSpc>
                <a:spcPts val="4479"/>
              </a:lnSpc>
              <a:buFont typeface="Arial"/>
              <a:buChar char="•"/>
            </a:pPr>
            <a:endParaRPr lang="en-US" sz="2500" dirty="0"/>
          </a:p>
          <a:p>
            <a:pPr marL="604519" lvl="1" indent="-302260">
              <a:lnSpc>
                <a:spcPts val="4479"/>
              </a:lnSpc>
              <a:buFont typeface="Arial"/>
              <a:buChar char="•"/>
            </a:pPr>
            <a:endParaRPr lang="en-US" sz="2500" dirty="0"/>
          </a:p>
        </p:txBody>
      </p:sp>
      <p:sp>
        <p:nvSpPr>
          <p:cNvPr id="4" name="TextBox 8">
            <a:extLst>
              <a:ext uri="{FF2B5EF4-FFF2-40B4-BE49-F238E27FC236}">
                <a16:creationId xmlns:a16="http://schemas.microsoft.com/office/drawing/2014/main" id="{4608864D-A9A9-4757-7364-B88B87091277}"/>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pic>
        <p:nvPicPr>
          <p:cNvPr id="6" name="Picture 5" descr="A screenshot of a computer&#10;&#10;AI-generated content may be incorrect.">
            <a:extLst>
              <a:ext uri="{FF2B5EF4-FFF2-40B4-BE49-F238E27FC236}">
                <a16:creationId xmlns:a16="http://schemas.microsoft.com/office/drawing/2014/main" id="{362C4FC5-D516-83E7-3607-55BC6B3B81C0}"/>
              </a:ext>
            </a:extLst>
          </p:cNvPr>
          <p:cNvPicPr>
            <a:picLocks noChangeAspect="1"/>
          </p:cNvPicPr>
          <p:nvPr/>
        </p:nvPicPr>
        <p:blipFill>
          <a:blip r:embed="rId3">
            <a:extLst>
              <a:ext uri="{28A0092B-C50C-407E-A947-70E740481C1C}">
                <a14:useLocalDpi xmlns:a14="http://schemas.microsoft.com/office/drawing/2010/main" val="0"/>
              </a:ext>
            </a:extLst>
          </a:blip>
          <a:srcRect l="30833" t="27500" r="27917" b="16507"/>
          <a:stretch>
            <a:fillRect/>
          </a:stretch>
        </p:blipFill>
        <p:spPr>
          <a:xfrm>
            <a:off x="976166" y="2644885"/>
            <a:ext cx="7543800" cy="6207371"/>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73E184BC-7B57-98E9-7345-2E7F27070F85}"/>
              </a:ext>
            </a:extLst>
          </p:cNvPr>
          <p:cNvPicPr>
            <a:picLocks noChangeAspect="1"/>
          </p:cNvPicPr>
          <p:nvPr/>
        </p:nvPicPr>
        <p:blipFill>
          <a:blip r:embed="rId4">
            <a:extLst>
              <a:ext uri="{28A0092B-C50C-407E-A947-70E740481C1C}">
                <a14:useLocalDpi xmlns:a14="http://schemas.microsoft.com/office/drawing/2010/main" val="0"/>
              </a:ext>
            </a:extLst>
          </a:blip>
          <a:srcRect l="28580" t="23077" r="27669" b="13238"/>
          <a:stretch>
            <a:fillRect/>
          </a:stretch>
        </p:blipFill>
        <p:spPr>
          <a:xfrm>
            <a:off x="9494608" y="2644886"/>
            <a:ext cx="8001000" cy="6207370"/>
          </a:xfrm>
          <a:prstGeom prst="rect">
            <a:avLst/>
          </a:prstGeom>
        </p:spPr>
      </p:pic>
      <p:sp>
        <p:nvSpPr>
          <p:cNvPr id="10" name="TextBox 8">
            <a:extLst>
              <a:ext uri="{FF2B5EF4-FFF2-40B4-BE49-F238E27FC236}">
                <a16:creationId xmlns:a16="http://schemas.microsoft.com/office/drawing/2014/main" id="{4B78238C-7CBA-627E-F16E-7DA163A4B1D7}"/>
              </a:ext>
            </a:extLst>
          </p:cNvPr>
          <p:cNvSpPr txBox="1"/>
          <p:nvPr/>
        </p:nvSpPr>
        <p:spPr>
          <a:xfrm>
            <a:off x="9488512" y="9015630"/>
            <a:ext cx="8001000" cy="553998"/>
          </a:xfrm>
          <a:prstGeom prst="rect">
            <a:avLst/>
          </a:prstGeom>
        </p:spPr>
        <p:txBody>
          <a:bodyPr wrap="square" lIns="0" tIns="0" rIns="0" bIns="0" rtlCol="0" anchor="t">
            <a:spAutoFit/>
          </a:bodyPr>
          <a:lstStyle/>
          <a:p>
            <a:pPr marL="302259" lvl="1" algn="ctr"/>
            <a:r>
              <a:rPr lang="en-US" dirty="0">
                <a:latin typeface="Times New Roman" panose="02020603050405020304" pitchFamily="18" charset="0"/>
                <a:cs typeface="Times New Roman" panose="02020603050405020304" pitchFamily="18" charset="0"/>
              </a:rPr>
              <a:t>Fig. Absorption coefficient for phantoms with different thickness and Titanium dioxide </a:t>
            </a:r>
            <a:r>
              <a:rPr lang="en-US" b="1" dirty="0"/>
              <a:t>a </a:t>
            </a:r>
            <a:r>
              <a:rPr lang="en-US" dirty="0"/>
              <a:t>0.0 g, </a:t>
            </a:r>
            <a:r>
              <a:rPr lang="en-US" b="1" dirty="0"/>
              <a:t>b </a:t>
            </a:r>
            <a:r>
              <a:rPr lang="en-US" dirty="0"/>
              <a:t>0.1 g, </a:t>
            </a:r>
            <a:r>
              <a:rPr lang="en-US" b="1" dirty="0"/>
              <a:t>c </a:t>
            </a:r>
            <a:r>
              <a:rPr lang="en-US" dirty="0"/>
              <a:t>0.155 g and </a:t>
            </a:r>
            <a:r>
              <a:rPr lang="en-US" b="1" dirty="0"/>
              <a:t>d </a:t>
            </a:r>
            <a:r>
              <a:rPr lang="en-US" dirty="0"/>
              <a:t>0.22 g</a:t>
            </a:r>
            <a:endParaRPr lang="en-US" dirty="0">
              <a:latin typeface="Times New Roman" panose="02020603050405020304" pitchFamily="18" charset="0"/>
              <a:cs typeface="Times New Roman" panose="02020603050405020304" pitchFamily="18" charset="0"/>
            </a:endParaRPr>
          </a:p>
        </p:txBody>
      </p:sp>
      <p:sp>
        <p:nvSpPr>
          <p:cNvPr id="11" name="TextBox 8">
            <a:extLst>
              <a:ext uri="{FF2B5EF4-FFF2-40B4-BE49-F238E27FC236}">
                <a16:creationId xmlns:a16="http://schemas.microsoft.com/office/drawing/2014/main" id="{B877E34F-08D3-AB01-5C64-F9BDDF0F7F58}"/>
              </a:ext>
            </a:extLst>
          </p:cNvPr>
          <p:cNvSpPr txBox="1"/>
          <p:nvPr/>
        </p:nvSpPr>
        <p:spPr>
          <a:xfrm>
            <a:off x="1095082" y="9015630"/>
            <a:ext cx="7305968" cy="553998"/>
          </a:xfrm>
          <a:prstGeom prst="rect">
            <a:avLst/>
          </a:prstGeom>
        </p:spPr>
        <p:txBody>
          <a:bodyPr wrap="square" lIns="0" tIns="0" rIns="0" bIns="0" rtlCol="0" anchor="t">
            <a:spAutoFit/>
          </a:bodyPr>
          <a:lstStyle/>
          <a:p>
            <a:pPr marL="302259" lvl="1" algn="ctr"/>
            <a:r>
              <a:rPr lang="en-US" dirty="0">
                <a:latin typeface="Times New Roman" panose="02020603050405020304" pitchFamily="18" charset="0"/>
                <a:cs typeface="Times New Roman" panose="02020603050405020304" pitchFamily="18" charset="0"/>
              </a:rPr>
              <a:t>Fig. Absorption coefficient for phantoms with different thickness and black carbon content. </a:t>
            </a:r>
            <a:r>
              <a:rPr lang="en-US" b="1" dirty="0"/>
              <a:t>a </a:t>
            </a:r>
            <a:r>
              <a:rPr lang="en-US" dirty="0"/>
              <a:t>0.7 mg, </a:t>
            </a:r>
            <a:r>
              <a:rPr lang="en-US" b="1" dirty="0"/>
              <a:t>b </a:t>
            </a:r>
            <a:r>
              <a:rPr lang="en-US" dirty="0"/>
              <a:t>1.09 mg and </a:t>
            </a:r>
            <a:r>
              <a:rPr lang="en-US" b="1" dirty="0"/>
              <a:t>c </a:t>
            </a:r>
            <a:r>
              <a:rPr lang="en-US" dirty="0"/>
              <a:t>1.5 mg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0475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ADA0A-8F36-8381-2009-4DA82ECDC23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4B97CBA-75D0-AC06-ABA8-8DFF155C068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A620AB3C-D68C-CF23-3E7A-FAB93F95BC4C}"/>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73393196-18C6-0C47-6CAC-715DBA896CD2}"/>
              </a:ext>
            </a:extLst>
          </p:cNvPr>
          <p:cNvSpPr txBox="1"/>
          <p:nvPr/>
        </p:nvSpPr>
        <p:spPr>
          <a:xfrm>
            <a:off x="755816" y="2628122"/>
            <a:ext cx="16236783" cy="4316566"/>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Reduced Scattering Coefficient </a:t>
            </a:r>
            <a:endParaRPr lang="en-US" sz="4000" b="1" dirty="0">
              <a:solidFill>
                <a:srgbClr val="000000"/>
              </a:solidFill>
              <a:latin typeface="Times New Roman" panose="02020603050405020304" pitchFamily="18" charset="0"/>
              <a:cs typeface="Times New Roman" panose="02020603050405020304" pitchFamily="18" charset="0"/>
              <a:sym typeface="Open Sauce"/>
            </a:endParaRPr>
          </a:p>
          <a:p>
            <a:pPr marL="302259" lvl="1">
              <a:lnSpc>
                <a:spcPct val="200000"/>
              </a:lnSpc>
            </a:pPr>
            <a:endParaRPr lang="en-US" sz="2500" dirty="0"/>
          </a:p>
          <a:p>
            <a:pPr marL="604519" lvl="1" indent="-302260">
              <a:lnSpc>
                <a:spcPct val="200000"/>
              </a:lnSpc>
              <a:buFont typeface="Arial"/>
              <a:buChar char="•"/>
            </a:pPr>
            <a:r>
              <a:rPr lang="en-US" sz="2500" dirty="0"/>
              <a:t> Reduced scattering coefficient increases proportionally with Titanium dioxide amount.</a:t>
            </a:r>
          </a:p>
          <a:p>
            <a:pPr marL="604519" lvl="1" indent="-302260">
              <a:lnSpc>
                <a:spcPct val="200000"/>
              </a:lnSpc>
              <a:buFont typeface="Arial"/>
              <a:buChar char="•"/>
            </a:pPr>
            <a:r>
              <a:rPr lang="en-US" sz="2500" dirty="0"/>
              <a:t>Also experienced unexpected rise in reduced scattering coefficient with carbon content.</a:t>
            </a:r>
          </a:p>
          <a:p>
            <a:pPr marL="604519" lvl="1" indent="-302260">
              <a:lnSpc>
                <a:spcPct val="200000"/>
              </a:lnSpc>
              <a:buFont typeface="Arial"/>
              <a:buChar char="•"/>
            </a:pPr>
            <a:r>
              <a:rPr lang="en-US" sz="2500" dirty="0"/>
              <a:t>Both single and double integrating sphere produced very close reduced scattering coefficient value.</a:t>
            </a:r>
          </a:p>
          <a:p>
            <a:pPr marL="604519" lvl="1" indent="-302260">
              <a:lnSpc>
                <a:spcPct val="200000"/>
              </a:lnSpc>
              <a:buFont typeface="Arial"/>
              <a:buChar char="•"/>
            </a:pPr>
            <a:r>
              <a:rPr lang="en-US" sz="2500" dirty="0"/>
              <a:t>Titanium dioxide shown strong backscattering as TiO</a:t>
            </a:r>
            <a:r>
              <a:rPr lang="en-US" sz="1500" dirty="0"/>
              <a:t>2</a:t>
            </a:r>
            <a:r>
              <a:rPr lang="en-US" sz="2500" dirty="0"/>
              <a:t> particles have high refractive index contrast.</a:t>
            </a:r>
          </a:p>
        </p:txBody>
      </p:sp>
      <p:sp>
        <p:nvSpPr>
          <p:cNvPr id="4" name="TextBox 8">
            <a:extLst>
              <a:ext uri="{FF2B5EF4-FFF2-40B4-BE49-F238E27FC236}">
                <a16:creationId xmlns:a16="http://schemas.microsoft.com/office/drawing/2014/main" id="{116C6387-1836-A633-9575-3EB353F58A91}"/>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spTree>
    <p:extLst>
      <p:ext uri="{BB962C8B-B14F-4D97-AF65-F5344CB8AC3E}">
        <p14:creationId xmlns:p14="http://schemas.microsoft.com/office/powerpoint/2010/main" val="2983398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1C3F3-79E4-68F7-7DDD-4476B68FB29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56D6475-B8D5-3D50-5F53-E7261196B68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E131348E-D0B5-C2CB-1BE5-3E8764B1AD44}"/>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4" name="TextBox 8">
            <a:extLst>
              <a:ext uri="{FF2B5EF4-FFF2-40B4-BE49-F238E27FC236}">
                <a16:creationId xmlns:a16="http://schemas.microsoft.com/office/drawing/2014/main" id="{A342109B-C869-1865-485C-72E09848BDC8}"/>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pic>
        <p:nvPicPr>
          <p:cNvPr id="6" name="Picture 5" descr="A screenshot of a computer&#10;&#10;AI-generated content may be incorrect.">
            <a:extLst>
              <a:ext uri="{FF2B5EF4-FFF2-40B4-BE49-F238E27FC236}">
                <a16:creationId xmlns:a16="http://schemas.microsoft.com/office/drawing/2014/main" id="{8A5FC046-DD76-4DCD-D7A4-5DBA1D415B0E}"/>
              </a:ext>
            </a:extLst>
          </p:cNvPr>
          <p:cNvPicPr>
            <a:picLocks noChangeAspect="1"/>
          </p:cNvPicPr>
          <p:nvPr/>
        </p:nvPicPr>
        <p:blipFill>
          <a:blip r:embed="rId4">
            <a:extLst>
              <a:ext uri="{28A0092B-C50C-407E-A947-70E740481C1C}">
                <a14:useLocalDpi xmlns:a14="http://schemas.microsoft.com/office/drawing/2010/main" val="0"/>
              </a:ext>
            </a:extLst>
          </a:blip>
          <a:srcRect l="22500" t="16154" r="23333" b="7063"/>
          <a:stretch>
            <a:fillRect/>
          </a:stretch>
        </p:blipFill>
        <p:spPr>
          <a:xfrm>
            <a:off x="9290500" y="2206317"/>
            <a:ext cx="8985774" cy="6899581"/>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C41EB431-AD9B-1143-F807-F6FB0524E6E2}"/>
              </a:ext>
            </a:extLst>
          </p:cNvPr>
          <p:cNvPicPr>
            <a:picLocks noChangeAspect="1"/>
          </p:cNvPicPr>
          <p:nvPr/>
        </p:nvPicPr>
        <p:blipFill>
          <a:blip r:embed="rId5">
            <a:extLst>
              <a:ext uri="{28A0092B-C50C-407E-A947-70E740481C1C}">
                <a14:useLocalDpi xmlns:a14="http://schemas.microsoft.com/office/drawing/2010/main" val="0"/>
              </a:ext>
            </a:extLst>
          </a:blip>
          <a:srcRect l="21668" t="12560" r="24166" b="7366"/>
          <a:stretch>
            <a:fillRect/>
          </a:stretch>
        </p:blipFill>
        <p:spPr>
          <a:xfrm>
            <a:off x="381000" y="2206317"/>
            <a:ext cx="8616502" cy="6899581"/>
          </a:xfrm>
          <a:prstGeom prst="rect">
            <a:avLst/>
          </a:prstGeom>
        </p:spPr>
      </p:pic>
      <p:sp>
        <p:nvSpPr>
          <p:cNvPr id="10" name="TextBox 8">
            <a:extLst>
              <a:ext uri="{FF2B5EF4-FFF2-40B4-BE49-F238E27FC236}">
                <a16:creationId xmlns:a16="http://schemas.microsoft.com/office/drawing/2014/main" id="{9B45F5CE-7B9D-2445-C693-C5CD7DC0A2E0}"/>
              </a:ext>
            </a:extLst>
          </p:cNvPr>
          <p:cNvSpPr txBox="1"/>
          <p:nvPr/>
        </p:nvSpPr>
        <p:spPr>
          <a:xfrm>
            <a:off x="495159" y="9125791"/>
            <a:ext cx="8388184" cy="553998"/>
          </a:xfrm>
          <a:prstGeom prst="rect">
            <a:avLst/>
          </a:prstGeom>
        </p:spPr>
        <p:txBody>
          <a:bodyPr wrap="square" lIns="0" tIns="0" rIns="0" bIns="0" rtlCol="0" anchor="t">
            <a:spAutoFit/>
          </a:bodyPr>
          <a:lstStyle/>
          <a:p>
            <a:pPr marL="302259" lvl="1" algn="ctr"/>
            <a:r>
              <a:rPr lang="en-US" dirty="0">
                <a:latin typeface="Times New Roman" panose="02020603050405020304" pitchFamily="18" charset="0"/>
                <a:cs typeface="Times New Roman" panose="02020603050405020304" pitchFamily="18" charset="0"/>
              </a:rPr>
              <a:t>Fig. Reduced scattering coefficient versus the sample’s thickness for the fixed carbon phantoms (2.2 mg) with TiO</a:t>
            </a:r>
            <a:r>
              <a:rPr lang="en-US" sz="1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a 0.0 g, b 0.1 g, c 0.155 g and d 0.22 g.</a:t>
            </a:r>
          </a:p>
        </p:txBody>
      </p:sp>
      <p:sp>
        <p:nvSpPr>
          <p:cNvPr id="11" name="TextBox 8">
            <a:extLst>
              <a:ext uri="{FF2B5EF4-FFF2-40B4-BE49-F238E27FC236}">
                <a16:creationId xmlns:a16="http://schemas.microsoft.com/office/drawing/2014/main" id="{C68D8D6D-3F12-56D6-640E-8DCECB437AA9}"/>
              </a:ext>
            </a:extLst>
          </p:cNvPr>
          <p:cNvSpPr txBox="1"/>
          <p:nvPr/>
        </p:nvSpPr>
        <p:spPr>
          <a:xfrm>
            <a:off x="9589295" y="9142451"/>
            <a:ext cx="8388184" cy="553998"/>
          </a:xfrm>
          <a:prstGeom prst="rect">
            <a:avLst/>
          </a:prstGeom>
        </p:spPr>
        <p:txBody>
          <a:bodyPr wrap="square" lIns="0" tIns="0" rIns="0" bIns="0" rtlCol="0" anchor="t">
            <a:spAutoFit/>
          </a:bodyPr>
          <a:lstStyle/>
          <a:p>
            <a:pPr marL="302259" lvl="1" algn="ctr"/>
            <a:r>
              <a:rPr lang="en-US" dirty="0">
                <a:latin typeface="Times New Roman" panose="02020603050405020304" pitchFamily="18" charset="0"/>
                <a:cs typeface="Times New Roman" panose="02020603050405020304" pitchFamily="18" charset="0"/>
              </a:rPr>
              <a:t>Fig. Reduced scattering coefficient versus the samples’ thickness, the fixed TiO2 amount (0.11g), with black carbon. a 0.0 mg, b 0.7 mg, c 1.09 mg, and d 1.5 mg </a:t>
            </a:r>
          </a:p>
        </p:txBody>
      </p:sp>
    </p:spTree>
    <p:extLst>
      <p:ext uri="{BB962C8B-B14F-4D97-AF65-F5344CB8AC3E}">
        <p14:creationId xmlns:p14="http://schemas.microsoft.com/office/powerpoint/2010/main" val="2388354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F6118-DF25-5500-15E1-F52377D9204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F83BEF6-5BB3-8804-420D-C9C201E046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AutoShape 3">
            <a:extLst>
              <a:ext uri="{FF2B5EF4-FFF2-40B4-BE49-F238E27FC236}">
                <a16:creationId xmlns:a16="http://schemas.microsoft.com/office/drawing/2014/main" id="{7BD6EC34-D235-182A-629C-7BE6798274D7}"/>
              </a:ext>
            </a:extLst>
          </p:cNvPr>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dirty="0"/>
          </a:p>
        </p:txBody>
      </p:sp>
      <p:sp>
        <p:nvSpPr>
          <p:cNvPr id="8" name="TextBox 8">
            <a:extLst>
              <a:ext uri="{FF2B5EF4-FFF2-40B4-BE49-F238E27FC236}">
                <a16:creationId xmlns:a16="http://schemas.microsoft.com/office/drawing/2014/main" id="{9F0685C1-F486-BDEF-CF90-D725DFCCE5AE}"/>
              </a:ext>
            </a:extLst>
          </p:cNvPr>
          <p:cNvSpPr txBox="1"/>
          <p:nvPr/>
        </p:nvSpPr>
        <p:spPr>
          <a:xfrm>
            <a:off x="755816" y="2628122"/>
            <a:ext cx="16236783" cy="1671611"/>
          </a:xfrm>
          <a:prstGeom prst="rect">
            <a:avLst/>
          </a:prstGeom>
        </p:spPr>
        <p:txBody>
          <a:bodyPr wrap="square" lIns="0" tIns="0" rIns="0" bIns="0" rtlCol="0" anchor="t">
            <a:spAutoFit/>
          </a:bodyPr>
          <a:lstStyle/>
          <a:p>
            <a:pPr marL="302259" lvl="1">
              <a:lnSpc>
                <a:spcPts val="4479"/>
              </a:lnSpc>
            </a:pPr>
            <a:r>
              <a:rPr lang="en-US" sz="4000" b="1" dirty="0">
                <a:solidFill>
                  <a:srgbClr val="000000"/>
                </a:solidFill>
                <a:latin typeface="Times New Roman" panose="02020603050405020304" pitchFamily="18" charset="0"/>
                <a:ea typeface="Open Sauce"/>
                <a:cs typeface="Times New Roman" panose="02020603050405020304" pitchFamily="18" charset="0"/>
                <a:sym typeface="Open Sauce"/>
              </a:rPr>
              <a:t>Alternative Photodetector</a:t>
            </a:r>
            <a:endParaRPr lang="en-US" sz="4000" b="1" dirty="0">
              <a:solidFill>
                <a:srgbClr val="000000"/>
              </a:solidFill>
              <a:latin typeface="Times New Roman" panose="02020603050405020304" pitchFamily="18" charset="0"/>
              <a:cs typeface="Times New Roman" panose="02020603050405020304" pitchFamily="18" charset="0"/>
              <a:sym typeface="Open Sauce"/>
            </a:endParaRPr>
          </a:p>
          <a:p>
            <a:pPr marL="302259" lvl="1">
              <a:lnSpc>
                <a:spcPts val="4479"/>
              </a:lnSpc>
            </a:pPr>
            <a:endParaRPr lang="en-US" sz="2500" dirty="0"/>
          </a:p>
          <a:p>
            <a:pPr marL="604519" lvl="1" indent="-302260">
              <a:lnSpc>
                <a:spcPts val="4479"/>
              </a:lnSpc>
              <a:buFont typeface="Arial"/>
              <a:buChar char="•"/>
            </a:pPr>
            <a:endParaRPr lang="en-US" sz="2500" dirty="0"/>
          </a:p>
        </p:txBody>
      </p:sp>
      <p:sp>
        <p:nvSpPr>
          <p:cNvPr id="4" name="TextBox 8">
            <a:extLst>
              <a:ext uri="{FF2B5EF4-FFF2-40B4-BE49-F238E27FC236}">
                <a16:creationId xmlns:a16="http://schemas.microsoft.com/office/drawing/2014/main" id="{ED486B3F-39A3-4484-5674-52BD5002C971}"/>
              </a:ext>
            </a:extLst>
          </p:cNvPr>
          <p:cNvSpPr txBox="1"/>
          <p:nvPr/>
        </p:nvSpPr>
        <p:spPr>
          <a:xfrm>
            <a:off x="5953125" y="1434743"/>
            <a:ext cx="6381750" cy="613181"/>
          </a:xfrm>
          <a:prstGeom prst="rect">
            <a:avLst/>
          </a:prstGeom>
        </p:spPr>
        <p:txBody>
          <a:bodyPr wrap="square" lIns="0" tIns="0" rIns="0" bIns="0" rtlCol="0" anchor="t">
            <a:spAutoFit/>
          </a:bodyPr>
          <a:lstStyle/>
          <a:p>
            <a:pPr marL="302259" lvl="1">
              <a:lnSpc>
                <a:spcPts val="4479"/>
              </a:lnSpc>
            </a:pPr>
            <a:r>
              <a:rPr lang="en-US" sz="6000" b="1" dirty="0">
                <a:solidFill>
                  <a:srgbClr val="000000"/>
                </a:solidFill>
                <a:latin typeface="Times New Roman" panose="02020603050405020304" pitchFamily="18" charset="0"/>
                <a:ea typeface="Open Sauce"/>
                <a:cs typeface="Times New Roman" panose="02020603050405020304" pitchFamily="18" charset="0"/>
                <a:sym typeface="Open Sauce"/>
              </a:rPr>
              <a:t>Literature Review</a:t>
            </a:r>
          </a:p>
        </p:txBody>
      </p:sp>
      <p:pic>
        <p:nvPicPr>
          <p:cNvPr id="6" name="Picture 5" descr="A red rectangular device with gold connectors&#10;&#10;AI-generated content may be incorrect.">
            <a:extLst>
              <a:ext uri="{FF2B5EF4-FFF2-40B4-BE49-F238E27FC236}">
                <a16:creationId xmlns:a16="http://schemas.microsoft.com/office/drawing/2014/main" id="{F74509E3-BE55-EB30-0AFA-D9B1563608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82853" y="3944016"/>
            <a:ext cx="3961077" cy="3961077"/>
          </a:xfrm>
          <a:prstGeom prst="rect">
            <a:avLst/>
          </a:prstGeom>
        </p:spPr>
      </p:pic>
      <p:pic>
        <p:nvPicPr>
          <p:cNvPr id="9" name="Picture 8" descr="A close-up of a black and gold connector&#10;&#10;AI-generated content may be incorrect.">
            <a:extLst>
              <a:ext uri="{FF2B5EF4-FFF2-40B4-BE49-F238E27FC236}">
                <a16:creationId xmlns:a16="http://schemas.microsoft.com/office/drawing/2014/main" id="{215B4C21-C620-5CF8-CC5C-8872DDFEA8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1775" y="3918615"/>
            <a:ext cx="3961078" cy="3961078"/>
          </a:xfrm>
          <a:prstGeom prst="rect">
            <a:avLst/>
          </a:prstGeom>
        </p:spPr>
      </p:pic>
      <p:pic>
        <p:nvPicPr>
          <p:cNvPr id="11" name="Picture 10" descr="A black case with several cables&#10;&#10;AI-generated content may be incorrect.">
            <a:extLst>
              <a:ext uri="{FF2B5EF4-FFF2-40B4-BE49-F238E27FC236}">
                <a16:creationId xmlns:a16="http://schemas.microsoft.com/office/drawing/2014/main" id="{9F28F658-38CF-1E52-137B-F8D7E7590E7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80159" y="3828175"/>
            <a:ext cx="5999044" cy="4499283"/>
          </a:xfrm>
          <a:prstGeom prst="rect">
            <a:avLst/>
          </a:prstGeom>
        </p:spPr>
      </p:pic>
      <p:sp>
        <p:nvSpPr>
          <p:cNvPr id="12" name="TextBox 8">
            <a:extLst>
              <a:ext uri="{FF2B5EF4-FFF2-40B4-BE49-F238E27FC236}">
                <a16:creationId xmlns:a16="http://schemas.microsoft.com/office/drawing/2014/main" id="{5BCF57FC-7036-EE57-DA4D-7FD3E6EBCC19}"/>
              </a:ext>
            </a:extLst>
          </p:cNvPr>
          <p:cNvSpPr txBox="1"/>
          <p:nvPr/>
        </p:nvSpPr>
        <p:spPr>
          <a:xfrm>
            <a:off x="2465081" y="8267700"/>
            <a:ext cx="5029200" cy="486928"/>
          </a:xfrm>
          <a:prstGeom prst="rect">
            <a:avLst/>
          </a:prstGeom>
        </p:spPr>
        <p:txBody>
          <a:bodyPr wrap="square" lIns="0" tIns="0" rIns="0" bIns="0" rtlCol="0" anchor="t">
            <a:spAutoFit/>
          </a:bodyPr>
          <a:lstStyle/>
          <a:p>
            <a:pPr marL="302259" lvl="1">
              <a:lnSpc>
                <a:spcPts val="4479"/>
              </a:lnSpc>
            </a:pPr>
            <a:r>
              <a:rPr lang="en-US" dirty="0">
                <a:latin typeface="Times New Roman" panose="02020603050405020304" pitchFamily="18" charset="0"/>
                <a:cs typeface="Times New Roman" panose="02020603050405020304" pitchFamily="18" charset="0"/>
              </a:rPr>
              <a:t>Fig. </a:t>
            </a:r>
            <a:r>
              <a:rPr lang="en-US" dirty="0">
                <a:solidFill>
                  <a:srgbClr val="000000"/>
                </a:solidFill>
                <a:latin typeface="Times New Roman" panose="02020603050405020304" pitchFamily="18" charset="0"/>
                <a:cs typeface="Times New Roman" panose="02020603050405020304" pitchFamily="18" charset="0"/>
                <a:sym typeface="Open Sauce"/>
              </a:rPr>
              <a:t>Ocean Optic USB4000 and USB-ISS-UV/VIS</a:t>
            </a:r>
            <a:endParaRPr lang="en-US" dirty="0">
              <a:latin typeface="Times New Roman" panose="02020603050405020304" pitchFamily="18" charset="0"/>
              <a:cs typeface="Times New Roman" panose="02020603050405020304" pitchFamily="18" charset="0"/>
            </a:endParaRPr>
          </a:p>
        </p:txBody>
      </p:sp>
      <p:sp>
        <p:nvSpPr>
          <p:cNvPr id="13" name="TextBox 8">
            <a:extLst>
              <a:ext uri="{FF2B5EF4-FFF2-40B4-BE49-F238E27FC236}">
                <a16:creationId xmlns:a16="http://schemas.microsoft.com/office/drawing/2014/main" id="{B92AA0F5-B607-1BA8-E064-9C6C1DA8C781}"/>
              </a:ext>
            </a:extLst>
          </p:cNvPr>
          <p:cNvSpPr txBox="1"/>
          <p:nvPr/>
        </p:nvSpPr>
        <p:spPr>
          <a:xfrm>
            <a:off x="10987353" y="8262377"/>
            <a:ext cx="4191000" cy="492251"/>
          </a:xfrm>
          <a:prstGeom prst="rect">
            <a:avLst/>
          </a:prstGeom>
        </p:spPr>
        <p:txBody>
          <a:bodyPr wrap="square" lIns="0" tIns="0" rIns="0" bIns="0" rtlCol="0" anchor="t">
            <a:spAutoFit/>
          </a:bodyPr>
          <a:lstStyle/>
          <a:p>
            <a:pPr marL="302259" lvl="1">
              <a:lnSpc>
                <a:spcPts val="4479"/>
              </a:lnSpc>
            </a:pPr>
            <a:r>
              <a:rPr lang="en-US" dirty="0">
                <a:latin typeface="Times New Roman" panose="02020603050405020304" pitchFamily="18" charset="0"/>
                <a:cs typeface="Times New Roman" panose="02020603050405020304" pitchFamily="18" charset="0"/>
              </a:rPr>
              <a:t>Fig. </a:t>
            </a:r>
            <a:r>
              <a:rPr lang="en-US" dirty="0">
                <a:solidFill>
                  <a:srgbClr val="000000"/>
                </a:solidFill>
                <a:latin typeface="Times New Roman" panose="02020603050405020304" pitchFamily="18" charset="0"/>
                <a:cs typeface="Times New Roman" panose="02020603050405020304" pitchFamily="18" charset="0"/>
                <a:sym typeface="Open Sauce"/>
              </a:rPr>
              <a:t>Thorlabs SM05PD1A and AMP130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01972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2026</TotalTime>
  <Words>1226</Words>
  <Application>Microsoft Office PowerPoint</Application>
  <PresentationFormat>Custom</PresentationFormat>
  <Paragraphs>114</Paragraphs>
  <Slides>17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Aptos</vt:lpstr>
      <vt:lpstr>Open Sauce</vt:lpstr>
      <vt:lpstr>DM Serif Display</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Simple Minimalist Pitch Deck Marketing Presentation</dc:title>
  <dc:creator>LUCUS</dc:creator>
  <cp:lastModifiedBy>THU TA ZAW</cp:lastModifiedBy>
  <cp:revision>279</cp:revision>
  <dcterms:created xsi:type="dcterms:W3CDTF">2006-08-16T00:00:00Z</dcterms:created>
  <dcterms:modified xsi:type="dcterms:W3CDTF">2025-11-11T06:20:52Z</dcterms:modified>
  <dc:identifier>DAG0bfrM1o8</dc:identifier>
</cp:coreProperties>
</file>