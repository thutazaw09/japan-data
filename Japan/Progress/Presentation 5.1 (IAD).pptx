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839" r:id="rId3"/>
    <p:sldId id="841" r:id="rId4"/>
    <p:sldId id="840" r:id="rId5"/>
    <p:sldId id="842" r:id="rId6"/>
    <p:sldId id="844" r:id="rId7"/>
    <p:sldId id="267" r:id="rId8"/>
  </p:sldIdLst>
  <p:sldSz cx="18288000" cy="10287000"/>
  <p:notesSz cx="6858000" cy="9144000"/>
  <p:embeddedFontLst>
    <p:embeddedFont>
      <p:font typeface="DM Serif Display" pitchFamily="2" charset="0"/>
      <p:regular r:id="rId10"/>
      <p:italic r:id="rId11"/>
    </p:embeddedFont>
    <p:embeddedFont>
      <p:font typeface="Open Sauc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3402" autoAdjust="0"/>
  </p:normalViewPr>
  <p:slideViewPr>
    <p:cSldViewPr>
      <p:cViewPr varScale="1">
        <p:scale>
          <a:sx n="67" d="100"/>
          <a:sy n="67" d="100"/>
        </p:scale>
        <p:origin x="64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865776" y="2843997"/>
            <a:ext cx="12556447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4992203" y="4859755"/>
            <a:ext cx="830359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121362" y="3162300"/>
            <a:ext cx="16045276" cy="5410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method is used to determine the intrinsic optical properties of scattering and absorbing materials by analyzing how light passes through them.</a:t>
            </a:r>
          </a:p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We can study the interaction of photons with biological tissues by analyzing the optical properties.</a:t>
            </a:r>
          </a:p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uses an iterative, trial-an-error approach to solve the radiative transport equation.</a:t>
            </a:r>
          </a:p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The optical properties calculated from the algorithm are compared with measured value until they are in agree.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3030516" y="1434743"/>
            <a:ext cx="122301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66A6-CA9B-6747-700D-FD253D54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669B3F-449B-D03A-1A88-39CDF8E607B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B2494A-3F54-B603-67E3-9C9BF9960FDC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9736A2B-4727-6A3A-1229-54CBE761F191}"/>
              </a:ext>
            </a:extLst>
          </p:cNvPr>
          <p:cNvSpPr txBox="1"/>
          <p:nvPr/>
        </p:nvSpPr>
        <p:spPr>
          <a:xfrm>
            <a:off x="1121362" y="3087003"/>
            <a:ext cx="16045276" cy="6160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This simulation calculates how light would behave inside the material.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Firstly, measure the total reflection and transmission of a light beam from the sample.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The IAD repeatedly guess the optical properties of material (absorption, scattering coefficients and anisotropy factor).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 It then simulates the expected reflection and transmission based on these guessed properties using the adding-doubling techniques.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This simulation results are compared against the initial, real-world measurement, and the algorithm refines its guesses for the optical properties until the simulated results closely match the experimental data.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11829F8-285F-981D-508D-431C58E555EE}"/>
              </a:ext>
            </a:extLst>
          </p:cNvPr>
          <p:cNvSpPr txBox="1"/>
          <p:nvPr/>
        </p:nvSpPr>
        <p:spPr>
          <a:xfrm>
            <a:off x="3030516" y="1434743"/>
            <a:ext cx="122301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Algorithm</a:t>
            </a:r>
          </a:p>
        </p:txBody>
      </p:sp>
    </p:spTree>
    <p:extLst>
      <p:ext uri="{BB962C8B-B14F-4D97-AF65-F5344CB8AC3E}">
        <p14:creationId xmlns:p14="http://schemas.microsoft.com/office/powerpoint/2010/main" val="423948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B767-1CBD-46CA-9226-B38907FF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5B3702-132F-19FA-ECE4-AE2A9B5726B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17E1DF7-074F-9BDE-75E6-1105EABE785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8749427-87AC-8028-1FE8-6A2C11F4C6E3}"/>
              </a:ext>
            </a:extLst>
          </p:cNvPr>
          <p:cNvSpPr txBox="1"/>
          <p:nvPr/>
        </p:nvSpPr>
        <p:spPr>
          <a:xfrm>
            <a:off x="6087258" y="1387069"/>
            <a:ext cx="611348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Procedure of IAD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19752887-E6A2-F1B5-2F9B-E1F621A9A808}"/>
              </a:ext>
            </a:extLst>
          </p:cNvPr>
          <p:cNvSpPr txBox="1"/>
          <p:nvPr/>
        </p:nvSpPr>
        <p:spPr>
          <a:xfrm>
            <a:off x="6591298" y="8899931"/>
            <a:ext cx="510540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Process Diagram of IAD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FAE8356C-134F-4617-BAA7-D854F63A0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347" y="2444345"/>
            <a:ext cx="15345305" cy="63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7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6E69-B6E0-2808-74BF-C88A4004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4F854F-146E-FFDD-B9C9-C2341BDC79E3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3EF4207-51D2-8DCE-E355-9B363659A67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0F72CF3-2B91-9CA5-398B-35ED6E6FFD79}"/>
              </a:ext>
            </a:extLst>
          </p:cNvPr>
          <p:cNvSpPr txBox="1"/>
          <p:nvPr/>
        </p:nvSpPr>
        <p:spPr>
          <a:xfrm>
            <a:off x="1121362" y="3087003"/>
            <a:ext cx="16045276" cy="6160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MC simulation is an extensive class of computational algorithms that depends on repeated random sampling to obtain numerical results.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mainly use numerical integration, optimization, and generating draws from probability distribution.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is usually used to simulate light propagation in turbid materials under assumption of uniform macroscopic optical properties over the ranges of ultraviolet, Vis/NIR light.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is valid for a wide range of absorption and scattering coefficients and photon paths.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has high accuracy and slow computational time.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is faster than MC with the same high accuracy.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D3E40C06-2B9B-1A01-2A62-45D152F0268B}"/>
              </a:ext>
            </a:extLst>
          </p:cNvPr>
          <p:cNvSpPr txBox="1"/>
          <p:nvPr/>
        </p:nvSpPr>
        <p:spPr>
          <a:xfrm>
            <a:off x="5058558" y="1434742"/>
            <a:ext cx="817088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Algorithm</a:t>
            </a:r>
          </a:p>
        </p:txBody>
      </p:sp>
    </p:spTree>
    <p:extLst>
      <p:ext uri="{BB962C8B-B14F-4D97-AF65-F5344CB8AC3E}">
        <p14:creationId xmlns:p14="http://schemas.microsoft.com/office/powerpoint/2010/main" val="256505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0B2-E8B4-C60D-729E-B8CAE042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7D438-DCF6-72B8-29F7-32984B3E0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A79B84-ABA2-8F75-C3D2-5280B6D6306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1032B2C-3EB7-375F-E40E-7A2F093CF553}"/>
              </a:ext>
            </a:extLst>
          </p:cNvPr>
          <p:cNvSpPr txBox="1"/>
          <p:nvPr/>
        </p:nvSpPr>
        <p:spPr>
          <a:xfrm>
            <a:off x="6727031" y="1409700"/>
            <a:ext cx="483393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Required List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C72307-7ABF-8F75-E403-C2726CA19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871656"/>
              </p:ext>
            </p:extLst>
          </p:nvPr>
        </p:nvGraphicFramePr>
        <p:xfrm>
          <a:off x="1182811" y="2705100"/>
          <a:ext cx="15685501" cy="745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332">
                  <a:extLst>
                    <a:ext uri="{9D8B030D-6E8A-4147-A177-3AD203B41FA5}">
                      <a16:colId xmlns:a16="http://schemas.microsoft.com/office/drawing/2014/main" val="1669542638"/>
                    </a:ext>
                  </a:extLst>
                </a:gridCol>
                <a:gridCol w="3333169">
                  <a:extLst>
                    <a:ext uri="{9D8B030D-6E8A-4147-A177-3AD203B41FA5}">
                      <a16:colId xmlns:a16="http://schemas.microsoft.com/office/drawing/2014/main" val="275567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9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2-inch General-purpose Integrating Sphere [NIS-002-03A]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140,000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07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Sphere cover for laser 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14,500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8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Sphere cover for detector 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12,500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32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Sample Holder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2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Baffle [light blocker]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Included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1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850 nm laser light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4,000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13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HFCT 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sensor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4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Spectrometer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77,702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02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Optical Fiber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98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Raspberry Pi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95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GeeekPi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Metal Case and N04 PCIe M.2 Key-M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PCIe Peripheral Board for Raspberry Pi 5 (Metal Case &amp; Expansion Board &amp; Active Cooling Fan)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4,099</a:t>
                      </a:r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2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ElectroCookie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256GB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for Raspberry Pi 5 – SK OEM BC901 (2242 Size, PCIe Gen4 x4)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4,399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06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Freenove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7-inch Touchscreen Monitor for Raspberry Pi 5, 4, B, 3, B+, A+, 800x480 Pixel IPS Display, 5-Point Touch Capacitive Screen, MIPI DSI Port with No Drivers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7,280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67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40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451</Words>
  <Application>Microsoft Office PowerPoint</Application>
  <PresentationFormat>Custom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Open Sauce</vt:lpstr>
      <vt:lpstr>Arial</vt:lpstr>
      <vt:lpstr>Times New Roman</vt:lpstr>
      <vt:lpstr>DM Serif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179</cp:revision>
  <dcterms:created xsi:type="dcterms:W3CDTF">2006-08-16T00:00:00Z</dcterms:created>
  <dcterms:modified xsi:type="dcterms:W3CDTF">2025-10-29T02:57:40Z</dcterms:modified>
  <dc:identifier>DAG0bfrM1o8</dc:identifier>
</cp:coreProperties>
</file>