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8"/>
  </p:notesMasterIdLst>
  <p:sldIdLst>
    <p:sldId id="256" r:id="rId2"/>
    <p:sldId id="839" r:id="rId3"/>
    <p:sldId id="841" r:id="rId4"/>
    <p:sldId id="840" r:id="rId5"/>
    <p:sldId id="842" r:id="rId6"/>
    <p:sldId id="267" r:id="rId7"/>
  </p:sldIdLst>
  <p:sldSz cx="18288000" cy="10287000"/>
  <p:notesSz cx="6858000" cy="9144000"/>
  <p:embeddedFontLst>
    <p:embeddedFont>
      <p:font typeface="DM Serif Display" pitchFamily="2" charset="0"/>
      <p:regular r:id="rId9"/>
      <p:italic r:id="rId10"/>
    </p:embeddedFont>
    <p:embeddedFont>
      <p:font typeface="Open Sauce" panose="020B0604020202020204" charset="0"/>
      <p:regular r:id="rId1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233" autoAdjust="0"/>
    <p:restoredTop sz="93402" autoAdjust="0"/>
  </p:normalViewPr>
  <p:slideViewPr>
    <p:cSldViewPr>
      <p:cViewPr>
        <p:scale>
          <a:sx n="66" d="100"/>
          <a:sy n="66" d="100"/>
        </p:scale>
        <p:origin x="684" y="26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font" Target="fonts/font1.fntdata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2EF82B-E016-44BD-B0C4-D5A3DF34FAF9}" type="datetimeFigureOut">
              <a:rPr lang="en-US" smtClean="0"/>
              <a:t>10/28/2025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CA7D310-3A65-477A-971E-8091E55376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35984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10/28/2025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0"/>
            </a:blip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3" name="TextBox 3"/>
          <p:cNvSpPr txBox="1"/>
          <p:nvPr/>
        </p:nvSpPr>
        <p:spPr>
          <a:xfrm>
            <a:off x="2865776" y="2843997"/>
            <a:ext cx="12556447" cy="248433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0160"/>
              </a:lnSpc>
            </a:pPr>
            <a:r>
              <a:rPr lang="en-US" sz="14400" dirty="0">
                <a:solidFill>
                  <a:srgbClr val="000000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Presentation V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671329" y="8480425"/>
            <a:ext cx="2945342" cy="5531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80"/>
              </a:lnSpc>
              <a:spcBef>
                <a:spcPct val="0"/>
              </a:spcBef>
            </a:pPr>
            <a:r>
              <a:rPr lang="en-US" sz="3200" dirty="0">
                <a:solidFill>
                  <a:srgbClr val="000000">
                    <a:alpha val="49804"/>
                  </a:srgbClr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Thu Ta Zaw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418762" y="9142095"/>
            <a:ext cx="3450476" cy="258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239"/>
              </a:lnSpc>
              <a:spcBef>
                <a:spcPct val="0"/>
              </a:spcBef>
            </a:pPr>
            <a:r>
              <a:rPr lang="en-US" sz="1599" u="none" strike="noStrike" spc="159" dirty="0">
                <a:solidFill>
                  <a:srgbClr val="000000">
                    <a:alpha val="49804"/>
                  </a:srgbClr>
                </a:solidFill>
                <a:latin typeface="Open Sauce"/>
                <a:ea typeface="Open Sauce"/>
                <a:cs typeface="Open Sauce"/>
                <a:sym typeface="Open Sauce"/>
              </a:rPr>
              <a:t>2415121095</a:t>
            </a:r>
          </a:p>
        </p:txBody>
      </p:sp>
      <p:sp>
        <p:nvSpPr>
          <p:cNvPr id="7" name="TextBox 8">
            <a:extLst>
              <a:ext uri="{FF2B5EF4-FFF2-40B4-BE49-F238E27FC236}">
                <a16:creationId xmlns:a16="http://schemas.microsoft.com/office/drawing/2014/main" id="{7B244B4F-61ED-CD64-3F42-BB24EA8E2BD6}"/>
              </a:ext>
            </a:extLst>
          </p:cNvPr>
          <p:cNvSpPr txBox="1"/>
          <p:nvPr/>
        </p:nvSpPr>
        <p:spPr>
          <a:xfrm>
            <a:off x="4992203" y="4859755"/>
            <a:ext cx="8303592" cy="5770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02259" lvl="1" algn="l">
              <a:lnSpc>
                <a:spcPts val="4479"/>
              </a:lnSpc>
            </a:pPr>
            <a:r>
              <a:rPr lang="en-US" sz="4000" b="1" dirty="0">
                <a:solidFill>
                  <a:srgbClr val="000000"/>
                </a:solidFill>
                <a:latin typeface="Times New Roman" panose="02020603050405020304" pitchFamily="18" charset="0"/>
                <a:ea typeface="Open Sauce"/>
                <a:cs typeface="Times New Roman" panose="02020603050405020304" pitchFamily="18" charset="0"/>
                <a:sym typeface="Open Sauce"/>
              </a:rPr>
              <a:t>Inverse Adding-Doubling Algorithm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BCF42FA-AD96-6718-B5FF-6A0BFF7AD7F8}"/>
              </a:ext>
            </a:extLst>
          </p:cNvPr>
          <p:cNvGrpSpPr/>
          <p:nvPr/>
        </p:nvGrpSpPr>
        <p:grpSpPr>
          <a:xfrm>
            <a:off x="13826319" y="0"/>
            <a:ext cx="4461681" cy="2019300"/>
            <a:chOff x="10985984" y="47827"/>
            <a:chExt cx="1034194" cy="467116"/>
          </a:xfrm>
        </p:grpSpPr>
        <p:pic>
          <p:nvPicPr>
            <p:cNvPr id="8" name="Picture 2" descr="ตราสัญลักษณ์เนื่องในโอกาสครบรอบ 60 ปี  แห่งการสถาปนามหาวิทยาลัยเทคโนโลยีพระจอมเกล้าธนบุรี – PR KMUTT">
              <a:extLst>
                <a:ext uri="{FF2B5EF4-FFF2-40B4-BE49-F238E27FC236}">
                  <a16:creationId xmlns:a16="http://schemas.microsoft.com/office/drawing/2014/main" id="{A069B459-3DF4-5F50-9704-697C7059979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46720" b="32723"/>
            <a:stretch/>
          </p:blipFill>
          <p:spPr bwMode="auto">
            <a:xfrm>
              <a:off x="10985984" y="47827"/>
              <a:ext cx="573968" cy="4319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" name="Picture 2" descr="Division of Health Sciences Graduate School of Medical Sciences, Kanazawa  University">
              <a:extLst>
                <a:ext uri="{FF2B5EF4-FFF2-40B4-BE49-F238E27FC236}">
                  <a16:creationId xmlns:a16="http://schemas.microsoft.com/office/drawing/2014/main" id="{5554D7E3-09F1-F888-8561-58B8ED11C86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559952" y="54717"/>
              <a:ext cx="460226" cy="46022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34FE5F-C06F-A3D7-A556-D74761CBF8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24FF2FB2-4B51-8ADE-00B3-4237FAE2F7F3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0"/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BDEB9C3B-0D92-07EF-0CA0-A3A1DBABE4C4}"/>
              </a:ext>
            </a:extLst>
          </p:cNvPr>
          <p:cNvSpPr/>
          <p:nvPr/>
        </p:nvSpPr>
        <p:spPr>
          <a:xfrm>
            <a:off x="1166399" y="1028700"/>
            <a:ext cx="687324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B807528D-1E96-ECA4-01C3-2364794CEFEF}"/>
              </a:ext>
            </a:extLst>
          </p:cNvPr>
          <p:cNvSpPr txBox="1"/>
          <p:nvPr/>
        </p:nvSpPr>
        <p:spPr>
          <a:xfrm>
            <a:off x="1121362" y="3162300"/>
            <a:ext cx="16045276" cy="541071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759459" lvl="1" indent="-4572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3000" dirty="0"/>
              <a:t>IAD method is used to determine the intrinsic optical properties of scattering and absorbing materials by analyzing how light passes through them.</a:t>
            </a:r>
          </a:p>
          <a:p>
            <a:pPr marL="759459" lvl="1" indent="-4572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3000" dirty="0"/>
              <a:t>We can study the interaction of photons with biological tissues by analyzing the optical properties.</a:t>
            </a:r>
          </a:p>
          <a:p>
            <a:pPr marL="759459" lvl="1" indent="-4572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3000" dirty="0"/>
              <a:t>IAD uses an iterative, trial-an-error approach to solve the radiative transport equation.</a:t>
            </a:r>
          </a:p>
          <a:p>
            <a:pPr marL="759459" lvl="1" indent="-4572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3000" dirty="0"/>
              <a:t>The optical properties calculated from the algorithm are compared with measured value until they are in agree.</a:t>
            </a:r>
          </a:p>
        </p:txBody>
      </p:sp>
      <p:sp>
        <p:nvSpPr>
          <p:cNvPr id="4" name="TextBox 8">
            <a:extLst>
              <a:ext uri="{FF2B5EF4-FFF2-40B4-BE49-F238E27FC236}">
                <a16:creationId xmlns:a16="http://schemas.microsoft.com/office/drawing/2014/main" id="{1ED899A8-3DAC-E3C2-FA60-E3B03660392C}"/>
              </a:ext>
            </a:extLst>
          </p:cNvPr>
          <p:cNvSpPr txBox="1"/>
          <p:nvPr/>
        </p:nvSpPr>
        <p:spPr>
          <a:xfrm>
            <a:off x="3030516" y="1434743"/>
            <a:ext cx="12230100" cy="6131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02259" lvl="1" algn="l">
              <a:lnSpc>
                <a:spcPts val="4479"/>
              </a:lnSpc>
            </a:pPr>
            <a:r>
              <a:rPr lang="en-US" sz="6000" b="1" dirty="0">
                <a:solidFill>
                  <a:srgbClr val="000000"/>
                </a:solidFill>
                <a:latin typeface="Times New Roman" panose="02020603050405020304" pitchFamily="18" charset="0"/>
                <a:ea typeface="Open Sauce"/>
                <a:cs typeface="Times New Roman" panose="02020603050405020304" pitchFamily="18" charset="0"/>
                <a:sym typeface="Open Sauce"/>
              </a:rPr>
              <a:t>Inverse Adding-Doubling Algorithm</a:t>
            </a:r>
          </a:p>
        </p:txBody>
      </p:sp>
    </p:spTree>
    <p:extLst>
      <p:ext uri="{BB962C8B-B14F-4D97-AF65-F5344CB8AC3E}">
        <p14:creationId xmlns:p14="http://schemas.microsoft.com/office/powerpoint/2010/main" val="18326179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FF66A6-CA9B-6747-700D-FD253D54A1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2B669B3F-449B-D03A-1A88-39CDF8E607BF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0"/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1EB2494A-3F54-B603-67E3-9C9BF9960FDC}"/>
              </a:ext>
            </a:extLst>
          </p:cNvPr>
          <p:cNvSpPr/>
          <p:nvPr/>
        </p:nvSpPr>
        <p:spPr>
          <a:xfrm>
            <a:off x="1166399" y="1028700"/>
            <a:ext cx="687324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E9736A2B-4727-6A3A-1229-54CBE761F191}"/>
              </a:ext>
            </a:extLst>
          </p:cNvPr>
          <p:cNvSpPr txBox="1"/>
          <p:nvPr/>
        </p:nvSpPr>
        <p:spPr>
          <a:xfrm>
            <a:off x="1121362" y="3087003"/>
            <a:ext cx="16045276" cy="616091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759459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000" dirty="0"/>
              <a:t>This simulation calculates how light would behave inside the material.</a:t>
            </a:r>
          </a:p>
          <a:p>
            <a:pPr marL="759459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000" dirty="0"/>
              <a:t>Firstly, measure the total reflection and transmission of a light beam from the sample.</a:t>
            </a:r>
          </a:p>
          <a:p>
            <a:pPr marL="759459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000" dirty="0"/>
              <a:t>The IAD repeatedly guess the optical properties of material (absorption, scattering coefficients and anisotropy factor).</a:t>
            </a:r>
          </a:p>
          <a:p>
            <a:pPr marL="759459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000" dirty="0"/>
              <a:t> It then simulates the expected reflection and transmission based on these guessed properties using the adding-doubling techniques.</a:t>
            </a:r>
          </a:p>
          <a:p>
            <a:pPr marL="759459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000" dirty="0"/>
              <a:t>This simulation results are compared against the initial, real-world measurement, and the algorithm refines its guesses for the optical properties until the simulated results closely match the experimental data.</a:t>
            </a:r>
          </a:p>
        </p:txBody>
      </p:sp>
      <p:sp>
        <p:nvSpPr>
          <p:cNvPr id="4" name="TextBox 8">
            <a:extLst>
              <a:ext uri="{FF2B5EF4-FFF2-40B4-BE49-F238E27FC236}">
                <a16:creationId xmlns:a16="http://schemas.microsoft.com/office/drawing/2014/main" id="{511829F8-285F-981D-508D-431C58E555EE}"/>
              </a:ext>
            </a:extLst>
          </p:cNvPr>
          <p:cNvSpPr txBox="1"/>
          <p:nvPr/>
        </p:nvSpPr>
        <p:spPr>
          <a:xfrm>
            <a:off x="3030516" y="1434743"/>
            <a:ext cx="12230100" cy="6131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02259" lvl="1" algn="l">
              <a:lnSpc>
                <a:spcPts val="4479"/>
              </a:lnSpc>
            </a:pPr>
            <a:r>
              <a:rPr lang="en-US" sz="6000" b="1" dirty="0">
                <a:solidFill>
                  <a:srgbClr val="000000"/>
                </a:solidFill>
                <a:latin typeface="Times New Roman" panose="02020603050405020304" pitchFamily="18" charset="0"/>
                <a:ea typeface="Open Sauce"/>
                <a:cs typeface="Times New Roman" panose="02020603050405020304" pitchFamily="18" charset="0"/>
                <a:sym typeface="Open Sauce"/>
              </a:rPr>
              <a:t>Inverse Adding-Doubling Algorithm</a:t>
            </a:r>
          </a:p>
        </p:txBody>
      </p:sp>
    </p:spTree>
    <p:extLst>
      <p:ext uri="{BB962C8B-B14F-4D97-AF65-F5344CB8AC3E}">
        <p14:creationId xmlns:p14="http://schemas.microsoft.com/office/powerpoint/2010/main" val="42394849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ACB767-1CBD-46CA-9226-B38907FF9A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975B3702-132F-19FA-ECE4-AE2A9B5726B6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0"/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C17E1DF7-074F-9BDE-75E6-1105EABE785F}"/>
              </a:ext>
            </a:extLst>
          </p:cNvPr>
          <p:cNvSpPr/>
          <p:nvPr/>
        </p:nvSpPr>
        <p:spPr>
          <a:xfrm>
            <a:off x="1166399" y="1028700"/>
            <a:ext cx="687324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4" name="TextBox 8">
            <a:extLst>
              <a:ext uri="{FF2B5EF4-FFF2-40B4-BE49-F238E27FC236}">
                <a16:creationId xmlns:a16="http://schemas.microsoft.com/office/drawing/2014/main" id="{78749427-87AC-8028-1FE8-6A2C11F4C6E3}"/>
              </a:ext>
            </a:extLst>
          </p:cNvPr>
          <p:cNvSpPr txBox="1"/>
          <p:nvPr/>
        </p:nvSpPr>
        <p:spPr>
          <a:xfrm>
            <a:off x="6087258" y="1387069"/>
            <a:ext cx="6113484" cy="6131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02259" lvl="1" algn="l">
              <a:lnSpc>
                <a:spcPts val="4479"/>
              </a:lnSpc>
            </a:pPr>
            <a:r>
              <a:rPr lang="en-US" sz="6000" b="1" dirty="0">
                <a:solidFill>
                  <a:srgbClr val="000000"/>
                </a:solidFill>
                <a:latin typeface="Times New Roman" panose="02020603050405020304" pitchFamily="18" charset="0"/>
                <a:ea typeface="Open Sauce"/>
                <a:cs typeface="Times New Roman" panose="02020603050405020304" pitchFamily="18" charset="0"/>
                <a:sym typeface="Open Sauce"/>
              </a:rPr>
              <a:t>Procedure of IAD</a:t>
            </a:r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19752887-E6A2-F1B5-2F9B-E1F621A9A808}"/>
              </a:ext>
            </a:extLst>
          </p:cNvPr>
          <p:cNvSpPr txBox="1"/>
          <p:nvPr/>
        </p:nvSpPr>
        <p:spPr>
          <a:xfrm>
            <a:off x="6591298" y="8899931"/>
            <a:ext cx="5105401" cy="46166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02259" lvl="1" algn="l"/>
            <a:r>
              <a:rPr lang="en-US" sz="3000" dirty="0">
                <a:solidFill>
                  <a:srgbClr val="000000"/>
                </a:solidFill>
                <a:latin typeface="Times New Roman" panose="02020603050405020304" pitchFamily="18" charset="0"/>
                <a:ea typeface="Open Sauce"/>
                <a:cs typeface="Times New Roman" panose="02020603050405020304" pitchFamily="18" charset="0"/>
                <a:sym typeface="Open Sauce"/>
              </a:rPr>
              <a:t>Fig. Process Diagram of IAD</a:t>
            </a:r>
          </a:p>
        </p:txBody>
      </p:sp>
      <p:pic>
        <p:nvPicPr>
          <p:cNvPr id="5" name="Picture 4" descr="A diagram of a process&#10;&#10;AI-generated content may be incorrect.">
            <a:extLst>
              <a:ext uri="{FF2B5EF4-FFF2-40B4-BE49-F238E27FC236}">
                <a16:creationId xmlns:a16="http://schemas.microsoft.com/office/drawing/2014/main" id="{FAE8356C-134F-4617-BAA7-D854F63A07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1347" y="2444345"/>
            <a:ext cx="15345305" cy="6318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95725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EA6E69-B6E0-2808-74BF-C88A40043D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054F854F-146E-FFDD-B9C9-C2341BDC79E3}"/>
              </a:ext>
            </a:extLst>
          </p:cNvPr>
          <p:cNvSpPr/>
          <p:nvPr/>
        </p:nvSpPr>
        <p:spPr>
          <a:xfrm>
            <a:off x="-4813" y="3810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0"/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83EF4207-51D2-8DCE-E355-9B363659A678}"/>
              </a:ext>
            </a:extLst>
          </p:cNvPr>
          <p:cNvSpPr/>
          <p:nvPr/>
        </p:nvSpPr>
        <p:spPr>
          <a:xfrm>
            <a:off x="1166399" y="1028700"/>
            <a:ext cx="687324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A0F72CF3-2B91-9CA5-398B-35ED6E6FFD79}"/>
              </a:ext>
            </a:extLst>
          </p:cNvPr>
          <p:cNvSpPr txBox="1"/>
          <p:nvPr/>
        </p:nvSpPr>
        <p:spPr>
          <a:xfrm>
            <a:off x="1121362" y="3087003"/>
            <a:ext cx="16045276" cy="616091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759459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000" dirty="0"/>
              <a:t>MC simulation is an extensive class of computational algorithms that depends on repeated random sampling to obtain numerical results.</a:t>
            </a:r>
          </a:p>
          <a:p>
            <a:pPr marL="759459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000" dirty="0"/>
              <a:t>it mainly use numerical integration, optimization, and generating draws from probability distribution.</a:t>
            </a:r>
          </a:p>
          <a:p>
            <a:pPr marL="759459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000" dirty="0"/>
              <a:t>It is usually used to simulate light propagation in turbid materials under assumption of uniform macroscopic optical properties over the ranges of ultraviolet, Vis/NIR light.</a:t>
            </a:r>
          </a:p>
          <a:p>
            <a:pPr marL="759459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000" dirty="0"/>
              <a:t>It is valid for a wide range of absorption and scattering coefficients and photon paths.</a:t>
            </a:r>
          </a:p>
          <a:p>
            <a:pPr marL="759459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000" dirty="0"/>
              <a:t>It has high accuracy and slow computational time.</a:t>
            </a:r>
          </a:p>
          <a:p>
            <a:pPr marL="759459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000" dirty="0"/>
              <a:t>IAD is faster than MC with the same high accuracy.</a:t>
            </a:r>
          </a:p>
        </p:txBody>
      </p:sp>
      <p:sp>
        <p:nvSpPr>
          <p:cNvPr id="4" name="TextBox 8">
            <a:extLst>
              <a:ext uri="{FF2B5EF4-FFF2-40B4-BE49-F238E27FC236}">
                <a16:creationId xmlns:a16="http://schemas.microsoft.com/office/drawing/2014/main" id="{D3E40C06-2B9B-1A01-2A62-45D152F0268B}"/>
              </a:ext>
            </a:extLst>
          </p:cNvPr>
          <p:cNvSpPr txBox="1"/>
          <p:nvPr/>
        </p:nvSpPr>
        <p:spPr>
          <a:xfrm>
            <a:off x="5058558" y="1434742"/>
            <a:ext cx="8170884" cy="6131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02259" lvl="1" algn="l">
              <a:lnSpc>
                <a:spcPts val="4479"/>
              </a:lnSpc>
            </a:pPr>
            <a:r>
              <a:rPr lang="en-US" sz="6000" b="1" dirty="0">
                <a:solidFill>
                  <a:srgbClr val="000000"/>
                </a:solidFill>
                <a:latin typeface="Times New Roman" panose="02020603050405020304" pitchFamily="18" charset="0"/>
                <a:ea typeface="Open Sauce"/>
                <a:cs typeface="Times New Roman" panose="02020603050405020304" pitchFamily="18" charset="0"/>
                <a:sym typeface="Open Sauce"/>
              </a:rPr>
              <a:t>Monte Carlo Algorithm</a:t>
            </a:r>
          </a:p>
        </p:txBody>
      </p:sp>
    </p:spTree>
    <p:extLst>
      <p:ext uri="{BB962C8B-B14F-4D97-AF65-F5344CB8AC3E}">
        <p14:creationId xmlns:p14="http://schemas.microsoft.com/office/powerpoint/2010/main" val="25650578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4485814" y="2762204"/>
            <a:ext cx="9316373" cy="24536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160"/>
              </a:lnSpc>
            </a:pPr>
            <a:r>
              <a:rPr lang="en-US" sz="14400">
                <a:solidFill>
                  <a:srgbClr val="000000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The End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4180543" y="5328331"/>
            <a:ext cx="9926914" cy="4057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sz="2400" spc="240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THANK YOU FOR LISTENING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671329" y="8480425"/>
            <a:ext cx="2945342" cy="5531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80"/>
              </a:lnSpc>
              <a:spcBef>
                <a:spcPct val="0"/>
              </a:spcBef>
            </a:pPr>
            <a:r>
              <a:rPr lang="en-US" sz="3200" dirty="0">
                <a:solidFill>
                  <a:srgbClr val="000000">
                    <a:alpha val="49804"/>
                  </a:srgbClr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Thu Ta Zaw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418762" y="9142095"/>
            <a:ext cx="3450476" cy="258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0" algn="ctr">
              <a:lnSpc>
                <a:spcPts val="2239"/>
              </a:lnSpc>
              <a:spcBef>
                <a:spcPct val="0"/>
              </a:spcBef>
            </a:pPr>
            <a:r>
              <a:rPr lang="en-US" sz="1599" spc="159" dirty="0">
                <a:solidFill>
                  <a:srgbClr val="000000">
                    <a:alpha val="49804"/>
                  </a:srgbClr>
                </a:solidFill>
                <a:latin typeface="Open Sauce"/>
                <a:ea typeface="Open Sauce"/>
                <a:cs typeface="Open Sauce"/>
                <a:sym typeface="Open Sauce"/>
              </a:rPr>
              <a:t>2415121095</a:t>
            </a:r>
            <a:endParaRPr lang="en-US" sz="1599" u="none" strike="noStrike" spc="159" dirty="0">
              <a:solidFill>
                <a:srgbClr val="000000">
                  <a:alpha val="49804"/>
                </a:srgbClr>
              </a:solidFill>
              <a:latin typeface="Open Sauce"/>
              <a:ea typeface="Open Sauce"/>
              <a:cs typeface="Open Sauce"/>
              <a:sym typeface="Open Sauce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1444</TotalTime>
  <Words>304</Words>
  <Application>Microsoft Office PowerPoint</Application>
  <PresentationFormat>Custom</PresentationFormat>
  <Paragraphs>28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3" baseType="lpstr">
      <vt:lpstr>DM Serif Display</vt:lpstr>
      <vt:lpstr>Arial</vt:lpstr>
      <vt:lpstr>Times New Roman</vt:lpstr>
      <vt:lpstr>Calibri</vt:lpstr>
      <vt:lpstr>Aptos</vt:lpstr>
      <vt:lpstr>Open Sauce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Black and White Simple Minimalist Pitch Deck Marketing Presentation</dc:title>
  <dc:creator>LUCUS</dc:creator>
  <cp:lastModifiedBy>THU TA ZAW</cp:lastModifiedBy>
  <cp:revision>172</cp:revision>
  <dcterms:created xsi:type="dcterms:W3CDTF">2006-08-16T00:00:00Z</dcterms:created>
  <dcterms:modified xsi:type="dcterms:W3CDTF">2025-10-28T13:30:49Z</dcterms:modified>
  <dc:identifier>DAG0bfrM1o8</dc:identifier>
</cp:coreProperties>
</file>