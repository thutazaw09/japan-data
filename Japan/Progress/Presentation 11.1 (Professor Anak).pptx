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865" r:id="rId3"/>
    <p:sldId id="861" r:id="rId4"/>
    <p:sldId id="854" r:id="rId5"/>
    <p:sldId id="863" r:id="rId6"/>
    <p:sldId id="864" r:id="rId7"/>
    <p:sldId id="267" r:id="rId8"/>
  </p:sldIdLst>
  <p:sldSz cx="18288000" cy="10287000"/>
  <p:notesSz cx="6858000" cy="9144000"/>
  <p:embeddedFontLst>
    <p:embeddedFont>
      <p:font typeface="Cambria Math" panose="02040503050406030204" pitchFamily="18" charset="0"/>
      <p:regular r:id="rId10"/>
    </p:embeddedFont>
    <p:embeddedFont>
      <p:font typeface="DM Serif Display" pitchFamily="2" charset="0"/>
      <p:regular r:id="rId11"/>
      <p:italic r:id="rId12"/>
    </p:embeddedFont>
    <p:embeddedFont>
      <p:font typeface="Open Sauce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2668" autoAdjust="0"/>
  </p:normalViewPr>
  <p:slideViewPr>
    <p:cSldViewPr>
      <p:cViewPr varScale="1">
        <p:scale>
          <a:sx n="42" d="100"/>
          <a:sy n="42" d="100"/>
        </p:scale>
        <p:origin x="84" y="9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48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42067-0DCD-2AC2-2616-7DF9E29B3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CDD7E-C6CA-52FA-34A1-BFC2F8D07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D0F76-A401-8C03-FD0F-504326AC3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E66B8-54A3-36FF-B4AF-404C54FE0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613987" y="2765510"/>
            <a:ext cx="13060024" cy="239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20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Summary (Q4)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B244B4F-61ED-CD64-3F42-BB24EA8E2BD6}"/>
              </a:ext>
            </a:extLst>
          </p:cNvPr>
          <p:cNvSpPr txBox="1"/>
          <p:nvPr/>
        </p:nvSpPr>
        <p:spPr>
          <a:xfrm>
            <a:off x="6905761" y="4925275"/>
            <a:ext cx="4476476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CF42FA-AD96-6718-B5FF-6A0BFF7AD7F8}"/>
              </a:ext>
            </a:extLst>
          </p:cNvPr>
          <p:cNvGrpSpPr/>
          <p:nvPr/>
        </p:nvGrpSpPr>
        <p:grpSpPr>
          <a:xfrm>
            <a:off x="13826319" y="0"/>
            <a:ext cx="4461681" cy="2019300"/>
            <a:chOff x="10985984" y="47827"/>
            <a:chExt cx="1034194" cy="467116"/>
          </a:xfrm>
        </p:grpSpPr>
        <p:pic>
          <p:nvPicPr>
  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A069B459-3DF4-5F50-9704-697C705997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5554D7E3-09F1-F888-8561-58B8ED11C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B18B3-8E75-1984-E8DB-BD5D1AFD3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385FCA8-468C-081C-0856-84759669A5A1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6A4E623-6861-7164-14BE-B4385A62E3CE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A557693-0B54-A98C-0D2C-D423CBBF8D77}"/>
              </a:ext>
            </a:extLst>
          </p:cNvPr>
          <p:cNvSpPr txBox="1"/>
          <p:nvPr/>
        </p:nvSpPr>
        <p:spPr>
          <a:xfrm>
            <a:off x="755816" y="2628122"/>
            <a:ext cx="16541583" cy="4893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5159" lvl="1" indent="-342900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Optical properties describe how a material interacts with light (electromagnetic radiation), especially UV, visible, and infrared regions.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Light behaves as wave or particle (photon).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When light hits a material, it can be: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Reflected, absorbed, transmitted, scattered </a:t>
            </a:r>
            <a:r>
              <a:rPr lang="en-US" sz="2500"/>
              <a:t>and refracted.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br>
              <a:rPr lang="en-US" sz="2500" dirty="0"/>
            </a:br>
            <a:endParaRPr lang="en-US" sz="2500" dirty="0">
              <a:highlight>
                <a:srgbClr val="FFFF00"/>
              </a:highligh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484E0578-5D8E-2B35-28F5-76DCF82F941E}"/>
              </a:ext>
            </a:extLst>
          </p:cNvPr>
          <p:cNvSpPr txBox="1"/>
          <p:nvPr/>
        </p:nvSpPr>
        <p:spPr>
          <a:xfrm>
            <a:off x="3845850" y="1611989"/>
            <a:ext cx="105962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of Materials</a:t>
            </a:r>
          </a:p>
        </p:txBody>
      </p:sp>
    </p:spTree>
    <p:extLst>
      <p:ext uri="{BB962C8B-B14F-4D97-AF65-F5344CB8AC3E}">
        <p14:creationId xmlns:p14="http://schemas.microsoft.com/office/powerpoint/2010/main" val="691514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EA1F2-AFDB-17DA-E80F-EC9D44B3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50422E-C115-7FC3-76D8-93998F873170}"/>
              </a:ext>
            </a:extLst>
          </p:cNvPr>
          <p:cNvSpPr/>
          <p:nvPr/>
        </p:nvSpPr>
        <p:spPr>
          <a:xfrm>
            <a:off x="-641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E0F9060-2D4B-2535-DF21-1A6D9E9D60BD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FA70875-9BF5-2B7B-2CF1-AA665BE69D5D}"/>
              </a:ext>
            </a:extLst>
          </p:cNvPr>
          <p:cNvSpPr txBox="1"/>
          <p:nvPr/>
        </p:nvSpPr>
        <p:spPr>
          <a:xfrm>
            <a:off x="755816" y="2628122"/>
            <a:ext cx="1654158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Probability Density Functions (PDFs)</a:t>
            </a:r>
            <a:endParaRPr lang="en-US" sz="2500" dirty="0">
              <a:highlight>
                <a:srgbClr val="FFFF00"/>
              </a:highligh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22E280A-96CA-F13C-2BC3-34EBA8A1EB94}"/>
              </a:ext>
            </a:extLst>
          </p:cNvPr>
          <p:cNvSpPr txBox="1"/>
          <p:nvPr/>
        </p:nvSpPr>
        <p:spPr>
          <a:xfrm>
            <a:off x="5024701" y="1521821"/>
            <a:ext cx="8238598" cy="1190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Radiative </a:t>
            </a:r>
            <a:r>
              <a:rPr lang="en-US" sz="6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Transprotequation</a:t>
            </a:r>
            <a:endParaRPr lang="en-US" sz="6000" b="1" dirty="0">
              <a:solidFill>
                <a:srgbClr val="000000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5EDC74-8A9B-B3DF-CBEB-F005B0755733}"/>
              </a:ext>
            </a:extLst>
          </p:cNvPr>
          <p:cNvSpPr/>
          <p:nvPr/>
        </p:nvSpPr>
        <p:spPr>
          <a:xfrm>
            <a:off x="5328410" y="3687066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 non-negative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79634B-9927-00F3-A3AF-DF6809CD9BBB}"/>
              </a:ext>
            </a:extLst>
          </p:cNvPr>
          <p:cNvSpPr/>
          <p:nvPr/>
        </p:nvSpPr>
        <p:spPr>
          <a:xfrm>
            <a:off x="8316322" y="3691894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Integrates to 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1C386A-DBFA-AC31-C17F-204559A6FAB4}"/>
              </a:ext>
            </a:extLst>
          </p:cNvPr>
          <p:cNvSpPr/>
          <p:nvPr/>
        </p:nvSpPr>
        <p:spPr>
          <a:xfrm>
            <a:off x="11430000" y="3687066"/>
            <a:ext cx="1981200" cy="9912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Describes likelihood of outcomes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8">
                <a:extLst>
                  <a:ext uri="{FF2B5EF4-FFF2-40B4-BE49-F238E27FC236}">
                    <a16:creationId xmlns:a16="http://schemas.microsoft.com/office/drawing/2014/main" id="{D75952B2-C5F1-EB54-2875-9B7E85123847}"/>
                  </a:ext>
                </a:extLst>
              </p:cNvPr>
              <p:cNvSpPr txBox="1"/>
              <p:nvPr/>
            </p:nvSpPr>
            <p:spPr>
              <a:xfrm>
                <a:off x="737240" y="5320943"/>
                <a:ext cx="16541583" cy="455701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Uniform Distributions[R,S]</a:t>
                </a:r>
              </a:p>
              <a:p>
                <a:pPr marL="302259" lvl="1">
                  <a:lnSpc>
                    <a:spcPts val="4479"/>
                  </a:lnSpc>
                </a:pPr>
                <a:endParaRPr lang="en-US" sz="4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Open Sauce"/>
                </a:endParaRPr>
              </a:p>
              <a:p>
                <a:pPr marL="873759" lvl="1" indent="-571500">
                  <a:lnSpc>
                    <a:spcPts val="4479"/>
                  </a:lnSpc>
                  <a:buFont typeface="Arial" panose="020B0604020202020204" pitchFamily="34" charset="0"/>
                  <a:buChar char="•"/>
                </a:pPr>
                <a:r>
                  <a:rPr lang="en-US" sz="25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  <a:sym typeface="Open Sauce"/>
                  </a:rPr>
                  <a:t>This is the foundation of Monte Carlo simulations.</a:t>
                </a:r>
              </a:p>
              <a:p>
                <a:pPr marL="873759" lvl="1" indent="-571500">
                  <a:lnSpc>
                    <a:spcPts val="4479"/>
                  </a:lnSpc>
                  <a:buFont typeface="Arial" panose="020B0604020202020204" pitchFamily="34" charset="0"/>
                  <a:buChar char="•"/>
                </a:pPr>
                <a:r>
                  <a:rPr lang="en-US" sz="25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  <a:sym typeface="Open Sauce"/>
                  </a:rPr>
                  <a:t>PDF</a:t>
                </a:r>
              </a:p>
              <a:p>
                <a:pPr marL="302259" lvl="1">
                  <a:lnSpc>
                    <a:spcPts val="447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Open Sauce"/>
                        </a:rPr>
                        <m:t>𝑓</m:t>
                      </m:r>
                      <m:d>
                        <m:dPr>
                          <m:ctrlP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𝑥</m:t>
                          </m:r>
                        </m:e>
                      </m:d>
                      <m:r>
                        <a:rPr lang="en-US" sz="2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Open Sauce"/>
                        </a:rPr>
                        <m:t>=</m:t>
                      </m:r>
                      <m:f>
                        <m:fPr>
                          <m:ctrlP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</m:ctrlPr>
                        </m:fPr>
                        <m:num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1</m:t>
                          </m:r>
                        </m:num>
                        <m:den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𝑆</m:t>
                          </m:r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−</m:t>
                          </m:r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500" dirty="0">
                  <a:solidFill>
                    <a:srgbClr val="000000"/>
                  </a:solidFill>
                  <a:latin typeface="+mj-lt"/>
                  <a:cs typeface="Times New Roman" panose="02020603050405020304" pitchFamily="18" charset="0"/>
                  <a:sym typeface="Open Sauce"/>
                </a:endParaRPr>
              </a:p>
              <a:p>
                <a:pPr marL="873759" lvl="1" indent="-571500">
                  <a:lnSpc>
                    <a:spcPts val="4479"/>
                  </a:lnSpc>
                  <a:buFont typeface="Arial" panose="020B0604020202020204" pitchFamily="34" charset="0"/>
                  <a:buChar char="•"/>
                </a:pPr>
                <a:r>
                  <a:rPr lang="en-US" sz="2500" dirty="0">
                    <a:solidFill>
                      <a:srgbClr val="000000"/>
                    </a:solidFill>
                    <a:latin typeface="+mj-lt"/>
                    <a:cs typeface="Times New Roman" panose="02020603050405020304" pitchFamily="18" charset="0"/>
                    <a:sym typeface="Open Sauce"/>
                  </a:rPr>
                  <a:t>CDF</a:t>
                </a:r>
              </a:p>
              <a:p>
                <a:pPr marL="302259" lvl="1">
                  <a:lnSpc>
                    <a:spcPts val="447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Open Sauce"/>
                        </a:rPr>
                        <m:t>𝐹</m:t>
                      </m:r>
                      <m:d>
                        <m:dPr>
                          <m:ctrlP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𝑥</m:t>
                          </m:r>
                        </m:e>
                      </m:d>
                      <m:r>
                        <a:rPr lang="en-US" sz="2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Open Sauce"/>
                        </a:rPr>
                        <m:t>=</m:t>
                      </m:r>
                      <m:f>
                        <m:fPr>
                          <m:ctrlP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</m:ctrlPr>
                        </m:fPr>
                        <m:num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𝑥</m:t>
                          </m:r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−</m:t>
                          </m:r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𝑅</m:t>
                          </m:r>
                        </m:num>
                        <m:den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𝑆</m:t>
                          </m:r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−</m:t>
                          </m:r>
                          <m:r>
                            <a:rPr lang="en-US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Open Sauce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4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Open Sauce"/>
                </a:endParaRPr>
              </a:p>
              <a:p>
                <a:pPr marL="302259" lvl="1">
                  <a:lnSpc>
                    <a:spcPts val="4479"/>
                  </a:lnSpc>
                </a:pPr>
                <a:endParaRPr lang="en-US" sz="2500" dirty="0"/>
              </a:p>
            </p:txBody>
          </p:sp>
        </mc:Choice>
        <mc:Fallback xmlns="">
          <p:sp>
            <p:nvSpPr>
              <p:cNvPr id="15" name="TextBox 8">
                <a:extLst>
                  <a:ext uri="{FF2B5EF4-FFF2-40B4-BE49-F238E27FC236}">
                    <a16:creationId xmlns:a16="http://schemas.microsoft.com/office/drawing/2014/main" id="{D75952B2-C5F1-EB54-2875-9B7E85123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40" y="5320943"/>
                <a:ext cx="16541583" cy="4557017"/>
              </a:xfrm>
              <a:prstGeom prst="rect">
                <a:avLst/>
              </a:prstGeom>
              <a:blipFill>
                <a:blip r:embed="rId3"/>
                <a:stretch>
                  <a:fillRect l="-37" t="-4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594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4A59-E510-D3CE-EEDC-BAF687066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F69A78-7C48-B4A8-387C-4A83B1653B2F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B8D32E8-879F-FF77-5F6B-BB5553F71369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7F14995-EBF8-E012-9950-1F72926DF528}"/>
              </a:ext>
            </a:extLst>
          </p:cNvPr>
          <p:cNvSpPr txBox="1"/>
          <p:nvPr/>
        </p:nvSpPr>
        <p:spPr>
          <a:xfrm>
            <a:off x="755816" y="2628122"/>
            <a:ext cx="16541583" cy="8040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What is Monte Carlo Simulation</a:t>
            </a:r>
            <a:endParaRPr lang="en-US" sz="2500" b="1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Monte Carlo simulation is a computational method that uses random sampling, models complex systems probabilistically and estimates quantities that are analytically intractable.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Uses the law of large number to average the samples which can find the true expectation values along with the central limit theorem to reduce the statistical error. 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It is used when:</a:t>
            </a:r>
          </a:p>
          <a:p>
            <a:pPr marL="1518919" lvl="3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When the system is high-dimensional </a:t>
            </a:r>
          </a:p>
          <a:p>
            <a:pPr marL="1518919" lvl="3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Governing equations are nonlinear.</a:t>
            </a:r>
          </a:p>
          <a:p>
            <a:pPr marL="1518919" lvl="3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Boundary conditions are complex </a:t>
            </a:r>
          </a:p>
          <a:p>
            <a:pPr marL="1518919" lvl="3" indent="-302260">
              <a:lnSpc>
                <a:spcPct val="200000"/>
              </a:lnSpc>
              <a:buFont typeface="Arial"/>
              <a:buChar char="•"/>
            </a:pPr>
            <a:r>
              <a:rPr lang="en-US" sz="2400" dirty="0"/>
              <a:t>Experiments are too expensive.</a:t>
            </a:r>
            <a:br>
              <a:rPr lang="en-US" sz="2500" dirty="0"/>
            </a:br>
            <a:endParaRPr lang="en-US" sz="2500" dirty="0">
              <a:highlight>
                <a:srgbClr val="FFFF00"/>
              </a:highligh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054FA952-5108-6FE4-18F4-46D0E93CE8DD}"/>
              </a:ext>
            </a:extLst>
          </p:cNvPr>
          <p:cNvSpPr txBox="1"/>
          <p:nvPr/>
        </p:nvSpPr>
        <p:spPr>
          <a:xfrm>
            <a:off x="5024701" y="1521821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Monte Carlo Simulation</a:t>
            </a:r>
          </a:p>
        </p:txBody>
      </p:sp>
    </p:spTree>
    <p:extLst>
      <p:ext uri="{BB962C8B-B14F-4D97-AF65-F5344CB8AC3E}">
        <p14:creationId xmlns:p14="http://schemas.microsoft.com/office/powerpoint/2010/main" val="3479518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F1E66-3CD6-398F-A5DB-887DF8F0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E18492-B42F-F594-8B78-3B9263F0E609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BBB2340-E7BC-15E5-2039-AA31EF615F9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5E3BB4A-0A7E-4E51-14CC-83452FF1456F}"/>
              </a:ext>
            </a:extLst>
          </p:cNvPr>
          <p:cNvSpPr txBox="1"/>
          <p:nvPr/>
        </p:nvSpPr>
        <p:spPr>
          <a:xfrm>
            <a:off x="762000" y="2313081"/>
            <a:ext cx="16541583" cy="7855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Strength of Monte Carlo Simulation</a:t>
            </a:r>
            <a:endParaRPr lang="en-US" sz="2500" b="1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Handle complex geometry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No need for analytical solutions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Flexible and general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Reveals hidden variables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Easily extensible</a:t>
            </a:r>
          </a:p>
          <a:p>
            <a:pPr marL="302259" lvl="1">
              <a:lnSpc>
                <a:spcPct val="20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Monte Carlo Simulation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Computationally expensive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Statistical noise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Depends on model accuracy</a:t>
            </a:r>
            <a:endParaRPr lang="en-US" sz="2500" dirty="0">
              <a:highlight>
                <a:srgbClr val="FFFF00"/>
              </a:highligh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88D5F75-6C97-D7A5-559C-1F6DAD417D5A}"/>
              </a:ext>
            </a:extLst>
          </p:cNvPr>
          <p:cNvSpPr txBox="1"/>
          <p:nvPr/>
        </p:nvSpPr>
        <p:spPr>
          <a:xfrm>
            <a:off x="3381826" y="1581978"/>
            <a:ext cx="11510699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 Doubling Method</a:t>
            </a:r>
          </a:p>
        </p:txBody>
      </p:sp>
    </p:spTree>
    <p:extLst>
      <p:ext uri="{BB962C8B-B14F-4D97-AF65-F5344CB8AC3E}">
        <p14:creationId xmlns:p14="http://schemas.microsoft.com/office/powerpoint/2010/main" val="3582927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ABEC9-6F01-2F68-F67F-ACACE7219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1AAE1A6-80F7-205D-5D00-18F23748A01B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A5DC49B-6576-267B-EC1E-C738323B9851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0734244-857E-77C9-9B9B-C092898B1090}"/>
              </a:ext>
            </a:extLst>
          </p:cNvPr>
          <p:cNvSpPr txBox="1"/>
          <p:nvPr/>
        </p:nvSpPr>
        <p:spPr>
          <a:xfrm>
            <a:off x="762000" y="2313081"/>
            <a:ext cx="16541583" cy="7394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Tallying Monte Carlo Results</a:t>
            </a:r>
            <a:endParaRPr lang="en-US" sz="2500" b="1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The results from the Monte Carlo are:</a:t>
            </a:r>
          </a:p>
          <a:p>
            <a:pPr marL="1976119" lvl="4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Distributions</a:t>
            </a:r>
          </a:p>
          <a:p>
            <a:pPr marL="1976119" lvl="4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Mean values</a:t>
            </a:r>
          </a:p>
          <a:p>
            <a:pPr marL="1976119" lvl="4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Variances</a:t>
            </a:r>
          </a:p>
          <a:p>
            <a:pPr marL="1976119" lvl="4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Confidence intervales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Typical outputs includes:</a:t>
            </a:r>
          </a:p>
          <a:p>
            <a:pPr marL="1976119" lvl="4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Histograms </a:t>
            </a:r>
          </a:p>
          <a:p>
            <a:pPr marL="1976119" lvl="4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Expectation values</a:t>
            </a:r>
          </a:p>
          <a:p>
            <a:pPr marL="1976119" lvl="4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Error estimates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36C694F4-DFD1-3B1B-A663-13451D53C96E}"/>
              </a:ext>
            </a:extLst>
          </p:cNvPr>
          <p:cNvSpPr txBox="1"/>
          <p:nvPr/>
        </p:nvSpPr>
        <p:spPr>
          <a:xfrm>
            <a:off x="5024701" y="1521821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Integrating Sphere</a:t>
            </a:r>
          </a:p>
        </p:txBody>
      </p:sp>
    </p:spTree>
    <p:extLst>
      <p:ext uri="{BB962C8B-B14F-4D97-AF65-F5344CB8AC3E}">
        <p14:creationId xmlns:p14="http://schemas.microsoft.com/office/powerpoint/2010/main" val="202528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2957</TotalTime>
  <Words>274</Words>
  <Application>Microsoft Office PowerPoint</Application>
  <PresentationFormat>Custom</PresentationFormat>
  <Paragraphs>59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Open Sauce</vt:lpstr>
      <vt:lpstr>Times New Roman</vt:lpstr>
      <vt:lpstr>Cambria Math</vt:lpstr>
      <vt:lpstr>Calibri</vt:lpstr>
      <vt:lpstr>DM Serif Display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444</cp:revision>
  <dcterms:created xsi:type="dcterms:W3CDTF">2006-08-16T00:00:00Z</dcterms:created>
  <dcterms:modified xsi:type="dcterms:W3CDTF">2025-12-27T13:46:24Z</dcterms:modified>
  <dc:identifier>DAG0bfrM1o8</dc:identifier>
</cp:coreProperties>
</file>