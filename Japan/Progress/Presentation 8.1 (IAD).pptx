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851" r:id="rId3"/>
    <p:sldId id="839" r:id="rId4"/>
    <p:sldId id="841" r:id="rId5"/>
    <p:sldId id="842" r:id="rId6"/>
    <p:sldId id="852" r:id="rId7"/>
    <p:sldId id="853" r:id="rId8"/>
    <p:sldId id="854" r:id="rId9"/>
    <p:sldId id="856" r:id="rId10"/>
    <p:sldId id="857" r:id="rId11"/>
    <p:sldId id="840" r:id="rId12"/>
    <p:sldId id="267" r:id="rId13"/>
  </p:sldIdLst>
  <p:sldSz cx="18288000" cy="10287000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DM Serif Display" pitchFamily="2" charset="0"/>
      <p:regular r:id="rId16"/>
      <p:italic r:id="rId17"/>
    </p:embeddedFont>
    <p:embeddedFont>
      <p:font typeface="Open Sauc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8" autoAdjust="0"/>
    <p:restoredTop sz="93149" autoAdjust="0"/>
  </p:normalViewPr>
  <p:slideViewPr>
    <p:cSldViewPr>
      <p:cViewPr varScale="1">
        <p:scale>
          <a:sx n="70" d="100"/>
          <a:sy n="70" d="100"/>
        </p:scale>
        <p:origin x="114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90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613987" y="2765510"/>
            <a:ext cx="13060024" cy="2394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20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VIII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7B244B4F-61ED-CD64-3F42-BB24EA8E2BD6}"/>
              </a:ext>
            </a:extLst>
          </p:cNvPr>
          <p:cNvSpPr txBox="1"/>
          <p:nvPr/>
        </p:nvSpPr>
        <p:spPr>
          <a:xfrm>
            <a:off x="5067850" y="4871022"/>
            <a:ext cx="8152298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Inverse-Adding Doubling Method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CF42FA-AD96-6718-B5FF-6A0BFF7AD7F8}"/>
              </a:ext>
            </a:extLst>
          </p:cNvPr>
          <p:cNvGrpSpPr/>
          <p:nvPr/>
        </p:nvGrpSpPr>
        <p:grpSpPr>
          <a:xfrm>
            <a:off x="13826319" y="0"/>
            <a:ext cx="4461681" cy="2019300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069B459-3DF4-5F50-9704-697C705997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5554D7E3-09F1-F888-8561-58B8ED11C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C434-3920-CE82-D908-B6601E6ED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0DF902-CB28-E5AA-1107-7874C13416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C4B44CE-ED28-7AE1-DB6D-29F223729101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E223CA-18EF-3F7D-7091-8245A0C6EE04}"/>
              </a:ext>
            </a:extLst>
          </p:cNvPr>
          <p:cNvSpPr txBox="1"/>
          <p:nvPr/>
        </p:nvSpPr>
        <p:spPr>
          <a:xfrm>
            <a:off x="755816" y="2628122"/>
            <a:ext cx="16236783" cy="6994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(IAD) method</a:t>
            </a:r>
            <a:endParaRPr lang="en-US" sz="2500" dirty="0"/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Inverse Adding-Doubling (IAD) is a numerical method used to determine the intrinsic optical properties of turbid media: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Absorption coefficient (</a:t>
            </a:r>
            <a:r>
              <a:rPr lang="el-GR" sz="2800" dirty="0"/>
              <a:t>μ</a:t>
            </a:r>
            <a:r>
              <a:rPr lang="en-US" sz="2800" dirty="0"/>
              <a:t>ₐ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Scattering coefficient (</a:t>
            </a:r>
            <a:r>
              <a:rPr lang="el-GR" sz="2800" dirty="0"/>
              <a:t>μ</a:t>
            </a:r>
            <a:r>
              <a:rPr lang="en-US" sz="2800" dirty="0"/>
              <a:t>ₛ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Anisotropy factor (g)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From experimental measurements: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Total diffuse reflectance (</a:t>
            </a:r>
            <a:r>
              <a:rPr lang="en-US" sz="2800" dirty="0"/>
              <a:t>Rₜ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Total diffuse transmittance (</a:t>
            </a:r>
            <a:r>
              <a:rPr lang="en-US" sz="2800" dirty="0"/>
              <a:t>Tₜ</a:t>
            </a:r>
            <a:r>
              <a:rPr lang="en-US" sz="2500" dirty="0"/>
              <a:t>)</a:t>
            </a:r>
          </a:p>
          <a:p>
            <a:pPr marL="1061719" lvl="2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 err="1"/>
              <a:t>Unscattered</a:t>
            </a:r>
            <a:r>
              <a:rPr lang="en-US" sz="2500" dirty="0"/>
              <a:t> / collimated transmittance (</a:t>
            </a:r>
            <a:r>
              <a:rPr lang="en-US" sz="2500" dirty="0" err="1"/>
              <a:t>T_c</a:t>
            </a:r>
            <a:r>
              <a:rPr lang="en-US" sz="2500" dirty="0"/>
              <a:t>)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FF2967B-70BE-7CEB-86A7-B337167463E2}"/>
              </a:ext>
            </a:extLst>
          </p:cNvPr>
          <p:cNvSpPr txBox="1"/>
          <p:nvPr/>
        </p:nvSpPr>
        <p:spPr>
          <a:xfrm>
            <a:off x="7358062" y="1417745"/>
            <a:ext cx="3571875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80191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FE5F-C06F-A3D7-A556-D74761CB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FF2FB2-4B51-8ADE-00B3-4237FAE2F7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DEB9C3B-0D92-07EF-0CA0-A3A1DBABE4C4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07528D-1E96-ECA4-01C3-2364794CEFEF}"/>
              </a:ext>
            </a:extLst>
          </p:cNvPr>
          <p:cNvSpPr txBox="1"/>
          <p:nvPr/>
        </p:nvSpPr>
        <p:spPr>
          <a:xfrm>
            <a:off x="1121362" y="3162300"/>
            <a:ext cx="16045276" cy="5410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works by repeatedly simulating light propagation (Adding-doubling) and adjusting optical parameters until simulation matches measurement.</a:t>
            </a:r>
          </a:p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uses an iterative, trial-an-error approach to solve the radiative transport equation.</a:t>
            </a:r>
          </a:p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The optical properties calculated from the algorithm are compared with measured value until they are in agree.</a:t>
            </a:r>
          </a:p>
          <a:p>
            <a:pPr marL="759459" lvl="1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3000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ED899A8-3DAC-E3C2-FA60-E3B03660392C}"/>
              </a:ext>
            </a:extLst>
          </p:cNvPr>
          <p:cNvSpPr txBox="1"/>
          <p:nvPr/>
        </p:nvSpPr>
        <p:spPr>
          <a:xfrm>
            <a:off x="3030516" y="1434743"/>
            <a:ext cx="122301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83261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66A6-CA9B-6747-700D-FD253D54A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B669B3F-449B-D03A-1A88-39CDF8E607B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B2494A-3F54-B603-67E3-9C9BF9960FDC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9736A2B-4727-6A3A-1229-54CBE761F191}"/>
              </a:ext>
            </a:extLst>
          </p:cNvPr>
          <p:cNvSpPr txBox="1"/>
          <p:nvPr/>
        </p:nvSpPr>
        <p:spPr>
          <a:xfrm>
            <a:off x="1121362" y="3087003"/>
            <a:ext cx="16045276" cy="6391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Why IAD? </a:t>
            </a:r>
            <a:endParaRPr lang="en-US" sz="4000" dirty="0"/>
          </a:p>
          <a:p>
            <a:pPr marL="302259" lvl="1">
              <a:lnSpc>
                <a:spcPct val="150000"/>
              </a:lnSpc>
            </a:pPr>
            <a:endParaRPr lang="en-US" sz="3000" dirty="0"/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Beer’s Law cannot compute the scattering condition, so it is useless for tissue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Kubelka-Munk is inaccurate for high anisotropy as it is based on 2-flux approximation.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Diffusion Approximation fails when there is high absorption, thin samples, low scattering and strong anisotropy g &gt; 0.7.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Monte Carlo algorithm is an accurate one, but it is slow and expensive. 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solves all these problems by using a full radiative transport solver but still fast enough for iteration.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11829F8-285F-981D-508D-431C58E555EE}"/>
              </a:ext>
            </a:extLst>
          </p:cNvPr>
          <p:cNvSpPr txBox="1"/>
          <p:nvPr/>
        </p:nvSpPr>
        <p:spPr>
          <a:xfrm>
            <a:off x="3030516" y="1434743"/>
            <a:ext cx="12230100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 Algorithm</a:t>
            </a:r>
          </a:p>
        </p:txBody>
      </p:sp>
    </p:spTree>
    <p:extLst>
      <p:ext uri="{BB962C8B-B14F-4D97-AF65-F5344CB8AC3E}">
        <p14:creationId xmlns:p14="http://schemas.microsoft.com/office/powerpoint/2010/main" val="423948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6E69-B6E0-2808-74BF-C88A4004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4F854F-146E-FFDD-B9C9-C2341BDC79E3}"/>
              </a:ext>
            </a:extLst>
          </p:cNvPr>
          <p:cNvSpPr/>
          <p:nvPr/>
        </p:nvSpPr>
        <p:spPr>
          <a:xfrm>
            <a:off x="-4813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3EF4207-51D2-8DCE-E355-9B363659A67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A0F72CF3-2B91-9CA5-398B-35ED6E6FFD79}"/>
                  </a:ext>
                </a:extLst>
              </p:cNvPr>
              <p:cNvSpPr txBox="1"/>
              <p:nvPr/>
            </p:nvSpPr>
            <p:spPr>
              <a:xfrm>
                <a:off x="1121362" y="3087003"/>
                <a:ext cx="16045276" cy="61473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RTE describes how light moves inside a scattering medium.</a:t>
                </a:r>
              </a:p>
              <a:p>
                <a:pPr marL="1216659" lvl="3" algn="ctr">
                  <a:lnSpc>
                    <a:spcPct val="150000"/>
                  </a:lnSpc>
                </a:pPr>
                <a:r>
                  <a:rPr lang="en-US" sz="2800" dirty="0"/>
                  <a:t>	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dirty="0"/>
                      <m:t>μ</m:t>
                    </m:r>
                    <m:r>
                      <a:rPr lang="el-GR" sz="2800" i="1" dirty="0"/>
                      <m:t> </m:t>
                    </m:r>
                    <m:f>
                      <m:fPr>
                        <m:ctrlPr>
                          <a:rPr lang="el-GR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sz="2800" dirty="0"/>
                          <m:t>​</m:t>
                        </m:r>
                        <m:r>
                          <m:rPr>
                            <m:nor/>
                          </m:rPr>
                          <a:rPr lang="en-US" sz="2800" dirty="0"/>
                          <m:t>∂</m:t>
                        </m:r>
                        <m:r>
                          <m:rPr>
                            <m:nor/>
                          </m:rPr>
                          <a:rPr lang="en-US" sz="2800" dirty="0"/>
                          <m:t>L</m:t>
                        </m:r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en-US" sz="2800" dirty="0"/>
                          <m:t>z</m:t>
                        </m:r>
                        <m:r>
                          <m:rPr>
                            <m:nor/>
                          </m:rPr>
                          <a:rPr lang="en-US" sz="2800" dirty="0"/>
                          <m:t>,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  <m:r>
                          <m:rPr>
                            <m:nor/>
                          </m:rPr>
                          <a:rPr lang="el-GR" sz="28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800" dirty="0"/>
                          <m:t>∂</m:t>
                        </m:r>
                        <m:r>
                          <m:rPr>
                            <m:nor/>
                          </m:rPr>
                          <a:rPr lang="en-US" sz="2800" dirty="0"/>
                          <m:t>z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l-GR" sz="2800" dirty="0"/>
                      <m:t>−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l-GR" sz="2800" dirty="0"/>
                      <m:t>(</m:t>
                    </m:r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nor/>
                      </m:rPr>
                      <a:rPr lang="en-US" sz="2800" dirty="0"/>
                      <m:t>​+</m:t>
                    </m:r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nor/>
                      </m:rPr>
                      <a:rPr lang="en-US" sz="2800" dirty="0"/>
                      <m:t>​)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l-GR" sz="2800" dirty="0"/>
                      <m:t>+</m:t>
                    </m:r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nary>
                      <m:naryPr>
                        <m:ctrlPr>
                          <a:rPr lang="el-GR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nor/>
                          </m:rPr>
                          <a:rPr lang="en-US" sz="2800" dirty="0"/>
                          <m:t>p</m:t>
                        </m:r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  <m:r>
                          <m:rPr>
                            <m:nor/>
                          </m:rPr>
                          <a:rPr lang="el-GR" sz="2800" dirty="0"/>
                          <m:t>,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  <m:r>
                          <m:rPr>
                            <m:nor/>
                          </m:rPr>
                          <a:rPr lang="el-GR" sz="2800" dirty="0"/>
                          <m:t>′)</m:t>
                        </m:r>
                        <m:r>
                          <m:rPr>
                            <m:nor/>
                          </m:rPr>
                          <a:rPr lang="en-US" sz="2800" dirty="0"/>
                          <m:t>L</m:t>
                        </m:r>
                        <m:r>
                          <m:rPr>
                            <m:nor/>
                          </m:rPr>
                          <a:rPr lang="en-US" sz="2800" dirty="0"/>
                          <m:t>(</m:t>
                        </m:r>
                        <m:r>
                          <m:rPr>
                            <m:nor/>
                          </m:rPr>
                          <a:rPr lang="en-US" sz="2800" dirty="0"/>
                          <m:t>z</m:t>
                        </m:r>
                        <m:r>
                          <m:rPr>
                            <m:nor/>
                          </m:rPr>
                          <a:rPr lang="en-US" sz="2800" dirty="0"/>
                          <m:t>,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  <m:r>
                          <m:rPr>
                            <m:nor/>
                          </m:rPr>
                          <a:rPr lang="el-GR" sz="2800" dirty="0"/>
                          <m:t>′)</m:t>
                        </m:r>
                        <m:r>
                          <a:rPr lang="en-US" sz="2800" i="1" dirty="0" smtClean="0"/>
                          <m:t> </m:t>
                        </m:r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800" dirty="0"/>
                              <m:t>d</m:t>
                            </m:r>
                            <m:r>
                              <m:rPr>
                                <m:nor/>
                              </m:rPr>
                              <a:rPr lang="el-GR" sz="2800" dirty="0"/>
                              <m:t>μ</m:t>
                            </m:r>
                            <m:r>
                              <m:rPr>
                                <m:nor/>
                              </m:rPr>
                              <a:rPr lang="el-GR" sz="2800" dirty="0"/>
                              <m:t>′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l-GR" sz="2800" dirty="0"/>
                          <m:t>​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</m:e>
                    </m:nary>
                  </m:oMath>
                </a14:m>
                <a:r>
                  <a:rPr lang="en-US" sz="2800" dirty="0"/>
                  <a:t>   ​​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L</m:t>
                    </m:r>
                    <m:r>
                      <m:rPr>
                        <m:nor/>
                      </m:rPr>
                      <a:rPr lang="en-US" sz="2800" dirty="0"/>
                      <m:t>(</m:t>
                    </m:r>
                    <m:r>
                      <m:rPr>
                        <m:nor/>
                      </m:rPr>
                      <a:rPr lang="en-US" sz="2800" dirty="0"/>
                      <m:t>z</m:t>
                    </m:r>
                    <m:r>
                      <m:rPr>
                        <m:nor/>
                      </m:rPr>
                      <a:rPr lang="en-US" sz="2800" dirty="0"/>
                      <m:t>,</m:t>
                    </m:r>
                    <m:r>
                      <m:rPr>
                        <m:nor/>
                      </m:rPr>
                      <a:rPr lang="el-GR" sz="2800" dirty="0"/>
                      <m:t>μ</m:t>
                    </m:r>
                    <m:r>
                      <m:rPr>
                        <m:nor/>
                      </m:rPr>
                      <a:rPr lang="el-GR" sz="2800" dirty="0"/>
                      <m:t>)</m:t>
                    </m:r>
                    <m:r>
                      <m:rPr>
                        <m:nor/>
                      </m:rPr>
                      <a:rPr lang="en-US" sz="2800" b="0" i="0" dirty="0" smtClean="0"/>
                      <m:t> =</m:t>
                    </m:r>
                  </m:oMath>
                </a14:m>
                <a:r>
                  <a:rPr lang="en-US" sz="2800" dirty="0"/>
                  <a:t> radiance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= absorption coefficient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= scattering coefficient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p</m:t>
                    </m:r>
                    <m:r>
                      <m:rPr>
                        <m:nor/>
                      </m:rPr>
                      <a:rPr lang="en-US" sz="2800" dirty="0"/>
                      <m:t>(</m:t>
                    </m:r>
                    <m:r>
                      <m:rPr>
                        <m:nor/>
                      </m:rPr>
                      <a:rPr lang="el-GR" sz="2800" dirty="0"/>
                      <m:t>μ</m:t>
                    </m:r>
                    <m:r>
                      <m:rPr>
                        <m:nor/>
                      </m:rPr>
                      <a:rPr lang="el-GR" sz="2800" dirty="0"/>
                      <m:t>,</m:t>
                    </m:r>
                    <m:r>
                      <m:rPr>
                        <m:nor/>
                      </m:rPr>
                      <a:rPr lang="el-GR" sz="2800" dirty="0"/>
                      <m:t>μ</m:t>
                    </m:r>
                    <m:r>
                      <m:rPr>
                        <m:nor/>
                      </m:rPr>
                      <a:rPr lang="el-GR" sz="2800" dirty="0"/>
                      <m:t>′)</m:t>
                    </m:r>
                  </m:oMath>
                </a14:m>
                <a:r>
                  <a:rPr lang="en-US" sz="2800" dirty="0"/>
                  <a:t> = phase function (</a:t>
                </a:r>
                <a:r>
                  <a:rPr lang="en-US" sz="2800" dirty="0" err="1"/>
                  <a:t>Henyey</a:t>
                </a:r>
                <a:r>
                  <a:rPr lang="en-US" sz="2800" dirty="0"/>
                  <a:t>-Greenstein)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g = anisotropy (average cosine of scattering angle)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 RTE cannot be solved analytically for real material with  anisotropy and refractive index mismatch.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Thus, IAD uses a numerical method to solve RTE: the Adding-Doubling Method (AD)</a:t>
                </a:r>
              </a:p>
            </p:txBody>
          </p:sp>
        </mc:Choice>
        <mc:Fallback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A0F72CF3-2B91-9CA5-398B-35ED6E6FF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62" y="3087003"/>
                <a:ext cx="16045276" cy="6147324"/>
              </a:xfrm>
              <a:prstGeom prst="rect">
                <a:avLst/>
              </a:prstGeom>
              <a:blipFill>
                <a:blip r:embed="rId3"/>
                <a:stretch>
                  <a:fillRect b="-2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D3E40C06-2B9B-1A01-2A62-45D152F0268B}"/>
              </a:ext>
            </a:extLst>
          </p:cNvPr>
          <p:cNvSpPr txBox="1"/>
          <p:nvPr/>
        </p:nvSpPr>
        <p:spPr>
          <a:xfrm>
            <a:off x="4086566" y="1396642"/>
            <a:ext cx="1010524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Radiative Transport Equation</a:t>
            </a:r>
          </a:p>
        </p:txBody>
      </p:sp>
    </p:spTree>
    <p:extLst>
      <p:ext uri="{BB962C8B-B14F-4D97-AF65-F5344CB8AC3E}">
        <p14:creationId xmlns:p14="http://schemas.microsoft.com/office/powerpoint/2010/main" val="2565057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B63C-A976-D649-3DCD-BA3DA94E7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EDB6C7-1B6E-8AD2-EB06-A0EAEE27C51B}"/>
              </a:ext>
            </a:extLst>
          </p:cNvPr>
          <p:cNvSpPr/>
          <p:nvPr/>
        </p:nvSpPr>
        <p:spPr>
          <a:xfrm>
            <a:off x="-4813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37C5DFB-5353-12D6-7502-B66101B047E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B462CA5A-18C0-4A2B-7B41-D74D02DFBAB6}"/>
                  </a:ext>
                </a:extLst>
              </p:cNvPr>
              <p:cNvSpPr txBox="1"/>
              <p:nvPr/>
            </p:nvSpPr>
            <p:spPr>
              <a:xfrm>
                <a:off x="1121362" y="3087003"/>
                <a:ext cx="16045276" cy="63964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Adding-doubling is a numerical method to compute R(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dirty="0"/>
                      <m:t>μ</m:t>
                    </m:r>
                  </m:oMath>
                </a14:m>
                <a:r>
                  <a:rPr lang="en-US" sz="2800" dirty="0"/>
                  <a:t>) (reflection) and T(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dirty="0"/>
                      <m:t>μ</m:t>
                    </m:r>
                  </m:oMath>
                </a14:m>
                <a:r>
                  <a:rPr lang="en-US" sz="2800" dirty="0"/>
                  <a:t>) (transmission) as a function of angle) for a slab. 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For a “single-scattering” thin slab, reflectance and transmittance can be calculated exactly from: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, g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Phase function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Fresnel reflection at boundaries (if n ≠ 1)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For double the slab thickness: 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If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 for thickness d is known,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dirty="0" smtClean="0"/>
                          <m:t>R</m:t>
                        </m:r>
                      </m:e>
                      <m:sub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b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800" i="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 for thickness 2d can be computed.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This accounts for infinite internal reflection between the two identical slabs, and possible to continue doubling d, 2d, 4d, 8d and … </a:t>
                </a:r>
              </a:p>
            </p:txBody>
          </p:sp>
        </mc:Choice>
        <mc:Fallback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B462CA5A-18C0-4A2B-7B41-D74D02DFB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62" y="3087003"/>
                <a:ext cx="16045276" cy="6396495"/>
              </a:xfrm>
              <a:prstGeom prst="rect">
                <a:avLst/>
              </a:prstGeom>
              <a:blipFill>
                <a:blip r:embed="rId3"/>
                <a:stretch>
                  <a:fillRect r="-988" b="-2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7A039F9C-68A7-45D2-0695-ED9F5885ECEE}"/>
              </a:ext>
            </a:extLst>
          </p:cNvPr>
          <p:cNvSpPr txBox="1"/>
          <p:nvPr/>
        </p:nvSpPr>
        <p:spPr>
          <a:xfrm>
            <a:off x="6372566" y="1396642"/>
            <a:ext cx="553324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Forward Model</a:t>
            </a:r>
          </a:p>
        </p:txBody>
      </p:sp>
    </p:spTree>
    <p:extLst>
      <p:ext uri="{BB962C8B-B14F-4D97-AF65-F5344CB8AC3E}">
        <p14:creationId xmlns:p14="http://schemas.microsoft.com/office/powerpoint/2010/main" val="3430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6E6F-B25C-F33E-BDC1-A6DF4943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E06B4A-CE3A-0AAD-01BD-BC2C0305A911}"/>
              </a:ext>
            </a:extLst>
          </p:cNvPr>
          <p:cNvSpPr/>
          <p:nvPr/>
        </p:nvSpPr>
        <p:spPr>
          <a:xfrm>
            <a:off x="-4813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15FC3D4-2A67-59A6-77BA-02D74C76500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B0B8F4E-948A-2B5D-CCF7-8378716D20B1}"/>
                  </a:ext>
                </a:extLst>
              </p:cNvPr>
              <p:cNvSpPr txBox="1"/>
              <p:nvPr/>
            </p:nvSpPr>
            <p:spPr>
              <a:xfrm>
                <a:off x="1121362" y="3087003"/>
                <a:ext cx="16045276" cy="34370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The adding-doubling method computed outputs from a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3200" dirty="0"/>
                          <m:t>μ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3200" dirty="0"/>
                          <m:t>μ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3200" dirty="0"/>
                  <a:t>, g.</a:t>
                </a:r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Total reflectance </a:t>
                </a:r>
                <a:r>
                  <a:rPr lang="en-US" sz="3000" dirty="0" err="1"/>
                  <a:t>R_calc</a:t>
                </a:r>
                <a:endParaRPr lang="en-US" sz="3000" dirty="0"/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Total transmittance </a:t>
                </a:r>
                <a:r>
                  <a:rPr lang="en-US" sz="3000" dirty="0" err="1"/>
                  <a:t>T_calc</a:t>
                </a:r>
                <a:endParaRPr lang="en-US" sz="3000" dirty="0"/>
              </a:p>
              <a:p>
                <a:pPr marL="1216659" lvl="2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 err="1"/>
                  <a:t>Unscattered</a:t>
                </a:r>
                <a:r>
                  <a:rPr lang="en-US" sz="3000" dirty="0"/>
                  <a:t> transmittance </a:t>
                </a:r>
                <a:r>
                  <a:rPr lang="en-US" sz="3000" dirty="0" err="1"/>
                  <a:t>T_c_calc</a:t>
                </a:r>
                <a:endParaRPr lang="en-US" sz="3000" dirty="0"/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The outputs from the adding-doubling method are directly compared with experimental data.</a:t>
                </a:r>
              </a:p>
            </p:txBody>
          </p:sp>
        </mc:Choice>
        <mc:Fallback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CB0B8F4E-948A-2B5D-CCF7-8378716D2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62" y="3087003"/>
                <a:ext cx="16045276" cy="3437095"/>
              </a:xfrm>
              <a:prstGeom prst="rect">
                <a:avLst/>
              </a:prstGeom>
              <a:blipFill>
                <a:blip r:embed="rId3"/>
                <a:stretch>
                  <a:fillRect b="-6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64370E8F-F924-CAEC-7019-D6EDA6E78BDA}"/>
              </a:ext>
            </a:extLst>
          </p:cNvPr>
          <p:cNvSpPr txBox="1"/>
          <p:nvPr/>
        </p:nvSpPr>
        <p:spPr>
          <a:xfrm>
            <a:off x="4696166" y="1444671"/>
            <a:ext cx="888604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Output of Forward Model</a:t>
            </a:r>
          </a:p>
        </p:txBody>
      </p:sp>
    </p:spTree>
    <p:extLst>
      <p:ext uri="{BB962C8B-B14F-4D97-AF65-F5344CB8AC3E}">
        <p14:creationId xmlns:p14="http://schemas.microsoft.com/office/powerpoint/2010/main" val="154550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5EC8-B851-6C27-F546-2ABC543E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2406F0-A02C-DBE9-7B0B-9052407BB3BA}"/>
              </a:ext>
            </a:extLst>
          </p:cNvPr>
          <p:cNvSpPr/>
          <p:nvPr/>
        </p:nvSpPr>
        <p:spPr>
          <a:xfrm>
            <a:off x="-4813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9D433E5-F447-9EAC-F661-63B5EA09767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519BE1E-AAE0-B25E-97F6-91FC07F85153}"/>
                  </a:ext>
                </a:extLst>
              </p:cNvPr>
              <p:cNvSpPr txBox="1"/>
              <p:nvPr/>
            </p:nvSpPr>
            <p:spPr>
              <a:xfrm>
                <a:off x="1121362" y="3087003"/>
                <a:ext cx="16045276" cy="626543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The inputs for the inverse adding-doubling method are: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32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b="0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3200" i="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3000" dirty="0"/>
                  <a:t> (diffuse reflectance)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320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3000" dirty="0"/>
                  <a:t> (total reflectance)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3000" dirty="0"/>
                  <a:t>(</a:t>
                </a:r>
                <a:r>
                  <a:rPr lang="en-US" sz="3000" dirty="0" err="1"/>
                  <a:t>unscattered</a:t>
                </a:r>
                <a:r>
                  <a:rPr lang="en-US" sz="3000" dirty="0"/>
                  <a:t> transmission)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Sample thickness d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Boundary refractive indices.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Sphere geometry constants y1-y6.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Firstly, calculate the optical thickness: </a:t>
                </a:r>
                <a:r>
                  <a:rPr lang="el-GR" sz="3200" dirty="0"/>
                  <a:t>τ</a:t>
                </a:r>
                <a:r>
                  <a:rPr lang="en-US" sz="3200" dirty="0"/>
                  <a:t> </a:t>
                </a:r>
                <a:r>
                  <a:rPr lang="el-GR" sz="3200" dirty="0"/>
                  <a:t>=</a:t>
                </a:r>
                <a:r>
                  <a:rPr lang="en-US" sz="3200" dirty="0"/>
                  <a:t> </a:t>
                </a:r>
                <a:r>
                  <a:rPr lang="el-GR" sz="3200" dirty="0"/>
                  <a:t>−</a:t>
                </a:r>
                <a:r>
                  <a:rPr lang="en-US" sz="3200" dirty="0"/>
                  <a:t> ln(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dirty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3200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3200" dirty="0"/>
                  <a:t>​)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200" dirty="0"/>
                  <a:t>Apply Fresnel corrections and integrating sphere correction (Pickering model)</a:t>
                </a:r>
                <a:endParaRPr lang="en-US" sz="3000" dirty="0"/>
              </a:p>
            </p:txBody>
          </p:sp>
        </mc:Choice>
        <mc:Fallback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8519BE1E-AAE0-B25E-97F6-91FC07F8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62" y="3087003"/>
                <a:ext cx="16045276" cy="6265433"/>
              </a:xfrm>
              <a:prstGeom prst="rect">
                <a:avLst/>
              </a:prstGeom>
              <a:blipFill>
                <a:blip r:embed="rId3"/>
                <a:stretch>
                  <a:fillRect b="-3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038F1156-5FAC-009A-B103-6DBF9B479E25}"/>
              </a:ext>
            </a:extLst>
          </p:cNvPr>
          <p:cNvSpPr txBox="1"/>
          <p:nvPr/>
        </p:nvSpPr>
        <p:spPr>
          <a:xfrm>
            <a:off x="5058558" y="1434742"/>
            <a:ext cx="858124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</a:t>
            </a:r>
          </a:p>
        </p:txBody>
      </p:sp>
    </p:spTree>
    <p:extLst>
      <p:ext uri="{BB962C8B-B14F-4D97-AF65-F5344CB8AC3E}">
        <p14:creationId xmlns:p14="http://schemas.microsoft.com/office/powerpoint/2010/main" val="3257638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E8B9-7D4A-6BDE-E6F6-D9A7FA92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DEDAE9-6BFD-06D8-A14B-91BB9819CAE2}"/>
              </a:ext>
            </a:extLst>
          </p:cNvPr>
          <p:cNvSpPr/>
          <p:nvPr/>
        </p:nvSpPr>
        <p:spPr>
          <a:xfrm>
            <a:off x="-4813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44469D0-39CB-D1C7-15EA-98088EF3BDD9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1129652-844E-D365-6D51-B5A8BAF4AC6E}"/>
                  </a:ext>
                </a:extLst>
              </p:cNvPr>
              <p:cNvSpPr txBox="1"/>
              <p:nvPr/>
            </p:nvSpPr>
            <p:spPr>
              <a:xfrm>
                <a:off x="1121362" y="3087003"/>
                <a:ext cx="16045276" cy="671966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IAD wraps an optimization loop around the adding-doubling solver.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000" dirty="0"/>
                  <a:t>Initial parameter guess</a:t>
                </a:r>
                <a:r>
                  <a:rPr lang="en-US" sz="3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, g ). 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Repeat until convergence for the forward model, compute error metric and update the 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, g ).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 converged outputs are 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8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2800" dirty="0"/>
                          <m:t>μ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/>
                  <a:t>, g , a , </a:t>
                </a:r>
                <a:r>
                  <a:rPr lang="el-GR" sz="2800" dirty="0"/>
                  <a:t>τ</a:t>
                </a:r>
                <a:r>
                  <a:rPr lang="en-US" sz="2800" dirty="0"/>
                  <a:t> ). 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 advantages of the IAD methods are: 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 IAD is extremely accurate, error &lt; 3% (4 quadrature points), error &lt; 1% (8 quadrature points)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It is fully general for any albedo, any sample thickness and high anisotropy.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Can handles internal reflection.</a:t>
                </a:r>
              </a:p>
              <a:p>
                <a:pPr marL="1673859" lvl="3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It works for biological tissue, ceramics, powders, bone scaffolds and … etc.</a:t>
                </a:r>
              </a:p>
              <a:p>
                <a:pPr marL="75945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800" dirty="0"/>
              </a:p>
            </p:txBody>
          </p:sp>
        </mc:Choice>
        <mc:Fallback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31129652-844E-D365-6D51-B5A8BAF4A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362" y="3087003"/>
                <a:ext cx="16045276" cy="671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8">
            <a:extLst>
              <a:ext uri="{FF2B5EF4-FFF2-40B4-BE49-F238E27FC236}">
                <a16:creationId xmlns:a16="http://schemas.microsoft.com/office/drawing/2014/main" id="{D24DDF79-E183-E8EA-A010-F6C024CDFCC6}"/>
              </a:ext>
            </a:extLst>
          </p:cNvPr>
          <p:cNvSpPr txBox="1"/>
          <p:nvPr/>
        </p:nvSpPr>
        <p:spPr>
          <a:xfrm>
            <a:off x="5058558" y="1434742"/>
            <a:ext cx="858124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</a:t>
            </a:r>
          </a:p>
        </p:txBody>
      </p:sp>
    </p:spTree>
    <p:extLst>
      <p:ext uri="{BB962C8B-B14F-4D97-AF65-F5344CB8AC3E}">
        <p14:creationId xmlns:p14="http://schemas.microsoft.com/office/powerpoint/2010/main" val="89738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3C70-6B4A-98A6-6960-6098748E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D989E1-E121-57AE-E9C7-1C9C6515C7B8}"/>
              </a:ext>
            </a:extLst>
          </p:cNvPr>
          <p:cNvSpPr/>
          <p:nvPr/>
        </p:nvSpPr>
        <p:spPr>
          <a:xfrm>
            <a:off x="-4813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F452856-2E87-FED6-DE11-B45DE0944C98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A724045-6DA6-4667-B109-4DE616A0B121}"/>
              </a:ext>
            </a:extLst>
          </p:cNvPr>
          <p:cNvSpPr txBox="1"/>
          <p:nvPr/>
        </p:nvSpPr>
        <p:spPr>
          <a:xfrm>
            <a:off x="1121362" y="3087003"/>
            <a:ext cx="16045276" cy="4734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requires 1D homogenous slab, and it is not suitable for multilayer tissues, and highly heterogeneous samples.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IAD requires accurate measurement which makes it sensitive to experimental errors.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It will have convergence issues if initial guesses are not good.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Phase function must be assumed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It is computationally heavier than diffusion even though it is fast.</a:t>
            </a:r>
          </a:p>
          <a:p>
            <a:pPr marL="759459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D7B766A-78ED-0CAF-C339-A04E91D5FBC5}"/>
              </a:ext>
            </a:extLst>
          </p:cNvPr>
          <p:cNvSpPr txBox="1"/>
          <p:nvPr/>
        </p:nvSpPr>
        <p:spPr>
          <a:xfrm>
            <a:off x="5058558" y="1434742"/>
            <a:ext cx="8581242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Inverse Adding-Doubling</a:t>
            </a:r>
          </a:p>
        </p:txBody>
      </p:sp>
    </p:spTree>
    <p:extLst>
      <p:ext uri="{BB962C8B-B14F-4D97-AF65-F5344CB8AC3E}">
        <p14:creationId xmlns:p14="http://schemas.microsoft.com/office/powerpoint/2010/main" val="3162551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CB767-1CBD-46CA-9226-B38907FF9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5B3702-132F-19FA-ECE4-AE2A9B5726B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17E1DF7-074F-9BDE-75E6-1105EABE785F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78749427-87AC-8028-1FE8-6A2C11F4C6E3}"/>
              </a:ext>
            </a:extLst>
          </p:cNvPr>
          <p:cNvSpPr txBox="1"/>
          <p:nvPr/>
        </p:nvSpPr>
        <p:spPr>
          <a:xfrm>
            <a:off x="6087258" y="1387069"/>
            <a:ext cx="6113484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Procedure of IAD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19752887-E6A2-F1B5-2F9B-E1F621A9A808}"/>
              </a:ext>
            </a:extLst>
          </p:cNvPr>
          <p:cNvSpPr txBox="1"/>
          <p:nvPr/>
        </p:nvSpPr>
        <p:spPr>
          <a:xfrm>
            <a:off x="6591298" y="8899931"/>
            <a:ext cx="510540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 algn="l"/>
            <a:r>
              <a:rPr 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Process Diagram of IAD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FAE8356C-134F-4617-BAA7-D854F63A0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347" y="2444345"/>
            <a:ext cx="15345305" cy="631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72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2248</TotalTime>
  <Words>771</Words>
  <Application>Microsoft Office PowerPoint</Application>
  <PresentationFormat>Custom</PresentationFormat>
  <Paragraphs>84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Times New Roman</vt:lpstr>
      <vt:lpstr>DM Serif Display</vt:lpstr>
      <vt:lpstr>Calibri</vt:lpstr>
      <vt:lpstr>Arial</vt:lpstr>
      <vt:lpstr>Aptos</vt:lpstr>
      <vt:lpstr>Cambria Math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322</cp:revision>
  <dcterms:created xsi:type="dcterms:W3CDTF">2006-08-16T00:00:00Z</dcterms:created>
  <dcterms:modified xsi:type="dcterms:W3CDTF">2025-11-25T06:26:13Z</dcterms:modified>
  <dc:identifier>DAG0bfrM1o8</dc:identifier>
</cp:coreProperties>
</file>