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839" r:id="rId3"/>
    <p:sldId id="844" r:id="rId4"/>
    <p:sldId id="845" r:id="rId5"/>
    <p:sldId id="847" r:id="rId6"/>
    <p:sldId id="846" r:id="rId7"/>
    <p:sldId id="267" r:id="rId8"/>
  </p:sldIdLst>
  <p:sldSz cx="18288000" cy="10287000"/>
  <p:notesSz cx="6858000" cy="9144000"/>
  <p:embeddedFontLst>
    <p:embeddedFont>
      <p:font typeface="DM Serif Display" pitchFamily="2" charset="0"/>
      <p:regular r:id="rId10"/>
      <p:italic r:id="rId11"/>
    </p:embeddedFont>
    <p:embeddedFont>
      <p:font typeface="Open Sauce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33" autoAdjust="0"/>
    <p:restoredTop sz="93402" autoAdjust="0"/>
  </p:normalViewPr>
  <p:slideViewPr>
    <p:cSldViewPr>
      <p:cViewPr>
        <p:scale>
          <a:sx n="66" d="100"/>
          <a:sy n="66" d="100"/>
        </p:scale>
        <p:origin x="57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EF82B-E016-44BD-B0C4-D5A3DF34FAF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7D310-3A65-477A-971E-8091E5537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9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2865776" y="2843997"/>
            <a:ext cx="12556447" cy="2484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Presentation V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7B244B4F-61ED-CD64-3F42-BB24EA8E2BD6}"/>
              </a:ext>
            </a:extLst>
          </p:cNvPr>
          <p:cNvSpPr txBox="1"/>
          <p:nvPr/>
        </p:nvSpPr>
        <p:spPr>
          <a:xfrm>
            <a:off x="5412408" y="4905799"/>
            <a:ext cx="7463182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Integrating Sphere Required list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BCF42FA-AD96-6718-B5FF-6A0BFF7AD7F8}"/>
              </a:ext>
            </a:extLst>
          </p:cNvPr>
          <p:cNvGrpSpPr/>
          <p:nvPr/>
        </p:nvGrpSpPr>
        <p:grpSpPr>
          <a:xfrm>
            <a:off x="13826319" y="0"/>
            <a:ext cx="4461681" cy="2019300"/>
            <a:chOff x="10985984" y="47827"/>
            <a:chExt cx="1034194" cy="467116"/>
          </a:xfrm>
        </p:grpSpPr>
        <p:pic>
          <p:nvPicPr>
  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  <a:extLst>
                <a:ext uri="{FF2B5EF4-FFF2-40B4-BE49-F238E27FC236}">
                  <a16:creationId xmlns:a16="http://schemas.microsoft.com/office/drawing/2014/main" id="{A069B459-3DF4-5F50-9704-697C7059979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720" b="32723"/>
            <a:stretch/>
          </p:blipFill>
          <p:spPr bwMode="auto">
            <a:xfrm>
              <a:off x="10985984" y="47827"/>
              <a:ext cx="573968" cy="431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ivision of Health Sciences Graduate School of Medical Sciences, Kanazawa  University">
              <a:extLst>
                <a:ext uri="{FF2B5EF4-FFF2-40B4-BE49-F238E27FC236}">
                  <a16:creationId xmlns:a16="http://schemas.microsoft.com/office/drawing/2014/main" id="{5554D7E3-09F1-F888-8561-58B8ED11C8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59952" y="54717"/>
              <a:ext cx="460226" cy="460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4FE5F-C06F-A3D7-A556-D74761CBF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4FF2FB2-4B51-8ADE-00B3-4237FAE2F7F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DEB9C3B-0D92-07EF-0CA0-A3A1DBABE4C4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807528D-1E96-ECA4-01C3-2364794CEFEF}"/>
              </a:ext>
            </a:extLst>
          </p:cNvPr>
          <p:cNvSpPr txBox="1"/>
          <p:nvPr/>
        </p:nvSpPr>
        <p:spPr>
          <a:xfrm>
            <a:off x="1023524" y="3067147"/>
            <a:ext cx="11930476" cy="10018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Setup 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dirty="0"/>
              <a:t>Common features</a:t>
            </a:r>
            <a:br>
              <a:rPr lang="en-US" sz="3200" dirty="0"/>
            </a:br>
            <a:r>
              <a:rPr lang="en-US" dirty="0"/>
              <a:t>: ▪ A white reflective surface with uniform, high reflectivity.</a:t>
            </a:r>
            <a:br>
              <a:rPr lang="en-US" sz="3200" dirty="0"/>
            </a:br>
            <a:r>
              <a:rPr lang="en-US" dirty="0"/>
              <a:t>▪ In the unlikely event that the diffusing surface becomes contaminated or deteriorates, it can be restored and maintained.</a:t>
            </a:r>
            <a:br>
              <a:rPr lang="en-US" sz="3200" dirty="0"/>
            </a:br>
            <a:r>
              <a:rPr lang="en-US" dirty="0"/>
              <a:t>▪ A variety of light sources can be used by changing the integrating sphere accessories, such as the support stand and socket.</a:t>
            </a:r>
            <a:br>
              <a:rPr lang="en-US" sz="3200" dirty="0"/>
            </a:br>
            <a:r>
              <a:rPr lang="en-US" dirty="0"/>
              <a:t>▪ The size and shape of the integrating sphere can be freely designed to suit the inspection and sorting equipment.</a:t>
            </a:r>
            <a:br>
              <a:rPr lang="en-US" sz="3200" dirty="0"/>
            </a:br>
            <a:br>
              <a:rPr lang="en-US" sz="3200" dirty="0"/>
            </a:br>
            <a:r>
              <a:rPr lang="en-US" dirty="0"/>
              <a:t>Light-resistant type</a:t>
            </a:r>
            <a:br>
              <a:rPr lang="en-US" sz="3200" dirty="0"/>
            </a:br>
            <a:r>
              <a:rPr lang="en-US" dirty="0"/>
              <a:t>: ▪ The white reflective surface is created using 100% barium sulfate without using any binders (patented).</a:t>
            </a:r>
            <a:br>
              <a:rPr lang="en-US" sz="3200" dirty="0"/>
            </a:br>
            <a:r>
              <a:rPr lang="en-US" dirty="0"/>
              <a:t>▪ It has mechanical strength that can withstand machine vibrations, etc.</a:t>
            </a:r>
            <a:br>
              <a:rPr lang="en-US" sz="3200" dirty="0"/>
            </a:br>
            <a:r>
              <a:rPr lang="en-US" dirty="0"/>
              <a:t>▪ It has excellent robustness, long-term stability, and weather resistance, even in production site </a:t>
            </a:r>
            <a:r>
              <a:rPr lang="en-US" dirty="0" err="1"/>
              <a:t>environments.</a:t>
            </a:r>
            <a:r>
              <a:rPr lang="en-US" sz="4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Working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 principle</a:t>
            </a:r>
          </a:p>
          <a:p>
            <a:r>
              <a:rPr lang="en-US" dirty="0"/>
              <a:t>From company </a:t>
            </a:r>
            <a:br>
              <a:rPr lang="en-US" dirty="0"/>
            </a:br>
            <a:r>
              <a:rPr lang="en-US" dirty="0"/>
              <a:t>- 3-inch integrating sphere for transmission/reflection measurements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SiPD</a:t>
            </a:r>
            <a:r>
              <a:rPr lang="en-US" dirty="0"/>
              <a:t> sensor (light output confirmed using PC software)</a:t>
            </a:r>
            <a:br>
              <a:rPr lang="en-US" dirty="0"/>
            </a:br>
            <a:r>
              <a:rPr lang="en-US" dirty="0"/>
              <a:t>- Reference white </a:t>
            </a:r>
            <a:r>
              <a:rPr lang="en-US" dirty="0" err="1"/>
              <a:t>plateIn</a:t>
            </a:r>
            <a:r>
              <a:rPr lang="en-US" dirty="0"/>
              <a:t> this configuration, the </a:t>
            </a:r>
            <a:r>
              <a:rPr lang="en-US" dirty="0" err="1"/>
              <a:t>SiPD</a:t>
            </a:r>
            <a:r>
              <a:rPr lang="en-US" dirty="0"/>
              <a:t> sensor is fixed and will not be removed.</a:t>
            </a:r>
            <a:br>
              <a:rPr lang="en-US" dirty="0"/>
            </a:br>
            <a:r>
              <a:rPr lang="en-US" dirty="0"/>
              <a:t>The connection will be switched on the laser side for transmission and reflection.</a:t>
            </a:r>
          </a:p>
          <a:p>
            <a:r>
              <a:rPr lang="en-US" dirty="0"/>
              <a:t>Could you please confirm whether it is possible to route the laser light using an SMA fiber or similar?</a:t>
            </a:r>
          </a:p>
          <a:p>
            <a:r>
              <a:rPr lang="en-US" dirty="0"/>
              <a:t>It is also possible to configure a 2-inch integrating sphere for transmission and reflection separately.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1ED899A8-3DAC-E3C2-FA60-E3B03660392C}"/>
              </a:ext>
            </a:extLst>
          </p:cNvPr>
          <p:cNvSpPr txBox="1"/>
          <p:nvPr/>
        </p:nvSpPr>
        <p:spPr>
          <a:xfrm>
            <a:off x="2476500" y="1429468"/>
            <a:ext cx="13335000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Optical properties measurement system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A93C4960-46A8-C780-6F10-B3D40C2FB9B8}"/>
              </a:ext>
            </a:extLst>
          </p:cNvPr>
          <p:cNvSpPr txBox="1"/>
          <p:nvPr/>
        </p:nvSpPr>
        <p:spPr>
          <a:xfrm>
            <a:off x="13256756" y="9261891"/>
            <a:ext cx="400772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Ophir’s general-purpose sphere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34717AEF-871D-5444-ACA0-8D89596EBBA6}"/>
              </a:ext>
            </a:extLst>
          </p:cNvPr>
          <p:cNvSpPr txBox="1"/>
          <p:nvPr/>
        </p:nvSpPr>
        <p:spPr>
          <a:xfrm>
            <a:off x="13256757" y="5846903"/>
            <a:ext cx="365964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ctr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Detection of light reflection using integrating sphere  </a:t>
            </a:r>
          </a:p>
        </p:txBody>
      </p:sp>
    </p:spTree>
    <p:extLst>
      <p:ext uri="{BB962C8B-B14F-4D97-AF65-F5344CB8AC3E}">
        <p14:creationId xmlns:p14="http://schemas.microsoft.com/office/powerpoint/2010/main" val="1832617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B00B2-E8B4-C60D-729E-B8CAE0427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A87D438-DCF6-72B8-29F7-32984B3E0D4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AA79B84-ABA2-8F75-C3D2-5280B6D63068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31032B2C-3EB7-375F-E40E-7A2F093CF553}"/>
              </a:ext>
            </a:extLst>
          </p:cNvPr>
          <p:cNvSpPr txBox="1"/>
          <p:nvPr/>
        </p:nvSpPr>
        <p:spPr>
          <a:xfrm>
            <a:off x="6727031" y="1409700"/>
            <a:ext cx="4833938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Required List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C72307-7ABF-8F75-E403-C2726CA19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752787"/>
              </p:ext>
            </p:extLst>
          </p:nvPr>
        </p:nvGraphicFramePr>
        <p:xfrm>
          <a:off x="1182811" y="2705100"/>
          <a:ext cx="15685501" cy="792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52332">
                  <a:extLst>
                    <a:ext uri="{9D8B030D-6E8A-4147-A177-3AD203B41FA5}">
                      <a16:colId xmlns:a16="http://schemas.microsoft.com/office/drawing/2014/main" val="1669542638"/>
                    </a:ext>
                  </a:extLst>
                </a:gridCol>
                <a:gridCol w="3333169">
                  <a:extLst>
                    <a:ext uri="{9D8B030D-6E8A-4147-A177-3AD203B41FA5}">
                      <a16:colId xmlns:a16="http://schemas.microsoft.com/office/drawing/2014/main" val="27556734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dirty="0">
                          <a:solidFill>
                            <a:schemeClr val="tx1"/>
                          </a:solidFill>
                        </a:rPr>
                        <a:t>PRICE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492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2-inch General-purpose Integrating Sphere [NIS-002-03A]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078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Sphere cover and </a:t>
                      </a:r>
                      <a:r>
                        <a:rPr lang="en-US" sz="25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mouting</a:t>
                      </a:r>
                      <a:r>
                        <a:rPr lang="en-US" sz="25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for laser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89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Mounting for detector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323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Mounting </a:t>
                      </a:r>
                      <a:endParaRPr lang="en-US" sz="25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577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Sample Holder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124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Baffle [light blocker]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716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850 nm laser light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133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 err="1">
                          <a:solidFill>
                            <a:schemeClr val="tx1"/>
                          </a:solidFill>
                        </a:rPr>
                        <a:t>SiPD</a:t>
                      </a:r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 sensor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547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Spectrometer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026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Optical Fiber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984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0" dirty="0">
                          <a:solidFill>
                            <a:schemeClr val="tx1"/>
                          </a:solidFill>
                        </a:rPr>
                        <a:t>Raspberry Pi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8956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25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GeeekPi</a:t>
                      </a:r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Metal Case and N04 PCIe M.2 Key-M </a:t>
                      </a:r>
                      <a:r>
                        <a:rPr lang="en-US" sz="25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NVMe</a:t>
                      </a:r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SSD PCIe Peripheral Board for Raspberry Pi 5 (Metal Case &amp; Expansion Board &amp; Active Cooling Fan)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4,099</a:t>
                      </a:r>
                      <a:r>
                        <a:rPr lang="en-US" sz="2500" dirty="0">
                          <a:solidFill>
                            <a:schemeClr val="tx1"/>
                          </a:solidFill>
                        </a:rPr>
                        <a:t> Yen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220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ElectroCookie</a:t>
                      </a:r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256GB </a:t>
                      </a:r>
                      <a:r>
                        <a:rPr lang="en-US" sz="25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NVMe</a:t>
                      </a:r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SSD for Raspberry Pi 5 – SK OEM BC901 (2242 Size, PCIe Gen4 x4)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4,399 Yen</a:t>
                      </a:r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0106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Freenove</a:t>
                      </a:r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7-inch Touchscreen Monitor for Raspberry Pi 5, 4, B, 3, B+, A+, 800x480 Pixel IPS Display, 5-Point Touch Capacitive Screen, MIPI DSI Port with No Drivers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7,280 Yen</a:t>
                      </a:r>
                      <a:endParaRPr lang="en-US" sz="2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674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4405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0DB82-B0BE-DA2C-9917-CCD6B536B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67800B4-E21C-5446-F0AE-0104CBE3607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pPr lvl="0" algn="ctr">
              <a:defRPr/>
            </a:pPr>
            <a:r>
              <a:rPr lang="en-US" dirty="0"/>
              <a:t>2-inch General-purpose Integrating Sphere [NIS-002-03A]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EFD6FC4-2FBC-B7D1-9B22-553E5D5AB0DA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D5E588E-F321-193B-C6AB-14CEE503A93C}"/>
              </a:ext>
            </a:extLst>
          </p:cNvPr>
          <p:cNvSpPr txBox="1"/>
          <p:nvPr/>
        </p:nvSpPr>
        <p:spPr>
          <a:xfrm>
            <a:off x="1023524" y="3067147"/>
            <a:ext cx="11930476" cy="9441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Background 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dirty="0"/>
              <a:t>Common features</a:t>
            </a:r>
            <a:br>
              <a:rPr lang="en-US" sz="3200" dirty="0"/>
            </a:br>
            <a:r>
              <a:rPr lang="en-US" dirty="0"/>
              <a:t>: ▪ A white reflective surface with uniform, high reflectivity.</a:t>
            </a:r>
            <a:br>
              <a:rPr lang="en-US" sz="3200" dirty="0"/>
            </a:br>
            <a:r>
              <a:rPr lang="en-US" dirty="0"/>
              <a:t>▪ In the unlikely event that the diffusing surface becomes contaminated or deteriorates, it can be restored and maintained.</a:t>
            </a:r>
            <a:br>
              <a:rPr lang="en-US" sz="3200" dirty="0"/>
            </a:br>
            <a:r>
              <a:rPr lang="en-US" dirty="0"/>
              <a:t>▪ A variety of light sources can be used by changing the integrating sphere accessories, such as the support stand and socket.</a:t>
            </a:r>
            <a:br>
              <a:rPr lang="en-US" sz="3200" dirty="0"/>
            </a:br>
            <a:r>
              <a:rPr lang="en-US" dirty="0"/>
              <a:t>▪ The size and shape of the integrating sphere can be freely designed to suit the inspection and sorting equipment.</a:t>
            </a:r>
            <a:br>
              <a:rPr lang="en-US" sz="3200" dirty="0"/>
            </a:br>
            <a:r>
              <a:rPr lang="en-US" dirty="0"/>
              <a:t>Light-resistant type</a:t>
            </a:r>
            <a:br>
              <a:rPr lang="en-US" sz="3200" dirty="0"/>
            </a:br>
            <a:r>
              <a:rPr lang="en-US" dirty="0"/>
              <a:t>: ▪ The white reflective surface is created using 100% barium sulfate without using any binders (patented).</a:t>
            </a:r>
            <a:br>
              <a:rPr lang="en-US" sz="3200" dirty="0"/>
            </a:br>
            <a:r>
              <a:rPr lang="en-US" dirty="0"/>
              <a:t>▪ It has mechanical strength that can withstand machine vibrations, etc.</a:t>
            </a:r>
            <a:br>
              <a:rPr lang="en-US" sz="3200" dirty="0"/>
            </a:br>
            <a:r>
              <a:rPr lang="en-US" dirty="0"/>
              <a:t>▪ It has excellent robustness, long-term stability, and weather resistance, even in production site </a:t>
            </a:r>
            <a:r>
              <a:rPr lang="en-US" dirty="0" err="1"/>
              <a:t>environments.</a:t>
            </a:r>
            <a:r>
              <a:rPr lang="en-US" sz="4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Working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 principle</a:t>
            </a:r>
          </a:p>
          <a:p>
            <a:r>
              <a:rPr lang="en-US" dirty="0"/>
              <a:t>From company </a:t>
            </a:r>
            <a:br>
              <a:rPr lang="en-US" dirty="0"/>
            </a:br>
            <a:r>
              <a:rPr lang="en-US" dirty="0"/>
              <a:t>- 3-inch integrating sphere for transmission/reflection measurements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SiPD</a:t>
            </a:r>
            <a:r>
              <a:rPr lang="en-US" dirty="0"/>
              <a:t> sensor (light output confirmed using PC software)</a:t>
            </a:r>
            <a:br>
              <a:rPr lang="en-US" dirty="0"/>
            </a:br>
            <a:r>
              <a:rPr lang="en-US" dirty="0"/>
              <a:t>- Reference white </a:t>
            </a:r>
            <a:r>
              <a:rPr lang="en-US" dirty="0" err="1"/>
              <a:t>plateIn</a:t>
            </a:r>
            <a:r>
              <a:rPr lang="en-US" dirty="0"/>
              <a:t> this configuration, the </a:t>
            </a:r>
            <a:r>
              <a:rPr lang="en-US" dirty="0" err="1"/>
              <a:t>SiPD</a:t>
            </a:r>
            <a:r>
              <a:rPr lang="en-US" dirty="0"/>
              <a:t> sensor is fixed and will not be removed.</a:t>
            </a:r>
            <a:br>
              <a:rPr lang="en-US" dirty="0"/>
            </a:br>
            <a:r>
              <a:rPr lang="en-US" dirty="0"/>
              <a:t>The connection will be switched on the laser side for transmission and reflection.</a:t>
            </a:r>
          </a:p>
          <a:p>
            <a:r>
              <a:rPr lang="en-US" dirty="0"/>
              <a:t>Could you please confirm whether it is possible to route the laser light using an SMA fiber or similar?</a:t>
            </a:r>
          </a:p>
          <a:p>
            <a:r>
              <a:rPr lang="en-US" dirty="0"/>
              <a:t>It is also possible to configure a 2-inch integrating sphere for transmission and reflection separately. 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95C7755C-F84D-65C2-2B68-C0AB1A03798F}"/>
              </a:ext>
            </a:extLst>
          </p:cNvPr>
          <p:cNvSpPr txBox="1"/>
          <p:nvPr/>
        </p:nvSpPr>
        <p:spPr>
          <a:xfrm>
            <a:off x="2476500" y="1429468"/>
            <a:ext cx="13335000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Optical properties measurement system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4837ADA0-6CB5-13DD-CF04-D6A9ADF82859}"/>
              </a:ext>
            </a:extLst>
          </p:cNvPr>
          <p:cNvSpPr txBox="1"/>
          <p:nvPr/>
        </p:nvSpPr>
        <p:spPr>
          <a:xfrm>
            <a:off x="13256756" y="9668846"/>
            <a:ext cx="400772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Ophir’s general-purpose sphere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CA8B3D84-8C16-4F5C-1A18-0D0FE19A0A1F}"/>
              </a:ext>
            </a:extLst>
          </p:cNvPr>
          <p:cNvSpPr txBox="1"/>
          <p:nvPr/>
        </p:nvSpPr>
        <p:spPr>
          <a:xfrm>
            <a:off x="13256757" y="5846903"/>
            <a:ext cx="365964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ctr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Detection of light reflection using integrating sphere  </a:t>
            </a:r>
          </a:p>
        </p:txBody>
      </p:sp>
      <p:pic>
        <p:nvPicPr>
          <p:cNvPr id="6" name="Picture 5" descr="A black and grey object with four round holes&#10;&#10;AI-generated content may be incorrect.">
            <a:extLst>
              <a:ext uri="{FF2B5EF4-FFF2-40B4-BE49-F238E27FC236}">
                <a16:creationId xmlns:a16="http://schemas.microsoft.com/office/drawing/2014/main" id="{4141467C-64E7-B450-3C5B-6A42BE5B7F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9257" y="2897169"/>
            <a:ext cx="2857143" cy="2857143"/>
          </a:xfrm>
          <a:prstGeom prst="rect">
            <a:avLst/>
          </a:prstGeom>
        </p:spPr>
      </p:pic>
      <p:pic>
        <p:nvPicPr>
          <p:cNvPr id="9" name="Picture 8" descr="A black and silver device with white text&#10;&#10;AI-generated content may be incorrect.">
            <a:extLst>
              <a:ext uri="{FF2B5EF4-FFF2-40B4-BE49-F238E27FC236}">
                <a16:creationId xmlns:a16="http://schemas.microsoft.com/office/drawing/2014/main" id="{267C52D9-B696-E023-6A71-5D63492132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3664" y="6359952"/>
            <a:ext cx="2857143" cy="2857143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0A0AD1-2DDA-CA3D-42D3-CB79B71422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39" t="37581"/>
          <a:stretch>
            <a:fillRect/>
          </a:stretch>
        </p:blipFill>
        <p:spPr>
          <a:xfrm>
            <a:off x="10706759" y="1115230"/>
            <a:ext cx="9107714" cy="642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324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7D744-2F64-95CE-3932-B903AAE18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6C65ACF-579E-0C59-4687-9B6952B9198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3A41916-605E-5FBB-F080-C23103E8D747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A3A7AA1-747C-AFA8-B61A-62AB920F5EEA}"/>
              </a:ext>
            </a:extLst>
          </p:cNvPr>
          <p:cNvSpPr txBox="1"/>
          <p:nvPr/>
        </p:nvSpPr>
        <p:spPr>
          <a:xfrm>
            <a:off x="1023524" y="3067147"/>
            <a:ext cx="11930476" cy="10018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Background 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dirty="0"/>
              <a:t>Common features</a:t>
            </a:r>
            <a:br>
              <a:rPr lang="en-US" sz="3200" dirty="0"/>
            </a:br>
            <a:r>
              <a:rPr lang="en-US" dirty="0"/>
              <a:t>: ▪ A white reflective surface with uniform, high reflectivity.</a:t>
            </a:r>
            <a:br>
              <a:rPr lang="en-US" sz="3200" dirty="0"/>
            </a:br>
            <a:r>
              <a:rPr lang="en-US" dirty="0"/>
              <a:t>▪ In the unlikely event that the diffusing surface becomes contaminated or deteriorates, it can be restored and maintained.</a:t>
            </a:r>
            <a:br>
              <a:rPr lang="en-US" sz="3200" dirty="0"/>
            </a:br>
            <a:r>
              <a:rPr lang="en-US" dirty="0"/>
              <a:t>▪ A variety of light sources can be used by changing the integrating sphere accessories, such as the support stand and socket.</a:t>
            </a:r>
            <a:br>
              <a:rPr lang="en-US" sz="3200" dirty="0"/>
            </a:br>
            <a:r>
              <a:rPr lang="en-US" dirty="0"/>
              <a:t>▪ The size and shape of the integrating sphere can be freely designed to suit the inspection and sorting equipment.</a:t>
            </a:r>
            <a:br>
              <a:rPr lang="en-US" sz="3200" dirty="0"/>
            </a:br>
            <a:br>
              <a:rPr lang="en-US" sz="3200" dirty="0"/>
            </a:br>
            <a:r>
              <a:rPr lang="en-US" dirty="0"/>
              <a:t>Light-resistant type</a:t>
            </a:r>
            <a:br>
              <a:rPr lang="en-US" sz="3200" dirty="0"/>
            </a:br>
            <a:r>
              <a:rPr lang="en-US" dirty="0"/>
              <a:t>: ▪ The white reflective surface is created using 100% barium sulfate without using any binders (patented).</a:t>
            </a:r>
            <a:br>
              <a:rPr lang="en-US" sz="3200" dirty="0"/>
            </a:br>
            <a:r>
              <a:rPr lang="en-US" dirty="0"/>
              <a:t>▪ It has mechanical strength that can withstand machine vibrations, etc.</a:t>
            </a:r>
            <a:br>
              <a:rPr lang="en-US" sz="3200" dirty="0"/>
            </a:br>
            <a:r>
              <a:rPr lang="en-US" dirty="0"/>
              <a:t>▪ It has excellent robustness, long-term stability, and weather resistance, even in production site </a:t>
            </a:r>
            <a:r>
              <a:rPr lang="en-US" dirty="0" err="1"/>
              <a:t>environments.</a:t>
            </a:r>
            <a:r>
              <a:rPr lang="en-US" sz="4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Working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 principle</a:t>
            </a:r>
          </a:p>
          <a:p>
            <a:r>
              <a:rPr lang="en-US" dirty="0"/>
              <a:t>From company </a:t>
            </a:r>
            <a:br>
              <a:rPr lang="en-US" dirty="0"/>
            </a:br>
            <a:r>
              <a:rPr lang="en-US" dirty="0"/>
              <a:t>- 3-inch integrating sphere for transmission/reflection measurements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SiPD</a:t>
            </a:r>
            <a:r>
              <a:rPr lang="en-US" dirty="0"/>
              <a:t> sensor (light output confirmed using PC software)</a:t>
            </a:r>
            <a:br>
              <a:rPr lang="en-US" dirty="0"/>
            </a:br>
            <a:r>
              <a:rPr lang="en-US" dirty="0"/>
              <a:t>- Reference white </a:t>
            </a:r>
            <a:r>
              <a:rPr lang="en-US" dirty="0" err="1"/>
              <a:t>plateIn</a:t>
            </a:r>
            <a:r>
              <a:rPr lang="en-US" dirty="0"/>
              <a:t> this configuration, the </a:t>
            </a:r>
            <a:r>
              <a:rPr lang="en-US" dirty="0" err="1"/>
              <a:t>SiPD</a:t>
            </a:r>
            <a:r>
              <a:rPr lang="en-US" dirty="0"/>
              <a:t> sensor is fixed and will not be removed.</a:t>
            </a:r>
            <a:br>
              <a:rPr lang="en-US" dirty="0"/>
            </a:br>
            <a:r>
              <a:rPr lang="en-US" dirty="0"/>
              <a:t>The connection will be switched on the laser side for transmission and reflection.</a:t>
            </a:r>
          </a:p>
          <a:p>
            <a:r>
              <a:rPr lang="en-US" dirty="0"/>
              <a:t>Could you please confirm whether it is possible to route the laser light using an SMA fiber or similar?</a:t>
            </a:r>
          </a:p>
          <a:p>
            <a:r>
              <a:rPr lang="en-US" dirty="0"/>
              <a:t>It is also possible to configure a 2-inch integrating sphere for transmission and reflection separately.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A5343D4C-2177-6ADE-26C7-7FF6622C6132}"/>
              </a:ext>
            </a:extLst>
          </p:cNvPr>
          <p:cNvSpPr txBox="1"/>
          <p:nvPr/>
        </p:nvSpPr>
        <p:spPr>
          <a:xfrm>
            <a:off x="2476500" y="1429468"/>
            <a:ext cx="13335000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Optical properties measurement system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26EFF752-6490-9885-5887-DC10DCA4F135}"/>
              </a:ext>
            </a:extLst>
          </p:cNvPr>
          <p:cNvSpPr txBox="1"/>
          <p:nvPr/>
        </p:nvSpPr>
        <p:spPr>
          <a:xfrm>
            <a:off x="13256756" y="9261891"/>
            <a:ext cx="400772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Ophir’s general-purpose sphere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C62F2BDA-6EAF-AE45-BB3D-E29AAC2AD3DB}"/>
              </a:ext>
            </a:extLst>
          </p:cNvPr>
          <p:cNvSpPr txBox="1"/>
          <p:nvPr/>
        </p:nvSpPr>
        <p:spPr>
          <a:xfrm>
            <a:off x="13256757" y="5846903"/>
            <a:ext cx="365964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ctr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Detection of light reflection using integrating sphere  </a:t>
            </a:r>
          </a:p>
        </p:txBody>
      </p:sp>
      <p:pic>
        <p:nvPicPr>
          <p:cNvPr id="6" name="Picture 5" descr="A black and grey object with four round holes&#10;&#10;AI-generated content may be incorrect.">
            <a:extLst>
              <a:ext uri="{FF2B5EF4-FFF2-40B4-BE49-F238E27FC236}">
                <a16:creationId xmlns:a16="http://schemas.microsoft.com/office/drawing/2014/main" id="{D805DA04-543B-F4B9-7EC2-8A1CB622BC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9257" y="2897169"/>
            <a:ext cx="2857143" cy="2857143"/>
          </a:xfrm>
          <a:prstGeom prst="rect">
            <a:avLst/>
          </a:prstGeom>
        </p:spPr>
      </p:pic>
      <p:pic>
        <p:nvPicPr>
          <p:cNvPr id="9" name="Picture 8" descr="A black and silver device with white text&#10;&#10;AI-generated content may be incorrect.">
            <a:extLst>
              <a:ext uri="{FF2B5EF4-FFF2-40B4-BE49-F238E27FC236}">
                <a16:creationId xmlns:a16="http://schemas.microsoft.com/office/drawing/2014/main" id="{1A4B9C84-4CE3-DCE2-C095-8582DFA019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9257" y="6647638"/>
            <a:ext cx="2857143" cy="2857143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164019-4E3E-100A-B1A0-89B9ABCBB2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61" y="0"/>
            <a:ext cx="17494278" cy="10287000"/>
          </a:xfrm>
          <a:prstGeom prst="rect">
            <a:avLst/>
          </a:prstGeom>
        </p:spPr>
      </p:pic>
      <p:pic>
        <p:nvPicPr>
          <p:cNvPr id="15" name="Picture 14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00B8145F-3396-7259-6EA3-6F58AA6053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235200"/>
            <a:ext cx="12192000" cy="5816600"/>
          </a:xfrm>
          <a:prstGeom prst="rect">
            <a:avLst/>
          </a:prstGeom>
        </p:spPr>
      </p:pic>
      <p:pic>
        <p:nvPicPr>
          <p:cNvPr id="17" name="Picture 16" descr="A diagram of a machine&#10;&#10;AI-generated content may be incorrect.">
            <a:extLst>
              <a:ext uri="{FF2B5EF4-FFF2-40B4-BE49-F238E27FC236}">
                <a16:creationId xmlns:a16="http://schemas.microsoft.com/office/drawing/2014/main" id="{2F995BDD-E61E-014D-9B14-70E2C261BE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562" y="3033712"/>
            <a:ext cx="700087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839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048F1-863E-010E-9D6E-4E69DCBBA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8B3C383-A4AF-0D5A-7089-8D9BF20C948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EC6D27A-F8F5-484C-9CD7-EF72ED6E7073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6775424-3C67-9740-015B-B88506B84BC0}"/>
              </a:ext>
            </a:extLst>
          </p:cNvPr>
          <p:cNvSpPr txBox="1"/>
          <p:nvPr/>
        </p:nvSpPr>
        <p:spPr>
          <a:xfrm>
            <a:off x="1023524" y="3067147"/>
            <a:ext cx="11930476" cy="100181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Setup </a:t>
            </a: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dirty="0"/>
              <a:t>Common features</a:t>
            </a:r>
            <a:br>
              <a:rPr lang="en-US" sz="3200" dirty="0"/>
            </a:br>
            <a:r>
              <a:rPr lang="en-US" dirty="0"/>
              <a:t>: ▪ A white reflective surface with uniform, high reflectivity.</a:t>
            </a:r>
            <a:br>
              <a:rPr lang="en-US" sz="3200" dirty="0"/>
            </a:br>
            <a:r>
              <a:rPr lang="en-US" dirty="0"/>
              <a:t>▪ In the unlikely event that the diffusing surface becomes contaminated or deteriorates, it can be restored and maintained.</a:t>
            </a:r>
            <a:br>
              <a:rPr lang="en-US" sz="3200" dirty="0"/>
            </a:br>
            <a:r>
              <a:rPr lang="en-US" dirty="0"/>
              <a:t>▪ A variety of light sources can be used by changing the integrating sphere accessories, such as the support stand and socket.</a:t>
            </a:r>
            <a:br>
              <a:rPr lang="en-US" sz="3200" dirty="0"/>
            </a:br>
            <a:r>
              <a:rPr lang="en-US" dirty="0"/>
              <a:t>▪ The size and shape of the integrating sphere can be freely designed to suit the inspection and sorting equipment.</a:t>
            </a:r>
            <a:br>
              <a:rPr lang="en-US" sz="3200" dirty="0"/>
            </a:br>
            <a:br>
              <a:rPr lang="en-US" sz="3200" dirty="0"/>
            </a:br>
            <a:r>
              <a:rPr lang="en-US" dirty="0"/>
              <a:t>Light-resistant type</a:t>
            </a:r>
            <a:br>
              <a:rPr lang="en-US" sz="3200" dirty="0"/>
            </a:br>
            <a:r>
              <a:rPr lang="en-US" dirty="0"/>
              <a:t>: ▪ The white reflective surface is created using 100% barium sulfate without using any binders (patented).</a:t>
            </a:r>
            <a:br>
              <a:rPr lang="en-US" sz="3200" dirty="0"/>
            </a:br>
            <a:r>
              <a:rPr lang="en-US" dirty="0"/>
              <a:t>▪ It has mechanical strength that can withstand machine vibrations, etc.</a:t>
            </a:r>
            <a:br>
              <a:rPr lang="en-US" sz="3200" dirty="0"/>
            </a:br>
            <a:r>
              <a:rPr lang="en-US" dirty="0"/>
              <a:t>▪ It has excellent robustness, long-term stability, and weather resistance, even in production site </a:t>
            </a:r>
            <a:r>
              <a:rPr lang="en-US" dirty="0" err="1"/>
              <a:t>environments.</a:t>
            </a:r>
            <a:r>
              <a:rPr lang="en-US" sz="4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Working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 principle</a:t>
            </a:r>
          </a:p>
          <a:p>
            <a:r>
              <a:rPr lang="en-US" dirty="0"/>
              <a:t>From company </a:t>
            </a:r>
            <a:br>
              <a:rPr lang="en-US" dirty="0"/>
            </a:br>
            <a:r>
              <a:rPr lang="en-US" dirty="0"/>
              <a:t>- 3-inch integrating sphere for transmission/reflection measurements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SiPD</a:t>
            </a:r>
            <a:r>
              <a:rPr lang="en-US" dirty="0"/>
              <a:t> sensor (light output confirmed using PC software)</a:t>
            </a:r>
            <a:br>
              <a:rPr lang="en-US" dirty="0"/>
            </a:br>
            <a:r>
              <a:rPr lang="en-US" dirty="0"/>
              <a:t>- Reference white </a:t>
            </a:r>
            <a:r>
              <a:rPr lang="en-US" dirty="0" err="1"/>
              <a:t>plateIn</a:t>
            </a:r>
            <a:r>
              <a:rPr lang="en-US" dirty="0"/>
              <a:t> this configuration, the </a:t>
            </a:r>
            <a:r>
              <a:rPr lang="en-US" dirty="0" err="1"/>
              <a:t>SiPD</a:t>
            </a:r>
            <a:r>
              <a:rPr lang="en-US" dirty="0"/>
              <a:t> sensor is fixed and will not be removed.</a:t>
            </a:r>
            <a:br>
              <a:rPr lang="en-US" dirty="0"/>
            </a:br>
            <a:r>
              <a:rPr lang="en-US" dirty="0"/>
              <a:t>The connection will be switched on the laser side for transmission and reflection.</a:t>
            </a:r>
          </a:p>
          <a:p>
            <a:r>
              <a:rPr lang="en-US" dirty="0"/>
              <a:t>Could you please confirm whether it is possible to route the laser light using an SMA fiber or similar?</a:t>
            </a:r>
          </a:p>
          <a:p>
            <a:r>
              <a:rPr lang="en-US" dirty="0"/>
              <a:t>It is also possible to configure a 2-inch integrating sphere for transmission and reflection separately.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0C8B1B02-CDC9-D396-98D8-9AD6EC4F3A10}"/>
              </a:ext>
            </a:extLst>
          </p:cNvPr>
          <p:cNvSpPr txBox="1"/>
          <p:nvPr/>
        </p:nvSpPr>
        <p:spPr>
          <a:xfrm>
            <a:off x="2476500" y="1429468"/>
            <a:ext cx="13335000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Optical properties measurement system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5B8C3E58-429F-97DD-AC5D-5B2911A5DAAE}"/>
              </a:ext>
            </a:extLst>
          </p:cNvPr>
          <p:cNvSpPr txBox="1"/>
          <p:nvPr/>
        </p:nvSpPr>
        <p:spPr>
          <a:xfrm>
            <a:off x="13256756" y="9261891"/>
            <a:ext cx="400772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Ophir’s general-purpose sphere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8A81DD13-3CAC-DC02-4654-FB391FA20635}"/>
              </a:ext>
            </a:extLst>
          </p:cNvPr>
          <p:cNvSpPr txBox="1"/>
          <p:nvPr/>
        </p:nvSpPr>
        <p:spPr>
          <a:xfrm>
            <a:off x="13256757" y="5846903"/>
            <a:ext cx="365964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ctr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Detection of light reflection using integrating sphere  </a:t>
            </a:r>
          </a:p>
        </p:txBody>
      </p:sp>
    </p:spTree>
    <p:extLst>
      <p:ext uri="{BB962C8B-B14F-4D97-AF65-F5344CB8AC3E}">
        <p14:creationId xmlns:p14="http://schemas.microsoft.com/office/powerpoint/2010/main" val="1517818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485814" y="2762204"/>
            <a:ext cx="9316373" cy="245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80543" y="5328331"/>
            <a:ext cx="992691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 FOR LISTENING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  <a:endParaRPr lang="en-US" sz="1599" u="none" strike="noStrike" spc="159" dirty="0">
              <a:solidFill>
                <a:srgbClr val="000000">
                  <a:alpha val="49804"/>
                </a:srgb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1268</TotalTime>
  <Words>1194</Words>
  <Application>Microsoft Office PowerPoint</Application>
  <PresentationFormat>Custom</PresentationFormat>
  <Paragraphs>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Open Sauce</vt:lpstr>
      <vt:lpstr>Times New Roman</vt:lpstr>
      <vt:lpstr>Arial</vt:lpstr>
      <vt:lpstr>DM Serif Display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Simple Minimalist Pitch Deck Marketing Presentation</dc:title>
  <dc:creator>LUCUS</dc:creator>
  <cp:lastModifiedBy>THU TA ZAW</cp:lastModifiedBy>
  <cp:revision>157</cp:revision>
  <dcterms:created xsi:type="dcterms:W3CDTF">2006-08-16T00:00:00Z</dcterms:created>
  <dcterms:modified xsi:type="dcterms:W3CDTF">2025-10-23T06:48:49Z</dcterms:modified>
  <dc:identifier>DAG0bfrM1o8</dc:identifier>
</cp:coreProperties>
</file>