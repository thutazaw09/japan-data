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839" r:id="rId3"/>
    <p:sldId id="842" r:id="rId4"/>
    <p:sldId id="843" r:id="rId5"/>
    <p:sldId id="844" r:id="rId6"/>
    <p:sldId id="845" r:id="rId7"/>
    <p:sldId id="840" r:id="rId8"/>
    <p:sldId id="267" r:id="rId9"/>
  </p:sldIdLst>
  <p:sldSz cx="18288000" cy="10287000"/>
  <p:notesSz cx="6858000" cy="9144000"/>
  <p:embeddedFontLst>
    <p:embeddedFont>
      <p:font typeface="DM Serif Display" pitchFamily="2" charset="0"/>
      <p:regular r:id="rId11"/>
      <p:italic r:id="rId12"/>
    </p:embeddedFont>
    <p:embeddedFont>
      <p:font typeface="Open Sauc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3402" autoAdjust="0"/>
  </p:normalViewPr>
  <p:slideViewPr>
    <p:cSldViewPr>
      <p:cViewPr>
        <p:scale>
          <a:sx n="75" d="100"/>
          <a:sy n="75" d="100"/>
        </p:scale>
        <p:origin x="726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2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fif"/><Relationship Id="rId9" Type="http://schemas.openxmlformats.org/officeDocument/2006/relationships/image" Target="../media/image6.jf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865776" y="2843997"/>
            <a:ext cx="12556447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IV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6938618" y="5039790"/>
            <a:ext cx="441076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1023524" y="3067147"/>
            <a:ext cx="11930476" cy="6870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 is an optical measurement tool used to quantify how light interacts with scattering and absorbing media.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It is a hollow spherical cavity, coated internally with a diffuse reflective material. </a:t>
            </a:r>
          </a:p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 principle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 radiation introduced into an integrating sphere strikes the reflective walls and undergoes multiple diffuse reflections.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After numerous reflections, the radiation is dispersed highly at the sphere walls.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 resulting integrated radiation level is directly proportional to the initial radiation level and may be easily measured by using a detector.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D899A8-3DAC-E3C2-FA60-E3B03660392C}"/>
              </a:ext>
            </a:extLst>
          </p:cNvPr>
          <p:cNvSpPr txBox="1"/>
          <p:nvPr/>
        </p:nvSpPr>
        <p:spPr>
          <a:xfrm>
            <a:off x="5886450" y="1558519"/>
            <a:ext cx="65151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</a:t>
            </a:r>
          </a:p>
        </p:txBody>
      </p:sp>
      <p:pic>
        <p:nvPicPr>
          <p:cNvPr id="9" name="Picture 8" descr="Diagram of a circular object with lines and dots&#10;&#10;AI-generated content may be incorrect.">
            <a:extLst>
              <a:ext uri="{FF2B5EF4-FFF2-40B4-BE49-F238E27FC236}">
                <a16:creationId xmlns:a16="http://schemas.microsoft.com/office/drawing/2014/main" id="{299AE84E-CDF7-0F96-C6D7-7975D5390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1126" y="3061872"/>
            <a:ext cx="3085578" cy="2684453"/>
          </a:xfrm>
          <a:prstGeom prst="rect">
            <a:avLst/>
          </a:prstGeom>
        </p:spPr>
      </p:pic>
      <p:pic>
        <p:nvPicPr>
          <p:cNvPr id="11" name="Picture 10" descr="A blue round object with black straps&#10;&#10;AI-generated content may be incorrect.">
            <a:extLst>
              <a:ext uri="{FF2B5EF4-FFF2-40B4-BE49-F238E27FC236}">
                <a16:creationId xmlns:a16="http://schemas.microsoft.com/office/drawing/2014/main" id="{82789174-C4F7-0498-184A-88E9536B9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1125" y="6603207"/>
            <a:ext cx="3085579" cy="2548413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A93C4960-46A8-C780-6F10-B3D40C2FB9B8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4717AEF-871D-5444-ACA0-8D89596EBBA6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0EF00-143C-BA50-9FD3-D02B05F7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F113CA-FF77-6255-63E9-25611F8DBE71}"/>
              </a:ext>
            </a:extLst>
          </p:cNvPr>
          <p:cNvSpPr/>
          <p:nvPr/>
        </p:nvSpPr>
        <p:spPr>
          <a:xfrm>
            <a:off x="0" y="-813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B6C9A9D-E159-F204-6C02-13CEF21616F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164D138-95FF-9AD3-1578-3F28A4EE3A9D}"/>
              </a:ext>
            </a:extLst>
          </p:cNvPr>
          <p:cNvSpPr txBox="1"/>
          <p:nvPr/>
        </p:nvSpPr>
        <p:spPr>
          <a:xfrm>
            <a:off x="1048925" y="6177164"/>
            <a:ext cx="8086609" cy="3176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Scattering Beam 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Scattering beam is a light beam that becomes diffused and broadened as photons interact with the medium.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Scattering beam describes how light deviates from its original path due to microscopic inhomogeneities in biological tissues.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Beam scattering is essential for measuring tissues optical properties </a:t>
            </a:r>
            <a:r>
              <a:rPr lang="el-G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(μ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ₐ, </a:t>
            </a:r>
            <a:r>
              <a:rPr lang="el-G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s′, g).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2F769E8-C95F-1939-C1B7-2D6F1DE3EA29}"/>
              </a:ext>
            </a:extLst>
          </p:cNvPr>
          <p:cNvSpPr txBox="1"/>
          <p:nvPr/>
        </p:nvSpPr>
        <p:spPr>
          <a:xfrm>
            <a:off x="1057390" y="1498927"/>
            <a:ext cx="16207085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Measuring Scattering and Collimated Beam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91B80-94CB-C92A-6722-8C92C262BDF8}"/>
              </a:ext>
            </a:extLst>
          </p:cNvPr>
          <p:cNvSpPr txBox="1"/>
          <p:nvPr/>
        </p:nvSpPr>
        <p:spPr>
          <a:xfrm>
            <a:off x="3881493" y="5590096"/>
            <a:ext cx="10558877" cy="49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>
              <a:lnSpc>
                <a:spcPts val="4479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(a) scattering beam inside integrating sphere and, (b) collimated beam inside integrating sphere </a:t>
            </a:r>
          </a:p>
        </p:txBody>
      </p:sp>
      <p:pic>
        <p:nvPicPr>
          <p:cNvPr id="10" name="Picture 9" descr="A diagram of a circle with arrows and a circle with numbers&#10;&#10;AI-generated content may be incorrect.">
            <a:extLst>
              <a:ext uri="{FF2B5EF4-FFF2-40B4-BE49-F238E27FC236}">
                <a16:creationId xmlns:a16="http://schemas.microsoft.com/office/drawing/2014/main" id="{C588AC99-1593-6A4F-64EB-16571B708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83"/>
          <a:stretch>
            <a:fillRect/>
          </a:stretch>
        </p:blipFill>
        <p:spPr>
          <a:xfrm>
            <a:off x="5496637" y="2476500"/>
            <a:ext cx="7772400" cy="32135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C23B29-AD8F-BBAC-12BF-F9A6CD03F680}"/>
              </a:ext>
            </a:extLst>
          </p:cNvPr>
          <p:cNvSpPr txBox="1"/>
          <p:nvPr/>
        </p:nvSpPr>
        <p:spPr>
          <a:xfrm>
            <a:off x="6019800" y="4998049"/>
            <a:ext cx="990600" cy="49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(a)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5D75CC-49C7-8EA3-FC5E-88BF37728D1A}"/>
              </a:ext>
            </a:extLst>
          </p:cNvPr>
          <p:cNvSpPr txBox="1"/>
          <p:nvPr/>
        </p:nvSpPr>
        <p:spPr>
          <a:xfrm>
            <a:off x="10515600" y="5003028"/>
            <a:ext cx="990600" cy="49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(b)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EC30201E-950C-A492-5317-5E1BBB574962}"/>
              </a:ext>
            </a:extLst>
          </p:cNvPr>
          <p:cNvSpPr txBox="1"/>
          <p:nvPr/>
        </p:nvSpPr>
        <p:spPr>
          <a:xfrm>
            <a:off x="9144000" y="6177164"/>
            <a:ext cx="8120475" cy="3637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Collimated Beam 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 collimated beam is a light beam whose rays are nearly parallel, producing minimal divergence, which allows the beam to propagate long distances without significant spreading.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It provides a controlled entry angle and uniform intensity, enabling accurate measurement of absorption, scattering, and transmittance in skin or tissue phantoms. </a:t>
            </a:r>
          </a:p>
          <a:p>
            <a:pPr marL="302259" lvl="1" algn="l"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38638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64E6-7084-049E-1B16-C4F1C49B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3E6C01-B2FA-4C87-A1CC-658514EB8377}"/>
              </a:ext>
            </a:extLst>
          </p:cNvPr>
          <p:cNvSpPr/>
          <p:nvPr/>
        </p:nvSpPr>
        <p:spPr>
          <a:xfrm>
            <a:off x="-2275" y="-3241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7C1883-2DC9-01A3-8327-CFFC74A4B544}"/>
              </a:ext>
            </a:extLst>
          </p:cNvPr>
          <p:cNvSpPr/>
          <p:nvPr/>
        </p:nvSpPr>
        <p:spPr>
          <a:xfrm>
            <a:off x="9448800" y="2673599"/>
            <a:ext cx="7838155" cy="44059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64A4E3-202D-8B5F-FDD4-B73C754A09D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AC6FE62-F9C9-2F60-58CE-24B99E5B0C9F}"/>
              </a:ext>
            </a:extLst>
          </p:cNvPr>
          <p:cNvSpPr txBox="1"/>
          <p:nvPr/>
        </p:nvSpPr>
        <p:spPr>
          <a:xfrm>
            <a:off x="5872162" y="1458959"/>
            <a:ext cx="6543676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14C3C0F-52E5-52A0-E3DC-8EDE5B53D8D5}"/>
              </a:ext>
            </a:extLst>
          </p:cNvPr>
          <p:cNvSpPr txBox="1"/>
          <p:nvPr/>
        </p:nvSpPr>
        <p:spPr>
          <a:xfrm>
            <a:off x="10897296" y="7199191"/>
            <a:ext cx="554765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Optical properties measurement system setup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1DCAACD7-007B-78F2-F0FB-4B856212B6E1}"/>
              </a:ext>
            </a:extLst>
          </p:cNvPr>
          <p:cNvSpPr txBox="1"/>
          <p:nvPr/>
        </p:nvSpPr>
        <p:spPr>
          <a:xfrm>
            <a:off x="1001045" y="7199191"/>
            <a:ext cx="769752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Integrating sphere setup to measure the optical properties of sample</a:t>
            </a:r>
          </a:p>
        </p:txBody>
      </p:sp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5B7F6EBD-E831-73CB-5481-BB694055F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45" y="2673599"/>
            <a:ext cx="7697522" cy="4405989"/>
          </a:xfrm>
          <a:prstGeom prst="rect">
            <a:avLst/>
          </a:prstGeom>
        </p:spPr>
      </p:pic>
      <p:pic>
        <p:nvPicPr>
          <p:cNvPr id="25" name="Picture 24" descr="A green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B05BFC46-A8AC-97C0-4AA9-E6770C1825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130" y="4386412"/>
            <a:ext cx="2026075" cy="2026075"/>
          </a:xfrm>
          <a:prstGeom prst="rect">
            <a:avLst/>
          </a:prstGeom>
        </p:spPr>
      </p:pic>
      <p:pic>
        <p:nvPicPr>
          <p:cNvPr id="27" name="Picture 26" descr="A computer monitor with a screen on&#10;&#10;AI-generated content may be incorrect.">
            <a:extLst>
              <a:ext uri="{FF2B5EF4-FFF2-40B4-BE49-F238E27FC236}">
                <a16:creationId xmlns:a16="http://schemas.microsoft.com/office/drawing/2014/main" id="{DADB29E6-0D25-3128-320A-5E662F1353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391" y="3009900"/>
            <a:ext cx="2020813" cy="1378685"/>
          </a:xfrm>
          <a:prstGeom prst="rect">
            <a:avLst/>
          </a:prstGeom>
        </p:spPr>
      </p:pic>
      <p:pic>
        <p:nvPicPr>
          <p:cNvPr id="28" name="Picture 27" descr="A close up of a laser pointer&#10;&#10;AI-generated content may be incorrect.">
            <a:extLst>
              <a:ext uri="{FF2B5EF4-FFF2-40B4-BE49-F238E27FC236}">
                <a16:creationId xmlns:a16="http://schemas.microsoft.com/office/drawing/2014/main" id="{458D3FE7-2D85-4E53-5037-30C28B6F89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6048" y="3671492"/>
            <a:ext cx="1613590" cy="1378686"/>
          </a:xfrm>
          <a:prstGeom prst="rect">
            <a:avLst/>
          </a:prstGeom>
        </p:spPr>
      </p:pic>
      <p:pic>
        <p:nvPicPr>
          <p:cNvPr id="29" name="Picture 28" descr="A close-up of a device&#10;&#10;AI-generated content may be incorrect.">
            <a:extLst>
              <a:ext uri="{FF2B5EF4-FFF2-40B4-BE49-F238E27FC236}">
                <a16:creationId xmlns:a16="http://schemas.microsoft.com/office/drawing/2014/main" id="{186ECE26-E717-0341-48CE-B6D68D5ACBD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6048" y="5466327"/>
            <a:ext cx="1613591" cy="1378686"/>
          </a:xfrm>
          <a:prstGeom prst="rect">
            <a:avLst/>
          </a:prstGeom>
        </p:spPr>
      </p:pic>
      <p:pic>
        <p:nvPicPr>
          <p:cNvPr id="30" name="Picture 29" descr="A blue round object with black straps&#10;&#10;AI-generated content may be incorrect.">
            <a:extLst>
              <a:ext uri="{FF2B5EF4-FFF2-40B4-BE49-F238E27FC236}">
                <a16:creationId xmlns:a16="http://schemas.microsoft.com/office/drawing/2014/main" id="{01D997BE-B426-0795-0BF1-1B4DA9168C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1748" y="4016540"/>
            <a:ext cx="2897052" cy="2392707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461953-6BD2-04DF-80FB-9E0B6E7CDD93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13799639" y="5937002"/>
            <a:ext cx="1798709" cy="218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2FF528-B39B-DA51-129B-4D85AD141459}"/>
              </a:ext>
            </a:extLst>
          </p:cNvPr>
          <p:cNvCxnSpPr>
            <a:cxnSpLocks/>
          </p:cNvCxnSpPr>
          <p:nvPr/>
        </p:nvCxnSpPr>
        <p:spPr>
          <a:xfrm>
            <a:off x="13411200" y="4336801"/>
            <a:ext cx="1729948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AE63B2-8420-95E3-3ECA-0D4F2A9F475C}"/>
              </a:ext>
            </a:extLst>
          </p:cNvPr>
          <p:cNvCxnSpPr>
            <a:cxnSpLocks/>
          </p:cNvCxnSpPr>
          <p:nvPr/>
        </p:nvCxnSpPr>
        <p:spPr>
          <a:xfrm flipH="1" flipV="1">
            <a:off x="11734606" y="5418595"/>
            <a:ext cx="533594" cy="990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4DCA111-1205-8B44-D255-8243A76AC02A}"/>
              </a:ext>
            </a:extLst>
          </p:cNvPr>
          <p:cNvCxnSpPr>
            <a:cxnSpLocks/>
          </p:cNvCxnSpPr>
          <p:nvPr/>
        </p:nvCxnSpPr>
        <p:spPr>
          <a:xfrm flipH="1" flipV="1">
            <a:off x="10492948" y="4016540"/>
            <a:ext cx="533400" cy="77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2A9A503-36BD-4DD7-06E0-8C7A2F60581D}"/>
              </a:ext>
            </a:extLst>
          </p:cNvPr>
          <p:cNvCxnSpPr>
            <a:cxnSpLocks/>
          </p:cNvCxnSpPr>
          <p:nvPr/>
        </p:nvCxnSpPr>
        <p:spPr>
          <a:xfrm flipV="1">
            <a:off x="11483548" y="4336801"/>
            <a:ext cx="1318052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8">
            <a:extLst>
              <a:ext uri="{FF2B5EF4-FFF2-40B4-BE49-F238E27FC236}">
                <a16:creationId xmlns:a16="http://schemas.microsoft.com/office/drawing/2014/main" id="{F23115E9-4B19-4855-D77E-8ACDF32F050C}"/>
              </a:ext>
            </a:extLst>
          </p:cNvPr>
          <p:cNvSpPr txBox="1"/>
          <p:nvPr/>
        </p:nvSpPr>
        <p:spPr>
          <a:xfrm>
            <a:off x="972073" y="7835286"/>
            <a:ext cx="16314882" cy="2224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System Setup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samples measurement system include Integrating sphere, light source, Spectrometer, Raspberry Pi and monitor.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Raspberry pi will be used to control the laser pulse and, to receive the data from spectrometer and show on monitor.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 integrating sphere is firmly positioned along with the sample and light source. </a:t>
            </a:r>
          </a:p>
        </p:txBody>
      </p:sp>
    </p:spTree>
    <p:extLst>
      <p:ext uri="{BB962C8B-B14F-4D97-AF65-F5344CB8AC3E}">
        <p14:creationId xmlns:p14="http://schemas.microsoft.com/office/powerpoint/2010/main" val="85368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0B2-E8B4-C60D-729E-B8CAE042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87D438-DCF6-72B8-29F7-32984B3E0D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A79B84-ABA2-8F75-C3D2-5280B6D6306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42ADB9C-B832-BAC1-76A9-AF57E0DBDDC9}"/>
              </a:ext>
            </a:extLst>
          </p:cNvPr>
          <p:cNvSpPr txBox="1"/>
          <p:nvPr/>
        </p:nvSpPr>
        <p:spPr>
          <a:xfrm>
            <a:off x="6686615" y="3084407"/>
            <a:ext cx="10287000" cy="5716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Use compound with high reflectance over 0.95.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 provide high diffuse reflectance inside integrating spheres ensuring uniform light distribution.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 reduces measurement errors caused by specular reflection, beam angle bias, and surface irregularities.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 maintain consistent optical calibration across the visible-NIR range (400- 1700 nm).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Typical material used include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Spectralon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(PRFE), with reflectance around 0.99 and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BaSO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₄, with reflectance around 0.96 to 0.98).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1032B2C-3EB7-375F-E40E-7A2F093CF553}"/>
              </a:ext>
            </a:extLst>
          </p:cNvPr>
          <p:cNvSpPr txBox="1"/>
          <p:nvPr/>
        </p:nvSpPr>
        <p:spPr>
          <a:xfrm>
            <a:off x="5834062" y="1265308"/>
            <a:ext cx="6619876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Reflective material 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5362408-6D4B-8BBA-A83F-7CD919A694D7}"/>
              </a:ext>
            </a:extLst>
          </p:cNvPr>
          <p:cNvSpPr txBox="1"/>
          <p:nvPr/>
        </p:nvSpPr>
        <p:spPr>
          <a:xfrm>
            <a:off x="1014901" y="8191500"/>
            <a:ext cx="532363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Inner reflective coating of integrating sphere</a:t>
            </a:r>
          </a:p>
        </p:txBody>
      </p:sp>
      <p:pic>
        <p:nvPicPr>
          <p:cNvPr id="16" name="Picture 15" descr="A large satellite dish on a stand&#10;&#10;AI-generated content may be incorrect.">
            <a:extLst>
              <a:ext uri="{FF2B5EF4-FFF2-40B4-BE49-F238E27FC236}">
                <a16:creationId xmlns:a16="http://schemas.microsoft.com/office/drawing/2014/main" id="{278C3F03-C48B-EEF5-8327-8575D8FFA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385" y="3100260"/>
            <a:ext cx="5043139" cy="496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0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695B-7AC7-45A9-5252-EC0EA7C1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EA55E2-057E-89DA-85A8-379A2683831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BDED6FB-4D69-5F61-3719-50FCEA073EB7}"/>
              </a:ext>
            </a:extLst>
          </p:cNvPr>
          <p:cNvSpPr txBox="1"/>
          <p:nvPr/>
        </p:nvSpPr>
        <p:spPr>
          <a:xfrm>
            <a:off x="5354854" y="2781300"/>
            <a:ext cx="11930476" cy="7447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Light Source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 provide stable controlled illumination for optical property measurements, as spectral bandwidth and stability directly affect accuracy 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of </a:t>
            </a:r>
            <a:r>
              <a:rPr lang="el-GR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ₐ and </a:t>
            </a:r>
            <a:r>
              <a:rPr lang="el-GR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s′ extraction.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Mostly used laser with wavelength range of 400-1700 nm to cover hemoglobin, melanin, water and lipid absorption bands.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Optical Spectrometer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 converts light intensity vs wavelength into quantitative data for extracting optical coefficient (</a:t>
            </a:r>
            <a:r>
              <a:rPr lang="el-GR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ₐ and </a:t>
            </a:r>
            <a:r>
              <a:rPr lang="el-GR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s′).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Need to use low-noise spectrometer to ensure precise reflectance and transmittance calculations.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Mostly used spectrometer with the wavelength detection range of 400-1700 nm (VIS-NIR).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F9D040D-FBCF-CFCE-B0FA-BAE101EE277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D21CCCB2-C221-F60D-AB2A-A289ECCB39F5}"/>
              </a:ext>
            </a:extLst>
          </p:cNvPr>
          <p:cNvSpPr txBox="1"/>
          <p:nvPr/>
        </p:nvSpPr>
        <p:spPr>
          <a:xfrm>
            <a:off x="4733924" y="1487125"/>
            <a:ext cx="882015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 Setup 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D181AA92-5D8D-E822-CBEE-0B9D6D358641}"/>
              </a:ext>
            </a:extLst>
          </p:cNvPr>
          <p:cNvSpPr txBox="1"/>
          <p:nvPr/>
        </p:nvSpPr>
        <p:spPr>
          <a:xfrm>
            <a:off x="1261153" y="9035682"/>
            <a:ext cx="35268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Ossila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optical spectrometer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ED1C7FB3-895F-B5F8-D4EF-4540E100E743}"/>
              </a:ext>
            </a:extLst>
          </p:cNvPr>
          <p:cNvSpPr txBox="1"/>
          <p:nvPr/>
        </p:nvSpPr>
        <p:spPr>
          <a:xfrm>
            <a:off x="943855" y="5793393"/>
            <a:ext cx="397192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Class 2 laser with wavelength of 650 nm (VIS)</a:t>
            </a:r>
          </a:p>
        </p:txBody>
      </p:sp>
      <p:pic>
        <p:nvPicPr>
          <p:cNvPr id="12" name="Picture 11" descr="A close up of a laser pointer&#10;&#10;AI-generated content may be incorrect.">
            <a:extLst>
              <a:ext uri="{FF2B5EF4-FFF2-40B4-BE49-F238E27FC236}">
                <a16:creationId xmlns:a16="http://schemas.microsoft.com/office/drawing/2014/main" id="{2E1ECA01-1E25-DF47-5C6B-3C74FEA0C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140" y="2886451"/>
            <a:ext cx="2834866" cy="2834866"/>
          </a:xfrm>
          <a:prstGeom prst="rect">
            <a:avLst/>
          </a:prstGeom>
        </p:spPr>
      </p:pic>
      <p:pic>
        <p:nvPicPr>
          <p:cNvPr id="22" name="Picture 21" descr="A close-up of a device&#10;&#10;AI-generated content may be incorrect.">
            <a:extLst>
              <a:ext uri="{FF2B5EF4-FFF2-40B4-BE49-F238E27FC236}">
                <a16:creationId xmlns:a16="http://schemas.microsoft.com/office/drawing/2014/main" id="{FC6386D9-496A-9E78-1B46-85701F22EF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84" y="6525225"/>
            <a:ext cx="3694577" cy="241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1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F6E4-6432-FFCA-1D64-C574A7920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DEFD95-C943-CEC5-27FB-AAE634BC72B3}"/>
              </a:ext>
            </a:extLst>
          </p:cNvPr>
          <p:cNvSpPr/>
          <p:nvPr/>
        </p:nvSpPr>
        <p:spPr>
          <a:xfrm>
            <a:off x="1693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13E8AF2-1BD3-12AF-6247-62DABFB3C74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5EF4FC7-5E18-B529-9F32-0359FB0A8B26}"/>
              </a:ext>
            </a:extLst>
          </p:cNvPr>
          <p:cNvSpPr txBox="1"/>
          <p:nvPr/>
        </p:nvSpPr>
        <p:spPr>
          <a:xfrm>
            <a:off x="1074908" y="2596558"/>
            <a:ext cx="10982210" cy="7417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 flowing data biomedical samples can be measured using the integrating spheres: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Diffuse reflectance R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d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is a fraction of light diffusely reflected from sample.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Total transmittance T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is a fraction of light transmitted (diffuse and direct).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Specular reflectance R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is a mirror-like surface reflection.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Absorptance, which is a fraction of light absorbed by sample.</a:t>
            </a:r>
          </a:p>
          <a:p>
            <a:pPr marL="302259" lvl="1">
              <a:lnSpc>
                <a:spcPts val="4479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 flowing optical properties can be calculated from the measured data: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Absorption coefficient </a:t>
            </a:r>
            <a:r>
              <a:rPr lang="el-GR" sz="2000" dirty="0"/>
              <a:t>μ</a:t>
            </a:r>
            <a:r>
              <a:rPr lang="en-US" sz="1200" dirty="0"/>
              <a:t>a</a:t>
            </a:r>
            <a:r>
              <a:rPr lang="en-US" sz="2000" dirty="0"/>
              <a:t>​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the photon loss due to chromophore absorption.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Reduced scattering </a:t>
            </a:r>
            <a:r>
              <a:rPr lang="el-GR" sz="2000" dirty="0"/>
              <a:t>μ</a:t>
            </a:r>
            <a:r>
              <a:rPr lang="en-US" sz="1200" dirty="0"/>
              <a:t>s</a:t>
            </a:r>
            <a:r>
              <a:rPr lang="en-US" sz="2000" dirty="0"/>
              <a:t>′​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diffusion strength of scattered light.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Anisotropy Factor g, which describes the directionality of scattering (0 = isotropic and 1 = forward).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Refractive index </a:t>
            </a:r>
            <a:r>
              <a:rPr lang="en-US" sz="2000" dirty="0"/>
              <a:t>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the boundary reflection and transmission.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Albedo </a:t>
            </a:r>
            <a:r>
              <a:rPr lang="en-US" sz="2000" dirty="0"/>
              <a:t>a′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the ratio of scattering to total extinction.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Penetration depth </a:t>
            </a:r>
            <a:r>
              <a:rPr lang="el-GR" sz="2000" dirty="0"/>
              <a:t>δ</a:t>
            </a:r>
            <a:r>
              <a:rPr lang="en-US" sz="2000" dirty="0"/>
              <a:t>, which describes the effective photon travel depth.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2591AA-C3FE-8B6E-020B-7DCCC4B9276E}"/>
              </a:ext>
            </a:extLst>
          </p:cNvPr>
          <p:cNvSpPr txBox="1"/>
          <p:nvPr/>
        </p:nvSpPr>
        <p:spPr>
          <a:xfrm>
            <a:off x="1057390" y="1498927"/>
            <a:ext cx="1692581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samples (skins and phantom )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C99D7B30-15E1-FA02-D5AB-3BBDCBF5642E}"/>
              </a:ext>
            </a:extLst>
          </p:cNvPr>
          <p:cNvSpPr txBox="1"/>
          <p:nvPr/>
        </p:nvSpPr>
        <p:spPr>
          <a:xfrm>
            <a:off x="12831358" y="8175265"/>
            <a:ext cx="396015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Transmittance, Reflectance and absorption scattering of skin</a:t>
            </a:r>
          </a:p>
        </p:txBody>
      </p:sp>
      <p:pic>
        <p:nvPicPr>
          <p:cNvPr id="6" name="Picture 5" descr="A diagram of a structure&#10;&#10;AI-generated content may be incorrect.">
            <a:extLst>
              <a:ext uri="{FF2B5EF4-FFF2-40B4-BE49-F238E27FC236}">
                <a16:creationId xmlns:a16="http://schemas.microsoft.com/office/drawing/2014/main" id="{1F855F64-D906-3379-777C-5CCB7F2A4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2262" y="3090799"/>
            <a:ext cx="4838348" cy="503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9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740</Words>
  <Application>Microsoft Office PowerPoint</Application>
  <PresentationFormat>Custom</PresentationFormat>
  <Paragraphs>68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DM Serif Display</vt:lpstr>
      <vt:lpstr>Open Sauce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133</cp:revision>
  <dcterms:created xsi:type="dcterms:W3CDTF">2006-08-16T00:00:00Z</dcterms:created>
  <dcterms:modified xsi:type="dcterms:W3CDTF">2025-10-20T08:58:28Z</dcterms:modified>
  <dc:identifier>DAG0bfrM1o8</dc:identifier>
</cp:coreProperties>
</file>