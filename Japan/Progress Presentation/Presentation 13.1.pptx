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8"/>
  </p:notesMasterIdLst>
  <p:sldIdLst>
    <p:sldId id="256" r:id="rId2"/>
    <p:sldId id="885" r:id="rId3"/>
    <p:sldId id="871" r:id="rId4"/>
    <p:sldId id="873" r:id="rId5"/>
    <p:sldId id="874" r:id="rId6"/>
    <p:sldId id="879" r:id="rId7"/>
    <p:sldId id="881" r:id="rId8"/>
    <p:sldId id="884" r:id="rId9"/>
    <p:sldId id="882" r:id="rId10"/>
    <p:sldId id="880" r:id="rId11"/>
    <p:sldId id="883" r:id="rId12"/>
    <p:sldId id="872" r:id="rId13"/>
    <p:sldId id="876" r:id="rId14"/>
    <p:sldId id="877" r:id="rId15"/>
    <p:sldId id="878" r:id="rId16"/>
    <p:sldId id="267" r:id="rId17"/>
  </p:sldIdLst>
  <p:sldSz cx="18288000" cy="10287000"/>
  <p:notesSz cx="6858000" cy="9144000"/>
  <p:embeddedFontLst>
    <p:embeddedFont>
      <p:font typeface="Cambria Math" panose="02040503050406030204" pitchFamily="18" charset="0"/>
      <p:regular r:id="rId19"/>
    </p:embeddedFont>
    <p:embeddedFont>
      <p:font typeface="DM Serif Display" pitchFamily="2" charset="0"/>
      <p:regular r:id="rId20"/>
      <p:italic r:id="rId21"/>
    </p:embeddedFont>
    <p:embeddedFont>
      <p:font typeface="Open Sauce" panose="020B060402020202020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355" autoAdjust="0"/>
    <p:restoredTop sz="90843" autoAdjust="0"/>
  </p:normalViewPr>
  <p:slideViewPr>
    <p:cSldViewPr>
      <p:cViewPr varScale="1">
        <p:scale>
          <a:sx n="68" d="100"/>
          <a:sy n="68" d="100"/>
        </p:scale>
        <p:origin x="1140"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2EF82B-E016-44BD-B0C4-D5A3DF34FAF9}" type="datetimeFigureOut">
              <a:rPr lang="en-US" smtClean="0"/>
              <a:t>3/31/2026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A7D310-3A65-477A-971E-8091E55376EC}" type="slidenum">
              <a:rPr lang="en-US" smtClean="0"/>
              <a:t>‹#›</a:t>
            </a:fld>
            <a:endParaRPr lang="en-US"/>
          </a:p>
        </p:txBody>
      </p:sp>
    </p:spTree>
    <p:extLst>
      <p:ext uri="{BB962C8B-B14F-4D97-AF65-F5344CB8AC3E}">
        <p14:creationId xmlns:p14="http://schemas.microsoft.com/office/powerpoint/2010/main" val="29935984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8A2D2-1305-0917-0E74-3BC6558D30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99E6B7-38DA-079C-2FDD-A77D61F98A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3A1C9F-546D-1B1C-D184-1D5033E6684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48B1C6-BBFF-7E82-F4CD-4E1144565C94}"/>
              </a:ext>
            </a:extLst>
          </p:cNvPr>
          <p:cNvSpPr>
            <a:spLocks noGrp="1"/>
          </p:cNvSpPr>
          <p:nvPr>
            <p:ph type="sldNum" sz="quarter" idx="5"/>
          </p:nvPr>
        </p:nvSpPr>
        <p:spPr/>
        <p:txBody>
          <a:bodyPr/>
          <a:lstStyle/>
          <a:p>
            <a:fld id="{7CA7D310-3A65-477A-971E-8091E55376EC}" type="slidenum">
              <a:rPr lang="en-US" smtClean="0"/>
              <a:t>2</a:t>
            </a:fld>
            <a:endParaRPr lang="en-US"/>
          </a:p>
        </p:txBody>
      </p:sp>
    </p:spTree>
    <p:extLst>
      <p:ext uri="{BB962C8B-B14F-4D97-AF65-F5344CB8AC3E}">
        <p14:creationId xmlns:p14="http://schemas.microsoft.com/office/powerpoint/2010/main" val="28593052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56002-A6FE-76F8-8CBC-DE02756F8C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BFABE6-F46E-AF1B-17A5-E99BE37390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BB3CFA-F14C-58F9-87AA-DAF62A55FE6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2A16D03-ED1A-D35B-2D3E-CA80395AA549}"/>
              </a:ext>
            </a:extLst>
          </p:cNvPr>
          <p:cNvSpPr>
            <a:spLocks noGrp="1"/>
          </p:cNvSpPr>
          <p:nvPr>
            <p:ph type="sldNum" sz="quarter" idx="5"/>
          </p:nvPr>
        </p:nvSpPr>
        <p:spPr/>
        <p:txBody>
          <a:bodyPr/>
          <a:lstStyle/>
          <a:p>
            <a:fld id="{7CA7D310-3A65-477A-971E-8091E55376EC}" type="slidenum">
              <a:rPr lang="en-US" smtClean="0"/>
              <a:t>3</a:t>
            </a:fld>
            <a:endParaRPr lang="en-US"/>
          </a:p>
        </p:txBody>
      </p:sp>
    </p:spTree>
    <p:extLst>
      <p:ext uri="{BB962C8B-B14F-4D97-AF65-F5344CB8AC3E}">
        <p14:creationId xmlns:p14="http://schemas.microsoft.com/office/powerpoint/2010/main" val="9791410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9A5B4-6CBC-D510-203F-41DB825006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2F26B4-FEDE-8DA3-2B9F-3D11F6B6BD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99B0C7-C599-85DE-2137-1C7961090B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4AC1091-9402-B6F4-3C58-1F69DBB19EF4}"/>
              </a:ext>
            </a:extLst>
          </p:cNvPr>
          <p:cNvSpPr>
            <a:spLocks noGrp="1"/>
          </p:cNvSpPr>
          <p:nvPr>
            <p:ph type="sldNum" sz="quarter" idx="5"/>
          </p:nvPr>
        </p:nvSpPr>
        <p:spPr/>
        <p:txBody>
          <a:bodyPr/>
          <a:lstStyle/>
          <a:p>
            <a:fld id="{7CA7D310-3A65-477A-971E-8091E55376EC}" type="slidenum">
              <a:rPr lang="en-US" smtClean="0"/>
              <a:t>4</a:t>
            </a:fld>
            <a:endParaRPr lang="en-US"/>
          </a:p>
        </p:txBody>
      </p:sp>
    </p:spTree>
    <p:extLst>
      <p:ext uri="{BB962C8B-B14F-4D97-AF65-F5344CB8AC3E}">
        <p14:creationId xmlns:p14="http://schemas.microsoft.com/office/powerpoint/2010/main" val="10609106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8F37-D0CC-555E-57C7-4E22DC5AE0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1D1D73-C04D-9EC7-7249-96DF769F0B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D1A65E-68B5-C9A8-AE82-854C8C5693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E74A1E-DA20-CAB9-000D-C4AA8A45CB9F}"/>
              </a:ext>
            </a:extLst>
          </p:cNvPr>
          <p:cNvSpPr>
            <a:spLocks noGrp="1"/>
          </p:cNvSpPr>
          <p:nvPr>
            <p:ph type="sldNum" sz="quarter" idx="5"/>
          </p:nvPr>
        </p:nvSpPr>
        <p:spPr/>
        <p:txBody>
          <a:bodyPr/>
          <a:lstStyle/>
          <a:p>
            <a:fld id="{7CA7D310-3A65-477A-971E-8091E55376EC}" type="slidenum">
              <a:rPr lang="en-US" smtClean="0"/>
              <a:t>5</a:t>
            </a:fld>
            <a:endParaRPr lang="en-US"/>
          </a:p>
        </p:txBody>
      </p:sp>
    </p:spTree>
    <p:extLst>
      <p:ext uri="{BB962C8B-B14F-4D97-AF65-F5344CB8AC3E}">
        <p14:creationId xmlns:p14="http://schemas.microsoft.com/office/powerpoint/2010/main" val="21957249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FCC9E-A7AB-5F95-1F17-834C8282DD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D205B8-5011-508D-E594-AB29A1DE17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DC4589-C4EF-BECC-45FE-452134ADE4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4D8ADF-B3F2-8507-F115-A536224020BA}"/>
              </a:ext>
            </a:extLst>
          </p:cNvPr>
          <p:cNvSpPr>
            <a:spLocks noGrp="1"/>
          </p:cNvSpPr>
          <p:nvPr>
            <p:ph type="sldNum" sz="quarter" idx="5"/>
          </p:nvPr>
        </p:nvSpPr>
        <p:spPr/>
        <p:txBody>
          <a:bodyPr/>
          <a:lstStyle/>
          <a:p>
            <a:fld id="{7CA7D310-3A65-477A-971E-8091E55376EC}" type="slidenum">
              <a:rPr lang="en-US" smtClean="0"/>
              <a:t>6</a:t>
            </a:fld>
            <a:endParaRPr lang="en-US"/>
          </a:p>
        </p:txBody>
      </p:sp>
    </p:spTree>
    <p:extLst>
      <p:ext uri="{BB962C8B-B14F-4D97-AF65-F5344CB8AC3E}">
        <p14:creationId xmlns:p14="http://schemas.microsoft.com/office/powerpoint/2010/main" val="34781234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E8D5C-8781-D74A-E3BB-ACB9631F6A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ACDB75-D071-5BCB-39BD-64582DEE58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1159D9-7C82-EBFF-29B7-CB98EF6122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94B482-56C9-8EC3-D2F2-7B741BD8D110}"/>
              </a:ext>
            </a:extLst>
          </p:cNvPr>
          <p:cNvSpPr>
            <a:spLocks noGrp="1"/>
          </p:cNvSpPr>
          <p:nvPr>
            <p:ph type="sldNum" sz="quarter" idx="5"/>
          </p:nvPr>
        </p:nvSpPr>
        <p:spPr/>
        <p:txBody>
          <a:bodyPr/>
          <a:lstStyle/>
          <a:p>
            <a:fld id="{7CA7D310-3A65-477A-971E-8091E55376EC}" type="slidenum">
              <a:rPr lang="en-US" smtClean="0"/>
              <a:t>7</a:t>
            </a:fld>
            <a:endParaRPr lang="en-US"/>
          </a:p>
        </p:txBody>
      </p:sp>
    </p:spTree>
    <p:extLst>
      <p:ext uri="{BB962C8B-B14F-4D97-AF65-F5344CB8AC3E}">
        <p14:creationId xmlns:p14="http://schemas.microsoft.com/office/powerpoint/2010/main" val="19737189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67F94-E755-8CC3-A7E7-0095703F48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D612B0-31D6-E2C8-967F-5CC42D199C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0BFE44-5EE7-EA11-723B-E325E18A4E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A2886D-7B46-3687-99B9-6B829FE5EF0B}"/>
              </a:ext>
            </a:extLst>
          </p:cNvPr>
          <p:cNvSpPr>
            <a:spLocks noGrp="1"/>
          </p:cNvSpPr>
          <p:nvPr>
            <p:ph type="sldNum" sz="quarter" idx="5"/>
          </p:nvPr>
        </p:nvSpPr>
        <p:spPr/>
        <p:txBody>
          <a:bodyPr/>
          <a:lstStyle/>
          <a:p>
            <a:fld id="{7CA7D310-3A65-477A-971E-8091E55376EC}" type="slidenum">
              <a:rPr lang="en-US" smtClean="0"/>
              <a:t>8</a:t>
            </a:fld>
            <a:endParaRPr lang="en-US"/>
          </a:p>
        </p:txBody>
      </p:sp>
    </p:spTree>
    <p:extLst>
      <p:ext uri="{BB962C8B-B14F-4D97-AF65-F5344CB8AC3E}">
        <p14:creationId xmlns:p14="http://schemas.microsoft.com/office/powerpoint/2010/main" val="40721488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06163-7A7C-FC71-9C05-0CA806A546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643452-0A6A-BC3A-6CEB-34893FC91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442A11-0218-AFA3-07B6-42EBE8C4BD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66D4DB-49F2-C6BC-ED53-CF706D57B874}"/>
              </a:ext>
            </a:extLst>
          </p:cNvPr>
          <p:cNvSpPr>
            <a:spLocks noGrp="1"/>
          </p:cNvSpPr>
          <p:nvPr>
            <p:ph type="sldNum" sz="quarter" idx="5"/>
          </p:nvPr>
        </p:nvSpPr>
        <p:spPr/>
        <p:txBody>
          <a:bodyPr/>
          <a:lstStyle/>
          <a:p>
            <a:fld id="{7CA7D310-3A65-477A-971E-8091E55376EC}" type="slidenum">
              <a:rPr lang="en-US" smtClean="0"/>
              <a:t>9</a:t>
            </a:fld>
            <a:endParaRPr lang="en-US"/>
          </a:p>
        </p:txBody>
      </p:sp>
    </p:spTree>
    <p:extLst>
      <p:ext uri="{BB962C8B-B14F-4D97-AF65-F5344CB8AC3E}">
        <p14:creationId xmlns:p14="http://schemas.microsoft.com/office/powerpoint/2010/main" val="24831461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1E2D2-F0CD-809D-475B-6D8F979C49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A23D6C-78FF-514E-78CB-EF9A004F02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64DBE4-A21F-2F2D-3798-72EDF09FD3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044590-F1D4-5098-5BEF-D7AF38EC2163}"/>
              </a:ext>
            </a:extLst>
          </p:cNvPr>
          <p:cNvSpPr>
            <a:spLocks noGrp="1"/>
          </p:cNvSpPr>
          <p:nvPr>
            <p:ph type="sldNum" sz="quarter" idx="5"/>
          </p:nvPr>
        </p:nvSpPr>
        <p:spPr/>
        <p:txBody>
          <a:bodyPr/>
          <a:lstStyle/>
          <a:p>
            <a:fld id="{7CA7D310-3A65-477A-971E-8091E55376EC}" type="slidenum">
              <a:rPr lang="en-US" smtClean="0"/>
              <a:t>10</a:t>
            </a:fld>
            <a:endParaRPr lang="en-US"/>
          </a:p>
        </p:txBody>
      </p:sp>
    </p:spTree>
    <p:extLst>
      <p:ext uri="{BB962C8B-B14F-4D97-AF65-F5344CB8AC3E}">
        <p14:creationId xmlns:p14="http://schemas.microsoft.com/office/powerpoint/2010/main" val="38371290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ED4B6D-BA17-38D9-B2A7-70C7E669AC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C2B917-EAF9-E3C6-66B0-9053C33FEF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77DC66-88B7-078F-51AD-3B278C8BCA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D66FAD-4EFD-C6CC-CFB8-19AE854EE62E}"/>
              </a:ext>
            </a:extLst>
          </p:cNvPr>
          <p:cNvSpPr>
            <a:spLocks noGrp="1"/>
          </p:cNvSpPr>
          <p:nvPr>
            <p:ph type="sldNum" sz="quarter" idx="5"/>
          </p:nvPr>
        </p:nvSpPr>
        <p:spPr/>
        <p:txBody>
          <a:bodyPr/>
          <a:lstStyle/>
          <a:p>
            <a:fld id="{7CA7D310-3A65-477A-971E-8091E55376EC}" type="slidenum">
              <a:rPr lang="en-US" smtClean="0"/>
              <a:t>11</a:t>
            </a:fld>
            <a:endParaRPr lang="en-US"/>
          </a:p>
        </p:txBody>
      </p:sp>
    </p:spTree>
    <p:extLst>
      <p:ext uri="{BB962C8B-B14F-4D97-AF65-F5344CB8AC3E}">
        <p14:creationId xmlns:p14="http://schemas.microsoft.com/office/powerpoint/2010/main" val="6005986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B3B5D-BFCE-5C99-B461-9F56188B7E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B3CAC6-DDA3-93D7-CA53-E417864372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6472A8-CC0B-0514-18F7-A4938886CA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D43C67-1DCE-8DE4-1A39-BFBEBB786604}"/>
              </a:ext>
            </a:extLst>
          </p:cNvPr>
          <p:cNvSpPr>
            <a:spLocks noGrp="1"/>
          </p:cNvSpPr>
          <p:nvPr>
            <p:ph type="sldNum" sz="quarter" idx="5"/>
          </p:nvPr>
        </p:nvSpPr>
        <p:spPr/>
        <p:txBody>
          <a:bodyPr/>
          <a:lstStyle/>
          <a:p>
            <a:fld id="{7CA7D310-3A65-477A-971E-8091E55376EC}" type="slidenum">
              <a:rPr lang="en-US" smtClean="0"/>
              <a:t>12</a:t>
            </a:fld>
            <a:endParaRPr lang="en-US"/>
          </a:p>
        </p:txBody>
      </p:sp>
    </p:spTree>
    <p:extLst>
      <p:ext uri="{BB962C8B-B14F-4D97-AF65-F5344CB8AC3E}">
        <p14:creationId xmlns:p14="http://schemas.microsoft.com/office/powerpoint/2010/main" val="27699246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382C92-9197-72CF-2D50-A5F08536C2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735726-2333-4871-23C7-172AC781C8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9818D3-9E40-1B1A-FA69-4F27D399A4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222844F-E282-0B30-9FFD-AFBE18A8C80C}"/>
              </a:ext>
            </a:extLst>
          </p:cNvPr>
          <p:cNvSpPr>
            <a:spLocks noGrp="1"/>
          </p:cNvSpPr>
          <p:nvPr>
            <p:ph type="sldNum" sz="quarter" idx="5"/>
          </p:nvPr>
        </p:nvSpPr>
        <p:spPr/>
        <p:txBody>
          <a:bodyPr/>
          <a:lstStyle/>
          <a:p>
            <a:fld id="{7CA7D310-3A65-477A-971E-8091E55376EC}" type="slidenum">
              <a:rPr lang="en-US" smtClean="0"/>
              <a:t>13</a:t>
            </a:fld>
            <a:endParaRPr lang="en-US"/>
          </a:p>
        </p:txBody>
      </p:sp>
    </p:spTree>
    <p:extLst>
      <p:ext uri="{BB962C8B-B14F-4D97-AF65-F5344CB8AC3E}">
        <p14:creationId xmlns:p14="http://schemas.microsoft.com/office/powerpoint/2010/main" val="6065903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ED910-113C-148D-154F-2A127035C7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74567B-BEAA-46D1-1B00-96DE81AFFE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6E070E-A20C-906E-7440-487E93BE15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5074B6A-DE04-F324-7CE0-4F77EE1D5FAB}"/>
              </a:ext>
            </a:extLst>
          </p:cNvPr>
          <p:cNvSpPr>
            <a:spLocks noGrp="1"/>
          </p:cNvSpPr>
          <p:nvPr>
            <p:ph type="sldNum" sz="quarter" idx="5"/>
          </p:nvPr>
        </p:nvSpPr>
        <p:spPr/>
        <p:txBody>
          <a:bodyPr/>
          <a:lstStyle/>
          <a:p>
            <a:fld id="{7CA7D310-3A65-477A-971E-8091E55376EC}" type="slidenum">
              <a:rPr lang="en-US" smtClean="0"/>
              <a:t>14</a:t>
            </a:fld>
            <a:endParaRPr lang="en-US"/>
          </a:p>
        </p:txBody>
      </p:sp>
    </p:spTree>
    <p:extLst>
      <p:ext uri="{BB962C8B-B14F-4D97-AF65-F5344CB8AC3E}">
        <p14:creationId xmlns:p14="http://schemas.microsoft.com/office/powerpoint/2010/main" val="41857707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9C57F-A299-5054-FE00-ECEEBA7D03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734AD2-CCF9-8B29-0DC0-DE6434EE7E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280DAC-1654-CDFF-42C9-B686D72BFA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5C07DBA-8D69-B30F-8614-EBD38EDD2832}"/>
              </a:ext>
            </a:extLst>
          </p:cNvPr>
          <p:cNvSpPr>
            <a:spLocks noGrp="1"/>
          </p:cNvSpPr>
          <p:nvPr>
            <p:ph type="sldNum" sz="quarter" idx="5"/>
          </p:nvPr>
        </p:nvSpPr>
        <p:spPr/>
        <p:txBody>
          <a:bodyPr/>
          <a:lstStyle/>
          <a:p>
            <a:fld id="{7CA7D310-3A65-477A-971E-8091E55376EC}" type="slidenum">
              <a:rPr lang="en-US" smtClean="0"/>
              <a:t>15</a:t>
            </a:fld>
            <a:endParaRPr lang="en-US"/>
          </a:p>
        </p:txBody>
      </p:sp>
    </p:spTree>
    <p:extLst>
      <p:ext uri="{BB962C8B-B14F-4D97-AF65-F5344CB8AC3E}">
        <p14:creationId xmlns:p14="http://schemas.microsoft.com/office/powerpoint/2010/main" val="25937478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8.emf"/></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9.emf"/></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US" dirty="0"/>
          </a:p>
        </p:txBody>
      </p:sp>
      <p:sp>
        <p:nvSpPr>
          <p:cNvPr id="3" name="TextBox 3"/>
          <p:cNvSpPr txBox="1"/>
          <p:nvPr/>
        </p:nvSpPr>
        <p:spPr>
          <a:xfrm>
            <a:off x="2613987" y="2765510"/>
            <a:ext cx="13060024" cy="2394053"/>
          </a:xfrm>
          <a:prstGeom prst="rect">
            <a:avLst/>
          </a:prstGeom>
        </p:spPr>
        <p:txBody>
          <a:bodyPr wrap="square" lIns="0" tIns="0" rIns="0" bIns="0" rtlCol="0" anchor="t">
            <a:spAutoFit/>
          </a:bodyPr>
          <a:lstStyle/>
          <a:p>
            <a:pPr algn="ctr">
              <a:lnSpc>
                <a:spcPts val="20160"/>
              </a:lnSpc>
            </a:pPr>
            <a:r>
              <a:rPr lang="en-US" sz="12000" dirty="0">
                <a:solidFill>
                  <a:srgbClr val="000000"/>
                </a:solidFill>
                <a:latin typeface="DM Serif Display"/>
                <a:ea typeface="DM Serif Display"/>
                <a:cs typeface="DM Serif Display"/>
                <a:sym typeface="DM Serif Display"/>
              </a:rPr>
              <a:t>Presentation XIII</a:t>
            </a:r>
          </a:p>
        </p:txBody>
      </p:sp>
      <p:sp>
        <p:nvSpPr>
          <p:cNvPr id="5" name="TextBox 5"/>
          <p:cNvSpPr txBox="1"/>
          <p:nvPr/>
        </p:nvSpPr>
        <p:spPr>
          <a:xfrm>
            <a:off x="7671329" y="8480425"/>
            <a:ext cx="2945342" cy="553165"/>
          </a:xfrm>
          <a:prstGeom prst="rect">
            <a:avLst/>
          </a:prstGeom>
        </p:spPr>
        <p:txBody>
          <a:bodyPr lIns="0" tIns="0" rIns="0" bIns="0" rtlCol="0" anchor="t">
            <a:spAutoFit/>
          </a:bodyPr>
          <a:lstStyle/>
          <a:p>
            <a:pPr algn="ctr">
              <a:lnSpc>
                <a:spcPts val="4480"/>
              </a:lnSpc>
              <a:spcBef>
                <a:spcPct val="0"/>
              </a:spcBef>
            </a:pPr>
            <a:r>
              <a:rPr lang="en-US" sz="3200" dirty="0">
                <a:solidFill>
                  <a:srgbClr val="000000">
                    <a:alpha val="49804"/>
                  </a:srgbClr>
                </a:solidFill>
                <a:latin typeface="DM Serif Display"/>
                <a:ea typeface="DM Serif Display"/>
                <a:cs typeface="DM Serif Display"/>
                <a:sym typeface="DM Serif Display"/>
              </a:rPr>
              <a:t>Thu Ta Zaw</a:t>
            </a:r>
          </a:p>
        </p:txBody>
      </p:sp>
      <p:sp>
        <p:nvSpPr>
          <p:cNvPr id="6" name="TextBox 6"/>
          <p:cNvSpPr txBox="1"/>
          <p:nvPr/>
        </p:nvSpPr>
        <p:spPr>
          <a:xfrm>
            <a:off x="7418762" y="9142095"/>
            <a:ext cx="3450476" cy="258725"/>
          </a:xfrm>
          <a:prstGeom prst="rect">
            <a:avLst/>
          </a:prstGeom>
        </p:spPr>
        <p:txBody>
          <a:bodyPr lIns="0" tIns="0" rIns="0" bIns="0" rtlCol="0" anchor="t">
            <a:spAutoFit/>
          </a:bodyPr>
          <a:lstStyle/>
          <a:p>
            <a:pPr marL="0" lvl="0" indent="0" algn="ctr">
              <a:lnSpc>
                <a:spcPts val="2239"/>
              </a:lnSpc>
              <a:spcBef>
                <a:spcPct val="0"/>
              </a:spcBef>
            </a:pPr>
            <a:r>
              <a:rPr lang="en-US" sz="1599" u="none" strike="noStrike" spc="159" dirty="0">
                <a:solidFill>
                  <a:srgbClr val="000000">
                    <a:alpha val="49804"/>
                  </a:srgbClr>
                </a:solidFill>
                <a:latin typeface="Open Sauce"/>
                <a:ea typeface="Open Sauce"/>
                <a:cs typeface="Open Sauce"/>
                <a:sym typeface="Open Sauce"/>
              </a:rPr>
              <a:t>2415121095</a:t>
            </a:r>
          </a:p>
        </p:txBody>
      </p:sp>
      <p:sp>
        <p:nvSpPr>
          <p:cNvPr id="7" name="TextBox 8">
            <a:extLst>
              <a:ext uri="{FF2B5EF4-FFF2-40B4-BE49-F238E27FC236}">
                <a16:creationId xmlns:a16="http://schemas.microsoft.com/office/drawing/2014/main" id="{7B244B4F-61ED-CD64-3F42-BB24EA8E2BD6}"/>
              </a:ext>
            </a:extLst>
          </p:cNvPr>
          <p:cNvSpPr txBox="1"/>
          <p:nvPr/>
        </p:nvSpPr>
        <p:spPr>
          <a:xfrm>
            <a:off x="6524761" y="4871022"/>
            <a:ext cx="5238476" cy="577081"/>
          </a:xfrm>
          <a:prstGeom prst="rect">
            <a:avLst/>
          </a:prstGeom>
        </p:spPr>
        <p:txBody>
          <a:bodyPr wrap="square" lIns="0" tIns="0" rIns="0" bIns="0" rtlCol="0" anchor="t">
            <a:spAutoFit/>
          </a:bodyPr>
          <a:lstStyle/>
          <a:p>
            <a:pPr marL="302259" lvl="1" algn="l">
              <a:lnSpc>
                <a:spcPts val="4479"/>
              </a:lnSpc>
            </a:pPr>
            <a:r>
              <a:rPr lang="en-US" sz="4000" b="1" dirty="0">
                <a:solidFill>
                  <a:srgbClr val="000000"/>
                </a:solidFill>
                <a:latin typeface="Times New Roman" panose="02020603050405020304" pitchFamily="18" charset="0"/>
                <a:ea typeface="Open Sauce"/>
                <a:cs typeface="Times New Roman" panose="02020603050405020304" pitchFamily="18" charset="0"/>
                <a:sym typeface="Open Sauce"/>
              </a:rPr>
              <a:t>Bone Tissue Phantom</a:t>
            </a:r>
          </a:p>
        </p:txBody>
      </p:sp>
      <p:grpSp>
        <p:nvGrpSpPr>
          <p:cNvPr id="4" name="Group 3">
            <a:extLst>
              <a:ext uri="{FF2B5EF4-FFF2-40B4-BE49-F238E27FC236}">
                <a16:creationId xmlns:a16="http://schemas.microsoft.com/office/drawing/2014/main" id="{ABCF42FA-AD96-6718-B5FF-6A0BFF7AD7F8}"/>
              </a:ext>
            </a:extLst>
          </p:cNvPr>
          <p:cNvGrpSpPr/>
          <p:nvPr/>
        </p:nvGrpSpPr>
        <p:grpSpPr>
          <a:xfrm>
            <a:off x="13826319" y="0"/>
            <a:ext cx="4461681" cy="2019300"/>
            <a:chOff x="10985984" y="47827"/>
            <a:chExt cx="1034194" cy="467116"/>
          </a:xfrm>
        </p:grpSpPr>
        <p:pic>
          <p:nvPicPr>
            <p:cNvPr id="8" name="Picture 2" descr="ตราสัญลักษณ์เนื่องในโอกาสครบรอบ 60 ปี  แห่งการสถาปนามหาวิทยาลัยเทคโนโลยีพระจอมเกล้าธนบุรี – PR KMUTT">
              <a:extLst>
                <a:ext uri="{FF2B5EF4-FFF2-40B4-BE49-F238E27FC236}">
                  <a16:creationId xmlns:a16="http://schemas.microsoft.com/office/drawing/2014/main" id="{A069B459-3DF4-5F50-9704-697C7059979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46720" b="32723"/>
            <a:stretch/>
          </p:blipFill>
          <p:spPr bwMode="auto">
            <a:xfrm>
              <a:off x="10985984" y="47827"/>
              <a:ext cx="573968" cy="43195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Division of Health Sciences Graduate School of Medical Sciences, Kanazawa  University">
              <a:extLst>
                <a:ext uri="{FF2B5EF4-FFF2-40B4-BE49-F238E27FC236}">
                  <a16:creationId xmlns:a16="http://schemas.microsoft.com/office/drawing/2014/main" id="{5554D7E3-09F1-F888-8561-58B8ED11C8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59952" y="54717"/>
              <a:ext cx="460226" cy="460226"/>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34FE5-C580-A92B-B61D-6FBA424FAE0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22F4791-2CF3-8F15-0672-247E040607CC}"/>
              </a:ext>
            </a:extLst>
          </p:cNvPr>
          <p:cNvSpPr/>
          <p:nvPr/>
        </p:nvSpPr>
        <p:spPr>
          <a:xfrm>
            <a:off x="-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a:ln cap="sq">
            <a:noFill/>
            <a:prstDash val="solid"/>
            <a:miter/>
          </a:ln>
        </p:spPr>
        <p:txBody>
          <a:bodyPr/>
          <a:lstStyle/>
          <a:p>
            <a:endParaRPr lang="en-US" dirty="0"/>
          </a:p>
        </p:txBody>
      </p:sp>
      <p:sp>
        <p:nvSpPr>
          <p:cNvPr id="3" name="AutoShape 3">
            <a:extLst>
              <a:ext uri="{FF2B5EF4-FFF2-40B4-BE49-F238E27FC236}">
                <a16:creationId xmlns:a16="http://schemas.microsoft.com/office/drawing/2014/main" id="{A298E49E-A8E3-8140-8595-7E86F07FCC7B}"/>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p:sp>
        <p:nvSpPr>
          <p:cNvPr id="8" name="TextBox 8">
            <a:extLst>
              <a:ext uri="{FF2B5EF4-FFF2-40B4-BE49-F238E27FC236}">
                <a16:creationId xmlns:a16="http://schemas.microsoft.com/office/drawing/2014/main" id="{A5F06263-C672-3B1F-792D-96AEBB14E12A}"/>
              </a:ext>
            </a:extLst>
          </p:cNvPr>
          <p:cNvSpPr txBox="1"/>
          <p:nvPr/>
        </p:nvSpPr>
        <p:spPr>
          <a:xfrm>
            <a:off x="755816" y="2628122"/>
            <a:ext cx="16541583" cy="1225848"/>
          </a:xfrm>
          <a:prstGeom prst="rect">
            <a:avLst/>
          </a:prstGeom>
        </p:spPr>
        <p:txBody>
          <a:bodyPr wrap="square" lIns="0" tIns="0" rIns="0" bIns="0" rtlCol="0" anchor="t">
            <a:spAutoFit/>
          </a:bodyPr>
          <a:lstStyle/>
          <a:p>
            <a:pPr marL="1061719" lvl="2" indent="-302260">
              <a:lnSpc>
                <a:spcPct val="150000"/>
              </a:lnSpc>
              <a:buFont typeface="Arial"/>
              <a:buChar char="•"/>
            </a:pPr>
            <a:endParaRPr lang="en-US" sz="2800" dirty="0"/>
          </a:p>
          <a:p>
            <a:pPr marL="604519" lvl="1" indent="-302260">
              <a:lnSpc>
                <a:spcPct val="150000"/>
              </a:lnSpc>
              <a:buFont typeface="Arial"/>
              <a:buChar char="•"/>
            </a:pPr>
            <a:endParaRPr lang="en-US" sz="2800" dirty="0">
              <a:highlight>
                <a:srgbClr val="FFFF00"/>
              </a:highlight>
            </a:endParaRPr>
          </a:p>
        </p:txBody>
      </p:sp>
      <p:sp>
        <p:nvSpPr>
          <p:cNvPr id="4" name="TextBox 8">
            <a:extLst>
              <a:ext uri="{FF2B5EF4-FFF2-40B4-BE49-F238E27FC236}">
                <a16:creationId xmlns:a16="http://schemas.microsoft.com/office/drawing/2014/main" id="{6E4634F1-7DD3-D3BC-E203-75CD5A643ED4}"/>
              </a:ext>
            </a:extLst>
          </p:cNvPr>
          <p:cNvSpPr txBox="1"/>
          <p:nvPr/>
        </p:nvSpPr>
        <p:spPr>
          <a:xfrm>
            <a:off x="1166399" y="1181100"/>
            <a:ext cx="16131000" cy="613181"/>
          </a:xfrm>
          <a:prstGeom prst="rect">
            <a:avLst/>
          </a:prstGeom>
        </p:spPr>
        <p:txBody>
          <a:bodyPr wrap="square" lIns="0" tIns="0" rIns="0" bIns="0" rtlCol="0" anchor="t">
            <a:spAutoFit/>
          </a:bodyPr>
          <a:lstStyle/>
          <a:p>
            <a:pPr marL="302259" lvl="1">
              <a:lnSpc>
                <a:spcPts val="4479"/>
              </a:lnSpc>
            </a:pPr>
            <a:r>
              <a:rPr lang="en-US" sz="6000" b="1" dirty="0">
                <a:solidFill>
                  <a:srgbClr val="000000"/>
                </a:solidFill>
                <a:latin typeface="Times New Roman" panose="02020603050405020304" pitchFamily="18" charset="0"/>
                <a:cs typeface="Times New Roman" panose="02020603050405020304" pitchFamily="18" charset="0"/>
                <a:sym typeface="Open Sauce"/>
              </a:rPr>
              <a:t>Experiment Timeline</a:t>
            </a:r>
          </a:p>
        </p:txBody>
      </p:sp>
      <p:graphicFrame>
        <p:nvGraphicFramePr>
          <p:cNvPr id="5" name="Table 4">
            <a:extLst>
              <a:ext uri="{FF2B5EF4-FFF2-40B4-BE49-F238E27FC236}">
                <a16:creationId xmlns:a16="http://schemas.microsoft.com/office/drawing/2014/main" id="{8B44BD53-7092-63A2-856E-A10F7C3B5E3B}"/>
              </a:ext>
            </a:extLst>
          </p:cNvPr>
          <p:cNvGraphicFramePr>
            <a:graphicFrameLocks noGrp="1"/>
          </p:cNvGraphicFramePr>
          <p:nvPr>
            <p:extLst>
              <p:ext uri="{D42A27DB-BD31-4B8C-83A1-F6EECF244321}">
                <p14:modId xmlns:p14="http://schemas.microsoft.com/office/powerpoint/2010/main" val="3359032403"/>
              </p:ext>
            </p:extLst>
          </p:nvPr>
        </p:nvGraphicFramePr>
        <p:xfrm>
          <a:off x="1510061" y="2209801"/>
          <a:ext cx="15787338" cy="6258980"/>
        </p:xfrm>
        <a:graphic>
          <a:graphicData uri="http://schemas.openxmlformats.org/drawingml/2006/table">
            <a:tbl>
              <a:tblPr firstRow="1" bandRow="1">
                <a:tableStyleId>{2D5ABB26-0587-4C30-8999-92F81FD0307C}</a:tableStyleId>
              </a:tblPr>
              <a:tblGrid>
                <a:gridCol w="2631223">
                  <a:extLst>
                    <a:ext uri="{9D8B030D-6E8A-4147-A177-3AD203B41FA5}">
                      <a16:colId xmlns:a16="http://schemas.microsoft.com/office/drawing/2014/main" val="315620900"/>
                    </a:ext>
                  </a:extLst>
                </a:gridCol>
                <a:gridCol w="2631223">
                  <a:extLst>
                    <a:ext uri="{9D8B030D-6E8A-4147-A177-3AD203B41FA5}">
                      <a16:colId xmlns:a16="http://schemas.microsoft.com/office/drawing/2014/main" val="904665278"/>
                    </a:ext>
                  </a:extLst>
                </a:gridCol>
                <a:gridCol w="2631223">
                  <a:extLst>
                    <a:ext uri="{9D8B030D-6E8A-4147-A177-3AD203B41FA5}">
                      <a16:colId xmlns:a16="http://schemas.microsoft.com/office/drawing/2014/main" val="2298274924"/>
                    </a:ext>
                  </a:extLst>
                </a:gridCol>
                <a:gridCol w="2631223">
                  <a:extLst>
                    <a:ext uri="{9D8B030D-6E8A-4147-A177-3AD203B41FA5}">
                      <a16:colId xmlns:a16="http://schemas.microsoft.com/office/drawing/2014/main" val="1115593373"/>
                    </a:ext>
                  </a:extLst>
                </a:gridCol>
                <a:gridCol w="2631223">
                  <a:extLst>
                    <a:ext uri="{9D8B030D-6E8A-4147-A177-3AD203B41FA5}">
                      <a16:colId xmlns:a16="http://schemas.microsoft.com/office/drawing/2014/main" val="1376728683"/>
                    </a:ext>
                  </a:extLst>
                </a:gridCol>
                <a:gridCol w="2631223">
                  <a:extLst>
                    <a:ext uri="{9D8B030D-6E8A-4147-A177-3AD203B41FA5}">
                      <a16:colId xmlns:a16="http://schemas.microsoft.com/office/drawing/2014/main" val="2677603892"/>
                    </a:ext>
                  </a:extLst>
                </a:gridCol>
              </a:tblGrid>
              <a:tr h="977476">
                <a:tc>
                  <a:txBody>
                    <a:bodyPr/>
                    <a:lstStyle/>
                    <a:p>
                      <a:pPr algn="ctr"/>
                      <a:r>
                        <a:rPr lang="en-US" sz="2800" dirty="0"/>
                        <a:t>Task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dirty="0"/>
                        <a:t>Validate Integrating Sphere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dirty="0"/>
                        <a:t>Validate IAD Method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dirty="0"/>
                        <a:t>Specimen Preparation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dirty="0"/>
                        <a:t>Measurement and IAD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dirty="0"/>
                        <a:t>Writing Result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94511167"/>
                  </a:ext>
                </a:extLst>
              </a:tr>
              <a:tr h="977476">
                <a:tc>
                  <a:txBody>
                    <a:bodyPr/>
                    <a:lstStyle/>
                    <a:p>
                      <a:pPr algn="ctr"/>
                      <a:r>
                        <a:rPr lang="en-US" sz="2800" dirty="0"/>
                        <a:t>April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800" dirty="0">
                        <a:highlight>
                          <a:srgbClr val="FFFF00"/>
                        </a:highligh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a:endParaRPr lang="en-US" sz="2800" dirty="0">
                        <a:highlight>
                          <a:srgbClr val="FFFF00"/>
                        </a:highligh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a:endParaRPr lang="en-US" sz="2800" dirty="0">
                        <a:solidFill>
                          <a:schemeClr val="accent5"/>
                        </a:solidFill>
                        <a:highlight>
                          <a:srgbClr val="FFFF00"/>
                        </a:highligh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a:endParaRPr 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18618673"/>
                  </a:ext>
                </a:extLst>
              </a:tr>
              <a:tr h="977476">
                <a:tc>
                  <a:txBody>
                    <a:bodyPr/>
                    <a:lstStyle/>
                    <a:p>
                      <a:pPr algn="ctr"/>
                      <a:r>
                        <a:rPr lang="en-US" sz="2800" dirty="0"/>
                        <a:t>May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800" dirty="0">
                        <a:solidFill>
                          <a:schemeClr val="accent5"/>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a:endParaRPr lang="en-US" sz="2800" dirty="0">
                        <a:solidFill>
                          <a:schemeClr val="accent5"/>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a:endParaRPr lang="en-US" sz="2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2039557"/>
                  </a:ext>
                </a:extLst>
              </a:tr>
              <a:tr h="977476">
                <a:tc>
                  <a:txBody>
                    <a:bodyPr/>
                    <a:lstStyle/>
                    <a:p>
                      <a:pPr algn="ctr"/>
                      <a:r>
                        <a:rPr lang="en-US" sz="2800" dirty="0"/>
                        <a:t>Jun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a:endParaRPr 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a:endParaRPr lang="en-US" sz="2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26428117"/>
                  </a:ext>
                </a:extLst>
              </a:tr>
              <a:tr h="977476">
                <a:tc>
                  <a:txBody>
                    <a:bodyPr/>
                    <a:lstStyle/>
                    <a:p>
                      <a:pPr algn="ctr"/>
                      <a:r>
                        <a:rPr lang="en-US" sz="2800" dirty="0"/>
                        <a:t>July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a:endParaRPr 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a:endParaRPr 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extLst>
                  <a:ext uri="{0D108BD9-81ED-4DB2-BD59-A6C34878D82A}">
                    <a16:rowId xmlns:a16="http://schemas.microsoft.com/office/drawing/2014/main" val="701849140"/>
                  </a:ext>
                </a:extLst>
              </a:tr>
              <a:tr h="977476">
                <a:tc>
                  <a:txBody>
                    <a:bodyPr/>
                    <a:lstStyle/>
                    <a:p>
                      <a:pPr algn="ctr"/>
                      <a:r>
                        <a:rPr lang="en-US" sz="2800" dirty="0"/>
                        <a:t>August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a:endParaRPr 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a:endParaRPr 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extLst>
                  <a:ext uri="{0D108BD9-81ED-4DB2-BD59-A6C34878D82A}">
                    <a16:rowId xmlns:a16="http://schemas.microsoft.com/office/drawing/2014/main" val="3956968117"/>
                  </a:ext>
                </a:extLst>
              </a:tr>
            </a:tbl>
          </a:graphicData>
        </a:graphic>
      </p:graphicFrame>
    </p:spTree>
    <p:extLst>
      <p:ext uri="{BB962C8B-B14F-4D97-AF65-F5344CB8AC3E}">
        <p14:creationId xmlns:p14="http://schemas.microsoft.com/office/powerpoint/2010/main" val="18010137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00B97-E0DB-0B73-3C93-730F72D4B4C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0DD7DCC-DD50-0BFB-D0C9-F0F1204C2451}"/>
              </a:ext>
            </a:extLst>
          </p:cNvPr>
          <p:cNvSpPr/>
          <p:nvPr/>
        </p:nvSpPr>
        <p:spPr>
          <a:xfrm>
            <a:off x="0" y="381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a:ln cap="sq">
            <a:noFill/>
            <a:prstDash val="solid"/>
            <a:miter/>
          </a:ln>
        </p:spPr>
        <p:txBody>
          <a:bodyPr/>
          <a:lstStyle/>
          <a:p>
            <a:endParaRPr lang="en-US" dirty="0">
              <a:highlight>
                <a:srgbClr val="FFFF00"/>
              </a:highlight>
            </a:endParaRPr>
          </a:p>
        </p:txBody>
      </p:sp>
      <p:sp>
        <p:nvSpPr>
          <p:cNvPr id="3" name="AutoShape 3">
            <a:extLst>
              <a:ext uri="{FF2B5EF4-FFF2-40B4-BE49-F238E27FC236}">
                <a16:creationId xmlns:a16="http://schemas.microsoft.com/office/drawing/2014/main" id="{9A34592B-F6B0-671D-2BB6-DB6742C0D5BD}"/>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mc:AlternateContent xmlns:mc="http://schemas.openxmlformats.org/markup-compatibility/2006">
        <mc:Choice xmlns:a14="http://schemas.microsoft.com/office/drawing/2010/main" Requires="a14">
          <p:sp>
            <p:nvSpPr>
              <p:cNvPr id="8" name="TextBox 8">
                <a:extLst>
                  <a:ext uri="{FF2B5EF4-FFF2-40B4-BE49-F238E27FC236}">
                    <a16:creationId xmlns:a16="http://schemas.microsoft.com/office/drawing/2014/main" id="{97EA3B4C-991D-1DE7-98D0-72CA325613C9}"/>
                  </a:ext>
                </a:extLst>
              </p:cNvPr>
              <p:cNvSpPr txBox="1"/>
              <p:nvPr/>
            </p:nvSpPr>
            <p:spPr>
              <a:xfrm>
                <a:off x="755817" y="2628122"/>
                <a:ext cx="9988384" cy="7481407"/>
              </a:xfrm>
              <a:prstGeom prst="rect">
                <a:avLst/>
              </a:prstGeom>
            </p:spPr>
            <p:txBody>
              <a:bodyPr wrap="square" lIns="0" tIns="0" rIns="0" bIns="0" rtlCol="0" anchor="t">
                <a:spAutoFit/>
              </a:bodyPr>
              <a:lstStyle/>
              <a:p>
                <a:pPr marL="302259" lvl="1">
                  <a:lnSpc>
                    <a:spcPts val="4479"/>
                  </a:lnSpc>
                </a:pPr>
                <a:r>
                  <a:rPr lang="en-US" sz="3600" b="1" dirty="0">
                    <a:solidFill>
                      <a:srgbClr val="000000"/>
                    </a:solidFill>
                    <a:latin typeface="Times New Roman" panose="02020603050405020304" pitchFamily="18" charset="0"/>
                    <a:cs typeface="Times New Roman" panose="02020603050405020304" pitchFamily="18" charset="0"/>
                    <a:sym typeface="Open Sauce"/>
                  </a:rPr>
                  <a:t>Ex Vivo Optical Properties Estimation for Reliable Tissue Characterization</a:t>
                </a:r>
              </a:p>
              <a:p>
                <a:pPr marL="302259" lvl="1">
                  <a:lnSpc>
                    <a:spcPts val="4479"/>
                  </a:lnSpc>
                </a:pPr>
                <a:endParaRPr lang="en-US" sz="2500" b="1" dirty="0"/>
              </a:p>
              <a:p>
                <a:pPr marL="1061719" lvl="2" indent="-302260">
                  <a:buFont typeface="Arial"/>
                  <a:buChar char="•"/>
                </a:pPr>
                <a:r>
                  <a:rPr lang="en-US" sz="2800" dirty="0"/>
                  <a:t>The size of the sample should be slightly larger than the size of the port diameter ensuring the sample completely covers the port to prevent light leakage. </a:t>
                </a:r>
              </a:p>
              <a:p>
                <a:pPr marL="1518919" lvl="3" indent="-302260">
                  <a:buFont typeface="Arial"/>
                  <a:buChar char="•"/>
                </a:pPr>
                <a:r>
                  <a:rPr lang="en-US" sz="2800" dirty="0"/>
                  <a:t>Freshly excised biological samples representing soft and thin tissues (skin, skull, liver and muscle) were used with size of (2x2 </a:t>
                </a:r>
                <a14:m>
                  <m:oMath xmlns:m="http://schemas.openxmlformats.org/officeDocument/2006/math">
                    <m:sSup>
                      <m:sSupPr>
                        <m:ctrlPr>
                          <a:rPr lang="en-US" sz="2800" i="1" dirty="0" smtClean="0">
                            <a:latin typeface="Cambria Math" panose="02040503050406030204" pitchFamily="18" charset="0"/>
                          </a:rPr>
                        </m:ctrlPr>
                      </m:sSupPr>
                      <m:e>
                        <m:r>
                          <a:rPr lang="en-US" sz="2800" i="1" dirty="0">
                            <a:latin typeface="Cambria Math" panose="02040503050406030204" pitchFamily="18" charset="0"/>
                          </a:rPr>
                          <m:t>𝑐𝑚</m:t>
                        </m:r>
                      </m:e>
                      <m:sup>
                        <m:r>
                          <a:rPr lang="en-US" sz="2800" b="0" i="1" dirty="0" smtClean="0">
                            <a:latin typeface="Cambria Math" panose="02040503050406030204" pitchFamily="18" charset="0"/>
                          </a:rPr>
                          <m:t>2</m:t>
                        </m:r>
                      </m:sup>
                    </m:sSup>
                  </m:oMath>
                </a14:m>
                <a:r>
                  <a:rPr lang="en-US" sz="2800" dirty="0"/>
                  <a:t>).</a:t>
                </a:r>
              </a:p>
              <a:p>
                <a:pPr marL="1061719" lvl="2" indent="-302260">
                  <a:buFont typeface="Arial"/>
                  <a:buChar char="•"/>
                </a:pPr>
                <a:r>
                  <a:rPr lang="en-US" sz="2800" dirty="0"/>
                  <a:t>For the thickness, samples should keep thin, typically under 3 mm, to avoid significant beam displacement during transmittance measurements. </a:t>
                </a:r>
              </a:p>
              <a:p>
                <a:pPr marL="1518919" lvl="3" indent="-302260">
                  <a:buFont typeface="Arial"/>
                  <a:buChar char="•"/>
                </a:pPr>
                <a:r>
                  <a:rPr lang="en-US" sz="2800" dirty="0"/>
                  <a:t>The thickness of each samples is 2+0.5 mm.</a:t>
                </a:r>
              </a:p>
              <a:p>
                <a:pPr marL="1061719" lvl="2" indent="-302260">
                  <a:buFont typeface="Arial"/>
                  <a:buChar char="•"/>
                </a:pPr>
                <a:r>
                  <a:rPr lang="en-US" sz="2800" dirty="0"/>
                  <a:t>The recommend size for the specimen is (30Dx2) mm or (30x30x3) mm.</a:t>
                </a:r>
              </a:p>
              <a:p>
                <a:pPr marL="1216659" lvl="3">
                  <a:lnSpc>
                    <a:spcPct val="150000"/>
                  </a:lnSpc>
                </a:pPr>
                <a:endParaRPr lang="en-US" sz="2800" dirty="0"/>
              </a:p>
            </p:txBody>
          </p:sp>
        </mc:Choice>
        <mc:Fallback>
          <p:sp>
            <p:nvSpPr>
              <p:cNvPr id="8" name="TextBox 8">
                <a:extLst>
                  <a:ext uri="{FF2B5EF4-FFF2-40B4-BE49-F238E27FC236}">
                    <a16:creationId xmlns:a16="http://schemas.microsoft.com/office/drawing/2014/main" id="{97EA3B4C-991D-1DE7-98D0-72CA325613C9}"/>
                  </a:ext>
                </a:extLst>
              </p:cNvPr>
              <p:cNvSpPr txBox="1">
                <a:spLocks noRot="1" noChangeAspect="1" noMove="1" noResize="1" noEditPoints="1" noAdjustHandles="1" noChangeArrowheads="1" noChangeShapeType="1" noTextEdit="1"/>
              </p:cNvSpPr>
              <p:nvPr/>
            </p:nvSpPr>
            <p:spPr>
              <a:xfrm>
                <a:off x="755817" y="2628122"/>
                <a:ext cx="9988384" cy="7481407"/>
              </a:xfrm>
              <a:prstGeom prst="rect">
                <a:avLst/>
              </a:prstGeom>
              <a:blipFill>
                <a:blip r:embed="rId4"/>
                <a:stretch>
                  <a:fillRect t="-2119" r="-2074"/>
                </a:stretch>
              </a:blipFill>
            </p:spPr>
            <p:txBody>
              <a:bodyPr/>
              <a:lstStyle/>
              <a:p>
                <a:r>
                  <a:rPr lang="en-US">
                    <a:noFill/>
                  </a:rPr>
                  <a:t> </a:t>
                </a:r>
              </a:p>
            </p:txBody>
          </p:sp>
        </mc:Fallback>
      </mc:AlternateContent>
      <p:sp>
        <p:nvSpPr>
          <p:cNvPr id="4" name="TextBox 8">
            <a:extLst>
              <a:ext uri="{FF2B5EF4-FFF2-40B4-BE49-F238E27FC236}">
                <a16:creationId xmlns:a16="http://schemas.microsoft.com/office/drawing/2014/main" id="{E744DC86-A1AB-8BA8-F529-34F490052E9D}"/>
              </a:ext>
            </a:extLst>
          </p:cNvPr>
          <p:cNvSpPr txBox="1"/>
          <p:nvPr/>
        </p:nvSpPr>
        <p:spPr>
          <a:xfrm>
            <a:off x="457199" y="1556404"/>
            <a:ext cx="17373600" cy="613181"/>
          </a:xfrm>
          <a:prstGeom prst="rect">
            <a:avLst/>
          </a:prstGeom>
        </p:spPr>
        <p:txBody>
          <a:bodyPr wrap="square" lIns="0" tIns="0" rIns="0" bIns="0" rtlCol="0" anchor="t">
            <a:spAutoFit/>
          </a:bodyPr>
          <a:lstStyle/>
          <a:p>
            <a:pPr marL="302259" lvl="1">
              <a:lnSpc>
                <a:spcPts val="4479"/>
              </a:lnSpc>
            </a:pPr>
            <a:r>
              <a:rPr lang="en-US" sz="6000" b="1" dirty="0">
                <a:solidFill>
                  <a:srgbClr val="000000"/>
                </a:solidFill>
                <a:latin typeface="Times New Roman" panose="02020603050405020304" pitchFamily="18" charset="0"/>
                <a:ea typeface="Open Sauce"/>
                <a:cs typeface="Times New Roman" panose="02020603050405020304" pitchFamily="18" charset="0"/>
                <a:sym typeface="Open Sauce"/>
              </a:rPr>
              <a:t>Specimens size for Integrating Sphere Measurement </a:t>
            </a:r>
          </a:p>
        </p:txBody>
      </p:sp>
      <p:pic>
        <p:nvPicPr>
          <p:cNvPr id="6" name="Picture 5">
            <a:extLst>
              <a:ext uri="{FF2B5EF4-FFF2-40B4-BE49-F238E27FC236}">
                <a16:creationId xmlns:a16="http://schemas.microsoft.com/office/drawing/2014/main" id="{E72EF7C7-90B8-926C-B5FF-BC52C605CFB1}"/>
              </a:ext>
            </a:extLst>
          </p:cNvPr>
          <p:cNvPicPr>
            <a:picLocks noChangeAspect="1"/>
          </p:cNvPicPr>
          <p:nvPr/>
        </p:nvPicPr>
        <p:blipFill>
          <a:blip r:embed="rId5">
            <a:extLst>
              <a:ext uri="{28A0092B-C50C-407E-A947-70E740481C1C}">
                <a14:useLocalDpi xmlns:a14="http://schemas.microsoft.com/office/drawing/2010/main" val="0"/>
              </a:ext>
            </a:extLst>
          </a:blip>
          <a:srcRect l="52399" t="17882"/>
          <a:stretch>
            <a:fillRect/>
          </a:stretch>
        </p:blipFill>
        <p:spPr>
          <a:xfrm>
            <a:off x="11206839" y="4381500"/>
            <a:ext cx="6618521" cy="4476346"/>
          </a:xfrm>
          <a:prstGeom prst="rect">
            <a:avLst/>
          </a:prstGeom>
        </p:spPr>
      </p:pic>
      <p:sp>
        <p:nvSpPr>
          <p:cNvPr id="7" name="TextBox 6">
            <a:extLst>
              <a:ext uri="{FF2B5EF4-FFF2-40B4-BE49-F238E27FC236}">
                <a16:creationId xmlns:a16="http://schemas.microsoft.com/office/drawing/2014/main" id="{1A5C9D25-3FB5-5A54-4BB3-6B36DCB95644}"/>
              </a:ext>
            </a:extLst>
          </p:cNvPr>
          <p:cNvSpPr txBox="1"/>
          <p:nvPr/>
        </p:nvSpPr>
        <p:spPr>
          <a:xfrm>
            <a:off x="12037087" y="8857846"/>
            <a:ext cx="4958024" cy="369332"/>
          </a:xfrm>
          <a:prstGeom prst="rect">
            <a:avLst/>
          </a:prstGeom>
          <a:noFill/>
        </p:spPr>
        <p:txBody>
          <a:bodyPr wrap="none" rtlCol="0">
            <a:spAutoFit/>
          </a:bodyPr>
          <a:lstStyle/>
          <a:p>
            <a:r>
              <a:rPr lang="en-US" dirty="0"/>
              <a:t>Table. Ports size of the ND-Seiko Integrating sphere</a:t>
            </a:r>
          </a:p>
        </p:txBody>
      </p:sp>
      <p:sp>
        <p:nvSpPr>
          <p:cNvPr id="9" name="Rectangle 8">
            <a:extLst>
              <a:ext uri="{FF2B5EF4-FFF2-40B4-BE49-F238E27FC236}">
                <a16:creationId xmlns:a16="http://schemas.microsoft.com/office/drawing/2014/main" id="{64D86BCF-39C2-2612-F7AF-5EAE5643FEDD}"/>
              </a:ext>
            </a:extLst>
          </p:cNvPr>
          <p:cNvSpPr/>
          <p:nvPr/>
        </p:nvSpPr>
        <p:spPr>
          <a:xfrm>
            <a:off x="11353800" y="6134100"/>
            <a:ext cx="6324600" cy="6858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607112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926A0-4829-6F4C-4233-57E944D9ACE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937E00C-D1A5-AD43-CA9D-A8E79B35FEFC}"/>
              </a:ext>
            </a:extLst>
          </p:cNvPr>
          <p:cNvSpPr/>
          <p:nvPr/>
        </p:nvSpPr>
        <p:spPr>
          <a:xfrm>
            <a:off x="0" y="16998"/>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a:ln cap="sq">
            <a:noFill/>
            <a:prstDash val="solid"/>
            <a:miter/>
          </a:ln>
        </p:spPr>
        <p:txBody>
          <a:bodyPr/>
          <a:lstStyle/>
          <a:p>
            <a:endParaRPr lang="en-US" dirty="0">
              <a:highlight>
                <a:srgbClr val="FFFF00"/>
              </a:highlight>
            </a:endParaRPr>
          </a:p>
        </p:txBody>
      </p:sp>
      <p:sp>
        <p:nvSpPr>
          <p:cNvPr id="3" name="AutoShape 3">
            <a:extLst>
              <a:ext uri="{FF2B5EF4-FFF2-40B4-BE49-F238E27FC236}">
                <a16:creationId xmlns:a16="http://schemas.microsoft.com/office/drawing/2014/main" id="{A4ADA1A1-7667-176D-2277-850B0EAB4FE9}"/>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p:sp>
        <p:nvSpPr>
          <p:cNvPr id="8" name="TextBox 8">
            <a:extLst>
              <a:ext uri="{FF2B5EF4-FFF2-40B4-BE49-F238E27FC236}">
                <a16:creationId xmlns:a16="http://schemas.microsoft.com/office/drawing/2014/main" id="{A8BF47C9-F337-875E-F868-BE0BA19B9E38}"/>
              </a:ext>
            </a:extLst>
          </p:cNvPr>
          <p:cNvSpPr txBox="1"/>
          <p:nvPr/>
        </p:nvSpPr>
        <p:spPr>
          <a:xfrm>
            <a:off x="755816" y="2628122"/>
            <a:ext cx="16541583" cy="6755696"/>
          </a:xfrm>
          <a:prstGeom prst="rect">
            <a:avLst/>
          </a:prstGeom>
        </p:spPr>
        <p:txBody>
          <a:bodyPr wrap="square" lIns="0" tIns="0" rIns="0" bIns="0" rtlCol="0" anchor="t">
            <a:spAutoFit/>
          </a:bodyPr>
          <a:lstStyle/>
          <a:p>
            <a:pPr marL="302259" lvl="1">
              <a:lnSpc>
                <a:spcPts val="4479"/>
              </a:lnSpc>
            </a:pPr>
            <a:r>
              <a:rPr lang="en-US" sz="3600" b="1" dirty="0">
                <a:solidFill>
                  <a:srgbClr val="000000"/>
                </a:solidFill>
                <a:latin typeface="Times New Roman" panose="02020603050405020304" pitchFamily="18" charset="0"/>
                <a:cs typeface="Times New Roman" panose="02020603050405020304" pitchFamily="18" charset="0"/>
                <a:sym typeface="Open Sauce"/>
              </a:rPr>
              <a:t>Three-dimensional printed optical phantoms with customized absorption and scattering properties </a:t>
            </a:r>
            <a:endParaRPr lang="en-US" sz="2800" b="1" dirty="0"/>
          </a:p>
          <a:p>
            <a:pPr marL="1061719" lvl="2" indent="-302260">
              <a:buFont typeface="Arial"/>
              <a:buChar char="•"/>
            </a:pPr>
            <a:r>
              <a:rPr lang="en-US" sz="2800" dirty="0"/>
              <a:t>Commercially available thermoplastics provide only a small range of physiologically relevant absorption coefficient (µ</a:t>
            </a:r>
            <a:r>
              <a:rPr lang="en-US" sz="2800" baseline="-25000" dirty="0"/>
              <a:t>a</a:t>
            </a:r>
            <a:r>
              <a:rPr lang="en-US" sz="2800" dirty="0"/>
              <a:t>)and reduced scattering coefficient (µ</a:t>
            </a:r>
            <a:r>
              <a:rPr lang="en-US" sz="2800" baseline="-25000" dirty="0"/>
              <a:t>s</a:t>
            </a:r>
            <a:r>
              <a:rPr lang="en-US" sz="2800" baseline="30000" dirty="0"/>
              <a:t>’</a:t>
            </a:r>
            <a:r>
              <a:rPr lang="en-US" sz="2800" dirty="0"/>
              <a:t>) values. </a:t>
            </a:r>
          </a:p>
          <a:p>
            <a:pPr marL="1061719" lvl="2" indent="-302260">
              <a:buFont typeface="Arial"/>
              <a:buChar char="•"/>
            </a:pPr>
            <a:r>
              <a:rPr lang="en-US" sz="2800" dirty="0"/>
              <a:t>The object of this research is to fabricate and validate customizable acrylonitrile butadiene styrene (ABS) filaments for dual extrusion 3D printing of tissue mimicking optical phantoms. </a:t>
            </a:r>
          </a:p>
          <a:p>
            <a:pPr marL="1061719" lvl="2" indent="-302260">
              <a:buFont typeface="Arial"/>
              <a:buChar char="•"/>
            </a:pPr>
            <a:r>
              <a:rPr lang="en-US" sz="2800" dirty="0"/>
              <a:t>µ</a:t>
            </a:r>
            <a:r>
              <a:rPr lang="en-US" sz="2800" baseline="-25000" dirty="0"/>
              <a:t>a </a:t>
            </a:r>
            <a:r>
              <a:rPr lang="en-US" sz="2800" dirty="0"/>
              <a:t>and µ</a:t>
            </a:r>
            <a:r>
              <a:rPr lang="en-US" sz="2800" baseline="-25000" dirty="0"/>
              <a:t>s</a:t>
            </a:r>
            <a:r>
              <a:rPr lang="en-US" sz="2800" baseline="30000" dirty="0"/>
              <a:t>’</a:t>
            </a:r>
            <a:r>
              <a:rPr lang="en-US" sz="2800" dirty="0"/>
              <a:t> values were adjustable by incorporating nigrosine and titanium dioxide in the filament extrusion process.</a:t>
            </a:r>
          </a:p>
          <a:p>
            <a:pPr marL="1061719" lvl="2" indent="-302260">
              <a:buFont typeface="Arial"/>
              <a:buChar char="•"/>
            </a:pPr>
            <a:r>
              <a:rPr lang="en-US" sz="2800" dirty="0"/>
              <a:t> A wide range of physiologically relevant properties was demonstrated with  average repeatability with 11.5% for µ</a:t>
            </a:r>
            <a:r>
              <a:rPr lang="en-US" sz="2800" baseline="-25000" dirty="0"/>
              <a:t>a </a:t>
            </a:r>
            <a:r>
              <a:rPr lang="en-US" sz="2800" dirty="0"/>
              <a:t>and 7.71% for µ</a:t>
            </a:r>
            <a:r>
              <a:rPr lang="en-US" sz="2800" baseline="-25000" dirty="0"/>
              <a:t>s</a:t>
            </a:r>
            <a:r>
              <a:rPr lang="en-US" sz="2800" baseline="30000" dirty="0"/>
              <a:t>’</a:t>
            </a:r>
            <a:r>
              <a:rPr lang="en-US" sz="2800" dirty="0"/>
              <a:t> .</a:t>
            </a:r>
          </a:p>
          <a:p>
            <a:pPr marL="1061719" lvl="2" indent="-302260">
              <a:buFont typeface="Arial"/>
              <a:buChar char="•"/>
            </a:pPr>
            <a:r>
              <a:rPr lang="en-US" sz="2800" dirty="0"/>
              <a:t>Advantages</a:t>
            </a:r>
          </a:p>
          <a:p>
            <a:pPr marL="1518919" lvl="3" indent="-302260">
              <a:buFont typeface="Arial"/>
              <a:buChar char="•"/>
            </a:pPr>
            <a:r>
              <a:rPr lang="en-US" sz="2800" dirty="0"/>
              <a:t>3D printing with user defined optical properties may provide a viable method for durable optically diffusive phantoms for instrument characterization and calibration. </a:t>
            </a:r>
          </a:p>
          <a:p>
            <a:pPr marL="1518919" lvl="3" indent="-302260">
              <a:buFont typeface="Arial"/>
              <a:buChar char="•"/>
            </a:pPr>
            <a:r>
              <a:rPr lang="en-US" sz="2800" dirty="0"/>
              <a:t>Can mitigate the problem of Liquid phantoms and solidified materials often limiting the ability to control the geometry of the final product. </a:t>
            </a:r>
          </a:p>
        </p:txBody>
      </p:sp>
      <p:sp>
        <p:nvSpPr>
          <p:cNvPr id="4" name="TextBox 8">
            <a:extLst>
              <a:ext uri="{FF2B5EF4-FFF2-40B4-BE49-F238E27FC236}">
                <a16:creationId xmlns:a16="http://schemas.microsoft.com/office/drawing/2014/main" id="{E0CE9B2F-2E4D-3C9C-EEEE-BB0A1A3944AE}"/>
              </a:ext>
            </a:extLst>
          </p:cNvPr>
          <p:cNvSpPr txBox="1"/>
          <p:nvPr/>
        </p:nvSpPr>
        <p:spPr>
          <a:xfrm>
            <a:off x="2564400" y="1409700"/>
            <a:ext cx="13159200" cy="613181"/>
          </a:xfrm>
          <a:prstGeom prst="rect">
            <a:avLst/>
          </a:prstGeom>
        </p:spPr>
        <p:txBody>
          <a:bodyPr wrap="square" lIns="0" tIns="0" rIns="0" bIns="0" rtlCol="0" anchor="t">
            <a:spAutoFit/>
          </a:bodyPr>
          <a:lstStyle/>
          <a:p>
            <a:pPr marL="302259" lvl="1" algn="ctr">
              <a:lnSpc>
                <a:spcPts val="4479"/>
              </a:lnSpc>
            </a:pPr>
            <a:r>
              <a:rPr lang="en-US" sz="6000" b="1" dirty="0">
                <a:solidFill>
                  <a:srgbClr val="000000"/>
                </a:solidFill>
                <a:latin typeface="Times New Roman" panose="02020603050405020304" pitchFamily="18" charset="0"/>
                <a:ea typeface="Open Sauce"/>
                <a:cs typeface="Times New Roman" panose="02020603050405020304" pitchFamily="18" charset="0"/>
                <a:sym typeface="Open Sauce"/>
              </a:rPr>
              <a:t>3D printed ABS Optical Bone Phantom</a:t>
            </a:r>
          </a:p>
        </p:txBody>
      </p:sp>
    </p:spTree>
    <p:extLst>
      <p:ext uri="{BB962C8B-B14F-4D97-AF65-F5344CB8AC3E}">
        <p14:creationId xmlns:p14="http://schemas.microsoft.com/office/powerpoint/2010/main" val="39881217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5B9E5-6F03-C5A7-6E6C-501FC6C0318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80A2214-2187-1704-5421-2384F6C9DBE1}"/>
              </a:ext>
            </a:extLst>
          </p:cNvPr>
          <p:cNvSpPr/>
          <p:nvPr/>
        </p:nvSpPr>
        <p:spPr>
          <a:xfrm>
            <a:off x="0" y="16998"/>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a:ln cap="sq">
            <a:noFill/>
            <a:prstDash val="solid"/>
            <a:miter/>
          </a:ln>
        </p:spPr>
        <p:txBody>
          <a:bodyPr/>
          <a:lstStyle/>
          <a:p>
            <a:endParaRPr lang="en-US" dirty="0">
              <a:highlight>
                <a:srgbClr val="FFFF00"/>
              </a:highlight>
            </a:endParaRPr>
          </a:p>
        </p:txBody>
      </p:sp>
      <p:sp>
        <p:nvSpPr>
          <p:cNvPr id="3" name="AutoShape 3">
            <a:extLst>
              <a:ext uri="{FF2B5EF4-FFF2-40B4-BE49-F238E27FC236}">
                <a16:creationId xmlns:a16="http://schemas.microsoft.com/office/drawing/2014/main" id="{374B1B36-7200-3D36-5D52-40B1FC211118}"/>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p:sp>
        <p:nvSpPr>
          <p:cNvPr id="8" name="TextBox 8">
            <a:extLst>
              <a:ext uri="{FF2B5EF4-FFF2-40B4-BE49-F238E27FC236}">
                <a16:creationId xmlns:a16="http://schemas.microsoft.com/office/drawing/2014/main" id="{9F0EA4C1-6418-32EF-EE7B-C4898F3164C3}"/>
              </a:ext>
            </a:extLst>
          </p:cNvPr>
          <p:cNvSpPr txBox="1"/>
          <p:nvPr/>
        </p:nvSpPr>
        <p:spPr>
          <a:xfrm>
            <a:off x="755816" y="2628122"/>
            <a:ext cx="16541583" cy="2877711"/>
          </a:xfrm>
          <a:prstGeom prst="rect">
            <a:avLst/>
          </a:prstGeom>
        </p:spPr>
        <p:txBody>
          <a:bodyPr wrap="square" lIns="0" tIns="0" rIns="0" bIns="0" rtlCol="0" anchor="t">
            <a:spAutoFit/>
          </a:bodyPr>
          <a:lstStyle/>
          <a:p>
            <a:pPr marL="302259" lvl="1">
              <a:lnSpc>
                <a:spcPts val="4479"/>
              </a:lnSpc>
            </a:pPr>
            <a:r>
              <a:rPr lang="en-US" sz="3600" b="1" dirty="0">
                <a:solidFill>
                  <a:srgbClr val="000000"/>
                </a:solidFill>
                <a:latin typeface="Times New Roman" panose="02020603050405020304" pitchFamily="18" charset="0"/>
                <a:cs typeface="Times New Roman" panose="02020603050405020304" pitchFamily="18" charset="0"/>
                <a:sym typeface="Open Sauce"/>
              </a:rPr>
              <a:t>Three-dimensional printed optical phantoms with customized absorption and scattering properties </a:t>
            </a:r>
            <a:endParaRPr lang="en-US" sz="2800" b="1" dirty="0"/>
          </a:p>
          <a:p>
            <a:pPr marL="1061719" lvl="2" indent="-302260">
              <a:buFont typeface="Arial"/>
              <a:buChar char="•"/>
            </a:pPr>
            <a:r>
              <a:rPr lang="en-US" sz="2800" dirty="0"/>
              <a:t>A key step to improving the versatility of 3D printed optical phantoms is the ability to alter the raw materials’ intrinsic optical properties to match that of a know target tissue. </a:t>
            </a:r>
          </a:p>
          <a:p>
            <a:pPr marL="1061719" lvl="2" indent="-302260">
              <a:buFont typeface="Arial"/>
              <a:buChar char="•"/>
            </a:pPr>
            <a:r>
              <a:rPr lang="en-US" sz="2800" dirty="0"/>
              <a:t>The methodology to customized optical phantoms is the addition of absorbing dye, nigrosine, and scattering agent, titanium dioxide TiO</a:t>
            </a:r>
            <a:r>
              <a:rPr lang="en-US" sz="2800" baseline="-25000" dirty="0"/>
              <a:t>2</a:t>
            </a:r>
            <a:r>
              <a:rPr lang="en-US" sz="2800" dirty="0"/>
              <a:t> , prior to extrusion.</a:t>
            </a:r>
          </a:p>
        </p:txBody>
      </p:sp>
      <p:sp>
        <p:nvSpPr>
          <p:cNvPr id="4" name="TextBox 8">
            <a:extLst>
              <a:ext uri="{FF2B5EF4-FFF2-40B4-BE49-F238E27FC236}">
                <a16:creationId xmlns:a16="http://schemas.microsoft.com/office/drawing/2014/main" id="{DA61A5E3-B5FF-D4FC-D1E6-328FBA45CBE5}"/>
              </a:ext>
            </a:extLst>
          </p:cNvPr>
          <p:cNvSpPr txBox="1"/>
          <p:nvPr/>
        </p:nvSpPr>
        <p:spPr>
          <a:xfrm>
            <a:off x="2564400" y="1409700"/>
            <a:ext cx="13159200" cy="613181"/>
          </a:xfrm>
          <a:prstGeom prst="rect">
            <a:avLst/>
          </a:prstGeom>
        </p:spPr>
        <p:txBody>
          <a:bodyPr wrap="square" lIns="0" tIns="0" rIns="0" bIns="0" rtlCol="0" anchor="t">
            <a:spAutoFit/>
          </a:bodyPr>
          <a:lstStyle/>
          <a:p>
            <a:pPr marL="302259" lvl="1" algn="ctr">
              <a:lnSpc>
                <a:spcPts val="4479"/>
              </a:lnSpc>
            </a:pPr>
            <a:r>
              <a:rPr lang="en-US" sz="6000" b="1" dirty="0">
                <a:solidFill>
                  <a:srgbClr val="000000"/>
                </a:solidFill>
                <a:latin typeface="Times New Roman" panose="02020603050405020304" pitchFamily="18" charset="0"/>
                <a:ea typeface="Open Sauce"/>
                <a:cs typeface="Times New Roman" panose="02020603050405020304" pitchFamily="18" charset="0"/>
                <a:sym typeface="Open Sauce"/>
              </a:rPr>
              <a:t>3D printed ABS Optical Bone Phantom</a:t>
            </a:r>
          </a:p>
        </p:txBody>
      </p:sp>
      <p:pic>
        <p:nvPicPr>
          <p:cNvPr id="6" name="Picture 5">
            <a:extLst>
              <a:ext uri="{FF2B5EF4-FFF2-40B4-BE49-F238E27FC236}">
                <a16:creationId xmlns:a16="http://schemas.microsoft.com/office/drawing/2014/main" id="{1245F901-C34A-D8F2-A098-4ED18AFB885E}"/>
              </a:ext>
            </a:extLst>
          </p:cNvPr>
          <p:cNvPicPr>
            <a:picLocks noChangeAspect="1"/>
          </p:cNvPicPr>
          <p:nvPr/>
        </p:nvPicPr>
        <p:blipFill>
          <a:blip r:embed="rId4">
            <a:extLst>
              <a:ext uri="{28A0092B-C50C-407E-A947-70E740481C1C}">
                <a14:useLocalDpi xmlns:a14="http://schemas.microsoft.com/office/drawing/2010/main" val="0"/>
              </a:ext>
            </a:extLst>
          </a:blip>
          <a:srcRect l="17197" t="8227" r="20196" b="58912"/>
          <a:stretch>
            <a:fillRect/>
          </a:stretch>
        </p:blipFill>
        <p:spPr>
          <a:xfrm>
            <a:off x="755816" y="5505832"/>
            <a:ext cx="8552154" cy="3854025"/>
          </a:xfrm>
          <a:prstGeom prst="rect">
            <a:avLst/>
          </a:prstGeom>
        </p:spPr>
      </p:pic>
      <p:pic>
        <p:nvPicPr>
          <p:cNvPr id="7" name="Picture 6">
            <a:extLst>
              <a:ext uri="{FF2B5EF4-FFF2-40B4-BE49-F238E27FC236}">
                <a16:creationId xmlns:a16="http://schemas.microsoft.com/office/drawing/2014/main" id="{310AB9A4-BE73-01F6-9552-A477A8C04822}"/>
              </a:ext>
            </a:extLst>
          </p:cNvPr>
          <p:cNvPicPr>
            <a:picLocks noChangeAspect="1"/>
          </p:cNvPicPr>
          <p:nvPr/>
        </p:nvPicPr>
        <p:blipFill>
          <a:blip r:embed="rId4">
            <a:extLst>
              <a:ext uri="{28A0092B-C50C-407E-A947-70E740481C1C}">
                <a14:useLocalDpi xmlns:a14="http://schemas.microsoft.com/office/drawing/2010/main" val="0"/>
              </a:ext>
            </a:extLst>
          </a:blip>
          <a:srcRect l="12223" t="54402" r="15882" b="1731"/>
          <a:stretch>
            <a:fillRect/>
          </a:stretch>
        </p:blipFill>
        <p:spPr>
          <a:xfrm>
            <a:off x="9307970" y="5502775"/>
            <a:ext cx="8224373" cy="3854025"/>
          </a:xfrm>
          <a:prstGeom prst="rect">
            <a:avLst/>
          </a:prstGeom>
        </p:spPr>
      </p:pic>
      <p:sp>
        <p:nvSpPr>
          <p:cNvPr id="5" name="TextBox 4">
            <a:extLst>
              <a:ext uri="{FF2B5EF4-FFF2-40B4-BE49-F238E27FC236}">
                <a16:creationId xmlns:a16="http://schemas.microsoft.com/office/drawing/2014/main" id="{9D8975FC-98FE-FBE3-E8BF-64FDF6C2207E}"/>
              </a:ext>
            </a:extLst>
          </p:cNvPr>
          <p:cNvSpPr txBox="1"/>
          <p:nvPr/>
        </p:nvSpPr>
        <p:spPr>
          <a:xfrm>
            <a:off x="9736359" y="9356800"/>
            <a:ext cx="7367594" cy="369332"/>
          </a:xfrm>
          <a:prstGeom prst="rect">
            <a:avLst/>
          </a:prstGeom>
          <a:noFill/>
        </p:spPr>
        <p:txBody>
          <a:bodyPr wrap="none" rtlCol="0">
            <a:spAutoFit/>
          </a:bodyPr>
          <a:lstStyle/>
          <a:p>
            <a:r>
              <a:rPr lang="en-US" dirty="0"/>
              <a:t>Table 1: Mean ± standard deviation µ</a:t>
            </a:r>
            <a:r>
              <a:rPr lang="en-US" baseline="-25000" dirty="0"/>
              <a:t>a</a:t>
            </a:r>
            <a:r>
              <a:rPr lang="en-US" dirty="0"/>
              <a:t> and µ</a:t>
            </a:r>
            <a:r>
              <a:rPr lang="en-US" baseline="-25000" dirty="0"/>
              <a:t>s</a:t>
            </a:r>
            <a:r>
              <a:rPr lang="en-US" baseline="30000" dirty="0"/>
              <a:t>’</a:t>
            </a:r>
            <a:r>
              <a:rPr lang="en-US" dirty="0"/>
              <a:t> values for all cubs at 471 nm. </a:t>
            </a:r>
          </a:p>
        </p:txBody>
      </p:sp>
      <p:sp>
        <p:nvSpPr>
          <p:cNvPr id="9" name="TextBox 8">
            <a:extLst>
              <a:ext uri="{FF2B5EF4-FFF2-40B4-BE49-F238E27FC236}">
                <a16:creationId xmlns:a16="http://schemas.microsoft.com/office/drawing/2014/main" id="{9645E7A0-4BAB-2BA1-AF69-F21E5A55960C}"/>
              </a:ext>
            </a:extLst>
          </p:cNvPr>
          <p:cNvSpPr txBox="1"/>
          <p:nvPr/>
        </p:nvSpPr>
        <p:spPr>
          <a:xfrm>
            <a:off x="1818064" y="9334502"/>
            <a:ext cx="6427657" cy="646331"/>
          </a:xfrm>
          <a:prstGeom prst="rect">
            <a:avLst/>
          </a:prstGeom>
          <a:noFill/>
        </p:spPr>
        <p:txBody>
          <a:bodyPr wrap="none" rtlCol="0">
            <a:spAutoFit/>
          </a:bodyPr>
          <a:lstStyle/>
          <a:p>
            <a:pPr algn="ctr"/>
            <a:r>
              <a:rPr lang="en-US" dirty="0"/>
              <a:t>Fig. White light image (left), and SFDI maps of absorption (middle) </a:t>
            </a:r>
          </a:p>
          <a:p>
            <a:pPr algn="ctr"/>
            <a:r>
              <a:rPr lang="en-US" dirty="0"/>
              <a:t>and reduced scattering (right) at 471 nm. </a:t>
            </a:r>
          </a:p>
        </p:txBody>
      </p:sp>
    </p:spTree>
    <p:extLst>
      <p:ext uri="{BB962C8B-B14F-4D97-AF65-F5344CB8AC3E}">
        <p14:creationId xmlns:p14="http://schemas.microsoft.com/office/powerpoint/2010/main" val="30847274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E3990-2689-034A-2F99-2471B24CD66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E1ADB22-0636-97BB-A164-DFFC36313936}"/>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a:ln cap="sq">
            <a:noFill/>
            <a:prstDash val="solid"/>
            <a:miter/>
          </a:ln>
        </p:spPr>
        <p:txBody>
          <a:bodyPr/>
          <a:lstStyle/>
          <a:p>
            <a:endParaRPr lang="en-US" dirty="0"/>
          </a:p>
        </p:txBody>
      </p:sp>
      <p:sp>
        <p:nvSpPr>
          <p:cNvPr id="3" name="AutoShape 3">
            <a:extLst>
              <a:ext uri="{FF2B5EF4-FFF2-40B4-BE49-F238E27FC236}">
                <a16:creationId xmlns:a16="http://schemas.microsoft.com/office/drawing/2014/main" id="{FCD361E6-2B70-A923-42A1-A17C34569D65}"/>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p:sp>
        <p:nvSpPr>
          <p:cNvPr id="8" name="TextBox 8">
            <a:extLst>
              <a:ext uri="{FF2B5EF4-FFF2-40B4-BE49-F238E27FC236}">
                <a16:creationId xmlns:a16="http://schemas.microsoft.com/office/drawing/2014/main" id="{F4547801-1DE9-AFCC-3D85-7908B8E86A06}"/>
              </a:ext>
            </a:extLst>
          </p:cNvPr>
          <p:cNvSpPr txBox="1"/>
          <p:nvPr/>
        </p:nvSpPr>
        <p:spPr>
          <a:xfrm>
            <a:off x="755816" y="2095500"/>
            <a:ext cx="16541583" cy="1733680"/>
          </a:xfrm>
          <a:prstGeom prst="rect">
            <a:avLst/>
          </a:prstGeom>
        </p:spPr>
        <p:txBody>
          <a:bodyPr wrap="square" lIns="0" tIns="0" rIns="0" bIns="0" rtlCol="0" anchor="t">
            <a:spAutoFit/>
          </a:bodyPr>
          <a:lstStyle/>
          <a:p>
            <a:pPr marL="302259" lvl="1">
              <a:lnSpc>
                <a:spcPts val="4479"/>
              </a:lnSpc>
            </a:pPr>
            <a:r>
              <a:rPr lang="en-US" sz="3600" b="1" dirty="0">
                <a:solidFill>
                  <a:srgbClr val="000000"/>
                </a:solidFill>
                <a:latin typeface="Times New Roman" panose="02020603050405020304" pitchFamily="18" charset="0"/>
                <a:cs typeface="Times New Roman" panose="02020603050405020304" pitchFamily="18" charset="0"/>
                <a:sym typeface="Open Sauce"/>
              </a:rPr>
              <a:t>Development of a composite using calcined bone powder and silane cross-linked alginate as bone substitute material</a:t>
            </a:r>
          </a:p>
          <a:p>
            <a:pPr marL="604519" lvl="1" indent="-302260">
              <a:lnSpc>
                <a:spcPct val="150000"/>
              </a:lnSpc>
              <a:buFont typeface="Arial"/>
              <a:buChar char="•"/>
            </a:pPr>
            <a:endParaRPr lang="en-US" sz="2800" dirty="0">
              <a:highlight>
                <a:srgbClr val="FFFF00"/>
              </a:highlight>
            </a:endParaRPr>
          </a:p>
        </p:txBody>
      </p:sp>
      <p:sp>
        <p:nvSpPr>
          <p:cNvPr id="4" name="TextBox 8">
            <a:extLst>
              <a:ext uri="{FF2B5EF4-FFF2-40B4-BE49-F238E27FC236}">
                <a16:creationId xmlns:a16="http://schemas.microsoft.com/office/drawing/2014/main" id="{411B726A-88FF-2707-F088-30DA349B00E1}"/>
              </a:ext>
            </a:extLst>
          </p:cNvPr>
          <p:cNvSpPr txBox="1"/>
          <p:nvPr/>
        </p:nvSpPr>
        <p:spPr>
          <a:xfrm>
            <a:off x="1166399" y="1181100"/>
            <a:ext cx="16131000" cy="613181"/>
          </a:xfrm>
          <a:prstGeom prst="rect">
            <a:avLst/>
          </a:prstGeom>
        </p:spPr>
        <p:txBody>
          <a:bodyPr wrap="square" lIns="0" tIns="0" rIns="0" bIns="0" rtlCol="0" anchor="t">
            <a:spAutoFit/>
          </a:bodyPr>
          <a:lstStyle/>
          <a:p>
            <a:pPr marL="302259" lvl="1" algn="ctr">
              <a:lnSpc>
                <a:spcPts val="4479"/>
              </a:lnSpc>
            </a:pPr>
            <a:r>
              <a:rPr lang="en-US" sz="6000" b="1" dirty="0">
                <a:solidFill>
                  <a:srgbClr val="000000"/>
                </a:solidFill>
                <a:latin typeface="Times New Roman" panose="02020603050405020304" pitchFamily="18" charset="0"/>
                <a:ea typeface="Open Sauce"/>
                <a:cs typeface="Times New Roman" panose="02020603050405020304" pitchFamily="18" charset="0"/>
                <a:sym typeface="Open Sauce"/>
              </a:rPr>
              <a:t>3D printed ABS Optical Bone Phantom</a:t>
            </a:r>
          </a:p>
        </p:txBody>
      </p:sp>
      <p:pic>
        <p:nvPicPr>
          <p:cNvPr id="11" name="Picture 10">
            <a:extLst>
              <a:ext uri="{FF2B5EF4-FFF2-40B4-BE49-F238E27FC236}">
                <a16:creationId xmlns:a16="http://schemas.microsoft.com/office/drawing/2014/main" id="{B25B5619-E74C-F0DB-442B-4A973440732E}"/>
              </a:ext>
            </a:extLst>
          </p:cNvPr>
          <p:cNvPicPr>
            <a:picLocks noChangeAspect="1"/>
          </p:cNvPicPr>
          <p:nvPr/>
        </p:nvPicPr>
        <p:blipFill>
          <a:blip r:embed="rId4"/>
          <a:stretch>
            <a:fillRect/>
          </a:stretch>
        </p:blipFill>
        <p:spPr>
          <a:xfrm>
            <a:off x="3048000" y="3314700"/>
            <a:ext cx="11967570" cy="4504279"/>
          </a:xfrm>
          <a:prstGeom prst="rect">
            <a:avLst/>
          </a:prstGeom>
        </p:spPr>
      </p:pic>
      <p:sp>
        <p:nvSpPr>
          <p:cNvPr id="5" name="TextBox 4">
            <a:extLst>
              <a:ext uri="{FF2B5EF4-FFF2-40B4-BE49-F238E27FC236}">
                <a16:creationId xmlns:a16="http://schemas.microsoft.com/office/drawing/2014/main" id="{5A9E5A59-3146-81AB-53A5-67AFB6E97D3D}"/>
              </a:ext>
            </a:extLst>
          </p:cNvPr>
          <p:cNvSpPr txBox="1"/>
          <p:nvPr/>
        </p:nvSpPr>
        <p:spPr>
          <a:xfrm>
            <a:off x="3536750" y="7868334"/>
            <a:ext cx="11390298" cy="646331"/>
          </a:xfrm>
          <a:prstGeom prst="rect">
            <a:avLst/>
          </a:prstGeom>
          <a:noFill/>
        </p:spPr>
        <p:txBody>
          <a:bodyPr wrap="none" rtlCol="0">
            <a:spAutoFit/>
          </a:bodyPr>
          <a:lstStyle/>
          <a:p>
            <a:pPr algn="ctr"/>
            <a:r>
              <a:rPr lang="en-US" dirty="0"/>
              <a:t>Fig. Absorption, averaged overall TiO</a:t>
            </a:r>
            <a:r>
              <a:rPr lang="en-US" baseline="-25000" dirty="0"/>
              <a:t>2</a:t>
            </a:r>
            <a:r>
              <a:rPr lang="en-US" dirty="0"/>
              <a:t> concentrations, and reduced scattering, averaged overall nigrosine concentration </a:t>
            </a:r>
          </a:p>
          <a:p>
            <a:pPr algn="ctr"/>
            <a:r>
              <a:rPr lang="en-US" dirty="0"/>
              <a:t>of all 3D printed cubes for 471,526,591,621,659,691,731</a:t>
            </a:r>
          </a:p>
        </p:txBody>
      </p:sp>
      <p:sp>
        <p:nvSpPr>
          <p:cNvPr id="6" name="TextBox 8">
            <a:extLst>
              <a:ext uri="{FF2B5EF4-FFF2-40B4-BE49-F238E27FC236}">
                <a16:creationId xmlns:a16="http://schemas.microsoft.com/office/drawing/2014/main" id="{ED584E2A-4911-A223-263F-D308AD4C8E88}"/>
              </a:ext>
            </a:extLst>
          </p:cNvPr>
          <p:cNvSpPr txBox="1"/>
          <p:nvPr/>
        </p:nvSpPr>
        <p:spPr>
          <a:xfrm>
            <a:off x="1166399" y="8389706"/>
            <a:ext cx="16541583" cy="1872179"/>
          </a:xfrm>
          <a:prstGeom prst="rect">
            <a:avLst/>
          </a:prstGeom>
        </p:spPr>
        <p:txBody>
          <a:bodyPr wrap="square" lIns="0" tIns="0" rIns="0" bIns="0" rtlCol="0" anchor="t">
            <a:spAutoFit/>
          </a:bodyPr>
          <a:lstStyle/>
          <a:p>
            <a:pPr marL="1061719" lvl="2" indent="-302260">
              <a:lnSpc>
                <a:spcPct val="150000"/>
              </a:lnSpc>
              <a:buFont typeface="Arial"/>
              <a:buChar char="•"/>
            </a:pPr>
            <a:r>
              <a:rPr lang="en-US" sz="2800" dirty="0"/>
              <a:t>Absorption coefficient of human bone (µ</a:t>
            </a:r>
            <a:r>
              <a:rPr lang="en-US" sz="2800" baseline="-25000" dirty="0"/>
              <a:t>a</a:t>
            </a:r>
            <a:r>
              <a:rPr lang="en-US" sz="2800" dirty="0"/>
              <a:t>) : 0.01 – 0.05 mm</a:t>
            </a:r>
            <a:r>
              <a:rPr lang="en-US" sz="2800" baseline="30000" dirty="0"/>
              <a:t>-1</a:t>
            </a:r>
            <a:r>
              <a:rPr lang="en-US" sz="2800" dirty="0"/>
              <a:t> </a:t>
            </a:r>
            <a:r>
              <a:rPr lang="en-US" sz="2800" baseline="30000" dirty="0"/>
              <a:t> </a:t>
            </a:r>
            <a:endParaRPr lang="en-US" sz="2800" dirty="0"/>
          </a:p>
          <a:p>
            <a:pPr marL="1061719" lvl="2" indent="-302260">
              <a:lnSpc>
                <a:spcPct val="150000"/>
              </a:lnSpc>
              <a:buFont typeface="Arial"/>
              <a:buChar char="•"/>
            </a:pPr>
            <a:r>
              <a:rPr lang="en-US" sz="2800" dirty="0"/>
              <a:t>Scattering coefficient of human bone (µ</a:t>
            </a:r>
            <a:r>
              <a:rPr lang="en-US" sz="2800" baseline="-25000" dirty="0"/>
              <a:t>a</a:t>
            </a:r>
            <a:r>
              <a:rPr lang="en-US" sz="2800" dirty="0"/>
              <a:t>) : 20 – 45 mm</a:t>
            </a:r>
            <a:r>
              <a:rPr lang="en-US" sz="2800" baseline="30000" dirty="0"/>
              <a:t>-1</a:t>
            </a:r>
            <a:endParaRPr lang="en-US" sz="2800" dirty="0"/>
          </a:p>
          <a:p>
            <a:pPr marL="1061719" lvl="2" indent="-302260">
              <a:lnSpc>
                <a:spcPct val="150000"/>
              </a:lnSpc>
              <a:buFont typeface="Arial"/>
              <a:buChar char="•"/>
            </a:pPr>
            <a:r>
              <a:rPr lang="en-US" sz="2800" dirty="0"/>
              <a:t>Reduced Scattering coefficient of human bone (µ</a:t>
            </a:r>
            <a:r>
              <a:rPr lang="en-US" sz="2800" baseline="-25000" dirty="0"/>
              <a:t>a</a:t>
            </a:r>
            <a:r>
              <a:rPr lang="en-US" sz="2800" dirty="0"/>
              <a:t>) : 2.0 – 4.5 mm</a:t>
            </a:r>
            <a:r>
              <a:rPr lang="en-US" sz="2800" baseline="30000" dirty="0"/>
              <a:t>-1</a:t>
            </a:r>
            <a:r>
              <a:rPr lang="en-US" sz="2800" dirty="0"/>
              <a:t> </a:t>
            </a:r>
          </a:p>
        </p:txBody>
      </p:sp>
    </p:spTree>
    <p:extLst>
      <p:ext uri="{BB962C8B-B14F-4D97-AF65-F5344CB8AC3E}">
        <p14:creationId xmlns:p14="http://schemas.microsoft.com/office/powerpoint/2010/main" val="32257594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B1D04-9CCF-146F-C321-33F2DD154E6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C286A03-931C-6A52-F713-4E9ED8084128}"/>
              </a:ext>
            </a:extLst>
          </p:cNvPr>
          <p:cNvSpPr/>
          <p:nvPr/>
        </p:nvSpPr>
        <p:spPr>
          <a:xfrm>
            <a:off x="-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a:ln cap="sq">
            <a:noFill/>
            <a:prstDash val="solid"/>
            <a:miter/>
          </a:ln>
        </p:spPr>
        <p:txBody>
          <a:bodyPr/>
          <a:lstStyle/>
          <a:p>
            <a:endParaRPr lang="en-US" dirty="0"/>
          </a:p>
        </p:txBody>
      </p:sp>
      <p:sp>
        <p:nvSpPr>
          <p:cNvPr id="3" name="AutoShape 3">
            <a:extLst>
              <a:ext uri="{FF2B5EF4-FFF2-40B4-BE49-F238E27FC236}">
                <a16:creationId xmlns:a16="http://schemas.microsoft.com/office/drawing/2014/main" id="{AFE063C8-5ACB-1038-7E81-27E5A93F49DC}"/>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p:sp>
        <p:nvSpPr>
          <p:cNvPr id="8" name="TextBox 8">
            <a:extLst>
              <a:ext uri="{FF2B5EF4-FFF2-40B4-BE49-F238E27FC236}">
                <a16:creationId xmlns:a16="http://schemas.microsoft.com/office/drawing/2014/main" id="{0531680C-AA6F-52D5-EA77-14C71C3D7C1C}"/>
              </a:ext>
            </a:extLst>
          </p:cNvPr>
          <p:cNvSpPr txBox="1"/>
          <p:nvPr/>
        </p:nvSpPr>
        <p:spPr>
          <a:xfrm>
            <a:off x="755816" y="2077689"/>
            <a:ext cx="16541583" cy="7927683"/>
          </a:xfrm>
          <a:prstGeom prst="rect">
            <a:avLst/>
          </a:prstGeom>
        </p:spPr>
        <p:txBody>
          <a:bodyPr wrap="square" lIns="0" tIns="0" rIns="0" bIns="0" rtlCol="0" anchor="t">
            <a:spAutoFit/>
          </a:bodyPr>
          <a:lstStyle/>
          <a:p>
            <a:pPr marL="302259" lvl="1">
              <a:lnSpc>
                <a:spcPts val="4479"/>
              </a:lnSpc>
            </a:pPr>
            <a:r>
              <a:rPr lang="en-US" sz="3600" b="1" dirty="0">
                <a:solidFill>
                  <a:srgbClr val="000000"/>
                </a:solidFill>
                <a:latin typeface="Times New Roman" panose="02020603050405020304" pitchFamily="18" charset="0"/>
                <a:cs typeface="Times New Roman" panose="02020603050405020304" pitchFamily="18" charset="0"/>
                <a:sym typeface="Open Sauce"/>
              </a:rPr>
              <a:t>Development of a composite using calcined bone powder and silane cross-linked alginate as bone substitute material</a:t>
            </a:r>
          </a:p>
          <a:p>
            <a:pPr marL="604519" lvl="1" indent="-302260">
              <a:lnSpc>
                <a:spcPct val="200000"/>
              </a:lnSpc>
              <a:buFont typeface="Arial"/>
              <a:buChar char="•"/>
            </a:pPr>
            <a:r>
              <a:rPr lang="en-US" sz="2800" dirty="0"/>
              <a:t>Filament preparation </a:t>
            </a:r>
          </a:p>
          <a:p>
            <a:pPr marL="1061719" lvl="2" indent="-302260">
              <a:lnSpc>
                <a:spcPct val="200000"/>
              </a:lnSpc>
              <a:buFont typeface="Arial"/>
              <a:buChar char="•"/>
            </a:pPr>
            <a:r>
              <a:rPr lang="en-US" sz="2800" dirty="0"/>
              <a:t>Co-extruding a mixture of commercially available natural color ABS pellets with custom absorption and scattering ABS “chips”. (combining ABS with either nigrosine and TiO</a:t>
            </a:r>
            <a:r>
              <a:rPr lang="en-US" sz="2800" baseline="-25000" dirty="0"/>
              <a:t>2</a:t>
            </a:r>
            <a:r>
              <a:rPr lang="en-US" sz="2800" dirty="0"/>
              <a:t>)</a:t>
            </a:r>
          </a:p>
          <a:p>
            <a:pPr marL="1061719" lvl="2" indent="-302260">
              <a:lnSpc>
                <a:spcPct val="200000"/>
              </a:lnSpc>
              <a:buFont typeface="Arial"/>
              <a:buChar char="•"/>
            </a:pPr>
            <a:r>
              <a:rPr lang="en-US" sz="2800" dirty="0"/>
              <a:t>Fabrication of TiO</a:t>
            </a:r>
            <a:r>
              <a:rPr lang="en-US" sz="2800" baseline="-25000" dirty="0"/>
              <a:t>2</a:t>
            </a:r>
            <a:r>
              <a:rPr lang="en-US" sz="2800" dirty="0"/>
              <a:t> chip consisted with dissolving the 20g of ABS in 50 ml of acetone for at least 12 hours. 0.2 g of TiO</a:t>
            </a:r>
            <a:r>
              <a:rPr lang="en-US" sz="2800" baseline="-25000" dirty="0"/>
              <a:t>2</a:t>
            </a:r>
            <a:r>
              <a:rPr lang="en-US" sz="2800" dirty="0"/>
              <a:t> was mixed with 1000 µl of water and sonicated for 10 minutes. After that add to the ABS solution. The mixture was then poured into a 21x21 cm pan to a layer thickness of 1.5 mm and vacuumed to remove air bubbles. The pan consisting of ABS/TiO</a:t>
            </a:r>
            <a:r>
              <a:rPr lang="en-US" sz="2800" baseline="-25000" dirty="0"/>
              <a:t>2</a:t>
            </a:r>
            <a:r>
              <a:rPr lang="en-US" sz="2800" dirty="0"/>
              <a:t> solution were left in the 40 kPa vacuum overnight to dry and solidify. Once it is solidified the thin sheet is cut into 2 x 2 mm dimension.</a:t>
            </a:r>
          </a:p>
        </p:txBody>
      </p:sp>
      <p:sp>
        <p:nvSpPr>
          <p:cNvPr id="4" name="TextBox 8">
            <a:extLst>
              <a:ext uri="{FF2B5EF4-FFF2-40B4-BE49-F238E27FC236}">
                <a16:creationId xmlns:a16="http://schemas.microsoft.com/office/drawing/2014/main" id="{372D253F-403E-D303-D696-C5B4A21E9F2E}"/>
              </a:ext>
            </a:extLst>
          </p:cNvPr>
          <p:cNvSpPr txBox="1"/>
          <p:nvPr/>
        </p:nvSpPr>
        <p:spPr>
          <a:xfrm>
            <a:off x="1166399" y="1181100"/>
            <a:ext cx="16131000" cy="613181"/>
          </a:xfrm>
          <a:prstGeom prst="rect">
            <a:avLst/>
          </a:prstGeom>
        </p:spPr>
        <p:txBody>
          <a:bodyPr wrap="square" lIns="0" tIns="0" rIns="0" bIns="0" rtlCol="0" anchor="t">
            <a:spAutoFit/>
          </a:bodyPr>
          <a:lstStyle/>
          <a:p>
            <a:pPr marL="302259" lvl="1" algn="ctr">
              <a:lnSpc>
                <a:spcPts val="4479"/>
              </a:lnSpc>
            </a:pPr>
            <a:r>
              <a:rPr lang="en-US" sz="6000" b="1" dirty="0">
                <a:solidFill>
                  <a:srgbClr val="000000"/>
                </a:solidFill>
                <a:latin typeface="Times New Roman" panose="02020603050405020304" pitchFamily="18" charset="0"/>
                <a:ea typeface="Open Sauce"/>
                <a:cs typeface="Times New Roman" panose="02020603050405020304" pitchFamily="18" charset="0"/>
                <a:sym typeface="Open Sauce"/>
              </a:rPr>
              <a:t>3D printed ABS Optical Bone Phantom</a:t>
            </a:r>
          </a:p>
        </p:txBody>
      </p:sp>
    </p:spTree>
    <p:extLst>
      <p:ext uri="{BB962C8B-B14F-4D97-AF65-F5344CB8AC3E}">
        <p14:creationId xmlns:p14="http://schemas.microsoft.com/office/powerpoint/2010/main" val="39828884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D7BAB-1595-D074-3569-9A2C392BB5F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711B5CC-0B37-C6FF-12E5-B1CEB1CF18D0}"/>
              </a:ext>
            </a:extLst>
          </p:cNvPr>
          <p:cNvSpPr/>
          <p:nvPr/>
        </p:nvSpPr>
        <p:spPr>
          <a:xfrm>
            <a:off x="-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a:ln cap="sq">
            <a:noFill/>
            <a:prstDash val="solid"/>
            <a:miter/>
          </a:ln>
        </p:spPr>
        <p:txBody>
          <a:bodyPr/>
          <a:lstStyle/>
          <a:p>
            <a:endParaRPr lang="en-US" dirty="0"/>
          </a:p>
        </p:txBody>
      </p:sp>
      <p:sp>
        <p:nvSpPr>
          <p:cNvPr id="3" name="AutoShape 3">
            <a:extLst>
              <a:ext uri="{FF2B5EF4-FFF2-40B4-BE49-F238E27FC236}">
                <a16:creationId xmlns:a16="http://schemas.microsoft.com/office/drawing/2014/main" id="{9F6FC8C1-40B0-5033-C78E-C1FD315C4E5B}"/>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p:sp>
        <p:nvSpPr>
          <p:cNvPr id="8" name="TextBox 8">
            <a:extLst>
              <a:ext uri="{FF2B5EF4-FFF2-40B4-BE49-F238E27FC236}">
                <a16:creationId xmlns:a16="http://schemas.microsoft.com/office/drawing/2014/main" id="{C10E7EF2-7520-9DA7-75F5-9759225F08C4}"/>
              </a:ext>
            </a:extLst>
          </p:cNvPr>
          <p:cNvSpPr txBox="1"/>
          <p:nvPr/>
        </p:nvSpPr>
        <p:spPr>
          <a:xfrm>
            <a:off x="755816" y="2077689"/>
            <a:ext cx="16541583" cy="6204134"/>
          </a:xfrm>
          <a:prstGeom prst="rect">
            <a:avLst/>
          </a:prstGeom>
        </p:spPr>
        <p:txBody>
          <a:bodyPr wrap="square" lIns="0" tIns="0" rIns="0" bIns="0" rtlCol="0" anchor="t">
            <a:spAutoFit/>
          </a:bodyPr>
          <a:lstStyle/>
          <a:p>
            <a:pPr marL="302259" lvl="1">
              <a:lnSpc>
                <a:spcPts val="4479"/>
              </a:lnSpc>
            </a:pPr>
            <a:r>
              <a:rPr lang="en-US" sz="3600" b="1" dirty="0">
                <a:solidFill>
                  <a:srgbClr val="000000"/>
                </a:solidFill>
                <a:latin typeface="Times New Roman" panose="02020603050405020304" pitchFamily="18" charset="0"/>
                <a:cs typeface="Times New Roman" panose="02020603050405020304" pitchFamily="18" charset="0"/>
                <a:sym typeface="Open Sauce"/>
              </a:rPr>
              <a:t>Development of a composite using calcined bone powder and silane cross-linked alginate as bone substitute material</a:t>
            </a:r>
          </a:p>
          <a:p>
            <a:pPr marL="604519" lvl="1" indent="-302260">
              <a:lnSpc>
                <a:spcPct val="200000"/>
              </a:lnSpc>
              <a:buFont typeface="Arial"/>
              <a:buChar char="•"/>
            </a:pPr>
            <a:r>
              <a:rPr lang="en-US" sz="2800" dirty="0"/>
              <a:t>Filament preparation </a:t>
            </a:r>
          </a:p>
          <a:p>
            <a:pPr marL="1061719" lvl="2" indent="-302260">
              <a:lnSpc>
                <a:spcPct val="200000"/>
              </a:lnSpc>
              <a:buFont typeface="Arial"/>
              <a:buChar char="•"/>
            </a:pPr>
            <a:r>
              <a:rPr lang="en-US" sz="2800" dirty="0"/>
              <a:t>The nigrosine chips were also created using the same protocol described above by using the 0.02g of nigrosine and 800 µl of water. </a:t>
            </a:r>
          </a:p>
          <a:p>
            <a:pPr marL="1061719" lvl="2" indent="-302260">
              <a:lnSpc>
                <a:spcPct val="200000"/>
              </a:lnSpc>
              <a:buFont typeface="Arial"/>
              <a:buChar char="•"/>
            </a:pPr>
            <a:r>
              <a:rPr lang="en-US" sz="2800" dirty="0" err="1"/>
              <a:t>Nigrosin</a:t>
            </a:r>
            <a:r>
              <a:rPr lang="en-US" sz="2800" dirty="0"/>
              <a:t> and TiO</a:t>
            </a:r>
            <a:r>
              <a:rPr lang="en-US" sz="2800" baseline="-25000" dirty="0"/>
              <a:t>2</a:t>
            </a:r>
            <a:r>
              <a:rPr lang="en-US" sz="2800" dirty="0"/>
              <a:t> chips were mixed together prior to extrusion in the desired mass ratio and added to the hopper throughout the extrusion process to provide a more homogeneous filament product. </a:t>
            </a:r>
          </a:p>
          <a:p>
            <a:pPr marL="1061719" lvl="2" indent="-302260">
              <a:lnSpc>
                <a:spcPct val="200000"/>
              </a:lnSpc>
              <a:buFont typeface="Arial"/>
              <a:buChar char="•"/>
            </a:pPr>
            <a:r>
              <a:rPr lang="en-US" sz="2800" dirty="0"/>
              <a:t>30 g batch of raw ABS pellets and chips yielded approximately two 2x2x2 cm 3D printed cubes.</a:t>
            </a:r>
          </a:p>
        </p:txBody>
      </p:sp>
      <p:sp>
        <p:nvSpPr>
          <p:cNvPr id="4" name="TextBox 8">
            <a:extLst>
              <a:ext uri="{FF2B5EF4-FFF2-40B4-BE49-F238E27FC236}">
                <a16:creationId xmlns:a16="http://schemas.microsoft.com/office/drawing/2014/main" id="{BD4AD8D4-8D55-2C74-7085-914FA1CD04A0}"/>
              </a:ext>
            </a:extLst>
          </p:cNvPr>
          <p:cNvSpPr txBox="1"/>
          <p:nvPr/>
        </p:nvSpPr>
        <p:spPr>
          <a:xfrm>
            <a:off x="1166399" y="1181100"/>
            <a:ext cx="16131000" cy="613181"/>
          </a:xfrm>
          <a:prstGeom prst="rect">
            <a:avLst/>
          </a:prstGeom>
        </p:spPr>
        <p:txBody>
          <a:bodyPr wrap="square" lIns="0" tIns="0" rIns="0" bIns="0" rtlCol="0" anchor="t">
            <a:spAutoFit/>
          </a:bodyPr>
          <a:lstStyle/>
          <a:p>
            <a:pPr marL="302259" lvl="1" algn="ctr">
              <a:lnSpc>
                <a:spcPts val="4479"/>
              </a:lnSpc>
            </a:pPr>
            <a:r>
              <a:rPr lang="en-US" sz="6000" b="1" dirty="0">
                <a:solidFill>
                  <a:srgbClr val="000000"/>
                </a:solidFill>
                <a:latin typeface="Times New Roman" panose="02020603050405020304" pitchFamily="18" charset="0"/>
                <a:ea typeface="Open Sauce"/>
                <a:cs typeface="Times New Roman" panose="02020603050405020304" pitchFamily="18" charset="0"/>
                <a:sym typeface="Open Sauce"/>
              </a:rPr>
              <a:t>3D printed ABS Optical Bone Phantom</a:t>
            </a:r>
          </a:p>
        </p:txBody>
      </p:sp>
    </p:spTree>
    <p:extLst>
      <p:ext uri="{BB962C8B-B14F-4D97-AF65-F5344CB8AC3E}">
        <p14:creationId xmlns:p14="http://schemas.microsoft.com/office/powerpoint/2010/main" val="6123179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92C40-41DB-8875-0F7E-80AA59C58B6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94AFCEC-555F-C0DA-414C-A29F2FBBA5B8}"/>
              </a:ext>
            </a:extLst>
          </p:cNvPr>
          <p:cNvSpPr/>
          <p:nvPr/>
        </p:nvSpPr>
        <p:spPr>
          <a:xfrm>
            <a:off x="-25400" y="-127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a:ln cap="sq">
            <a:noFill/>
            <a:prstDash val="solid"/>
            <a:miter/>
          </a:ln>
        </p:spPr>
        <p:txBody>
          <a:bodyPr/>
          <a:lstStyle/>
          <a:p>
            <a:endParaRPr lang="en-US" dirty="0"/>
          </a:p>
        </p:txBody>
      </p:sp>
      <p:sp>
        <p:nvSpPr>
          <p:cNvPr id="3" name="AutoShape 3">
            <a:extLst>
              <a:ext uri="{FF2B5EF4-FFF2-40B4-BE49-F238E27FC236}">
                <a16:creationId xmlns:a16="http://schemas.microsoft.com/office/drawing/2014/main" id="{50FF0001-1672-FAC7-0AD7-194F2E51E717}"/>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p:sp>
        <p:nvSpPr>
          <p:cNvPr id="8" name="TextBox 8">
            <a:extLst>
              <a:ext uri="{FF2B5EF4-FFF2-40B4-BE49-F238E27FC236}">
                <a16:creationId xmlns:a16="http://schemas.microsoft.com/office/drawing/2014/main" id="{3D628DA6-C940-AB65-56BA-65D5CA8F56D1}"/>
              </a:ext>
            </a:extLst>
          </p:cNvPr>
          <p:cNvSpPr txBox="1"/>
          <p:nvPr/>
        </p:nvSpPr>
        <p:spPr>
          <a:xfrm>
            <a:off x="755817" y="2628122"/>
            <a:ext cx="10521784" cy="6396495"/>
          </a:xfrm>
          <a:prstGeom prst="rect">
            <a:avLst/>
          </a:prstGeom>
        </p:spPr>
        <p:txBody>
          <a:bodyPr wrap="square" lIns="0" tIns="0" rIns="0" bIns="0" rtlCol="0" anchor="t">
            <a:spAutoFit/>
          </a:bodyPr>
          <a:lstStyle/>
          <a:p>
            <a:pPr marL="604519" lvl="1" indent="-302260">
              <a:lnSpc>
                <a:spcPct val="150000"/>
              </a:lnSpc>
              <a:buFont typeface="Arial"/>
              <a:buChar char="•"/>
            </a:pPr>
            <a:r>
              <a:rPr lang="en-US" sz="2800" dirty="0"/>
              <a:t>In this study, the ultimate tensile strength was modified by blending different ratio of PLA and PCL resulting in an optimum value of approximately 30 MPa when the ratio of PLA to PCL reached 3:1.</a:t>
            </a:r>
          </a:p>
          <a:p>
            <a:pPr marL="604519" lvl="1" indent="-302260">
              <a:lnSpc>
                <a:spcPct val="150000"/>
              </a:lnSpc>
              <a:buFont typeface="Arial"/>
              <a:buChar char="•"/>
            </a:pPr>
            <a:r>
              <a:rPr lang="en-US" sz="2800" dirty="0"/>
              <a:t>It is observed that the addition of 1% TiO</a:t>
            </a:r>
            <a:r>
              <a:rPr lang="en-US" sz="2800" baseline="-25000" dirty="0"/>
              <a:t>2</a:t>
            </a:r>
            <a:r>
              <a:rPr lang="en-US" sz="2800" dirty="0"/>
              <a:t> to the immiscible PLA/PCL composite increase in the tensile strength up to 37 MPa. </a:t>
            </a:r>
          </a:p>
          <a:p>
            <a:pPr marL="604519" lvl="1" indent="-302260">
              <a:lnSpc>
                <a:spcPct val="150000"/>
              </a:lnSpc>
              <a:buFont typeface="Arial"/>
              <a:buChar char="•"/>
            </a:pPr>
            <a:r>
              <a:rPr lang="en-US" sz="2800" dirty="0"/>
              <a:t>Upon examining the biocompatibility of PLA/PCL/TiO</a:t>
            </a:r>
            <a:r>
              <a:rPr lang="en-US" sz="2800" baseline="-25000" dirty="0"/>
              <a:t>2</a:t>
            </a:r>
            <a:r>
              <a:rPr lang="en-US" sz="2800" dirty="0"/>
              <a:t> composite, vigorous cell growth was observed.</a:t>
            </a:r>
          </a:p>
          <a:p>
            <a:pPr marL="604519" lvl="1" indent="-302260">
              <a:lnSpc>
                <a:spcPct val="150000"/>
              </a:lnSpc>
              <a:buFont typeface="Arial"/>
              <a:buChar char="•"/>
            </a:pPr>
            <a:r>
              <a:rPr lang="en-US" sz="2800" dirty="0"/>
              <a:t>The final composite has a comparable mechanical strength of the ideal cancellous bone structure. </a:t>
            </a:r>
          </a:p>
          <a:p>
            <a:pPr marL="604519" lvl="1" indent="-302260">
              <a:lnSpc>
                <a:spcPct val="150000"/>
              </a:lnSpc>
              <a:buFont typeface="Arial"/>
              <a:buChar char="•"/>
            </a:pPr>
            <a:endParaRPr lang="en-US" sz="2800" dirty="0">
              <a:highlight>
                <a:srgbClr val="FFFF00"/>
              </a:highlight>
            </a:endParaRPr>
          </a:p>
        </p:txBody>
      </p:sp>
      <p:sp>
        <p:nvSpPr>
          <p:cNvPr id="4" name="TextBox 8">
            <a:extLst>
              <a:ext uri="{FF2B5EF4-FFF2-40B4-BE49-F238E27FC236}">
                <a16:creationId xmlns:a16="http://schemas.microsoft.com/office/drawing/2014/main" id="{7374A03E-59A6-2109-6D7D-BEE03F60CBF2}"/>
              </a:ext>
            </a:extLst>
          </p:cNvPr>
          <p:cNvSpPr txBox="1"/>
          <p:nvPr/>
        </p:nvSpPr>
        <p:spPr>
          <a:xfrm>
            <a:off x="1166399" y="1181100"/>
            <a:ext cx="16131000" cy="1190262"/>
          </a:xfrm>
          <a:prstGeom prst="rect">
            <a:avLst/>
          </a:prstGeom>
        </p:spPr>
        <p:txBody>
          <a:bodyPr wrap="square" lIns="0" tIns="0" rIns="0" bIns="0" rtlCol="0" anchor="t">
            <a:spAutoFit/>
          </a:bodyPr>
          <a:lstStyle/>
          <a:p>
            <a:pPr marL="302259" lvl="1">
              <a:lnSpc>
                <a:spcPts val="4479"/>
              </a:lnSpc>
            </a:pPr>
            <a:r>
              <a:rPr lang="en-US" sz="6000" b="1" dirty="0">
                <a:solidFill>
                  <a:srgbClr val="000000"/>
                </a:solidFill>
                <a:latin typeface="Times New Roman" panose="02020603050405020304" pitchFamily="18" charset="0"/>
                <a:cs typeface="Times New Roman" panose="02020603050405020304" pitchFamily="18" charset="0"/>
                <a:sym typeface="Open Sauce"/>
              </a:rPr>
              <a:t>Characterization of 3D printed PLA/PCL/TiO</a:t>
            </a:r>
            <a:r>
              <a:rPr lang="en-US" sz="6000" b="1" baseline="-25000" dirty="0">
                <a:solidFill>
                  <a:srgbClr val="000000"/>
                </a:solidFill>
                <a:latin typeface="Times New Roman" panose="02020603050405020304" pitchFamily="18" charset="0"/>
                <a:cs typeface="Times New Roman" panose="02020603050405020304" pitchFamily="18" charset="0"/>
                <a:sym typeface="Open Sauce"/>
              </a:rPr>
              <a:t>2</a:t>
            </a:r>
            <a:r>
              <a:rPr lang="en-US" sz="6000" b="1" dirty="0">
                <a:solidFill>
                  <a:srgbClr val="000000"/>
                </a:solidFill>
                <a:latin typeface="Times New Roman" panose="02020603050405020304" pitchFamily="18" charset="0"/>
                <a:cs typeface="Times New Roman" panose="02020603050405020304" pitchFamily="18" charset="0"/>
                <a:sym typeface="Open Sauce"/>
              </a:rPr>
              <a:t> Composites for Cancellous Bone</a:t>
            </a:r>
          </a:p>
        </p:txBody>
      </p:sp>
      <p:pic>
        <p:nvPicPr>
          <p:cNvPr id="6" name="Picture 5">
            <a:extLst>
              <a:ext uri="{FF2B5EF4-FFF2-40B4-BE49-F238E27FC236}">
                <a16:creationId xmlns:a16="http://schemas.microsoft.com/office/drawing/2014/main" id="{632D3533-861A-B11B-6EF0-C1A309BDE739}"/>
              </a:ext>
            </a:extLst>
          </p:cNvPr>
          <p:cNvPicPr>
            <a:picLocks noChangeAspect="1"/>
          </p:cNvPicPr>
          <p:nvPr/>
        </p:nvPicPr>
        <p:blipFill>
          <a:blip r:embed="rId4"/>
          <a:stretch>
            <a:fillRect/>
          </a:stretch>
        </p:blipFill>
        <p:spPr>
          <a:xfrm>
            <a:off x="11582400" y="3522828"/>
            <a:ext cx="6063792" cy="3241344"/>
          </a:xfrm>
          <a:prstGeom prst="rect">
            <a:avLst/>
          </a:prstGeom>
        </p:spPr>
      </p:pic>
      <p:sp>
        <p:nvSpPr>
          <p:cNvPr id="7" name="TextBox 6">
            <a:extLst>
              <a:ext uri="{FF2B5EF4-FFF2-40B4-BE49-F238E27FC236}">
                <a16:creationId xmlns:a16="http://schemas.microsoft.com/office/drawing/2014/main" id="{B6076C74-4228-3261-F17A-3E321DDBAB77}"/>
              </a:ext>
            </a:extLst>
          </p:cNvPr>
          <p:cNvSpPr txBox="1"/>
          <p:nvPr/>
        </p:nvSpPr>
        <p:spPr>
          <a:xfrm>
            <a:off x="11166749" y="6819900"/>
            <a:ext cx="6895093" cy="369332"/>
          </a:xfrm>
          <a:prstGeom prst="rect">
            <a:avLst/>
          </a:prstGeom>
          <a:noFill/>
        </p:spPr>
        <p:txBody>
          <a:bodyPr wrap="none" rtlCol="0">
            <a:spAutoFit/>
          </a:bodyPr>
          <a:lstStyle/>
          <a:p>
            <a:r>
              <a:rPr lang="en-US" dirty="0"/>
              <a:t>Fig. 3D printed model of cancellous bone with PLA/PCL/TiO</a:t>
            </a:r>
            <a:r>
              <a:rPr lang="en-US" baseline="-25000" dirty="0"/>
              <a:t>2</a:t>
            </a:r>
            <a:r>
              <a:rPr lang="en-US" dirty="0"/>
              <a:t> composite </a:t>
            </a:r>
          </a:p>
        </p:txBody>
      </p:sp>
    </p:spTree>
    <p:extLst>
      <p:ext uri="{BB962C8B-B14F-4D97-AF65-F5344CB8AC3E}">
        <p14:creationId xmlns:p14="http://schemas.microsoft.com/office/powerpoint/2010/main" val="19111771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4F030-8B8C-7593-2081-F29F82D74E5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B9449CE-BA7E-F640-4EC2-BD3DA5AEB5BA}"/>
              </a:ext>
            </a:extLst>
          </p:cNvPr>
          <p:cNvSpPr/>
          <p:nvPr/>
        </p:nvSpPr>
        <p:spPr>
          <a:xfrm>
            <a:off x="-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a:ln cap="sq">
            <a:noFill/>
            <a:prstDash val="solid"/>
            <a:miter/>
          </a:ln>
        </p:spPr>
        <p:txBody>
          <a:bodyPr/>
          <a:lstStyle/>
          <a:p>
            <a:endParaRPr lang="en-US" dirty="0"/>
          </a:p>
        </p:txBody>
      </p:sp>
      <p:sp>
        <p:nvSpPr>
          <p:cNvPr id="3" name="AutoShape 3">
            <a:extLst>
              <a:ext uri="{FF2B5EF4-FFF2-40B4-BE49-F238E27FC236}">
                <a16:creationId xmlns:a16="http://schemas.microsoft.com/office/drawing/2014/main" id="{EB11A27D-1A8D-2021-ABE0-1F6F0845E8B0}"/>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p:sp>
        <p:nvSpPr>
          <p:cNvPr id="8" name="TextBox 8">
            <a:extLst>
              <a:ext uri="{FF2B5EF4-FFF2-40B4-BE49-F238E27FC236}">
                <a16:creationId xmlns:a16="http://schemas.microsoft.com/office/drawing/2014/main" id="{C1D9C380-7D62-1E80-B927-E996FF6E0510}"/>
              </a:ext>
            </a:extLst>
          </p:cNvPr>
          <p:cNvSpPr txBox="1"/>
          <p:nvPr/>
        </p:nvSpPr>
        <p:spPr>
          <a:xfrm>
            <a:off x="755816" y="2354472"/>
            <a:ext cx="16541583" cy="7635295"/>
          </a:xfrm>
          <a:prstGeom prst="rect">
            <a:avLst/>
          </a:prstGeom>
        </p:spPr>
        <p:txBody>
          <a:bodyPr wrap="square" lIns="0" tIns="0" rIns="0" bIns="0" rtlCol="0" anchor="t">
            <a:spAutoFit/>
          </a:bodyPr>
          <a:lstStyle/>
          <a:p>
            <a:pPr marL="604519" lvl="1" indent="-302260">
              <a:lnSpc>
                <a:spcPct val="200000"/>
              </a:lnSpc>
              <a:buFont typeface="Arial"/>
              <a:buChar char="•"/>
            </a:pPr>
            <a:r>
              <a:rPr lang="en-US" sz="2800" dirty="0"/>
              <a:t>PLA is cheaper option to make the bone graft as the process of grafting is expensive using metal is expensive, and it can reduce the problems related to metal’s higher strength (stress shielding) and toxicity. </a:t>
            </a:r>
          </a:p>
          <a:p>
            <a:pPr marL="604519" lvl="1" indent="-302260">
              <a:lnSpc>
                <a:spcPct val="200000"/>
              </a:lnSpc>
              <a:buFont typeface="Arial"/>
              <a:buChar char="•"/>
            </a:pPr>
            <a:r>
              <a:rPr lang="en-US" sz="2800" dirty="0"/>
              <a:t>As PLA and PCL are synthetic biodegradable thermoplastic polymer, it is compatible to use with human body  and  TiO</a:t>
            </a:r>
            <a:r>
              <a:rPr lang="en-US" sz="2800" baseline="-25000" dirty="0"/>
              <a:t>2</a:t>
            </a:r>
            <a:r>
              <a:rPr lang="en-US" sz="2800" dirty="0"/>
              <a:t> is an inorganic particle exhibiting suitable biocompatibility and it is well-known for non-toxic depending on size of the particle and condition of aggregation.</a:t>
            </a:r>
          </a:p>
          <a:p>
            <a:pPr marL="604519" lvl="1" indent="-302260">
              <a:lnSpc>
                <a:spcPct val="200000"/>
              </a:lnSpc>
              <a:buFont typeface="Arial"/>
              <a:buChar char="•"/>
            </a:pPr>
            <a:r>
              <a:rPr lang="en-US" sz="2800" dirty="0"/>
              <a:t>The Materials used in the study are as followed:</a:t>
            </a:r>
          </a:p>
          <a:p>
            <a:pPr marL="1061719" lvl="2" indent="-302260">
              <a:lnSpc>
                <a:spcPct val="200000"/>
              </a:lnSpc>
              <a:buFont typeface="Arial"/>
              <a:buChar char="•"/>
            </a:pPr>
            <a:r>
              <a:rPr lang="en-US" sz="2800" dirty="0"/>
              <a:t>The Polylactic acid (PLA) was a commercial grade with density of 1.24 g/cc.</a:t>
            </a:r>
          </a:p>
          <a:p>
            <a:pPr marL="1061719" lvl="2" indent="-302260">
              <a:lnSpc>
                <a:spcPct val="200000"/>
              </a:lnSpc>
              <a:buFont typeface="Arial"/>
              <a:buChar char="•"/>
            </a:pPr>
            <a:r>
              <a:rPr lang="en-US" sz="2800" dirty="0"/>
              <a:t>The Polycaprolactone (PLC) has a density of 1.15 g/cc.</a:t>
            </a:r>
          </a:p>
          <a:p>
            <a:pPr marL="1061719" lvl="2" indent="-302260">
              <a:lnSpc>
                <a:spcPct val="200000"/>
              </a:lnSpc>
              <a:buFont typeface="Arial"/>
              <a:buChar char="•"/>
            </a:pPr>
            <a:r>
              <a:rPr lang="en-US" sz="2800" dirty="0"/>
              <a:t>TiO</a:t>
            </a:r>
            <a:r>
              <a:rPr lang="en-US" sz="2800" baseline="-25000" dirty="0"/>
              <a:t>2</a:t>
            </a:r>
            <a:r>
              <a:rPr lang="en-US" sz="2800" dirty="0"/>
              <a:t> has a density of 4.26 g/cc.</a:t>
            </a:r>
          </a:p>
        </p:txBody>
      </p:sp>
      <p:sp>
        <p:nvSpPr>
          <p:cNvPr id="4" name="TextBox 8">
            <a:extLst>
              <a:ext uri="{FF2B5EF4-FFF2-40B4-BE49-F238E27FC236}">
                <a16:creationId xmlns:a16="http://schemas.microsoft.com/office/drawing/2014/main" id="{CBBD909E-6B53-A9B8-519F-D9F0B905D36C}"/>
              </a:ext>
            </a:extLst>
          </p:cNvPr>
          <p:cNvSpPr txBox="1"/>
          <p:nvPr/>
        </p:nvSpPr>
        <p:spPr>
          <a:xfrm>
            <a:off x="1166399" y="1181100"/>
            <a:ext cx="16131000" cy="1190262"/>
          </a:xfrm>
          <a:prstGeom prst="rect">
            <a:avLst/>
          </a:prstGeom>
        </p:spPr>
        <p:txBody>
          <a:bodyPr wrap="square" lIns="0" tIns="0" rIns="0" bIns="0" rtlCol="0" anchor="t">
            <a:spAutoFit/>
          </a:bodyPr>
          <a:lstStyle/>
          <a:p>
            <a:pPr marL="302259" lvl="1">
              <a:lnSpc>
                <a:spcPts val="4479"/>
              </a:lnSpc>
            </a:pPr>
            <a:r>
              <a:rPr lang="en-US" sz="6000" b="1" dirty="0">
                <a:solidFill>
                  <a:srgbClr val="000000"/>
                </a:solidFill>
                <a:latin typeface="Times New Roman" panose="02020603050405020304" pitchFamily="18" charset="0"/>
                <a:cs typeface="Times New Roman" panose="02020603050405020304" pitchFamily="18" charset="0"/>
                <a:sym typeface="Open Sauce"/>
              </a:rPr>
              <a:t>Characterization of 3D printed PLA/PCL/TiO</a:t>
            </a:r>
            <a:r>
              <a:rPr lang="en-US" sz="6000" b="1" baseline="-25000" dirty="0">
                <a:solidFill>
                  <a:srgbClr val="000000"/>
                </a:solidFill>
                <a:latin typeface="Times New Roman" panose="02020603050405020304" pitchFamily="18" charset="0"/>
                <a:cs typeface="Times New Roman" panose="02020603050405020304" pitchFamily="18" charset="0"/>
                <a:sym typeface="Open Sauce"/>
              </a:rPr>
              <a:t>2</a:t>
            </a:r>
            <a:r>
              <a:rPr lang="en-US" sz="6000" b="1" dirty="0">
                <a:solidFill>
                  <a:srgbClr val="000000"/>
                </a:solidFill>
                <a:latin typeface="Times New Roman" panose="02020603050405020304" pitchFamily="18" charset="0"/>
                <a:cs typeface="Times New Roman" panose="02020603050405020304" pitchFamily="18" charset="0"/>
                <a:sym typeface="Open Sauce"/>
              </a:rPr>
              <a:t> Composites for Cancellous Bone</a:t>
            </a:r>
          </a:p>
        </p:txBody>
      </p:sp>
    </p:spTree>
    <p:extLst>
      <p:ext uri="{BB962C8B-B14F-4D97-AF65-F5344CB8AC3E}">
        <p14:creationId xmlns:p14="http://schemas.microsoft.com/office/powerpoint/2010/main" val="18711802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2A10E-1F7F-135A-2C62-77F48C616F1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8F05636-99C1-D522-480C-1F64EC8C410A}"/>
              </a:ext>
            </a:extLst>
          </p:cNvPr>
          <p:cNvSpPr/>
          <p:nvPr/>
        </p:nvSpPr>
        <p:spPr>
          <a:xfrm>
            <a:off x="-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a:ln cap="sq">
            <a:noFill/>
            <a:prstDash val="solid"/>
            <a:miter/>
          </a:ln>
        </p:spPr>
        <p:txBody>
          <a:bodyPr/>
          <a:lstStyle/>
          <a:p>
            <a:endParaRPr lang="en-US" dirty="0"/>
          </a:p>
        </p:txBody>
      </p:sp>
      <p:sp>
        <p:nvSpPr>
          <p:cNvPr id="3" name="AutoShape 3">
            <a:extLst>
              <a:ext uri="{FF2B5EF4-FFF2-40B4-BE49-F238E27FC236}">
                <a16:creationId xmlns:a16="http://schemas.microsoft.com/office/drawing/2014/main" id="{6F07FEB4-AA58-AF15-BF9F-A96AF2BD0822}"/>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p:sp>
        <p:nvSpPr>
          <p:cNvPr id="8" name="TextBox 8">
            <a:extLst>
              <a:ext uri="{FF2B5EF4-FFF2-40B4-BE49-F238E27FC236}">
                <a16:creationId xmlns:a16="http://schemas.microsoft.com/office/drawing/2014/main" id="{738FAFE8-0C7F-3E27-21B0-6E0469AD4C1D}"/>
              </a:ext>
            </a:extLst>
          </p:cNvPr>
          <p:cNvSpPr txBox="1"/>
          <p:nvPr/>
        </p:nvSpPr>
        <p:spPr>
          <a:xfrm>
            <a:off x="755816" y="2628122"/>
            <a:ext cx="16541583" cy="7258269"/>
          </a:xfrm>
          <a:prstGeom prst="rect">
            <a:avLst/>
          </a:prstGeom>
        </p:spPr>
        <p:txBody>
          <a:bodyPr wrap="square" lIns="0" tIns="0" rIns="0" bIns="0" rtlCol="0" anchor="t">
            <a:spAutoFit/>
          </a:bodyPr>
          <a:lstStyle/>
          <a:p>
            <a:pPr marL="604519" lvl="1" indent="-302260">
              <a:lnSpc>
                <a:spcPct val="200000"/>
              </a:lnSpc>
              <a:buFont typeface="Arial"/>
              <a:buChar char="•"/>
            </a:pPr>
            <a:r>
              <a:rPr lang="en-US" sz="2800" dirty="0"/>
              <a:t>Filament Preparation </a:t>
            </a:r>
          </a:p>
          <a:p>
            <a:pPr marL="1061719" lvl="2" indent="-302260">
              <a:lnSpc>
                <a:spcPct val="200000"/>
              </a:lnSpc>
              <a:buFont typeface="Arial"/>
              <a:buChar char="•"/>
            </a:pPr>
            <a:r>
              <a:rPr lang="en-US" sz="2800" dirty="0"/>
              <a:t>To make the filament, a blend was prepared to make pellets with the desired composition.</a:t>
            </a:r>
          </a:p>
          <a:p>
            <a:pPr marL="1061719" lvl="2" indent="-302260">
              <a:lnSpc>
                <a:spcPct val="200000"/>
              </a:lnSpc>
              <a:buFont typeface="Arial"/>
              <a:buChar char="•"/>
            </a:pPr>
            <a:r>
              <a:rPr lang="en-US" sz="2800" dirty="0"/>
              <a:t>The first blends made were a mixture of PLA/PCL with different composition (75/25, 50/50, 25/75 </a:t>
            </a:r>
            <a:r>
              <a:rPr lang="en-US" sz="2800" dirty="0" err="1"/>
              <a:t>wt</a:t>
            </a:r>
            <a:r>
              <a:rPr lang="en-US" sz="2800" dirty="0"/>
              <a:t>%).</a:t>
            </a:r>
          </a:p>
          <a:p>
            <a:pPr marL="1061719" lvl="2" indent="-302260">
              <a:lnSpc>
                <a:spcPct val="200000"/>
              </a:lnSpc>
              <a:buFont typeface="Arial"/>
              <a:buChar char="•"/>
            </a:pPr>
            <a:r>
              <a:rPr lang="en-US" sz="2800" dirty="0"/>
              <a:t>The mixing process starts by first melting the corresponding amount of PLA due to its higher melting point. PCL is then added and when the blend is uniformly mixed, the filler is added and stirred until a homogeneous mixture is achieved.</a:t>
            </a:r>
          </a:p>
          <a:p>
            <a:pPr marL="1061719" lvl="2" indent="-302260">
              <a:lnSpc>
                <a:spcPct val="200000"/>
              </a:lnSpc>
              <a:buFont typeface="Arial"/>
              <a:buChar char="•"/>
            </a:pPr>
            <a:r>
              <a:rPr lang="en-US" sz="2800" dirty="0"/>
              <a:t>The blend of the PLA/PCL 75/25 </a:t>
            </a:r>
            <a:r>
              <a:rPr lang="en-US" sz="2800" dirty="0" err="1"/>
              <a:t>wt</a:t>
            </a:r>
            <a:r>
              <a:rPr lang="en-US" sz="2800" dirty="0"/>
              <a:t>% showed the best characteristics and add the 1 </a:t>
            </a:r>
            <a:r>
              <a:rPr lang="en-US" sz="2800" dirty="0" err="1"/>
              <a:t>wt</a:t>
            </a:r>
            <a:r>
              <a:rPr lang="en-US" sz="2800" dirty="0"/>
              <a:t>% TiO</a:t>
            </a:r>
            <a:r>
              <a:rPr lang="en-US" sz="2800" baseline="-25000" dirty="0"/>
              <a:t>2</a:t>
            </a:r>
            <a:r>
              <a:rPr lang="en-US" sz="2800" dirty="0"/>
              <a:t> to the ratio.</a:t>
            </a:r>
          </a:p>
          <a:p>
            <a:pPr marL="1061719" lvl="2" indent="-302260">
              <a:lnSpc>
                <a:spcPct val="150000"/>
              </a:lnSpc>
              <a:buFont typeface="Arial"/>
              <a:buChar char="•"/>
            </a:pPr>
            <a:endParaRPr lang="en-US" sz="2800" dirty="0"/>
          </a:p>
          <a:p>
            <a:pPr marL="604519" lvl="1" indent="-302260">
              <a:lnSpc>
                <a:spcPct val="150000"/>
              </a:lnSpc>
              <a:buFont typeface="Arial"/>
              <a:buChar char="•"/>
            </a:pPr>
            <a:endParaRPr lang="en-US" sz="2800" dirty="0">
              <a:highlight>
                <a:srgbClr val="FFFF00"/>
              </a:highlight>
            </a:endParaRPr>
          </a:p>
        </p:txBody>
      </p:sp>
      <p:sp>
        <p:nvSpPr>
          <p:cNvPr id="4" name="TextBox 8">
            <a:extLst>
              <a:ext uri="{FF2B5EF4-FFF2-40B4-BE49-F238E27FC236}">
                <a16:creationId xmlns:a16="http://schemas.microsoft.com/office/drawing/2014/main" id="{D636A16E-3195-BC33-6409-ABC83E263FAC}"/>
              </a:ext>
            </a:extLst>
          </p:cNvPr>
          <p:cNvSpPr txBox="1"/>
          <p:nvPr/>
        </p:nvSpPr>
        <p:spPr>
          <a:xfrm>
            <a:off x="1166399" y="1181100"/>
            <a:ext cx="16131000" cy="1190262"/>
          </a:xfrm>
          <a:prstGeom prst="rect">
            <a:avLst/>
          </a:prstGeom>
        </p:spPr>
        <p:txBody>
          <a:bodyPr wrap="square" lIns="0" tIns="0" rIns="0" bIns="0" rtlCol="0" anchor="t">
            <a:spAutoFit/>
          </a:bodyPr>
          <a:lstStyle/>
          <a:p>
            <a:pPr marL="302259" lvl="1">
              <a:lnSpc>
                <a:spcPts val="4479"/>
              </a:lnSpc>
            </a:pPr>
            <a:r>
              <a:rPr lang="en-US" sz="6000" b="1" dirty="0">
                <a:solidFill>
                  <a:srgbClr val="000000"/>
                </a:solidFill>
                <a:latin typeface="Times New Roman" panose="02020603050405020304" pitchFamily="18" charset="0"/>
                <a:cs typeface="Times New Roman" panose="02020603050405020304" pitchFamily="18" charset="0"/>
                <a:sym typeface="Open Sauce"/>
              </a:rPr>
              <a:t>Characterization of 3D printed PLA/PCL/TiO</a:t>
            </a:r>
            <a:r>
              <a:rPr lang="en-US" sz="6000" b="1" baseline="-25000" dirty="0">
                <a:solidFill>
                  <a:srgbClr val="000000"/>
                </a:solidFill>
                <a:latin typeface="Times New Roman" panose="02020603050405020304" pitchFamily="18" charset="0"/>
                <a:cs typeface="Times New Roman" panose="02020603050405020304" pitchFamily="18" charset="0"/>
                <a:sym typeface="Open Sauce"/>
              </a:rPr>
              <a:t>2</a:t>
            </a:r>
            <a:r>
              <a:rPr lang="en-US" sz="6000" b="1" dirty="0">
                <a:solidFill>
                  <a:srgbClr val="000000"/>
                </a:solidFill>
                <a:latin typeface="Times New Roman" panose="02020603050405020304" pitchFamily="18" charset="0"/>
                <a:cs typeface="Times New Roman" panose="02020603050405020304" pitchFamily="18" charset="0"/>
                <a:sym typeface="Open Sauce"/>
              </a:rPr>
              <a:t> Composites for Cancellous Bone</a:t>
            </a:r>
          </a:p>
        </p:txBody>
      </p:sp>
    </p:spTree>
    <p:extLst>
      <p:ext uri="{BB962C8B-B14F-4D97-AF65-F5344CB8AC3E}">
        <p14:creationId xmlns:p14="http://schemas.microsoft.com/office/powerpoint/2010/main" val="1680086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5C2F4DF-07B5-1C2C-6305-EF81B145076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80075FE-AD2E-6337-C6BB-8BDDBD3A5119}"/>
              </a:ext>
            </a:extLst>
          </p:cNvPr>
          <p:cNvSpPr/>
          <p:nvPr/>
        </p:nvSpPr>
        <p:spPr>
          <a:xfrm>
            <a:off x="-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a:ln cap="sq">
            <a:noFill/>
            <a:prstDash val="solid"/>
            <a:miter/>
          </a:ln>
        </p:spPr>
        <p:txBody>
          <a:bodyPr/>
          <a:lstStyle/>
          <a:p>
            <a:endParaRPr lang="en-US" dirty="0"/>
          </a:p>
        </p:txBody>
      </p:sp>
      <p:sp>
        <p:nvSpPr>
          <p:cNvPr id="3" name="AutoShape 3">
            <a:extLst>
              <a:ext uri="{FF2B5EF4-FFF2-40B4-BE49-F238E27FC236}">
                <a16:creationId xmlns:a16="http://schemas.microsoft.com/office/drawing/2014/main" id="{87117E75-B571-E0AD-80F1-2991DB02019E}"/>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p:sp>
        <p:nvSpPr>
          <p:cNvPr id="8" name="TextBox 8">
            <a:extLst>
              <a:ext uri="{FF2B5EF4-FFF2-40B4-BE49-F238E27FC236}">
                <a16:creationId xmlns:a16="http://schemas.microsoft.com/office/drawing/2014/main" id="{E4B563F5-59B6-8983-1A31-2E7A23ED6C53}"/>
              </a:ext>
            </a:extLst>
          </p:cNvPr>
          <p:cNvSpPr txBox="1"/>
          <p:nvPr/>
        </p:nvSpPr>
        <p:spPr>
          <a:xfrm>
            <a:off x="755816" y="2628122"/>
            <a:ext cx="16541583" cy="7550657"/>
          </a:xfrm>
          <a:prstGeom prst="rect">
            <a:avLst/>
          </a:prstGeom>
        </p:spPr>
        <p:txBody>
          <a:bodyPr wrap="square" lIns="0" tIns="0" rIns="0" bIns="0" rtlCol="0" anchor="t">
            <a:spAutoFit/>
          </a:bodyPr>
          <a:lstStyle/>
          <a:p>
            <a:pPr marL="302259" lvl="1">
              <a:lnSpc>
                <a:spcPts val="4479"/>
              </a:lnSpc>
            </a:pPr>
            <a:r>
              <a:rPr lang="en-US" sz="3600" b="1" dirty="0">
                <a:solidFill>
                  <a:srgbClr val="000000"/>
                </a:solidFill>
                <a:latin typeface="Times New Roman" panose="02020603050405020304" pitchFamily="18" charset="0"/>
                <a:cs typeface="Times New Roman" panose="02020603050405020304" pitchFamily="18" charset="0"/>
                <a:sym typeface="Open Sauce"/>
              </a:rPr>
              <a:t>Development of a composite using calcined bone powder and silane cross-linked alginate as bone substitute material</a:t>
            </a:r>
            <a:endParaRPr lang="en-US" sz="2500" b="1" dirty="0"/>
          </a:p>
          <a:p>
            <a:pPr marL="604519" lvl="1" indent="-302260">
              <a:lnSpc>
                <a:spcPct val="150000"/>
              </a:lnSpc>
              <a:buFont typeface="Arial"/>
              <a:buChar char="•"/>
            </a:pPr>
            <a:r>
              <a:rPr lang="en-US" sz="2800" dirty="0"/>
              <a:t>Calcined bone is an attractive natural material for use as bone substitute because of its cost-effectiveness and high biocompatibility. </a:t>
            </a:r>
          </a:p>
          <a:p>
            <a:pPr marL="604519" lvl="1" indent="-302260">
              <a:lnSpc>
                <a:spcPct val="150000"/>
              </a:lnSpc>
              <a:buFont typeface="Arial"/>
              <a:buChar char="•"/>
            </a:pPr>
            <a:r>
              <a:rPr lang="en-US" sz="2800" dirty="0"/>
              <a:t>The drawback of calcination process is that it can significantly weaken the mechanical properties. </a:t>
            </a:r>
          </a:p>
          <a:p>
            <a:pPr marL="604519" lvl="1" indent="-302260">
              <a:lnSpc>
                <a:spcPct val="150000"/>
              </a:lnSpc>
              <a:buFont typeface="Arial"/>
              <a:buChar char="•"/>
            </a:pPr>
            <a:r>
              <a:rPr lang="en-US" sz="2800" dirty="0"/>
              <a:t>In this research, calcined bovine bone powder reinforced with silane cross-linked alginate was prepared to assess its biocompatibility, osteo-conductivity, and mechanical compatibility which are the three critical, interrelated pillars for designing successful orthopedic implants and bone tissue scaffolds as bone substitute material. </a:t>
            </a:r>
          </a:p>
          <a:p>
            <a:pPr marL="604519" lvl="1" indent="-302260">
              <a:lnSpc>
                <a:spcPct val="150000"/>
              </a:lnSpc>
              <a:buFont typeface="Arial"/>
              <a:buChar char="•"/>
            </a:pPr>
            <a:r>
              <a:rPr lang="en-US" sz="2800" dirty="0"/>
              <a:t>The composite of calcined bone particle that contribute to mechanical rigidity and alginate fibers, a natural polysaccharide extracted from seaweed and a cost-effective , which provide fracture resistance. </a:t>
            </a:r>
          </a:p>
          <a:p>
            <a:pPr marL="604519" lvl="1" indent="-302260">
              <a:lnSpc>
                <a:spcPct val="150000"/>
              </a:lnSpc>
              <a:buFont typeface="Arial"/>
              <a:buChar char="•"/>
            </a:pPr>
            <a:endParaRPr lang="en-US" sz="2800" dirty="0"/>
          </a:p>
        </p:txBody>
      </p:sp>
      <p:sp>
        <p:nvSpPr>
          <p:cNvPr id="4" name="TextBox 8">
            <a:extLst>
              <a:ext uri="{FF2B5EF4-FFF2-40B4-BE49-F238E27FC236}">
                <a16:creationId xmlns:a16="http://schemas.microsoft.com/office/drawing/2014/main" id="{C7FE8AB8-0599-C919-73BA-F1C2B7B26D87}"/>
              </a:ext>
            </a:extLst>
          </p:cNvPr>
          <p:cNvSpPr txBox="1"/>
          <p:nvPr/>
        </p:nvSpPr>
        <p:spPr>
          <a:xfrm>
            <a:off x="1166399" y="1181100"/>
            <a:ext cx="16131000" cy="1190262"/>
          </a:xfrm>
          <a:prstGeom prst="rect">
            <a:avLst/>
          </a:prstGeom>
        </p:spPr>
        <p:txBody>
          <a:bodyPr wrap="square" lIns="0" tIns="0" rIns="0" bIns="0" rtlCol="0" anchor="t">
            <a:spAutoFit/>
          </a:bodyPr>
          <a:lstStyle/>
          <a:p>
            <a:pPr marL="302259" lvl="1" algn="ctr">
              <a:lnSpc>
                <a:spcPts val="4479"/>
              </a:lnSpc>
            </a:pPr>
            <a:r>
              <a:rPr lang="en-US" sz="6000" b="1" dirty="0">
                <a:solidFill>
                  <a:srgbClr val="000000"/>
                </a:solidFill>
                <a:latin typeface="Times New Roman" panose="02020603050405020304" pitchFamily="18" charset="0"/>
                <a:ea typeface="Open Sauce"/>
                <a:cs typeface="Times New Roman" panose="02020603050405020304" pitchFamily="18" charset="0"/>
                <a:sym typeface="Open Sauce"/>
              </a:rPr>
              <a:t>Calcined bone Powder and silane-crosslinked alginate composite</a:t>
            </a:r>
          </a:p>
        </p:txBody>
      </p:sp>
    </p:spTree>
    <p:extLst>
      <p:ext uri="{BB962C8B-B14F-4D97-AF65-F5344CB8AC3E}">
        <p14:creationId xmlns:p14="http://schemas.microsoft.com/office/powerpoint/2010/main" val="38567178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0757031-411D-6943-D32B-CF9FD7A6755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3A28F10-EA7B-719E-F696-CFD44DA2F0B0}"/>
              </a:ext>
            </a:extLst>
          </p:cNvPr>
          <p:cNvSpPr/>
          <p:nvPr/>
        </p:nvSpPr>
        <p:spPr>
          <a:xfrm>
            <a:off x="-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a:ln cap="sq">
            <a:noFill/>
            <a:prstDash val="solid"/>
            <a:miter/>
          </a:ln>
        </p:spPr>
        <p:txBody>
          <a:bodyPr/>
          <a:lstStyle/>
          <a:p>
            <a:endParaRPr lang="en-US" dirty="0"/>
          </a:p>
        </p:txBody>
      </p:sp>
      <p:sp>
        <p:nvSpPr>
          <p:cNvPr id="3" name="AutoShape 3">
            <a:extLst>
              <a:ext uri="{FF2B5EF4-FFF2-40B4-BE49-F238E27FC236}">
                <a16:creationId xmlns:a16="http://schemas.microsoft.com/office/drawing/2014/main" id="{870C3285-A7C9-F53F-B164-449BAEC476D7}"/>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p:sp>
        <p:nvSpPr>
          <p:cNvPr id="8" name="TextBox 8">
            <a:extLst>
              <a:ext uri="{FF2B5EF4-FFF2-40B4-BE49-F238E27FC236}">
                <a16:creationId xmlns:a16="http://schemas.microsoft.com/office/drawing/2014/main" id="{4CDB6107-629C-CC66-A763-F0B7D491705E}"/>
              </a:ext>
            </a:extLst>
          </p:cNvPr>
          <p:cNvSpPr txBox="1"/>
          <p:nvPr/>
        </p:nvSpPr>
        <p:spPr>
          <a:xfrm>
            <a:off x="755816" y="2628122"/>
            <a:ext cx="16541583" cy="6904326"/>
          </a:xfrm>
          <a:prstGeom prst="rect">
            <a:avLst/>
          </a:prstGeom>
        </p:spPr>
        <p:txBody>
          <a:bodyPr wrap="square" lIns="0" tIns="0" rIns="0" bIns="0" rtlCol="0" anchor="t">
            <a:spAutoFit/>
          </a:bodyPr>
          <a:lstStyle/>
          <a:p>
            <a:pPr marL="302259" lvl="1">
              <a:lnSpc>
                <a:spcPts val="4479"/>
              </a:lnSpc>
            </a:pPr>
            <a:r>
              <a:rPr lang="en-US" sz="3600" b="1" dirty="0">
                <a:solidFill>
                  <a:srgbClr val="000000"/>
                </a:solidFill>
                <a:latin typeface="Times New Roman" panose="02020603050405020304" pitchFamily="18" charset="0"/>
                <a:cs typeface="Times New Roman" panose="02020603050405020304" pitchFamily="18" charset="0"/>
                <a:sym typeface="Open Sauce"/>
              </a:rPr>
              <a:t>Development of a composite using calcined bone powder and silane cross-linked alginate as bone substitute material</a:t>
            </a:r>
            <a:endParaRPr lang="en-US" sz="2500" b="1" dirty="0"/>
          </a:p>
          <a:p>
            <a:pPr marL="604519" lvl="1" indent="-302260">
              <a:lnSpc>
                <a:spcPct val="150000"/>
              </a:lnSpc>
              <a:buFont typeface="Arial"/>
              <a:buChar char="•"/>
            </a:pPr>
            <a:r>
              <a:rPr lang="en-US" sz="2800" dirty="0"/>
              <a:t>The demerit with alginate gel is when it is placed in body fluids, swelling of the gel occurs by leaching calcium ions from the gel which consequently deteriorate the mechanical properties of composite soon after transplantation. </a:t>
            </a:r>
          </a:p>
          <a:p>
            <a:pPr marL="604519" lvl="1" indent="-302260">
              <a:lnSpc>
                <a:spcPct val="150000"/>
              </a:lnSpc>
              <a:buFont typeface="Arial"/>
              <a:buChar char="•"/>
            </a:pPr>
            <a:r>
              <a:rPr lang="en-US" sz="2800" dirty="0"/>
              <a:t>Covalent cross-linking of alginate fibers occurs through 3-amino-propyltriethoxysilane promoted silane  coupling and alginate spontaneously from apatite by incorporating calcium and phosphate ions from body fluids. </a:t>
            </a:r>
          </a:p>
          <a:p>
            <a:pPr marL="604519" lvl="1" indent="-302260">
              <a:lnSpc>
                <a:spcPct val="150000"/>
              </a:lnSpc>
              <a:buFont typeface="Arial"/>
              <a:buChar char="•"/>
            </a:pPr>
            <a:r>
              <a:rPr lang="en-US" sz="2800" dirty="0"/>
              <a:t>The hypothesis  of the research is that the calcined bone powder/ alginate composite could obtain the necessary mechanical rigidity, mechanical stability in body fluids, and osteo-conductivity through silane coupling.</a:t>
            </a:r>
          </a:p>
        </p:txBody>
      </p:sp>
      <p:sp>
        <p:nvSpPr>
          <p:cNvPr id="4" name="TextBox 8">
            <a:extLst>
              <a:ext uri="{FF2B5EF4-FFF2-40B4-BE49-F238E27FC236}">
                <a16:creationId xmlns:a16="http://schemas.microsoft.com/office/drawing/2014/main" id="{C47CE671-83F4-2FB7-913F-B2034ED4A6BA}"/>
              </a:ext>
            </a:extLst>
          </p:cNvPr>
          <p:cNvSpPr txBox="1"/>
          <p:nvPr/>
        </p:nvSpPr>
        <p:spPr>
          <a:xfrm>
            <a:off x="1166399" y="1181100"/>
            <a:ext cx="16131000" cy="1190262"/>
          </a:xfrm>
          <a:prstGeom prst="rect">
            <a:avLst/>
          </a:prstGeom>
        </p:spPr>
        <p:txBody>
          <a:bodyPr wrap="square" lIns="0" tIns="0" rIns="0" bIns="0" rtlCol="0" anchor="t">
            <a:spAutoFit/>
          </a:bodyPr>
          <a:lstStyle/>
          <a:p>
            <a:pPr marL="302259" lvl="1" algn="ctr">
              <a:lnSpc>
                <a:spcPts val="4479"/>
              </a:lnSpc>
            </a:pPr>
            <a:r>
              <a:rPr lang="en-US" sz="6000" b="1" dirty="0">
                <a:solidFill>
                  <a:srgbClr val="000000"/>
                </a:solidFill>
                <a:latin typeface="Times New Roman" panose="02020603050405020304" pitchFamily="18" charset="0"/>
                <a:ea typeface="Open Sauce"/>
                <a:cs typeface="Times New Roman" panose="02020603050405020304" pitchFamily="18" charset="0"/>
                <a:sym typeface="Open Sauce"/>
              </a:rPr>
              <a:t>Calcined bone Powder and silane-crosslinked alginate composite</a:t>
            </a:r>
          </a:p>
        </p:txBody>
      </p:sp>
    </p:spTree>
    <p:extLst>
      <p:ext uri="{BB962C8B-B14F-4D97-AF65-F5344CB8AC3E}">
        <p14:creationId xmlns:p14="http://schemas.microsoft.com/office/powerpoint/2010/main" val="6549829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9C8041C-A477-9196-272B-866459F4163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3BDFF7A-D3A5-AA4A-4759-013EBB49A03A}"/>
              </a:ext>
            </a:extLst>
          </p:cNvPr>
          <p:cNvSpPr/>
          <p:nvPr/>
        </p:nvSpPr>
        <p:spPr>
          <a:xfrm>
            <a:off x="-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a:ln cap="sq">
            <a:noFill/>
            <a:prstDash val="solid"/>
            <a:miter/>
          </a:ln>
        </p:spPr>
        <p:txBody>
          <a:bodyPr/>
          <a:lstStyle/>
          <a:p>
            <a:endParaRPr lang="en-US" dirty="0"/>
          </a:p>
        </p:txBody>
      </p:sp>
      <p:sp>
        <p:nvSpPr>
          <p:cNvPr id="3" name="AutoShape 3">
            <a:extLst>
              <a:ext uri="{FF2B5EF4-FFF2-40B4-BE49-F238E27FC236}">
                <a16:creationId xmlns:a16="http://schemas.microsoft.com/office/drawing/2014/main" id="{42B5960E-6FB4-23F6-F062-15ECC7101712}"/>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p:sp>
        <p:nvSpPr>
          <p:cNvPr id="8" name="TextBox 8">
            <a:extLst>
              <a:ext uri="{FF2B5EF4-FFF2-40B4-BE49-F238E27FC236}">
                <a16:creationId xmlns:a16="http://schemas.microsoft.com/office/drawing/2014/main" id="{03A55499-9FE4-92C3-A934-B2ED438AD6BA}"/>
              </a:ext>
            </a:extLst>
          </p:cNvPr>
          <p:cNvSpPr txBox="1"/>
          <p:nvPr/>
        </p:nvSpPr>
        <p:spPr>
          <a:xfrm>
            <a:off x="832017" y="2628122"/>
            <a:ext cx="16541583" cy="7573740"/>
          </a:xfrm>
          <a:prstGeom prst="rect">
            <a:avLst/>
          </a:prstGeom>
        </p:spPr>
        <p:txBody>
          <a:bodyPr wrap="square" lIns="0" tIns="0" rIns="0" bIns="0" rtlCol="0" anchor="t">
            <a:spAutoFit/>
          </a:bodyPr>
          <a:lstStyle/>
          <a:p>
            <a:pPr marL="302259" lvl="1">
              <a:lnSpc>
                <a:spcPts val="4479"/>
              </a:lnSpc>
            </a:pPr>
            <a:r>
              <a:rPr lang="en-US" sz="3600" b="1" dirty="0">
                <a:solidFill>
                  <a:srgbClr val="000000"/>
                </a:solidFill>
                <a:latin typeface="Times New Roman" panose="02020603050405020304" pitchFamily="18" charset="0"/>
                <a:cs typeface="Times New Roman" panose="02020603050405020304" pitchFamily="18" charset="0"/>
                <a:sym typeface="Open Sauce"/>
              </a:rPr>
              <a:t>Development of a composite using calcined bone powder and silane cross-linked alginate as bone substitute material</a:t>
            </a:r>
          </a:p>
          <a:p>
            <a:pPr marL="302259" lvl="1">
              <a:lnSpc>
                <a:spcPts val="4479"/>
              </a:lnSpc>
            </a:pPr>
            <a:r>
              <a:rPr lang="en-US" sz="3200" b="1" dirty="0"/>
              <a:t>Experiments</a:t>
            </a:r>
            <a:endParaRPr lang="en-US" sz="2500" dirty="0"/>
          </a:p>
          <a:p>
            <a:pPr marL="604519" lvl="1" indent="-302260">
              <a:lnSpc>
                <a:spcPct val="150000"/>
              </a:lnSpc>
              <a:buFont typeface="Arial"/>
              <a:buChar char="•"/>
            </a:pPr>
            <a:r>
              <a:rPr lang="en-US" sz="2800" dirty="0"/>
              <a:t>Observed the changes in simulated body fluids (SBF)</a:t>
            </a:r>
          </a:p>
          <a:p>
            <a:pPr marL="604519" lvl="1" indent="-302260">
              <a:lnSpc>
                <a:spcPct val="150000"/>
              </a:lnSpc>
              <a:buFont typeface="Arial"/>
              <a:buChar char="•"/>
            </a:pPr>
            <a:r>
              <a:rPr lang="en-US" sz="2800" dirty="0"/>
              <a:t>Cytotoxicity of the composite was tested using the cultured osteoblast cells by assessing the impact of the composite on cell proliferation, differentiation and bone matrix formation.</a:t>
            </a:r>
          </a:p>
          <a:p>
            <a:pPr marL="302259" lvl="1">
              <a:lnSpc>
                <a:spcPct val="150000"/>
              </a:lnSpc>
            </a:pPr>
            <a:r>
              <a:rPr lang="en-US" sz="3200" b="1" dirty="0"/>
              <a:t>Results</a:t>
            </a:r>
            <a:endParaRPr lang="en-US" sz="3200" dirty="0"/>
          </a:p>
          <a:p>
            <a:pPr marL="604519" lvl="1" indent="-302260">
              <a:lnSpc>
                <a:spcPct val="150000"/>
              </a:lnSpc>
              <a:buFont typeface="Arial"/>
              <a:buChar char="•"/>
            </a:pPr>
            <a:r>
              <a:rPr lang="en-US" sz="2800" dirty="0"/>
              <a:t>No significant difference in mechanical properties was found between observation days from the initially measured maximum stress and elastic modulus of B/A-Si.</a:t>
            </a:r>
          </a:p>
          <a:p>
            <a:pPr marL="604519" lvl="1" indent="-302260">
              <a:lnSpc>
                <a:spcPct val="150000"/>
              </a:lnSpc>
              <a:buFont typeface="Arial"/>
              <a:buChar char="•"/>
            </a:pPr>
            <a:r>
              <a:rPr lang="en-US" sz="2800" dirty="0"/>
              <a:t>Regardless of the percentage of extraction fluid used, the cell viability was approximately 95%, equivalent to when fresh medium was used for cultivation, and no statistically significant differences were observed between groups and the composite has no effect on osteoblast proliferation. </a:t>
            </a:r>
          </a:p>
        </p:txBody>
      </p:sp>
      <p:sp>
        <p:nvSpPr>
          <p:cNvPr id="4" name="TextBox 8">
            <a:extLst>
              <a:ext uri="{FF2B5EF4-FFF2-40B4-BE49-F238E27FC236}">
                <a16:creationId xmlns:a16="http://schemas.microsoft.com/office/drawing/2014/main" id="{3EB3141A-6CF9-44B6-98FA-BDA456A5B63D}"/>
              </a:ext>
            </a:extLst>
          </p:cNvPr>
          <p:cNvSpPr txBox="1"/>
          <p:nvPr/>
        </p:nvSpPr>
        <p:spPr>
          <a:xfrm>
            <a:off x="1166399" y="1181100"/>
            <a:ext cx="16131000" cy="1190262"/>
          </a:xfrm>
          <a:prstGeom prst="rect">
            <a:avLst/>
          </a:prstGeom>
        </p:spPr>
        <p:txBody>
          <a:bodyPr wrap="square" lIns="0" tIns="0" rIns="0" bIns="0" rtlCol="0" anchor="t">
            <a:spAutoFit/>
          </a:bodyPr>
          <a:lstStyle/>
          <a:p>
            <a:pPr marL="302259" lvl="1" algn="ctr">
              <a:lnSpc>
                <a:spcPts val="4479"/>
              </a:lnSpc>
            </a:pPr>
            <a:r>
              <a:rPr lang="en-US" sz="6000" b="1" dirty="0">
                <a:solidFill>
                  <a:srgbClr val="000000"/>
                </a:solidFill>
                <a:latin typeface="Times New Roman" panose="02020603050405020304" pitchFamily="18" charset="0"/>
                <a:ea typeface="Open Sauce"/>
                <a:cs typeface="Times New Roman" panose="02020603050405020304" pitchFamily="18" charset="0"/>
                <a:sym typeface="Open Sauce"/>
              </a:rPr>
              <a:t>Calcined bone Powder and silane-crosslinked alginate composite</a:t>
            </a:r>
          </a:p>
        </p:txBody>
      </p:sp>
    </p:spTree>
    <p:extLst>
      <p:ext uri="{BB962C8B-B14F-4D97-AF65-F5344CB8AC3E}">
        <p14:creationId xmlns:p14="http://schemas.microsoft.com/office/powerpoint/2010/main" val="28188842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EA792B3-B4E8-826A-13CF-12EE8A95AE7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7DBDCC8-DEA6-E880-B72D-16BDA1834A10}"/>
              </a:ext>
            </a:extLst>
          </p:cNvPr>
          <p:cNvSpPr/>
          <p:nvPr/>
        </p:nvSpPr>
        <p:spPr>
          <a:xfrm>
            <a:off x="-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a:ln cap="sq">
            <a:noFill/>
            <a:prstDash val="solid"/>
            <a:miter/>
          </a:ln>
        </p:spPr>
        <p:txBody>
          <a:bodyPr/>
          <a:lstStyle/>
          <a:p>
            <a:endParaRPr lang="en-US" dirty="0"/>
          </a:p>
        </p:txBody>
      </p:sp>
      <p:sp>
        <p:nvSpPr>
          <p:cNvPr id="3" name="AutoShape 3">
            <a:extLst>
              <a:ext uri="{FF2B5EF4-FFF2-40B4-BE49-F238E27FC236}">
                <a16:creationId xmlns:a16="http://schemas.microsoft.com/office/drawing/2014/main" id="{E83D2027-82E1-65E3-3D21-A398FCDA8956}"/>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p:sp>
        <p:nvSpPr>
          <p:cNvPr id="8" name="TextBox 8">
            <a:extLst>
              <a:ext uri="{FF2B5EF4-FFF2-40B4-BE49-F238E27FC236}">
                <a16:creationId xmlns:a16="http://schemas.microsoft.com/office/drawing/2014/main" id="{B2E0753C-07F2-88A5-350B-102EE9B18CDD}"/>
              </a:ext>
            </a:extLst>
          </p:cNvPr>
          <p:cNvSpPr txBox="1"/>
          <p:nvPr/>
        </p:nvSpPr>
        <p:spPr>
          <a:xfrm>
            <a:off x="755816" y="2628122"/>
            <a:ext cx="16541583" cy="7550657"/>
          </a:xfrm>
          <a:prstGeom prst="rect">
            <a:avLst/>
          </a:prstGeom>
        </p:spPr>
        <p:txBody>
          <a:bodyPr wrap="square" lIns="0" tIns="0" rIns="0" bIns="0" rtlCol="0" anchor="t">
            <a:spAutoFit/>
          </a:bodyPr>
          <a:lstStyle/>
          <a:p>
            <a:pPr marL="302259" lvl="1">
              <a:lnSpc>
                <a:spcPts val="4479"/>
              </a:lnSpc>
            </a:pPr>
            <a:r>
              <a:rPr lang="en-US" sz="3600" b="1" dirty="0">
                <a:solidFill>
                  <a:srgbClr val="000000"/>
                </a:solidFill>
                <a:latin typeface="Times New Roman" panose="02020603050405020304" pitchFamily="18" charset="0"/>
                <a:cs typeface="Times New Roman" panose="02020603050405020304" pitchFamily="18" charset="0"/>
                <a:sym typeface="Open Sauce"/>
              </a:rPr>
              <a:t>Development of a composite using calcined bone powder and silane cross-linked alginate as bone substitute material</a:t>
            </a:r>
          </a:p>
          <a:p>
            <a:pPr marL="604519" lvl="1" indent="-302260">
              <a:lnSpc>
                <a:spcPct val="150000"/>
              </a:lnSpc>
              <a:buFont typeface="Arial"/>
              <a:buChar char="•"/>
            </a:pPr>
            <a:r>
              <a:rPr lang="en-US" sz="2800" dirty="0"/>
              <a:t>The mechanical properties of the composite were comparable to those of the human cancellous bone with good initial rigidity and adaptability. </a:t>
            </a:r>
          </a:p>
          <a:p>
            <a:pPr marL="604519" lvl="1" indent="-302260">
              <a:lnSpc>
                <a:spcPct val="150000"/>
              </a:lnSpc>
              <a:buFont typeface="Arial"/>
              <a:buChar char="•"/>
            </a:pPr>
            <a:r>
              <a:rPr lang="en-US" sz="2800" dirty="0"/>
              <a:t>There properties remained relatively stable even after 2 weeks of immersion in SBF and did not deteriorate significantly.</a:t>
            </a:r>
          </a:p>
          <a:p>
            <a:pPr marL="604519" lvl="1" indent="-302260">
              <a:lnSpc>
                <a:spcPct val="150000"/>
              </a:lnSpc>
              <a:buFont typeface="Arial"/>
              <a:buChar char="•"/>
            </a:pPr>
            <a:r>
              <a:rPr lang="en-US" sz="2800" dirty="0"/>
              <a:t>B/A-Si is not toxic to osteoblasts and has no noticeable effect on cell proliferation. </a:t>
            </a:r>
          </a:p>
          <a:p>
            <a:pPr marL="604519" lvl="1" indent="-302260">
              <a:lnSpc>
                <a:spcPct val="150000"/>
              </a:lnSpc>
              <a:buFont typeface="Arial"/>
              <a:buChar char="•"/>
            </a:pPr>
            <a:r>
              <a:rPr lang="en-US" sz="2800" dirty="0"/>
              <a:t>It can decrease in ALP activity, however, in contrast, B/A-Si included the formation of noncellular apatite.</a:t>
            </a:r>
          </a:p>
          <a:p>
            <a:pPr marL="604519" lvl="1" indent="-302260">
              <a:lnSpc>
                <a:spcPct val="150000"/>
              </a:lnSpc>
              <a:buFont typeface="Arial"/>
              <a:buChar char="•"/>
            </a:pPr>
            <a:r>
              <a:rPr lang="en-US" sz="2800" dirty="0"/>
              <a:t>X-ray diffraction analysis of the calcined bone powder showed a similar spectrum to those of hydroxyapatite. </a:t>
            </a:r>
          </a:p>
          <a:p>
            <a:pPr marL="604519" lvl="1" indent="-302260">
              <a:lnSpc>
                <a:spcPct val="150000"/>
              </a:lnSpc>
              <a:buFont typeface="Arial"/>
              <a:buChar char="•"/>
            </a:pPr>
            <a:r>
              <a:rPr lang="en-US" sz="2800" dirty="0"/>
              <a:t>The FTIR spectrum of the calcined bone powder was similar to that of hydroxyapatite (Hap), a mineral composed mainly of phosphorus and calcium, naturally occurring in human bones and teeth, which is highly scattering.</a:t>
            </a:r>
          </a:p>
        </p:txBody>
      </p:sp>
      <p:sp>
        <p:nvSpPr>
          <p:cNvPr id="4" name="TextBox 8">
            <a:extLst>
              <a:ext uri="{FF2B5EF4-FFF2-40B4-BE49-F238E27FC236}">
                <a16:creationId xmlns:a16="http://schemas.microsoft.com/office/drawing/2014/main" id="{EF41C28E-49D0-3301-59D3-EBA0D36D59C5}"/>
              </a:ext>
            </a:extLst>
          </p:cNvPr>
          <p:cNvSpPr txBox="1"/>
          <p:nvPr/>
        </p:nvSpPr>
        <p:spPr>
          <a:xfrm>
            <a:off x="1166399" y="1181100"/>
            <a:ext cx="16131000" cy="1190262"/>
          </a:xfrm>
          <a:prstGeom prst="rect">
            <a:avLst/>
          </a:prstGeom>
        </p:spPr>
        <p:txBody>
          <a:bodyPr wrap="square" lIns="0" tIns="0" rIns="0" bIns="0" rtlCol="0" anchor="t">
            <a:spAutoFit/>
          </a:bodyPr>
          <a:lstStyle/>
          <a:p>
            <a:pPr marL="302259" lvl="1" algn="ctr">
              <a:lnSpc>
                <a:spcPts val="4479"/>
              </a:lnSpc>
            </a:pPr>
            <a:r>
              <a:rPr lang="en-US" sz="6000" b="1" dirty="0">
                <a:solidFill>
                  <a:srgbClr val="000000"/>
                </a:solidFill>
                <a:latin typeface="Times New Roman" panose="02020603050405020304" pitchFamily="18" charset="0"/>
                <a:ea typeface="Open Sauce"/>
                <a:cs typeface="Times New Roman" panose="02020603050405020304" pitchFamily="18" charset="0"/>
                <a:sym typeface="Open Sauce"/>
              </a:rPr>
              <a:t>Calcined bone Powder and silane-crosslinked alginate composite</a:t>
            </a:r>
          </a:p>
        </p:txBody>
      </p:sp>
    </p:spTree>
    <p:extLst>
      <p:ext uri="{BB962C8B-B14F-4D97-AF65-F5344CB8AC3E}">
        <p14:creationId xmlns:p14="http://schemas.microsoft.com/office/powerpoint/2010/main" val="25685131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US"/>
          </a:p>
        </p:txBody>
      </p:sp>
      <p:sp>
        <p:nvSpPr>
          <p:cNvPr id="3" name="TextBox 3"/>
          <p:cNvSpPr txBox="1"/>
          <p:nvPr/>
        </p:nvSpPr>
        <p:spPr>
          <a:xfrm>
            <a:off x="4485814" y="2762204"/>
            <a:ext cx="9316373" cy="2453640"/>
          </a:xfrm>
          <a:prstGeom prst="rect">
            <a:avLst/>
          </a:prstGeom>
        </p:spPr>
        <p:txBody>
          <a:bodyPr lIns="0" tIns="0" rIns="0" bIns="0" rtlCol="0" anchor="t">
            <a:spAutoFit/>
          </a:bodyPr>
          <a:lstStyle/>
          <a:p>
            <a:pPr algn="ctr">
              <a:lnSpc>
                <a:spcPts val="20160"/>
              </a:lnSpc>
            </a:pPr>
            <a:r>
              <a:rPr lang="en-US" sz="14400">
                <a:solidFill>
                  <a:srgbClr val="000000"/>
                </a:solidFill>
                <a:latin typeface="DM Serif Display"/>
                <a:ea typeface="DM Serif Display"/>
                <a:cs typeface="DM Serif Display"/>
                <a:sym typeface="DM Serif Display"/>
              </a:rPr>
              <a:t>The End</a:t>
            </a:r>
          </a:p>
        </p:txBody>
      </p:sp>
      <p:sp>
        <p:nvSpPr>
          <p:cNvPr id="4" name="TextBox 4"/>
          <p:cNvSpPr txBox="1"/>
          <p:nvPr/>
        </p:nvSpPr>
        <p:spPr>
          <a:xfrm>
            <a:off x="4180543" y="5328331"/>
            <a:ext cx="9926914" cy="405765"/>
          </a:xfrm>
          <a:prstGeom prst="rect">
            <a:avLst/>
          </a:prstGeom>
        </p:spPr>
        <p:txBody>
          <a:bodyPr lIns="0" tIns="0" rIns="0" bIns="0" rtlCol="0" anchor="t">
            <a:spAutoFit/>
          </a:bodyPr>
          <a:lstStyle/>
          <a:p>
            <a:pPr algn="ctr">
              <a:lnSpc>
                <a:spcPts val="3359"/>
              </a:lnSpc>
              <a:spcBef>
                <a:spcPct val="0"/>
              </a:spcBef>
            </a:pPr>
            <a:r>
              <a:rPr lang="en-US" sz="2400" spc="240">
                <a:solidFill>
                  <a:srgbClr val="000000"/>
                </a:solidFill>
                <a:latin typeface="Open Sauce"/>
                <a:ea typeface="Open Sauce"/>
                <a:cs typeface="Open Sauce"/>
                <a:sym typeface="Open Sauce"/>
              </a:rPr>
              <a:t>THANK YOU FOR LISTENING</a:t>
            </a:r>
          </a:p>
        </p:txBody>
      </p:sp>
      <p:sp>
        <p:nvSpPr>
          <p:cNvPr id="5" name="TextBox 5"/>
          <p:cNvSpPr txBox="1"/>
          <p:nvPr/>
        </p:nvSpPr>
        <p:spPr>
          <a:xfrm>
            <a:off x="7671329" y="8480425"/>
            <a:ext cx="2945342" cy="553165"/>
          </a:xfrm>
          <a:prstGeom prst="rect">
            <a:avLst/>
          </a:prstGeom>
        </p:spPr>
        <p:txBody>
          <a:bodyPr lIns="0" tIns="0" rIns="0" bIns="0" rtlCol="0" anchor="t">
            <a:spAutoFit/>
          </a:bodyPr>
          <a:lstStyle/>
          <a:p>
            <a:pPr algn="ctr">
              <a:lnSpc>
                <a:spcPts val="4480"/>
              </a:lnSpc>
              <a:spcBef>
                <a:spcPct val="0"/>
              </a:spcBef>
            </a:pPr>
            <a:r>
              <a:rPr lang="en-US" sz="3200" dirty="0">
                <a:solidFill>
                  <a:srgbClr val="000000">
                    <a:alpha val="49804"/>
                  </a:srgbClr>
                </a:solidFill>
                <a:latin typeface="DM Serif Display"/>
                <a:ea typeface="DM Serif Display"/>
                <a:cs typeface="DM Serif Display"/>
                <a:sym typeface="DM Serif Display"/>
              </a:rPr>
              <a:t>Thu Ta Zaw</a:t>
            </a:r>
          </a:p>
        </p:txBody>
      </p:sp>
      <p:sp>
        <p:nvSpPr>
          <p:cNvPr id="6" name="TextBox 6"/>
          <p:cNvSpPr txBox="1"/>
          <p:nvPr/>
        </p:nvSpPr>
        <p:spPr>
          <a:xfrm>
            <a:off x="7418762" y="9142095"/>
            <a:ext cx="3450476" cy="258725"/>
          </a:xfrm>
          <a:prstGeom prst="rect">
            <a:avLst/>
          </a:prstGeom>
        </p:spPr>
        <p:txBody>
          <a:bodyPr lIns="0" tIns="0" rIns="0" bIns="0" rtlCol="0" anchor="t">
            <a:spAutoFit/>
          </a:bodyPr>
          <a:lstStyle/>
          <a:p>
            <a:pPr lvl="0" algn="ctr">
              <a:lnSpc>
                <a:spcPts val="2239"/>
              </a:lnSpc>
              <a:spcBef>
                <a:spcPct val="0"/>
              </a:spcBef>
            </a:pPr>
            <a:r>
              <a:rPr lang="en-US" sz="1599" spc="159" dirty="0">
                <a:solidFill>
                  <a:srgbClr val="000000">
                    <a:alpha val="49804"/>
                  </a:srgbClr>
                </a:solidFill>
                <a:latin typeface="Open Sauce"/>
                <a:ea typeface="Open Sauce"/>
                <a:cs typeface="Open Sauce"/>
                <a:sym typeface="Open Sauce"/>
              </a:rPr>
              <a:t>2415121095</a:t>
            </a:r>
            <a:endParaRPr lang="en-US" sz="1599" u="none" strike="noStrike" spc="159" dirty="0">
              <a:solidFill>
                <a:srgbClr val="000000">
                  <a:alpha val="49804"/>
                </a:srgbClr>
              </a:solidFill>
              <a:latin typeface="Open Sauce"/>
              <a:ea typeface="Open Sauce"/>
              <a:cs typeface="Open Sauce"/>
              <a:sym typeface="Open Sauce"/>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6874</TotalTime>
  <Words>1751</Words>
  <Application>Microsoft Office PowerPoint</Application>
  <PresentationFormat>Custom</PresentationFormat>
  <Paragraphs>123</Paragraphs>
  <Slides>16</Slides>
  <Notes>14</Notes>
  <HiddenSlides>4</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Open Sauce</vt:lpstr>
      <vt:lpstr>Calibri</vt:lpstr>
      <vt:lpstr>Cambria Math</vt:lpstr>
      <vt:lpstr>Aptos</vt:lpstr>
      <vt:lpstr>Arial</vt:lpstr>
      <vt:lpstr>DM Serif Display</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and White Simple Minimalist Pitch Deck Marketing Presentation</dc:title>
  <dc:creator>LUCUS</dc:creator>
  <cp:lastModifiedBy>THU TA ZAW</cp:lastModifiedBy>
  <cp:revision>543</cp:revision>
  <dcterms:created xsi:type="dcterms:W3CDTF">2006-08-16T00:00:00Z</dcterms:created>
  <dcterms:modified xsi:type="dcterms:W3CDTF">2026-03-31T04:30:48Z</dcterms:modified>
  <dc:identifier>DAG0bfrM1o8</dc:identifier>
</cp:coreProperties>
</file>