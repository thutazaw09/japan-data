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56" r:id="rId2"/>
    <p:sldId id="839" r:id="rId3"/>
    <p:sldId id="840" r:id="rId4"/>
    <p:sldId id="842" r:id="rId5"/>
    <p:sldId id="844" r:id="rId6"/>
    <p:sldId id="845" r:id="rId7"/>
    <p:sldId id="846" r:id="rId8"/>
    <p:sldId id="267" r:id="rId9"/>
  </p:sldIdLst>
  <p:sldSz cx="18288000" cy="10287000"/>
  <p:notesSz cx="6858000" cy="9144000"/>
  <p:embeddedFontLst>
    <p:embeddedFont>
      <p:font typeface="DM Serif Display" pitchFamily="2" charset="0"/>
      <p:regular r:id="rId11"/>
      <p:italic r:id="rId12"/>
    </p:embeddedFont>
    <p:embeddedFont>
      <p:font typeface="Open Sauce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0" autoAdjust="0"/>
    <p:restoredTop sz="93402" autoAdjust="0"/>
  </p:normalViewPr>
  <p:slideViewPr>
    <p:cSldViewPr>
      <p:cViewPr>
        <p:scale>
          <a:sx n="66" d="100"/>
          <a:sy n="66" d="100"/>
        </p:scale>
        <p:origin x="1050" y="3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2EF82B-E016-44BD-B0C4-D5A3DF34FAF9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A7D310-3A65-477A-971E-8091E55376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98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2865776" y="2843997"/>
            <a:ext cx="12556447" cy="24843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160"/>
              </a:lnSpc>
            </a:pPr>
            <a:r>
              <a:rPr lang="en-US" sz="14400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Presentation III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671329" y="8480425"/>
            <a:ext cx="2945342" cy="553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Thu Ta Zaw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18762" y="9142095"/>
            <a:ext cx="3450476" cy="25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 spc="159" dirty="0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2415121095</a:t>
            </a: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7B244B4F-61ED-CD64-3F42-BB24EA8E2BD6}"/>
              </a:ext>
            </a:extLst>
          </p:cNvPr>
          <p:cNvSpPr txBox="1"/>
          <p:nvPr/>
        </p:nvSpPr>
        <p:spPr>
          <a:xfrm>
            <a:off x="6205909" y="5039790"/>
            <a:ext cx="5876180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l">
              <a:lnSpc>
                <a:spcPts val="4479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Research Idea Discussion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4FE5F-C06F-A3D7-A556-D74761CBF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4FF2FB2-4B51-8ADE-00B3-4237FAE2F7F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BDEB9C3B-0D92-07EF-0CA0-A3A1DBABE4C4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E52FABAD-B854-67B7-74BC-195BCF64C17A}"/>
              </a:ext>
            </a:extLst>
          </p:cNvPr>
          <p:cNvSpPr txBox="1"/>
          <p:nvPr/>
        </p:nvSpPr>
        <p:spPr>
          <a:xfrm>
            <a:off x="13671125" y="9142095"/>
            <a:ext cx="345047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5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807528D-1E96-ECA4-01C3-2364794CEFEF}"/>
              </a:ext>
            </a:extLst>
          </p:cNvPr>
          <p:cNvSpPr txBox="1"/>
          <p:nvPr/>
        </p:nvSpPr>
        <p:spPr>
          <a:xfrm>
            <a:off x="1023524" y="3067147"/>
            <a:ext cx="11930476" cy="68708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Background and effects </a:t>
            </a:r>
          </a:p>
          <a:p>
            <a:pPr marL="604519" lvl="1" indent="-302260">
              <a:lnSpc>
                <a:spcPts val="4479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Osteoporosis is a skeletal disease characterized by low bone mass and microarchitectural deterioration.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Can cause bone fragility and increased fracture risk.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 Around 200 Million people are affected.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Can cause long-term disability and mortality.</a:t>
            </a:r>
          </a:p>
          <a:p>
            <a:pPr marL="302259" lvl="1" algn="l">
              <a:lnSpc>
                <a:spcPts val="4479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Current Diagnostic Limitations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DXA (Dual energy X-ray Absorptiometry) is not suitable for repeated monitoring.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BMD only measure bone mineral density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Bone microarchitecture, porosity and composition are key to strength but are not captured by BMD.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1ED899A8-3DAC-E3C2-FA60-E3B03660392C}"/>
              </a:ext>
            </a:extLst>
          </p:cNvPr>
          <p:cNvSpPr txBox="1"/>
          <p:nvPr/>
        </p:nvSpPr>
        <p:spPr>
          <a:xfrm>
            <a:off x="4381500" y="1503160"/>
            <a:ext cx="9715500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l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Background of Osteoporosis</a:t>
            </a:r>
          </a:p>
        </p:txBody>
      </p:sp>
      <p:pic>
        <p:nvPicPr>
          <p:cNvPr id="6" name="Picture 5" descr="A diagram of bones and osteoarthritis&#10;&#10;AI-generated content may be incorrect.">
            <a:extLst>
              <a:ext uri="{FF2B5EF4-FFF2-40B4-BE49-F238E27FC236}">
                <a16:creationId xmlns:a16="http://schemas.microsoft.com/office/drawing/2014/main" id="{DAE4B905-6B5C-00D1-5E90-64639D485A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0" y="4872278"/>
            <a:ext cx="4558452" cy="2409467"/>
          </a:xfrm>
          <a:prstGeom prst="rect">
            <a:avLst/>
          </a:prstGeom>
        </p:spPr>
      </p:pic>
      <p:sp>
        <p:nvSpPr>
          <p:cNvPr id="12" name="TextBox 8">
            <a:extLst>
              <a:ext uri="{FF2B5EF4-FFF2-40B4-BE49-F238E27FC236}">
                <a16:creationId xmlns:a16="http://schemas.microsoft.com/office/drawing/2014/main" id="{06CB2806-9423-DA6F-A6B4-B6BBC5BB8278}"/>
              </a:ext>
            </a:extLst>
          </p:cNvPr>
          <p:cNvSpPr txBox="1"/>
          <p:nvPr/>
        </p:nvSpPr>
        <p:spPr>
          <a:xfrm>
            <a:off x="13298760" y="7319744"/>
            <a:ext cx="3868929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ctr"/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Fig. Comparison of healthy bone and bone with osteoporosis</a:t>
            </a:r>
          </a:p>
        </p:txBody>
      </p:sp>
    </p:spTree>
    <p:extLst>
      <p:ext uri="{BB962C8B-B14F-4D97-AF65-F5344CB8AC3E}">
        <p14:creationId xmlns:p14="http://schemas.microsoft.com/office/powerpoint/2010/main" val="1832617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DF6E4-6432-FFCA-1D64-C574A7920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2DEFD95-C943-CEC5-27FB-AAE634BC72B3}"/>
              </a:ext>
            </a:extLst>
          </p:cNvPr>
          <p:cNvSpPr/>
          <p:nvPr/>
        </p:nvSpPr>
        <p:spPr>
          <a:xfrm>
            <a:off x="16932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813E8AF2-1BD3-12AF-6247-62DABFB3C747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FAE8E691-22B3-90AD-0D47-11624D45374A}"/>
              </a:ext>
            </a:extLst>
          </p:cNvPr>
          <p:cNvSpPr txBox="1"/>
          <p:nvPr/>
        </p:nvSpPr>
        <p:spPr>
          <a:xfrm>
            <a:off x="13671125" y="9142095"/>
            <a:ext cx="345047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5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5EF4FC7-5E18-B529-9F32-0359FB0A8B26}"/>
              </a:ext>
            </a:extLst>
          </p:cNvPr>
          <p:cNvSpPr txBox="1"/>
          <p:nvPr/>
        </p:nvSpPr>
        <p:spPr>
          <a:xfrm>
            <a:off x="1057390" y="2630090"/>
            <a:ext cx="10101676" cy="6293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Background </a:t>
            </a:r>
          </a:p>
          <a:p>
            <a:pPr marL="604519" lvl="1" indent="-302260">
              <a:lnSpc>
                <a:spcPts val="4479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Integrating acoustic, optical and depth-sensing technologies for bone health assessment.</a:t>
            </a:r>
          </a:p>
          <a:p>
            <a:pPr marL="604519" lvl="1" indent="-302260">
              <a:lnSpc>
                <a:spcPts val="4479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It is a radiation-free, portable and quantitative diagnostic tools.</a:t>
            </a:r>
          </a:p>
          <a:p>
            <a:pPr marL="604519" lvl="1" indent="-302260">
              <a:lnSpc>
                <a:spcPts val="4479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Can measure microstructure and composition. </a:t>
            </a:r>
          </a:p>
          <a:p>
            <a:pPr marL="302259" lvl="1">
              <a:lnSpc>
                <a:spcPts val="4479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Current Diagnostic Limitations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Ultrasound to measure the cortical thickness and porosity by using the speed of sound.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DXA can only gives areal BMD and cannot see porosity or bone quality. 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6D2591AA-C3FE-8B6E-020B-7DCCC4B9276E}"/>
              </a:ext>
            </a:extLst>
          </p:cNvPr>
          <p:cNvSpPr txBox="1"/>
          <p:nvPr/>
        </p:nvSpPr>
        <p:spPr>
          <a:xfrm>
            <a:off x="1057390" y="1498927"/>
            <a:ext cx="16925810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l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Tibial cortical Porosity estimation via ultrasound</a:t>
            </a:r>
          </a:p>
        </p:txBody>
      </p:sp>
      <p:pic>
        <p:nvPicPr>
          <p:cNvPr id="10" name="Picture 9" descr="A person using a laser device to remove the foot&#10;&#10;AI-generated content may be incorrect.">
            <a:extLst>
              <a:ext uri="{FF2B5EF4-FFF2-40B4-BE49-F238E27FC236}">
                <a16:creationId xmlns:a16="http://schemas.microsoft.com/office/drawing/2014/main" id="{31CDA856-ABBF-EFC7-DC5D-E90879832B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44400" y="3965335"/>
            <a:ext cx="4558452" cy="3038968"/>
          </a:xfrm>
          <a:prstGeom prst="rect">
            <a:avLst/>
          </a:prstGeom>
        </p:spPr>
      </p:pic>
      <p:sp>
        <p:nvSpPr>
          <p:cNvPr id="11" name="TextBox 8">
            <a:extLst>
              <a:ext uri="{FF2B5EF4-FFF2-40B4-BE49-F238E27FC236}">
                <a16:creationId xmlns:a16="http://schemas.microsoft.com/office/drawing/2014/main" id="{C99D7B30-15E1-FA02-D5AB-3BBDCBF5642E}"/>
              </a:ext>
            </a:extLst>
          </p:cNvPr>
          <p:cNvSpPr txBox="1"/>
          <p:nvPr/>
        </p:nvSpPr>
        <p:spPr>
          <a:xfrm>
            <a:off x="12482493" y="6981090"/>
            <a:ext cx="4279211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l"/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Fig. Bone Scanning using Ultrasound</a:t>
            </a:r>
          </a:p>
        </p:txBody>
      </p:sp>
    </p:spTree>
    <p:extLst>
      <p:ext uri="{BB962C8B-B14F-4D97-AF65-F5344CB8AC3E}">
        <p14:creationId xmlns:p14="http://schemas.microsoft.com/office/powerpoint/2010/main" val="1289797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0EF00-143C-BA50-9FD3-D02B05F7F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8F113CA-FF77-6255-63E9-25611F8DBE71}"/>
              </a:ext>
            </a:extLst>
          </p:cNvPr>
          <p:cNvSpPr/>
          <p:nvPr/>
        </p:nvSpPr>
        <p:spPr>
          <a:xfrm>
            <a:off x="19455" y="1216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9B6C9A9D-E159-F204-6C02-13CEF21616F7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F94EB978-CB2C-6DB2-5B0D-FC3E5D815083}"/>
              </a:ext>
            </a:extLst>
          </p:cNvPr>
          <p:cNvSpPr txBox="1"/>
          <p:nvPr/>
        </p:nvSpPr>
        <p:spPr>
          <a:xfrm>
            <a:off x="13671125" y="9142095"/>
            <a:ext cx="345047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5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2164D138-95FF-9AD3-1578-3F28A4EE3A9D}"/>
              </a:ext>
            </a:extLst>
          </p:cNvPr>
          <p:cNvSpPr txBox="1"/>
          <p:nvPr/>
        </p:nvSpPr>
        <p:spPr>
          <a:xfrm>
            <a:off x="1023523" y="3067147"/>
            <a:ext cx="10558877" cy="6293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Background </a:t>
            </a:r>
          </a:p>
          <a:p>
            <a:pPr marL="604519" lvl="1" indent="-302260">
              <a:lnSpc>
                <a:spcPts val="4479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Non-invasive markers of bone marrow perfusion and oxygenation to complement density and microstructure. </a:t>
            </a:r>
          </a:p>
          <a:p>
            <a:pPr marL="604519" lvl="1" indent="-302260">
              <a:lnSpc>
                <a:spcPts val="4479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Can be served as early biomarkers of bone remodeling and therapy response. </a:t>
            </a:r>
          </a:p>
          <a:p>
            <a:pPr marL="302259" lvl="1" algn="l">
              <a:lnSpc>
                <a:spcPts val="4479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Current Diagnostic Limitations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DXA cannot scan blood, and bone is highly vascular, and perfusion changes precede density changes. 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PAI can provide optical contrast with ultrasound resolution, and can help with early detection</a:t>
            </a:r>
          </a:p>
          <a:p>
            <a:pPr marL="302259" lvl="1" algn="l">
              <a:lnSpc>
                <a:spcPts val="4479"/>
              </a:lnSpc>
            </a:pPr>
            <a:endParaRPr lang="en-US" sz="3000" dirty="0">
              <a:solidFill>
                <a:srgbClr val="000000"/>
              </a:solidFill>
              <a:latin typeface="Times New Roman" panose="02020603050405020304" pitchFamily="18" charset="0"/>
              <a:ea typeface="Open Sauce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12F769E8-C95F-1939-C1B7-2D6F1DE3EA29}"/>
              </a:ext>
            </a:extLst>
          </p:cNvPr>
          <p:cNvSpPr txBox="1"/>
          <p:nvPr/>
        </p:nvSpPr>
        <p:spPr>
          <a:xfrm>
            <a:off x="1057390" y="1498927"/>
            <a:ext cx="16207085" cy="11902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l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Photoacoustic Imaging (PAI) of bone marrow health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C70A0B-9874-0EE2-4AB4-E6BAF7085813}"/>
              </a:ext>
            </a:extLst>
          </p:cNvPr>
          <p:cNvSpPr txBox="1"/>
          <p:nvPr/>
        </p:nvSpPr>
        <p:spPr>
          <a:xfrm>
            <a:off x="12208960" y="8728914"/>
            <a:ext cx="4761905" cy="11000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ctr">
              <a:lnSpc>
                <a:spcPts val="4479"/>
              </a:lnSpc>
            </a:pP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Fig. Photoacoustic Imaging Mechanism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691B80-94CB-C92A-6722-8C92C262BDF8}"/>
              </a:ext>
            </a:extLst>
          </p:cNvPr>
          <p:cNvSpPr txBox="1"/>
          <p:nvPr/>
        </p:nvSpPr>
        <p:spPr>
          <a:xfrm>
            <a:off x="12326994" y="6194077"/>
            <a:ext cx="4761905" cy="5229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Fig. Photoacoustic Imaging</a:t>
            </a:r>
          </a:p>
        </p:txBody>
      </p:sp>
      <p:pic>
        <p:nvPicPr>
          <p:cNvPr id="11" name="Picture 10" descr="A close-up of several images of a hand&#10;&#10;AI-generated content may be incorrect.">
            <a:extLst>
              <a:ext uri="{FF2B5EF4-FFF2-40B4-BE49-F238E27FC236}">
                <a16:creationId xmlns:a16="http://schemas.microsoft.com/office/drawing/2014/main" id="{9AE37C9E-1F5E-25E3-E6FA-546D471E21C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06400" y="2712903"/>
            <a:ext cx="3203095" cy="3571936"/>
          </a:xfrm>
          <a:prstGeom prst="rect">
            <a:avLst/>
          </a:prstGeom>
        </p:spPr>
      </p:pic>
      <p:pic>
        <p:nvPicPr>
          <p:cNvPr id="13" name="Picture 12" descr="A diagram of ultrasound scanning&#10;&#10;AI-generated content may be incorrect.">
            <a:extLst>
              <a:ext uri="{FF2B5EF4-FFF2-40B4-BE49-F238E27FC236}">
                <a16:creationId xmlns:a16="http://schemas.microsoft.com/office/drawing/2014/main" id="{AF4FA964-BBA4-BFB9-F07D-9E0BE5702C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7010" y="6756037"/>
            <a:ext cx="3541872" cy="200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384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9575D-0829-B539-A2D7-852497D57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86F07E7-F168-7CDB-CC68-203E6AEDBF1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BE5A0B7C-4EB1-828E-4122-740BBC94EB34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7E759A3-9015-736C-B47E-FFC5814792EB}"/>
              </a:ext>
            </a:extLst>
          </p:cNvPr>
          <p:cNvSpPr txBox="1"/>
          <p:nvPr/>
        </p:nvSpPr>
        <p:spPr>
          <a:xfrm>
            <a:off x="13671125" y="9142095"/>
            <a:ext cx="345047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5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0FE2C528-2936-E215-C455-6A60E6CC396E}"/>
              </a:ext>
            </a:extLst>
          </p:cNvPr>
          <p:cNvSpPr txBox="1"/>
          <p:nvPr/>
        </p:nvSpPr>
        <p:spPr>
          <a:xfrm>
            <a:off x="1023523" y="3067147"/>
            <a:ext cx="16098077" cy="57166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Background </a:t>
            </a:r>
          </a:p>
          <a:p>
            <a:pPr marL="604519" lvl="1" indent="-302260">
              <a:lnSpc>
                <a:spcPts val="4479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Optical system that uses Near-Infrared (NIR) light for tissue spectroscopy and LiDAR for geometry correction to estimate bone cortical thickness. </a:t>
            </a:r>
          </a:p>
          <a:p>
            <a:pPr marL="604519" lvl="1" indent="-302260">
              <a:lnSpc>
                <a:spcPts val="4479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LiDAR for geometry correction to estimate bone cortical thickness.</a:t>
            </a:r>
          </a:p>
          <a:p>
            <a:pPr marL="604519" lvl="1" indent="-302260">
              <a:lnSpc>
                <a:spcPts val="4479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Can provide personalized optical path.</a:t>
            </a:r>
          </a:p>
          <a:p>
            <a:pPr marL="604519" lvl="1" indent="-302260">
              <a:lnSpc>
                <a:spcPts val="4479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Can improve the accuracy in estimating underlying bone properties. </a:t>
            </a:r>
          </a:p>
          <a:p>
            <a:pPr marL="302259" lvl="1" algn="l">
              <a:lnSpc>
                <a:spcPts val="4479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Experimental workflow 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LiDAR scans Region of interest and perform surface mesh and compute local and normal curvature.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NIR will use to capture the bone by penetrating the skin tissue.</a:t>
            </a:r>
          </a:p>
          <a:p>
            <a:pPr marL="302259" lvl="1" algn="l">
              <a:lnSpc>
                <a:spcPts val="4479"/>
              </a:lnSpc>
            </a:pPr>
            <a:endParaRPr lang="en-US" sz="3000" dirty="0">
              <a:solidFill>
                <a:srgbClr val="000000"/>
              </a:solidFill>
              <a:latin typeface="Times New Roman" panose="02020603050405020304" pitchFamily="18" charset="0"/>
              <a:ea typeface="Open Sauce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17CDD690-120F-6B98-BFE9-FC4FAFB8DE9C}"/>
              </a:ext>
            </a:extLst>
          </p:cNvPr>
          <p:cNvSpPr txBox="1"/>
          <p:nvPr/>
        </p:nvSpPr>
        <p:spPr>
          <a:xfrm>
            <a:off x="1057390" y="1498927"/>
            <a:ext cx="16207085" cy="11902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l">
              <a:lnSpc>
                <a:spcPts val="4479"/>
              </a:lnSpc>
            </a:pPr>
            <a:r>
              <a:rPr lang="en-US" sz="54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Geometry-Aware Near Infrared Optical Sensing using LiDAR fusion</a:t>
            </a:r>
          </a:p>
        </p:txBody>
      </p:sp>
    </p:spTree>
    <p:extLst>
      <p:ext uri="{BB962C8B-B14F-4D97-AF65-F5344CB8AC3E}">
        <p14:creationId xmlns:p14="http://schemas.microsoft.com/office/powerpoint/2010/main" val="3396572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E5144-AB2D-BB61-6851-3C79E1ABE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D437990-C4E7-F5C5-D3FE-3E6B666BF541}"/>
              </a:ext>
            </a:extLst>
          </p:cNvPr>
          <p:cNvSpPr/>
          <p:nvPr/>
        </p:nvSpPr>
        <p:spPr>
          <a:xfrm>
            <a:off x="-35169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16AD2B2B-746B-83C0-8582-1B7344668B51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54279DD-A425-0CE2-A376-86D9C3996A77}"/>
              </a:ext>
            </a:extLst>
          </p:cNvPr>
          <p:cNvSpPr txBox="1"/>
          <p:nvPr/>
        </p:nvSpPr>
        <p:spPr>
          <a:xfrm>
            <a:off x="13671125" y="9142095"/>
            <a:ext cx="345047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5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58563912-C73B-4B24-DB75-D3608A9BB091}"/>
              </a:ext>
            </a:extLst>
          </p:cNvPr>
          <p:cNvSpPr txBox="1"/>
          <p:nvPr/>
        </p:nvSpPr>
        <p:spPr>
          <a:xfrm>
            <a:off x="1023524" y="2759714"/>
            <a:ext cx="16098077" cy="6293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Concept</a:t>
            </a:r>
          </a:p>
          <a:p>
            <a:pPr marL="604519" lvl="1" indent="-302260">
              <a:lnSpc>
                <a:spcPts val="4479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Train CNN models on chest, hand, or dental X-rays to indirectly estimate bone mineral density (BMD) without DXA.</a:t>
            </a:r>
          </a:p>
          <a:p>
            <a:pPr marL="604519" lvl="1" indent="-302260">
              <a:lnSpc>
                <a:spcPts val="4479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Can learn bone-quality features from the existing X-rays data to train the DXA model.</a:t>
            </a:r>
          </a:p>
          <a:p>
            <a:pPr marL="302259" lvl="1" algn="l">
              <a:lnSpc>
                <a:spcPts val="4479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Experimental workflow 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To develop a deep learning model that takes routine radiographs as input and outputs.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Can predict the probability of osteoporosis and estimate the fracture risk.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Visual heatmap highlighting weak bone regions.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Will use weakly supervised learning using the patient has osteoporosis rather than exact pixel-level bone annotations. </a:t>
            </a:r>
          </a:p>
          <a:p>
            <a:pPr marL="302259" lvl="1" algn="l">
              <a:lnSpc>
                <a:spcPts val="4479"/>
              </a:lnSpc>
            </a:pPr>
            <a:endParaRPr lang="en-US" sz="3000" dirty="0">
              <a:solidFill>
                <a:srgbClr val="000000"/>
              </a:solidFill>
              <a:latin typeface="Times New Roman" panose="02020603050405020304" pitchFamily="18" charset="0"/>
              <a:ea typeface="Open Sauce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31D13AFF-945C-C2DD-13B3-9D0690368F9C}"/>
              </a:ext>
            </a:extLst>
          </p:cNvPr>
          <p:cNvSpPr txBox="1"/>
          <p:nvPr/>
        </p:nvSpPr>
        <p:spPr>
          <a:xfrm>
            <a:off x="1057390" y="1498927"/>
            <a:ext cx="16697210" cy="5950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l">
              <a:lnSpc>
                <a:spcPts val="4479"/>
              </a:lnSpc>
            </a:pPr>
            <a:r>
              <a:rPr lang="en-US" sz="54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AI-based Fracture Risk prediction from Routine X-rays</a:t>
            </a:r>
          </a:p>
        </p:txBody>
      </p:sp>
    </p:spTree>
    <p:extLst>
      <p:ext uri="{BB962C8B-B14F-4D97-AF65-F5344CB8AC3E}">
        <p14:creationId xmlns:p14="http://schemas.microsoft.com/office/powerpoint/2010/main" val="1493812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34771-FD60-0993-C9DD-11612D27A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ED32AED-607D-8437-E1B0-C157DA325D62}"/>
              </a:ext>
            </a:extLst>
          </p:cNvPr>
          <p:cNvSpPr/>
          <p:nvPr/>
        </p:nvSpPr>
        <p:spPr>
          <a:xfrm>
            <a:off x="-35169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6768B88F-B588-A809-92BA-D54335528DE0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7F5382C3-466E-DBEE-55F9-60DFE01EA08C}"/>
              </a:ext>
            </a:extLst>
          </p:cNvPr>
          <p:cNvSpPr txBox="1"/>
          <p:nvPr/>
        </p:nvSpPr>
        <p:spPr>
          <a:xfrm>
            <a:off x="13671125" y="9142095"/>
            <a:ext cx="345047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5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6CED6CC4-5B1B-7E66-735A-D906E8272FB1}"/>
              </a:ext>
            </a:extLst>
          </p:cNvPr>
          <p:cNvSpPr txBox="1"/>
          <p:nvPr/>
        </p:nvSpPr>
        <p:spPr>
          <a:xfrm>
            <a:off x="1094961" y="3336795"/>
            <a:ext cx="16098077" cy="51396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Concept</a:t>
            </a:r>
          </a:p>
          <a:p>
            <a:pPr marL="604519" lvl="1" indent="-302260">
              <a:lnSpc>
                <a:spcPts val="4479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Introduce AI-based inverse modeling to predict phantom or skin stiffness directly from LiDAR depth maps.</a:t>
            </a:r>
          </a:p>
          <a:p>
            <a:pPr marL="604519" lvl="1" indent="-302260">
              <a:lnSpc>
                <a:spcPts val="4479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Add mass flow control (MFC) or PWM-controlled solenoid for pulse shaping. </a:t>
            </a:r>
          </a:p>
          <a:p>
            <a:pPr marL="604519" lvl="1" indent="-302260">
              <a:lnSpc>
                <a:spcPts val="4479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Add pressure feedback sensor to record real-time pressure near nozzle.</a:t>
            </a:r>
          </a:p>
          <a:p>
            <a:pPr marL="604519" lvl="1" indent="-302260">
              <a:lnSpc>
                <a:spcPts val="4479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Calibrate two LiDAR at offset angle for improved accuracy and shadow compensation. </a:t>
            </a:r>
          </a:p>
          <a:p>
            <a:pPr marL="604519" lvl="1" indent="-302260">
              <a:lnSpc>
                <a:spcPts val="4479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Improve repeatability by improving calibration.</a:t>
            </a:r>
          </a:p>
          <a:p>
            <a:pPr marL="604519" lvl="1" indent="-302260">
              <a:lnSpc>
                <a:spcPts val="4479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Performing simulation validation model using FEM.</a:t>
            </a:r>
          </a:p>
          <a:p>
            <a:pPr marL="302259" lvl="1" algn="l">
              <a:lnSpc>
                <a:spcPts val="4479"/>
              </a:lnSpc>
            </a:pPr>
            <a:endParaRPr lang="en-US" sz="3000" dirty="0">
              <a:solidFill>
                <a:srgbClr val="000000"/>
              </a:solidFill>
              <a:highlight>
                <a:srgbClr val="FFFF00"/>
              </a:highlight>
              <a:latin typeface="Times New Roman" panose="02020603050405020304" pitchFamily="18" charset="0"/>
              <a:ea typeface="Open Sauce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35ECFE6B-3742-E317-49D3-09502C2F238C}"/>
              </a:ext>
            </a:extLst>
          </p:cNvPr>
          <p:cNvSpPr txBox="1"/>
          <p:nvPr/>
        </p:nvSpPr>
        <p:spPr>
          <a:xfrm>
            <a:off x="1057390" y="1498927"/>
            <a:ext cx="16697210" cy="11721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l">
              <a:lnSpc>
                <a:spcPts val="4479"/>
              </a:lnSpc>
            </a:pPr>
            <a:r>
              <a:rPr lang="en-US" sz="54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Improvement Idea on Non-Invasive Skin Phantom Properties Estimation using air-jet indentation. </a:t>
            </a:r>
          </a:p>
        </p:txBody>
      </p:sp>
    </p:spTree>
    <p:extLst>
      <p:ext uri="{BB962C8B-B14F-4D97-AF65-F5344CB8AC3E}">
        <p14:creationId xmlns:p14="http://schemas.microsoft.com/office/powerpoint/2010/main" val="7816981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4485814" y="2762204"/>
            <a:ext cx="9316373" cy="2453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60"/>
              </a:lnSpc>
            </a:pPr>
            <a:r>
              <a:rPr lang="en-US" sz="144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The End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180543" y="5328331"/>
            <a:ext cx="9926914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THANK YOU FOR LISTENING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671329" y="8480425"/>
            <a:ext cx="2945342" cy="553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Thu Ta Zaw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18762" y="9142095"/>
            <a:ext cx="3450476" cy="25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2239"/>
              </a:lnSpc>
              <a:spcBef>
                <a:spcPct val="0"/>
              </a:spcBef>
            </a:pPr>
            <a:r>
              <a:rPr lang="en-US" sz="1599" spc="159" dirty="0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2415121095</a:t>
            </a:r>
            <a:endParaRPr lang="en-US" sz="1599" u="none" strike="noStrike" spc="159" dirty="0">
              <a:solidFill>
                <a:srgbClr val="000000">
                  <a:alpha val="49804"/>
                </a:srgbClr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893</TotalTime>
  <Words>543</Words>
  <Application>Microsoft Office PowerPoint</Application>
  <PresentationFormat>Custom</PresentationFormat>
  <Paragraphs>69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Open Sauce</vt:lpstr>
      <vt:lpstr>Arial</vt:lpstr>
      <vt:lpstr>Times New Roman</vt:lpstr>
      <vt:lpstr>DM Serif Display</vt:lpstr>
      <vt:lpstr>Calibri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White Simple Minimalist Pitch Deck Marketing Presentation</dc:title>
  <dc:creator>LUCUS</dc:creator>
  <cp:lastModifiedBy>THU TA ZAW</cp:lastModifiedBy>
  <cp:revision>87</cp:revision>
  <dcterms:created xsi:type="dcterms:W3CDTF">2006-08-16T00:00:00Z</dcterms:created>
  <dcterms:modified xsi:type="dcterms:W3CDTF">2025-10-15T03:09:04Z</dcterms:modified>
  <dc:identifier>DAG0bfrM1o8</dc:identifier>
</cp:coreProperties>
</file>