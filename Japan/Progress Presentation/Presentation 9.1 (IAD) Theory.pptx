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851" r:id="rId3"/>
    <p:sldId id="852" r:id="rId4"/>
    <p:sldId id="854" r:id="rId5"/>
    <p:sldId id="856" r:id="rId6"/>
    <p:sldId id="855" r:id="rId7"/>
    <p:sldId id="858" r:id="rId8"/>
    <p:sldId id="859" r:id="rId9"/>
    <p:sldId id="857" r:id="rId10"/>
    <p:sldId id="860" r:id="rId11"/>
    <p:sldId id="862" r:id="rId12"/>
    <p:sldId id="861" r:id="rId13"/>
    <p:sldId id="267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DM Serif Display" pitchFamily="2" charset="0"/>
      <p:regular r:id="rId17"/>
      <p:italic r:id="rId18"/>
    </p:embeddedFont>
    <p:embeddedFont>
      <p:font typeface="Open Sauc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2668" autoAdjust="0"/>
  </p:normalViewPr>
  <p:slideViewPr>
    <p:cSldViewPr>
      <p:cViewPr varScale="1">
        <p:scale>
          <a:sx n="70" d="100"/>
          <a:sy n="70" d="100"/>
        </p:scale>
        <p:origin x="11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5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IX</a:t>
            </a:r>
            <a:endParaRPr lang="en-US" sz="12000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5067850" y="4871022"/>
            <a:ext cx="815229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Inverse-Adding Doubling Method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C434-3920-CE82-D908-B6601E6E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0DF902-CB28-E5AA-1107-7874C13416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C4B44CE-ED28-7AE1-DB6D-29F22372910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E223CA-18EF-3F7D-7091-8245A0C6EE04}"/>
              </a:ext>
            </a:extLst>
          </p:cNvPr>
          <p:cNvSpPr txBox="1"/>
          <p:nvPr/>
        </p:nvSpPr>
        <p:spPr>
          <a:xfrm>
            <a:off x="755816" y="2628122"/>
            <a:ext cx="16236783" cy="7486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Recommended Specification</a:t>
            </a:r>
            <a:endParaRPr lang="en-US" sz="2500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Connection type: (SMA 905 – SMA 905)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Transmission wavelength range: Compatible with 850 nm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Fiber type: Multimode fiber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Core diameter: Recommend &gt;= 400 micrometer (diameter)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Numerical aperture (NA) &gt;= 0.2 mm</a:t>
            </a:r>
          </a:p>
          <a:p>
            <a:pPr marL="302259" lvl="1">
              <a:lnSpc>
                <a:spcPct val="20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Product</a:t>
            </a:r>
            <a:endParaRPr lang="en-US" sz="2500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Brand: JTSF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Name: Fiber Optic Patch Cord (SMA 905 - SMA 905) VIS-IR NA 0.22 400 um, FSMA905 FC ST Energy Fiber 1m, 2M 300 Cm 5M (SMA-SMA blue 1m)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FF2967B-70BE-7CEB-86A7-B337167463E2}"/>
              </a:ext>
            </a:extLst>
          </p:cNvPr>
          <p:cNvSpPr txBox="1"/>
          <p:nvPr/>
        </p:nvSpPr>
        <p:spPr>
          <a:xfrm>
            <a:off x="5241131" y="1497576"/>
            <a:ext cx="780573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SMA-SMA Connector</a:t>
            </a:r>
          </a:p>
        </p:txBody>
      </p:sp>
      <p:pic>
        <p:nvPicPr>
          <p:cNvPr id="6" name="Picture 5" descr="A blue cable with black connectors&#10;&#10;AI-generated content may be incorrect.">
            <a:extLst>
              <a:ext uri="{FF2B5EF4-FFF2-40B4-BE49-F238E27FC236}">
                <a16:creationId xmlns:a16="http://schemas.microsoft.com/office/drawing/2014/main" id="{0893EB12-92BD-06FE-B690-2D977F3C2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3478716"/>
            <a:ext cx="5438218" cy="47244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FFB34E-A50A-B70E-73EE-9DFE39D7C400}"/>
              </a:ext>
            </a:extLst>
          </p:cNvPr>
          <p:cNvSpPr txBox="1"/>
          <p:nvPr/>
        </p:nvSpPr>
        <p:spPr>
          <a:xfrm>
            <a:off x="12465726" y="8203168"/>
            <a:ext cx="275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SMA905-SMA905 cable</a:t>
            </a:r>
          </a:p>
        </p:txBody>
      </p:sp>
    </p:spTree>
    <p:extLst>
      <p:ext uri="{BB962C8B-B14F-4D97-AF65-F5344CB8AC3E}">
        <p14:creationId xmlns:p14="http://schemas.microsoft.com/office/powerpoint/2010/main" val="80191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8EB31-F8CA-4F19-624D-72E49442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4420F5-4690-0AE2-D903-333044CD7B2E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3D7B1D0-0C29-B347-4F1F-7484B7A959D3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159A0642-B56A-4210-4708-0C1F8D328C4A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58554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Concepts of Solver</a:t>
                </a:r>
                <a:endParaRPr lang="en-US" sz="2500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Addling doubling method has 2 models: Forward Model and Inverse Model.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Forward model describes the changes to light in media (tissue phantom) as a function of properties of these media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500" dirty="0"/>
                  <a:t>) and generates the outputs of Radiance (L) and Fluence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500"/>
                      <m:t>φ</m:t>
                    </m:r>
                  </m:oMath>
                </a14:m>
                <a:r>
                  <a:rPr lang="en-US" sz="2500" dirty="0"/>
                  <a:t>), within the media volume and at boundaries. 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Inverse model predict the properties of tissues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500" dirty="0"/>
                  <a:t>) based on the measurable outputs (R,T) of an unknown medium (tissue phantom).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The inverse solutions are achieved by careful selection of a Forward Model, assumptions on tissue properties and distribution, constraints on the measurable geometry and experimental conditions.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159A0642-B56A-4210-4708-0C1F8D328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5855449"/>
              </a:xfrm>
              <a:prstGeom prst="rect">
                <a:avLst/>
              </a:prstGeom>
              <a:blipFill>
                <a:blip r:embed="rId3"/>
                <a:stretch>
                  <a:fillRect l="-38" t="-3434" b="-2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EA928259-560C-E88C-CA9A-2744004F56FA}"/>
              </a:ext>
            </a:extLst>
          </p:cNvPr>
          <p:cNvSpPr txBox="1"/>
          <p:nvPr/>
        </p:nvSpPr>
        <p:spPr>
          <a:xfrm>
            <a:off x="5094228" y="1555372"/>
            <a:ext cx="8099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Computational Method</a:t>
            </a:r>
          </a:p>
        </p:txBody>
      </p:sp>
    </p:spTree>
    <p:extLst>
      <p:ext uri="{BB962C8B-B14F-4D97-AF65-F5344CB8AC3E}">
        <p14:creationId xmlns:p14="http://schemas.microsoft.com/office/powerpoint/2010/main" val="193055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4A59-E510-D3CE-EEDC-BAF68706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F69A78-7C48-B4A8-387C-4A83B1653B2F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8D32E8-879F-FF77-5F6B-BB5553F7136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7F14995-EBF8-E012-9950-1F72926DF528}"/>
                  </a:ext>
                </a:extLst>
              </p:cNvPr>
              <p:cNvSpPr txBox="1"/>
              <p:nvPr/>
            </p:nvSpPr>
            <p:spPr>
              <a:xfrm>
                <a:off x="755817" y="2628122"/>
                <a:ext cx="10521784" cy="616213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Forward model </a:t>
                </a:r>
                <a14:m>
                  <m:oMath xmlns:m="http://schemas.openxmlformats.org/officeDocument/2006/math"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[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𝐑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,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𝐓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]=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40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AD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</m:ctrlPr>
                          </m:dPr>
                          <m:e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𝒏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𝒈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𝒅</m:t>
                            </m:r>
                          </m:e>
                        </m:d>
                      </m:sub>
                    </m:sSub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(</m:t>
                    </m:r>
                    <m:sSub>
                      <m:sSub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)</m:t>
                    </m:r>
                  </m:oMath>
                </a14:m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Radiance: L(r,</a:t>
                </a:r>
                <a:r>
                  <a:rPr lang="el-GR" sz="2500" dirty="0"/>
                  <a:t>Ω</a:t>
                </a:r>
                <a:r>
                  <a:rPr lang="en-US" sz="2500" dirty="0"/>
                  <a:t>,t), which is a 6-Dimentional model.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Where: r is (x, y, z) and </a:t>
                </a:r>
                <a:r>
                  <a:rPr lang="el-GR" sz="2500" dirty="0"/>
                  <a:t>Ω</a:t>
                </a:r>
                <a:r>
                  <a:rPr lang="en-US" sz="2500" dirty="0"/>
                  <a:t> 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500" dirty="0"/>
                  <a:t>). </a:t>
                </a:r>
                <a:br>
                  <a:rPr lang="en-US" sz="2500" dirty="0"/>
                </a:br>
                <a:r>
                  <a:rPr lang="en-US" sz="2500" dirty="0"/>
                  <a:t>Polar angle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500" dirty="0"/>
                  <a:t>), which is the angle between the direction vector and z-axis </a:t>
                </a:r>
                <a:br>
                  <a:rPr lang="en-US" sz="2500" dirty="0"/>
                </a:br>
                <a:r>
                  <a:rPr lang="en-US" sz="2500" dirty="0"/>
                  <a:t>and Azimuthal angle (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500" dirty="0"/>
                  <a:t>), which is the rotation around the z-axis in the x-y plane.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Fluence is defined as the integral of radiance over all direction.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500"/>
                      <m:t>φ</m:t>
                    </m:r>
                    <m:r>
                      <m:rPr>
                        <m:nor/>
                      </m:rPr>
                      <a:rPr lang="en-US" sz="2500" b="0" i="0" smtClean="0"/>
                      <m:t> =</m:t>
                    </m:r>
                    <m:nary>
                      <m:nary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500" dirty="0"/>
                          <m:t>L</m:t>
                        </m:r>
                        <m:r>
                          <m:rPr>
                            <m:nor/>
                          </m:rPr>
                          <a:rPr lang="en-US" sz="2500" dirty="0"/>
                          <m:t>(</m:t>
                        </m:r>
                        <m:r>
                          <m:rPr>
                            <m:nor/>
                          </m:rPr>
                          <a:rPr lang="en-US" sz="2500" dirty="0"/>
                          <m:t>r</m:t>
                        </m:r>
                        <m:r>
                          <m:rPr>
                            <m:nor/>
                          </m:rPr>
                          <a:rPr lang="en-US" sz="2500" dirty="0"/>
                          <m:t>,</m:t>
                        </m:r>
                        <m:r>
                          <m:rPr>
                            <m:nor/>
                          </m:rPr>
                          <a:rPr lang="el-GR" sz="2500" dirty="0"/>
                          <m:t>Ω</m:t>
                        </m:r>
                        <m:r>
                          <m:rPr>
                            <m:nor/>
                          </m:rPr>
                          <a:rPr lang="en-US" sz="2500" dirty="0"/>
                          <m:t>,</m:t>
                        </m:r>
                        <m:r>
                          <m:rPr>
                            <m:nor/>
                          </m:rPr>
                          <a:rPr lang="en-US" sz="2500" dirty="0"/>
                          <m:t>t</m:t>
                        </m:r>
                        <m:r>
                          <m:rPr>
                            <m:nor/>
                          </m:rPr>
                          <a:rPr lang="en-US" sz="2500" dirty="0"/>
                          <m:t>)</m:t>
                        </m:r>
                        <m:r>
                          <m:rPr>
                            <m:nor/>
                          </m:rPr>
                          <a:rPr lang="en-US" sz="2500" b="0" i="0" dirty="0" smtClean="0"/>
                          <m:t>d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𝑠𝑟</m:t>
                        </m:r>
                      </m:e>
                    </m:nary>
                  </m:oMath>
                </a14:m>
                <a:r>
                  <a:rPr lang="en-US" sz="2500" dirty="0"/>
                  <a:t>, where </a:t>
                </a:r>
                <a:r>
                  <a:rPr lang="en-US" sz="2500" dirty="0" err="1"/>
                  <a:t>sr</a:t>
                </a:r>
                <a:r>
                  <a:rPr lang="en-US" sz="2500" dirty="0"/>
                  <a:t> is the solid angle.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7F14995-EBF8-E012-9950-1F72926DF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7" y="2628122"/>
                <a:ext cx="10521784" cy="6162136"/>
              </a:xfrm>
              <a:prstGeom prst="rect">
                <a:avLst/>
              </a:prstGeom>
              <a:blipFill>
                <a:blip r:embed="rId3"/>
                <a:stretch>
                  <a:fillRect l="-58" t="-3660" b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054FA952-5108-6FE4-18F4-46D0E93CE8DD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Adding-Doubling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0DD02-BAC9-47F1-172C-54F793FC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3533938"/>
            <a:ext cx="6858000" cy="43165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8FC35-0ADA-06B1-CF08-2578F80C5164}"/>
              </a:ext>
            </a:extLst>
          </p:cNvPr>
          <p:cNvSpPr txBox="1"/>
          <p:nvPr/>
        </p:nvSpPr>
        <p:spPr>
          <a:xfrm>
            <a:off x="12763973" y="7849275"/>
            <a:ext cx="342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reflectance and transmittance </a:t>
            </a:r>
          </a:p>
        </p:txBody>
      </p:sp>
    </p:spTree>
    <p:extLst>
      <p:ext uri="{BB962C8B-B14F-4D97-AF65-F5344CB8AC3E}">
        <p14:creationId xmlns:p14="http://schemas.microsoft.com/office/powerpoint/2010/main" val="347951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C4EC-DF8A-5EA8-5464-381582DB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4F8C8D-2591-88F7-D547-0BF09A0E0FC5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CA6EC2-0DE9-B98D-713E-9ECF989E040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17C2D5F-4D9C-8EE7-8511-B5CF6C4BABF0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465383" cy="555030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Forward model </a:t>
                </a:r>
                <a14:m>
                  <m:oMath xmlns:m="http://schemas.openxmlformats.org/officeDocument/2006/math"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[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𝐑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,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𝐓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]=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40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AD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</m:ctrlPr>
                          </m:dPr>
                          <m:e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𝒏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𝒈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𝒅</m:t>
                            </m:r>
                          </m:e>
                        </m:d>
                      </m:sub>
                    </m:sSub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(</m:t>
                    </m:r>
                    <m:sSub>
                      <m:sSub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)</m:t>
                    </m:r>
                  </m:oMath>
                </a14:m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Radiance: L(r,</a:t>
                </a:r>
                <a:r>
                  <a:rPr lang="el-GR" sz="2500" dirty="0"/>
                  <a:t>Ω</a:t>
                </a:r>
                <a:r>
                  <a:rPr lang="en-US" sz="2500" dirty="0"/>
                  <a:t>,t) can be simplified into 1-Dimensional Representation which is the exact solution of RTE.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5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50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500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5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500" dirty="0">
                  <a:latin typeface="Cambria Math" panose="02040503050406030204" pitchFamily="18" charset="0"/>
                </a:endParaRP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sz="25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50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500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5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500" dirty="0">
                  <a:latin typeface="Cambria Math" panose="02040503050406030204" pitchFamily="18" charset="0"/>
                </a:endParaRP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Where c and d are coefficients dependent on input parameters. 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2500">
                          <a:latin typeface="Cambria Math" panose="02040503050406030204" pitchFamily="18" charset="0"/>
                        </a:rPr>
                        <m:t>λ</m:t>
                      </m:r>
                      <m:r>
                        <m:rPr>
                          <m:nor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sz="2500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Where: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500" dirty="0"/>
                  <a:t> is the reduced scattering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500" dirty="0"/>
                  <a:t> is the absorption coefficient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500" dirty="0"/>
                  <a:t>is the transport coefficient.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17C2D5F-4D9C-8EE7-8511-B5CF6C4BA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465383" cy="5550302"/>
              </a:xfrm>
              <a:prstGeom prst="rect">
                <a:avLst/>
              </a:prstGeom>
              <a:blipFill>
                <a:blip r:embed="rId3"/>
                <a:stretch>
                  <a:fillRect l="-37" t="-4061" b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94B2EC8D-2FC8-D4A2-1938-6C4B7FD68EDB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Adding-Doubling Method</a:t>
            </a:r>
          </a:p>
        </p:txBody>
      </p:sp>
    </p:spTree>
    <p:extLst>
      <p:ext uri="{BB962C8B-B14F-4D97-AF65-F5344CB8AC3E}">
        <p14:creationId xmlns:p14="http://schemas.microsoft.com/office/powerpoint/2010/main" val="41401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2B46-6ABD-7C88-0D1D-A613208F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417851-01AB-DCBC-FE1D-59C5470A382F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05B811C-DEA0-1240-BA24-E4E203CCF823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C68037E-1C52-32B7-8802-CEA2D3144388}"/>
              </a:ext>
            </a:extLst>
          </p:cNvPr>
          <p:cNvSpPr txBox="1"/>
          <p:nvPr/>
        </p:nvSpPr>
        <p:spPr>
          <a:xfrm>
            <a:off x="755816" y="2628122"/>
            <a:ext cx="163891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Radiative Transport Equation</a:t>
            </a:r>
            <a:endParaRPr lang="en-US" sz="2500" b="1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CC9B2A4-77A5-AD11-D749-CBBFF0160D3D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C00A26-493B-D3C4-C955-6D176D1B0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t="21538" r="12212" b="10000"/>
          <a:stretch>
            <a:fillRect/>
          </a:stretch>
        </p:blipFill>
        <p:spPr>
          <a:xfrm>
            <a:off x="2332706" y="3349758"/>
            <a:ext cx="13235401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4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C7D0-8C08-60D7-14EE-2868AA9A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921D48-4A7C-8D27-8F36-8762EE04697B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3D0B08F-CA8D-397F-F48C-F4306039517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02B0AF3-7531-9CD5-CEDC-844F8466A4E9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389183" cy="646991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Radiative Transport Equation</a:t>
                </a:r>
                <a:endParaRPr lang="en-US" sz="2500" i="1" dirty="0">
                  <a:latin typeface="Cambria Math" panose="02040503050406030204" pitchFamily="18" charset="0"/>
                </a:endParaRP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 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a:rPr lang="en-US" sz="25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5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r>
                        <m:rPr>
                          <m:nor/>
                        </m:rPr>
                        <a:rPr lang="en-US" sz="2500" dirty="0"/>
                        <m:t>t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r>
                        <m:rPr>
                          <m:nor/>
                        </m:rPr>
                        <a:rPr lang="en-US" sz="2500" dirty="0"/>
                        <m:t>t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,</m:t>
                          </m:r>
                          <m:sSup>
                            <m:sSupPr>
                              <m:ctrlPr>
                                <a:rPr lang="en-US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5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b="0" i="0" dirty="0" smtClean="0"/>
                            <m:t>)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Steady-state: eliminate all time dependence.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b="0" i="0" dirty="0" smtClean="0"/>
                        <m:t> 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Reduce spatial components to 1-D.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b="0" i="0" dirty="0" smtClean="0"/>
                        <m:t> 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 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b="0" i="0" dirty="0" smtClean="0"/>
                        <m:t>x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Integrate over all angles to get coupled equations for forward and back scattered radiances.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d>
                        <m:d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5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x</m:t>
                      </m:r>
                      <m:r>
                        <m:rPr>
                          <m:nor/>
                        </m:rPr>
                        <a:rPr lang="en-US" sz="2500" b="0" i="0" dirty="0" smtClean="0"/>
                        <m:t>)</m:t>
                      </m:r>
                    </m:oMath>
                  </m:oMathPara>
                </a14:m>
                <a:endParaRPr lang="en-US" sz="2500" b="0" dirty="0"/>
              </a:p>
              <a:p>
                <a:pPr marL="302259" lvl="1"/>
                <a:endParaRPr lang="en-US" sz="2500" dirty="0"/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b="0" i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5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a:rPr lang="en-US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5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x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</m:oMath>
                  </m:oMathPara>
                </a14:m>
                <a:endParaRPr lang="en-US" sz="2500" dirty="0"/>
              </a:p>
              <a:p>
                <a:pPr marL="302259" lvl="1"/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02B0AF3-7531-9CD5-CEDC-844F8466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389183" cy="6469913"/>
              </a:xfrm>
              <a:prstGeom prst="rect">
                <a:avLst/>
              </a:prstGeom>
              <a:blipFill>
                <a:blip r:embed="rId4"/>
                <a:stretch>
                  <a:fillRect t="-1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75F9CD8C-A877-76BA-08DD-96D8DCBB77DA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234147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AA1B-C72A-4697-10BA-4E6948C0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DE8815-BE8B-8E0C-AF4F-E0988FDB8210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6A47ADD-CDCB-4C09-434E-7729DA40C82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2FF4E29-7F25-A2AE-C0FB-57C01F384C4A}"/>
                  </a:ext>
                </a:extLst>
              </p:cNvPr>
              <p:cNvSpPr txBox="1"/>
              <p:nvPr/>
            </p:nvSpPr>
            <p:spPr>
              <a:xfrm>
                <a:off x="755817" y="2628122"/>
                <a:ext cx="8997783" cy="53682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ct val="200000"/>
                  </a:lnSpc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Boundary condition </a:t>
                </a:r>
                <a:endParaRPr lang="en-US" sz="2500" dirty="0"/>
              </a:p>
              <a:p>
                <a:pPr marL="645159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/>
                  <a:t>Adding-Doubling method calculates to Reflectance and Transmittance for slabs.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0+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0−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01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0+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1−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/>
                  <a:t>From these equations,  we can calculate T and R.</a:t>
                </a:r>
              </a:p>
              <a:p>
                <a:pPr marL="645159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1−</m:t>
                        </m:r>
                      </m:sup>
                    </m:sSup>
                  </m:oMath>
                </a14:m>
                <a:r>
                  <a:rPr lang="en-US" sz="2500" dirty="0"/>
                  <a:t>= 0 if we only have single light source.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2FF4E29-7F25-A2AE-C0FB-57C01F384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7" y="2628122"/>
                <a:ext cx="8997783" cy="5368264"/>
              </a:xfrm>
              <a:prstGeom prst="rect">
                <a:avLst/>
              </a:prstGeom>
              <a:blipFill>
                <a:blip r:embed="rId3"/>
                <a:stretch>
                  <a:fillRect b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DCD4FADE-4B1E-35E0-43FA-99F701B079EA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92604-4E7E-5549-326A-E5853493C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749" y="3467100"/>
            <a:ext cx="7469434" cy="39584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8C7DA2-9F1A-5FBF-6F14-81525C5A4F4B}"/>
              </a:ext>
            </a:extLst>
          </p:cNvPr>
          <p:cNvSpPr txBox="1"/>
          <p:nvPr/>
        </p:nvSpPr>
        <p:spPr>
          <a:xfrm>
            <a:off x="11587309" y="7425530"/>
            <a:ext cx="4420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Boundary condition and direction of light</a:t>
            </a:r>
          </a:p>
        </p:txBody>
      </p:sp>
    </p:spTree>
    <p:extLst>
      <p:ext uri="{BB962C8B-B14F-4D97-AF65-F5344CB8AC3E}">
        <p14:creationId xmlns:p14="http://schemas.microsoft.com/office/powerpoint/2010/main" val="281340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5469-4B30-E71A-FFD3-56E70DF3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3161E4-35EE-7F5B-A0C7-427FA95DA5EC}"/>
              </a:ext>
            </a:extLst>
          </p:cNvPr>
          <p:cNvSpPr/>
          <p:nvPr/>
        </p:nvSpPr>
        <p:spPr>
          <a:xfrm>
            <a:off x="-3070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7654C35-F184-1667-B559-EE957574C98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B11FDF-40E5-5B00-A011-F7A6F32B72F8}"/>
              </a:ext>
            </a:extLst>
          </p:cNvPr>
          <p:cNvSpPr txBox="1"/>
          <p:nvPr/>
        </p:nvSpPr>
        <p:spPr>
          <a:xfrm>
            <a:off x="755817" y="2628122"/>
            <a:ext cx="8388184" cy="566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Doubling</a:t>
            </a:r>
          </a:p>
          <a:p>
            <a:pPr marL="302259" lvl="1">
              <a:lnSpc>
                <a:spcPts val="4479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Calculate the Reflectance and Transmittance of light from a single thin, homogeneous layer by sub dividing into multiple thin equal slab.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Reflectance and transmittance from an arbitrarily thick slab can then be obtained by repeatedly doubling the thin slab solution until the desired thickness is achieved.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1B0CC29-B828-4BCB-04D0-712210E4FD94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D0BB3F-4C49-7D6A-69C7-0C70CBE6B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84" t="43077" r="15833" b="1538"/>
          <a:stretch>
            <a:fillRect/>
          </a:stretch>
        </p:blipFill>
        <p:spPr>
          <a:xfrm>
            <a:off x="10405648" y="3086100"/>
            <a:ext cx="6324600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B88119-CEFF-A52A-1A43-FF554C9340B2}"/>
              </a:ext>
            </a:extLst>
          </p:cNvPr>
          <p:cNvSpPr txBox="1"/>
          <p:nvPr/>
        </p:nvSpPr>
        <p:spPr>
          <a:xfrm>
            <a:off x="10730248" y="8572500"/>
            <a:ext cx="567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Doubling (separation big slab into multiple small slabs)</a:t>
            </a:r>
          </a:p>
        </p:txBody>
      </p:sp>
    </p:spTree>
    <p:extLst>
      <p:ext uri="{BB962C8B-B14F-4D97-AF65-F5344CB8AC3E}">
        <p14:creationId xmlns:p14="http://schemas.microsoft.com/office/powerpoint/2010/main" val="230929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5FF8-9639-930F-4CA2-D0C03C48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775ED4-877C-793C-DEE8-824EAC96BB8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92E143-8404-6B60-4B42-8AE32BCD36D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FD149FE-D3D0-72EB-9738-EAC51C9AD976}"/>
              </a:ext>
            </a:extLst>
          </p:cNvPr>
          <p:cNvSpPr txBox="1"/>
          <p:nvPr/>
        </p:nvSpPr>
        <p:spPr>
          <a:xfrm>
            <a:off x="755817" y="2628122"/>
            <a:ext cx="8388184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</a:p>
          <a:p>
            <a:pPr marL="302259" lvl="1">
              <a:lnSpc>
                <a:spcPts val="4479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An extension of doubling permitting layers of differing optical properties and be added in order to calculate Reflectance and Transmittance in more complex structures including international reflection at layer boundary.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Adding doubling method can be used for any optical wavelength.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There is no restriction of the radio of scattering to absorption.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B3DF07F-9BFF-5F63-BC51-6FF05F3FD89A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94A867-6275-B4B0-2DC2-13A87B28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7" t="46005" r="25000" b="10769"/>
          <a:stretch>
            <a:fillRect/>
          </a:stretch>
        </p:blipFill>
        <p:spPr>
          <a:xfrm>
            <a:off x="10439400" y="2628122"/>
            <a:ext cx="6096000" cy="5806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83B289-4ECC-268F-F133-4DC4509AD418}"/>
              </a:ext>
            </a:extLst>
          </p:cNvPr>
          <p:cNvSpPr txBox="1"/>
          <p:nvPr/>
        </p:nvSpPr>
        <p:spPr>
          <a:xfrm>
            <a:off x="10866888" y="8461237"/>
            <a:ext cx="5402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Thin slab </a:t>
            </a:r>
            <a:r>
              <a:rPr lang="en-US" dirty="0" err="1"/>
              <a:t>sandwitch</a:t>
            </a:r>
            <a:r>
              <a:rPr lang="en-US" dirty="0"/>
              <a:t> between two different material</a:t>
            </a:r>
          </a:p>
        </p:txBody>
      </p:sp>
    </p:spTree>
    <p:extLst>
      <p:ext uri="{BB962C8B-B14F-4D97-AF65-F5344CB8AC3E}">
        <p14:creationId xmlns:p14="http://schemas.microsoft.com/office/powerpoint/2010/main" val="353033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FF86-0EF7-21AF-C40F-D6BC65DA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E7EDE8-B3E7-44A9-F30F-C3C686BB0A80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6E56AC0-7F5D-01B5-75C9-49AFE85B470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4C4DF36-A71B-B1BF-79C6-992387B6A433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63440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Inverse model </a:t>
                </a:r>
                <a14:m>
                  <m:oMath xmlns:m="http://schemas.openxmlformats.org/officeDocument/2006/math">
                    <m:r>
                      <a:rPr lang="en-US" sz="28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[</m:t>
                    </m:r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8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]=</m:t>
                    </m:r>
                    <m:sSubSup>
                      <m:sSubSupPr>
                        <m:ctrlP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AD</m:t>
                        </m:r>
                      </m:e>
                      <m:sub>
                        <m:d>
                          <m:dPr>
                            <m:ctrlP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𝒏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𝒈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𝒅</m:t>
                            </m:r>
                          </m:e>
                        </m:d>
                      </m:sub>
                      <m:sup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𝟏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 </m:t>
                    </m:r>
                    <m:r>
                      <a:rPr 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𝑹</m:t>
                    </m:r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,</m:t>
                    </m:r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𝑻</m:t>
                    </m:r>
                    <m:r>
                      <a:rPr 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)</m:t>
                    </m:r>
                  </m:oMath>
                </a14:m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The input of the models are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sz="2500" dirty="0"/>
                  <a:t>].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Reduce to Dimensionless parameters (reduce 3 inputs to 2):</a:t>
                </a:r>
              </a:p>
              <a:p>
                <a:pPr marL="302259" lvl="1"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500" dirty="0"/>
                  <a:t> 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  <m:r>
                      <a:rPr lang="en-US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e>
                    </m:d>
                  </m:oMath>
                </a14:m>
                <a:endParaRPr lang="en-US" sz="2800" b="1" dirty="0"/>
              </a:p>
              <a:p>
                <a:pPr marL="302259" lvl="1">
                  <a:lnSpc>
                    <a:spcPct val="200000"/>
                  </a:lnSpc>
                </a:pPr>
                <a:r>
                  <a:rPr lang="en-US" sz="2500" dirty="0"/>
                  <a:t>Where: a is albedo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sz="2500" dirty="0"/>
                  <a:t> is optical thickness.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From the measurement 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500" dirty="0"/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4C4DF36-A71B-B1BF-79C6-992387B6A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6344044"/>
              </a:xfrm>
              <a:prstGeom prst="rect">
                <a:avLst/>
              </a:prstGeom>
              <a:blipFill>
                <a:blip r:embed="rId3"/>
                <a:stretch>
                  <a:fillRect l="-38" t="-3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EB9AA08A-23BC-B380-F06D-909652D8C5F4}"/>
              </a:ext>
            </a:extLst>
          </p:cNvPr>
          <p:cNvSpPr txBox="1"/>
          <p:nvPr/>
        </p:nvSpPr>
        <p:spPr>
          <a:xfrm>
            <a:off x="3482856" y="1521821"/>
            <a:ext cx="11322287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Method</a:t>
            </a:r>
          </a:p>
        </p:txBody>
      </p:sp>
    </p:spTree>
    <p:extLst>
      <p:ext uri="{BB962C8B-B14F-4D97-AF65-F5344CB8AC3E}">
        <p14:creationId xmlns:p14="http://schemas.microsoft.com/office/powerpoint/2010/main" val="2722241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6F72-5369-1535-243E-0605FB85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0CEBDE-1E11-EE61-2867-C8729F42F517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66DB8A-E00A-EEDF-44A8-D06AACCA91F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A7E8209-4EFC-93B3-15FF-9561917716D2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75230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Fresnel Reflections use refractive index n to calculate the reflection at the boundary.</a:t>
                </a:r>
              </a:p>
              <a:p>
                <a:pPr marL="1061719" lvl="2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Describes the partial reflection of light (or other electromagnetic waves) at the boundary between two transparent materials with different refractive indices.</a:t>
                </a:r>
              </a:p>
              <a:p>
                <a:pPr marL="1061719" lvl="2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Fresnel equations determine the fraction of light reflected and transmitted at each interface, depending on refractive indices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angle of incident </a:t>
                </a:r>
                <a14:m>
                  <m:oMath xmlns:m="http://schemas.openxmlformats.org/officeDocument/2006/math"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500" dirty="0"/>
                  <a:t>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 err="1"/>
                  <a:t>Henyey</a:t>
                </a:r>
                <a:r>
                  <a:rPr lang="en-US" sz="2500" dirty="0"/>
                  <a:t>-Greenstein scattering phase function which is described by g.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𝑔𝑐𝑜𝑠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marL="302259" lvl="1">
                  <a:lnSpc>
                    <a:spcPct val="200000"/>
                  </a:lnSpc>
                </a:pPr>
                <a:r>
                  <a:rPr lang="en-US" sz="2500" dirty="0"/>
                  <a:t>Such that,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A7E8209-4EFC-93B3-15FF-956191771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7523021"/>
              </a:xfrm>
              <a:prstGeom prst="rect">
                <a:avLst/>
              </a:prstGeom>
              <a:blipFill>
                <a:blip r:embed="rId3"/>
                <a:stretch>
                  <a:fillRect r="-1014" b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87422469-9FD0-C08B-E280-AB1E3FF3564C}"/>
              </a:ext>
            </a:extLst>
          </p:cNvPr>
          <p:cNvSpPr txBox="1"/>
          <p:nvPr/>
        </p:nvSpPr>
        <p:spPr>
          <a:xfrm>
            <a:off x="3482856" y="1521821"/>
            <a:ext cx="11322287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Method</a:t>
            </a:r>
          </a:p>
        </p:txBody>
      </p:sp>
      <p:pic>
        <p:nvPicPr>
          <p:cNvPr id="6" name="Picture 5" descr="A red line drawn on a white surface&#10;&#10;AI-generated content may be incorrect.">
            <a:extLst>
              <a:ext uri="{FF2B5EF4-FFF2-40B4-BE49-F238E27FC236}">
                <a16:creationId xmlns:a16="http://schemas.microsoft.com/office/drawing/2014/main" id="{A2512D0D-6F0D-B9E8-384E-4CF2FB408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4223" y="5981700"/>
            <a:ext cx="5732039" cy="251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2CCE2D-57F0-3303-3469-7CF2ED3D7B03}"/>
              </a:ext>
            </a:extLst>
          </p:cNvPr>
          <p:cNvSpPr txBox="1"/>
          <p:nvPr/>
        </p:nvSpPr>
        <p:spPr>
          <a:xfrm>
            <a:off x="11574944" y="8496300"/>
            <a:ext cx="6150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Fig. Partial transmission and reflection of a pulse travelling from</a:t>
            </a:r>
          </a:p>
          <a:p>
            <a:pPr algn="ctr"/>
            <a:r>
              <a:rPr lang="en-US" dirty="0"/>
              <a:t> a low to a high refractive index medium</a:t>
            </a:r>
          </a:p>
        </p:txBody>
      </p:sp>
    </p:spTree>
    <p:extLst>
      <p:ext uri="{BB962C8B-B14F-4D97-AF65-F5344CB8AC3E}">
        <p14:creationId xmlns:p14="http://schemas.microsoft.com/office/powerpoint/2010/main" val="67153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949</Words>
  <Application>Microsoft Office PowerPoint</Application>
  <PresentationFormat>Custom</PresentationFormat>
  <Paragraphs>93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</vt:lpstr>
      <vt:lpstr>DM Serif Display</vt:lpstr>
      <vt:lpstr>Cambria Math</vt:lpstr>
      <vt:lpstr>Calibri</vt:lpstr>
      <vt:lpstr>Arial</vt:lpstr>
      <vt:lpstr>Aptos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412</cp:revision>
  <dcterms:created xsi:type="dcterms:W3CDTF">2006-08-16T00:00:00Z</dcterms:created>
  <dcterms:modified xsi:type="dcterms:W3CDTF">2025-12-20T14:59:04Z</dcterms:modified>
  <dc:identifier>DAG0bfrM1o8</dc:identifier>
</cp:coreProperties>
</file>