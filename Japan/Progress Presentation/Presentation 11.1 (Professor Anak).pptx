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fif" ContentType="image/jpeg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865" r:id="rId3"/>
    <p:sldId id="861" r:id="rId4"/>
    <p:sldId id="868" r:id="rId5"/>
    <p:sldId id="867" r:id="rId6"/>
    <p:sldId id="864" r:id="rId7"/>
    <p:sldId id="862" r:id="rId8"/>
    <p:sldId id="873" r:id="rId9"/>
    <p:sldId id="874" r:id="rId10"/>
    <p:sldId id="866" r:id="rId11"/>
    <p:sldId id="863" r:id="rId12"/>
    <p:sldId id="869" r:id="rId13"/>
    <p:sldId id="872" r:id="rId14"/>
    <p:sldId id="877" r:id="rId15"/>
    <p:sldId id="876" r:id="rId16"/>
    <p:sldId id="267" r:id="rId17"/>
  </p:sldIdLst>
  <p:sldSz cx="18288000" cy="10287000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DM Serif Display" pitchFamily="2" charset="0"/>
      <p:regular r:id="rId20"/>
      <p:italic r:id="rId21"/>
    </p:embeddedFont>
    <p:embeddedFont>
      <p:font typeface="Open Sauce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2668" autoAdjust="0"/>
  </p:normalViewPr>
  <p:slideViewPr>
    <p:cSldViewPr>
      <p:cViewPr varScale="1">
        <p:scale>
          <a:sx n="70" d="100"/>
          <a:sy n="70" d="100"/>
        </p:scale>
        <p:origin x="11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2067-0DCD-2AC2-2616-7DF9E29B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CDD7E-C6CA-52FA-34A1-BFC2F8D07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D0F76-A401-8C03-FD0F-504326AC3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E66B8-54A3-36FF-B4AF-404C54FE0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>
                    <a:latin typeface="Cambria Math" panose="02040503050406030204" pitchFamily="18" charset="0"/>
                  </a:rPr>
                  <a:t>𝑟_𝑠𝑡𝑑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90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3D97-E6C1-62F7-579A-CB9A0A8B3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FE47E-C316-2B81-EF80-DCB7205AD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BBB68C4-7374-0E02-32C4-8EB7584EDA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BBB68C4-7374-0E02-32C4-8EB7584EDA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>
                    <a:latin typeface="Cambria Math" panose="02040503050406030204" pitchFamily="18" charset="0"/>
                  </a:rPr>
                  <a:t>𝑟_𝑠𝑡𝑑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66876-2583-A53A-0423-ED1E56409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01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D9A8-2131-11B5-15E5-83F2D4F6C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36D4C-2F0B-6F35-DAAC-5BC6ABCE2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8786E2B-D487-EAC8-E1D8-2CB5C89466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8786E2B-D487-EAC8-E1D8-2CB5C89466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>
                    <a:latin typeface="Cambria Math" panose="02040503050406030204" pitchFamily="18" charset="0"/>
                  </a:rPr>
                  <a:t>𝑟_𝑠𝑡𝑑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5FCF4-643A-5981-BBA3-630FCAD03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03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rate of change</a:t>
            </a:r>
          </a:p>
          <a:p>
            <a:r>
              <a:rPr lang="en-US" dirty="0"/>
              <a:t>Loss due to streaming</a:t>
            </a:r>
          </a:p>
          <a:p>
            <a:r>
              <a:rPr lang="en-US" dirty="0"/>
              <a:t>Loss due to interaction </a:t>
            </a:r>
          </a:p>
          <a:p>
            <a:r>
              <a:rPr lang="en-US" dirty="0"/>
              <a:t>Gain through scattering</a:t>
            </a:r>
          </a:p>
          <a:p>
            <a:r>
              <a:rPr lang="en-US" dirty="0"/>
              <a:t>Gain from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99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48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33E6-0FBA-B33E-0EFC-012B5697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6E975-F582-8530-FACC-1443288AB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7197E-4035-4066-87A0-F6389A873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4D771-EAB7-D39B-7376-12B3E8F0B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51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200A-3252-B94B-1DAC-C6B87210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32AAE-3745-F3F9-D964-A3C0DEC5D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A8CE3-8452-88F4-1A7D-B025BE11E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B64F3-538A-EDD3-23A7-F6DC3AE65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47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031FF-6077-C9AF-6AB7-D27F621C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16DD6-9857-FD93-8EC8-51D145F45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54ECD-8592-FA57-05D7-7FEA56B76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557F1-515A-6A94-EC43-896844F55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71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04D3-20F5-699D-E00A-A7A21B16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4B481-327D-E699-90C4-9986CFAC0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3F3A-9B3D-9019-8596-B6C44B15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A2918-E301-8009-10B7-2C886CBD4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7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11.emf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39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2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Summary (Q4)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4176779" y="5143500"/>
            <a:ext cx="9934439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 Bone Tissue Phantom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B18B3-8E75-1984-E8DB-BD5D1AFD3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85FCA8-468C-081C-0856-84759669A5A1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6A4E623-6861-7164-14BE-B4385A62E3CE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557693-0B54-A98C-0D2C-D423CBBF8D77}"/>
              </a:ext>
            </a:extLst>
          </p:cNvPr>
          <p:cNvSpPr txBox="1"/>
          <p:nvPr/>
        </p:nvSpPr>
        <p:spPr>
          <a:xfrm>
            <a:off x="755816" y="2628122"/>
            <a:ext cx="16541583" cy="3354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5159" lvl="1" indent="-3429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Optical properties describe how a material interacts with light (electromagnetic radiation), especially UV, visible, and infrared regions.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It can determine the color, transparency and reflectivity, which are essential for cells, sensors and lenses. 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When light interact with materials, it can be reflected, absorbed, transmitted, scattered and refracted. </a:t>
            </a:r>
            <a:br>
              <a:rPr lang="en-US" sz="2500" dirty="0"/>
            </a:b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84E0578-5D8E-2B35-28F5-76DCF82F941E}"/>
              </a:ext>
            </a:extLst>
          </p:cNvPr>
          <p:cNvSpPr txBox="1"/>
          <p:nvPr/>
        </p:nvSpPr>
        <p:spPr>
          <a:xfrm>
            <a:off x="3845850" y="1611989"/>
            <a:ext cx="105962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Materials</a:t>
            </a:r>
          </a:p>
        </p:txBody>
      </p:sp>
      <p:pic>
        <p:nvPicPr>
          <p:cNvPr id="15" name="Picture 1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EEABAAFB-6115-05C2-45DA-56745F491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524500"/>
            <a:ext cx="5689518" cy="341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1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A1F2-AFDB-17DA-E80F-EC9D44B3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50422E-C115-7FC3-76D8-93998F873170}"/>
              </a:ext>
            </a:extLst>
          </p:cNvPr>
          <p:cNvSpPr/>
          <p:nvPr/>
        </p:nvSpPr>
        <p:spPr>
          <a:xfrm>
            <a:off x="-320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E0F9060-2D4B-2535-DF21-1A6D9E9D60B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22E280A-96CA-F13C-2BC3-34EBA8A1EB94}"/>
              </a:ext>
            </a:extLst>
          </p:cNvPr>
          <p:cNvSpPr txBox="1"/>
          <p:nvPr/>
        </p:nvSpPr>
        <p:spPr>
          <a:xfrm>
            <a:off x="3883949" y="1472438"/>
            <a:ext cx="105200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Materials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D75952B2-C5F1-EB54-2875-9B7E85123847}"/>
              </a:ext>
            </a:extLst>
          </p:cNvPr>
          <p:cNvSpPr txBox="1"/>
          <p:nvPr/>
        </p:nvSpPr>
        <p:spPr>
          <a:xfrm>
            <a:off x="873209" y="2529355"/>
            <a:ext cx="8270791" cy="3402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Reflection </a:t>
            </a:r>
          </a:p>
          <a:p>
            <a:pPr marL="302259" lvl="1">
              <a:lnSpc>
                <a:spcPts val="4479"/>
              </a:lnSpc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Fraction of incident light reflected from a surface.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Depends on surface roughness and refractive index.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Important for mirrors and metallic surfaces. 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  <a:p>
            <a:pPr marL="302259" lvl="1">
              <a:lnSpc>
                <a:spcPts val="4479"/>
              </a:lnSpc>
            </a:pPr>
            <a:endParaRPr lang="en-US" sz="2500" dirty="0"/>
          </a:p>
        </p:txBody>
      </p:sp>
      <p:pic>
        <p:nvPicPr>
          <p:cNvPr id="9" name="Picture 8" descr="A diagram of a reflection of light&#10;&#10;AI-generated content may be incorrect.">
            <a:extLst>
              <a:ext uri="{FF2B5EF4-FFF2-40B4-BE49-F238E27FC236}">
                <a16:creationId xmlns:a16="http://schemas.microsoft.com/office/drawing/2014/main" id="{2316AD78-336A-B535-32A0-ADBDD4C68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203" y="5524500"/>
            <a:ext cx="6148801" cy="36236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70A922-5CA4-8511-D003-E78ED522498C}"/>
              </a:ext>
            </a:extLst>
          </p:cNvPr>
          <p:cNvSpPr txBox="1"/>
          <p:nvPr/>
        </p:nvSpPr>
        <p:spPr>
          <a:xfrm>
            <a:off x="3484603" y="9148193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Light reflection on surface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BF26C1B-ECDD-6A35-2350-49B5AE475F9D}"/>
              </a:ext>
            </a:extLst>
          </p:cNvPr>
          <p:cNvSpPr txBox="1"/>
          <p:nvPr/>
        </p:nvSpPr>
        <p:spPr>
          <a:xfrm>
            <a:off x="9144000" y="2525888"/>
            <a:ext cx="8270791" cy="3402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Refraction </a:t>
            </a:r>
          </a:p>
          <a:p>
            <a:pPr marL="302259" lvl="1">
              <a:lnSpc>
                <a:spcPts val="4479"/>
              </a:lnSpc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Bending of light at the interface of two media.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Governed by Snell’s Law.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Important for lenses, optical fibers and skin.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  <a:p>
            <a:pPr marL="302259" lvl="1">
              <a:lnSpc>
                <a:spcPts val="4479"/>
              </a:lnSpc>
            </a:pPr>
            <a:endParaRPr lang="en-US" sz="2500" dirty="0"/>
          </a:p>
        </p:txBody>
      </p:sp>
      <p:pic>
        <p:nvPicPr>
          <p:cNvPr id="12" name="Picture 11" descr="A graph of a line and a red line&#10;&#10;AI-generated content may be incorrect.">
            <a:extLst>
              <a:ext uri="{FF2B5EF4-FFF2-40B4-BE49-F238E27FC236}">
                <a16:creationId xmlns:a16="http://schemas.microsoft.com/office/drawing/2014/main" id="{950ACC4F-7CD2-ADBA-54EF-F7C57D3B15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591" y="5511265"/>
            <a:ext cx="6828796" cy="3636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403F96-8BB3-D76B-686A-FA80A635998B}"/>
              </a:ext>
            </a:extLst>
          </p:cNvPr>
          <p:cNvSpPr txBox="1"/>
          <p:nvPr/>
        </p:nvSpPr>
        <p:spPr>
          <a:xfrm>
            <a:off x="11430000" y="9159861"/>
            <a:ext cx="394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Light refracted through the medium</a:t>
            </a:r>
          </a:p>
        </p:txBody>
      </p:sp>
    </p:spTree>
    <p:extLst>
      <p:ext uri="{BB962C8B-B14F-4D97-AF65-F5344CB8AC3E}">
        <p14:creationId xmlns:p14="http://schemas.microsoft.com/office/powerpoint/2010/main" val="16959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BF8A-9082-7A49-1E8A-02BE6FC2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1BABB7-1F1A-3A4E-BF2C-EFE5DDD51089}"/>
              </a:ext>
            </a:extLst>
          </p:cNvPr>
          <p:cNvSpPr/>
          <p:nvPr/>
        </p:nvSpPr>
        <p:spPr>
          <a:xfrm>
            <a:off x="-320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7DD58C9-30A7-8EDB-2143-6EB039B0F6D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E1B93DC-AA4B-D4F0-AC4E-95549796A390}"/>
              </a:ext>
            </a:extLst>
          </p:cNvPr>
          <p:cNvSpPr txBox="1"/>
          <p:nvPr/>
        </p:nvSpPr>
        <p:spPr>
          <a:xfrm>
            <a:off x="3883949" y="1472438"/>
            <a:ext cx="105200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Materials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8EB673C-CA9C-48FC-1334-9FDAE311C7F4}"/>
              </a:ext>
            </a:extLst>
          </p:cNvPr>
          <p:cNvSpPr txBox="1"/>
          <p:nvPr/>
        </p:nvSpPr>
        <p:spPr>
          <a:xfrm>
            <a:off x="876417" y="6978471"/>
            <a:ext cx="8270791" cy="2246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Light Absorption 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Ability of material to absorb light energy.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Related to electronic and vibrational transitions.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Determines opacity and band gap behavior. 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B28A2A-8B42-0D57-9C42-1081C56A86ED}"/>
              </a:ext>
            </a:extLst>
          </p:cNvPr>
          <p:cNvSpPr txBox="1"/>
          <p:nvPr/>
        </p:nvSpPr>
        <p:spPr>
          <a:xfrm>
            <a:off x="3883949" y="5879635"/>
            <a:ext cx="3385006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Light absorption phenomenon 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AA0BF5-C763-D809-3FE3-319980372709}"/>
              </a:ext>
            </a:extLst>
          </p:cNvPr>
          <p:cNvSpPr txBox="1"/>
          <p:nvPr/>
        </p:nvSpPr>
        <p:spPr>
          <a:xfrm>
            <a:off x="9147208" y="6978471"/>
            <a:ext cx="8270791" cy="2823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Light Scattering and Transmission 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Scattering is the redirection of light due to particles or defects. </a:t>
            </a:r>
          </a:p>
          <a:p>
            <a:pPr marL="873759" lvl="1" indent="-5715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Open Sauce"/>
              </a:rPr>
              <a:t>Transmission is the fraction of light that passes through a material.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60B05-8FF6-7673-7C79-79CCACEB8977}"/>
              </a:ext>
            </a:extLst>
          </p:cNvPr>
          <p:cNvSpPr txBox="1"/>
          <p:nvPr/>
        </p:nvSpPr>
        <p:spPr>
          <a:xfrm>
            <a:off x="12115800" y="6364003"/>
            <a:ext cx="375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Light Scattering and Transmission</a:t>
            </a:r>
          </a:p>
        </p:txBody>
      </p:sp>
      <p:pic>
        <p:nvPicPr>
          <p:cNvPr id="5" name="Picture 4" descr="A diagram of a red apple with arrows and the sun and the sun&#10;&#10;AI-generated content may be incorrect.">
            <a:extLst>
              <a:ext uri="{FF2B5EF4-FFF2-40B4-BE49-F238E27FC236}">
                <a16:creationId xmlns:a16="http://schemas.microsoft.com/office/drawing/2014/main" id="{E394EA57-7040-9DB2-42D1-1FF68F9FB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0" t="28803" r="16640"/>
          <a:stretch>
            <a:fillRect/>
          </a:stretch>
        </p:blipFill>
        <p:spPr>
          <a:xfrm>
            <a:off x="2101394" y="2698393"/>
            <a:ext cx="6400800" cy="318730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9981C1-7FF4-59D9-1DFF-A968DA9419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3" t="31152" r="31528" b="8850"/>
          <a:stretch>
            <a:fillRect/>
          </a:stretch>
        </p:blipFill>
        <p:spPr>
          <a:xfrm>
            <a:off x="11582400" y="2310845"/>
            <a:ext cx="4508629" cy="39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43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F27C48-98AF-956E-CC80-49B0AE1CD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FAE7A0-008F-4C48-F15C-67D0BDDCE8E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D62ADCB-2F6E-2006-C2D0-A13EBB6A1B6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BD628F8-3B21-A0BC-6447-24BB4CB26B2B}"/>
              </a:ext>
            </a:extLst>
          </p:cNvPr>
          <p:cNvSpPr txBox="1"/>
          <p:nvPr/>
        </p:nvSpPr>
        <p:spPr>
          <a:xfrm>
            <a:off x="685799" y="1638300"/>
            <a:ext cx="169164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samples (skins and phantom)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DE0315E3-E777-57FF-755A-8E4C6D78CA8C}"/>
              </a:ext>
            </a:extLst>
          </p:cNvPr>
          <p:cNvSpPr txBox="1"/>
          <p:nvPr/>
        </p:nvSpPr>
        <p:spPr>
          <a:xfrm>
            <a:off x="873207" y="2667001"/>
            <a:ext cx="16541583" cy="6846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 flowing data biomedical samples can be measured using the integrating spheres: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Diffuse reflectance R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is a fraction of light diffusely reflected from sample.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Total transmittance T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is a fraction of light transmitted (diffuse and direct).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Specular reflectance R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is a mirror-like surface reflection.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Absorptance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is a fraction of light absorbed by sample.</a:t>
            </a:r>
          </a:p>
          <a:p>
            <a:pPr marL="302259" lvl="1">
              <a:lnSpc>
                <a:spcPts val="4479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 flowing optical properties can be calculated from the measured data: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Absorption coefficient </a:t>
            </a:r>
            <a:r>
              <a:rPr lang="el-GR" sz="2800" b="1" dirty="0"/>
              <a:t>μ</a:t>
            </a:r>
            <a:r>
              <a:rPr lang="en-US" sz="1600" b="1" dirty="0"/>
              <a:t>a</a:t>
            </a:r>
            <a:r>
              <a:rPr lang="en-US" sz="2800" dirty="0"/>
              <a:t>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the photon loss due to chromophore absorption.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Reduced scattering </a:t>
            </a:r>
            <a:r>
              <a:rPr lang="el-GR" sz="2800" b="1" dirty="0"/>
              <a:t>μ</a:t>
            </a:r>
            <a:r>
              <a:rPr lang="en-US" sz="1600" b="1" dirty="0"/>
              <a:t>s</a:t>
            </a:r>
            <a:r>
              <a:rPr lang="en-US" sz="2800" b="1" dirty="0"/>
              <a:t>′​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diffusion strength of scattered light.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Anisotropy Factor 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the directionality of scattering (0 = isotropic and 1 = forward).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Refractive index </a:t>
            </a:r>
            <a:r>
              <a:rPr lang="en-US" sz="2800" b="1" dirty="0"/>
              <a:t>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which describes the boundary reflection and transmission.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Albedo </a:t>
            </a:r>
            <a:r>
              <a:rPr lang="en-US" sz="2800" b="1" dirty="0"/>
              <a:t>a′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,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which describes the ratio of scattering to total extinction.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Penetration depth </a:t>
            </a:r>
            <a:r>
              <a:rPr lang="el-GR" sz="2800" b="1" dirty="0"/>
              <a:t>δ</a:t>
            </a:r>
            <a:r>
              <a:rPr lang="en-US" sz="2800" dirty="0"/>
              <a:t>, which describes the effective photon travel depth.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4576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BEC9-6F01-2F68-F67F-ACACE721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AAE1A6-80F7-205D-5D00-18F23748A01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5DC49B-6576-267B-EC1E-C738323B985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0734244-857E-77C9-9B9B-C092898B1090}"/>
              </a:ext>
            </a:extLst>
          </p:cNvPr>
          <p:cNvSpPr txBox="1"/>
          <p:nvPr/>
        </p:nvSpPr>
        <p:spPr>
          <a:xfrm>
            <a:off x="532739" y="2247900"/>
            <a:ext cx="9525000" cy="7586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Integrating sphere is an optical measurement tool used to quantify how light interacts with scattering and absorbing media.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It is a hollow spherical cavity, coated internally with a diffuse reflective material. 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radiation introduced into an integrating sphere strikes the reflective walls and undergoes multiple diffuse reflections.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After numerous reflections, the radiation is dispersed highly at the sphere walls.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resulting integrated radiation level is directly proportional to the initial level and may be easily measured by using a detector.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6C694F4-DFD1-3B1B-A663-13451D53C96E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</a:t>
            </a:r>
          </a:p>
        </p:txBody>
      </p:sp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9DF7E121-A3DA-61AD-41CB-02F7BD6FC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442854"/>
            <a:ext cx="8234879" cy="4713567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E1445A2D-B0E4-84B9-A9D5-AB4864DDF723}"/>
              </a:ext>
            </a:extLst>
          </p:cNvPr>
          <p:cNvSpPr txBox="1"/>
          <p:nvPr/>
        </p:nvSpPr>
        <p:spPr>
          <a:xfrm>
            <a:off x="10174678" y="8267700"/>
            <a:ext cx="769752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Integrating sphere setup to measure the optical properties of sample</a:t>
            </a:r>
          </a:p>
        </p:txBody>
      </p:sp>
    </p:spTree>
    <p:extLst>
      <p:ext uri="{BB962C8B-B14F-4D97-AF65-F5344CB8AC3E}">
        <p14:creationId xmlns:p14="http://schemas.microsoft.com/office/powerpoint/2010/main" val="20252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0B6B-003E-D4F8-C1DD-5BBA7516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AA9B8F-F683-AAE0-63D6-65A6C5D270BB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6D7ECFD-63D3-A77A-E946-ED8A0A498912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6B9741F-DF57-0AF8-B386-2AA31F1E4825}"/>
                  </a:ext>
                </a:extLst>
              </p:cNvPr>
              <p:cNvSpPr txBox="1"/>
              <p:nvPr/>
            </p:nvSpPr>
            <p:spPr>
              <a:xfrm>
                <a:off x="866384" y="1333500"/>
                <a:ext cx="16541583" cy="173124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Integrating Sphere measurement (Reflectance)</a:t>
                </a:r>
              </a:p>
              <a:p>
                <a:pPr marL="302259" lvl="1">
                  <a:lnSpc>
                    <a:spcPts val="4479"/>
                  </a:lnSpc>
                </a:pPr>
                <a:endPara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uce"/>
                </a:endParaRPr>
              </a:p>
              <a:p>
                <a:pPr marL="302259" lvl="1">
                  <a:lnSpc>
                    <a:spcPts val="447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</m:sub>
                      </m:sSub>
                      <m:f>
                        <m:f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sSubSup>
                            <m:sSub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𝑑𝑖𝑟𝑒𝑐𝑡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sz="2500" dirty="0"/>
                            <m:t>, 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i="0" dirty="0" smtClean="0"/>
                            <m:t> − </m:t>
                          </m:r>
                          <m:r>
                            <m:rPr>
                              <m:nor/>
                            </m:rPr>
                            <a:rPr lang="en-US" sz="2500" i="0" dirty="0" smtClean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i="0" dirty="0" smtClean="0"/>
                            <m:t>(0,0)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(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500" dirty="0"/>
                            <m:t>, 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i="0" dirty="0" smtClean="0"/>
                            <m:t> − </m:t>
                          </m:r>
                          <m:r>
                            <m:rPr>
                              <m:nor/>
                            </m:rPr>
                            <a:rPr lang="en-US" sz="2500" i="0" dirty="0" smtClean="0"/>
                            <m:t>R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(0,0)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6B9741F-DF57-0AF8-B386-2AA31F1E4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4" y="1333500"/>
                <a:ext cx="16541583" cy="1731243"/>
              </a:xfrm>
              <a:prstGeom prst="rect">
                <a:avLst/>
              </a:prstGeom>
              <a:blipFill>
                <a:blip r:embed="rId4"/>
                <a:stretch>
                  <a:fillRect t="-11268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E9CEA9A-5DA4-F549-BD58-3FD0ED8C9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323" y="3543300"/>
            <a:ext cx="15445354" cy="48584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634053-4BAC-CA7A-0C5B-FF947C89933D}"/>
                  </a:ext>
                </a:extLst>
              </p:cNvPr>
              <p:cNvSpPr txBox="1"/>
              <p:nvPr/>
            </p:nvSpPr>
            <p:spPr>
              <a:xfrm>
                <a:off x="4731289" y="8695689"/>
                <a:ext cx="8811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Fig. Configurations necessary to make the measurements required for the calculation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634053-4BAC-CA7A-0C5B-FF947C899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289" y="8695689"/>
                <a:ext cx="8811771" cy="369332"/>
              </a:xfrm>
              <a:prstGeom prst="rect">
                <a:avLst/>
              </a:prstGeom>
              <a:blipFill>
                <a:blip r:embed="rId6"/>
                <a:stretch>
                  <a:fillRect l="-55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868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CC848-3B91-D0CC-E6A0-0177AFA25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AB513A-85DF-ADAE-A5AD-97E90B56157E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5A7C43-D673-D991-E53A-E94A1820DA4F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535A55E-C118-61A3-90F2-D16BF04BE736}"/>
                  </a:ext>
                </a:extLst>
              </p:cNvPr>
              <p:cNvSpPr txBox="1"/>
              <p:nvPr/>
            </p:nvSpPr>
            <p:spPr>
              <a:xfrm>
                <a:off x="873208" y="1191779"/>
                <a:ext cx="16541583" cy="173124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Integrating Sphere measurement (Transmittance) </a:t>
                </a:r>
              </a:p>
              <a:p>
                <a:pPr marL="302259" lvl="1">
                  <a:lnSpc>
                    <a:spcPts val="4479"/>
                  </a:lnSpc>
                </a:pPr>
                <a:endPara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uce"/>
                </a:endParaRPr>
              </a:p>
              <a:p>
                <a:pPr marL="302259" lvl="1">
                  <a:lnSpc>
                    <a:spcPts val="447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sSubSup>
                            <m:sSub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𝑑𝑖𝑟𝑒𝑐𝑡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sz="2500" dirty="0"/>
                            <m:t>, 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i="0" dirty="0" smtClean="0"/>
                            <m:t> −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𝑑𝑎𝑟𝑘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(0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0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i="0" dirty="0" smtClean="0"/>
                            <m:t> −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 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𝑑𝑎𝑟𝑘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535A55E-C118-61A3-90F2-D16BF04BE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08" y="1191779"/>
                <a:ext cx="16541583" cy="1731243"/>
              </a:xfrm>
              <a:prstGeom prst="rect">
                <a:avLst/>
              </a:prstGeom>
              <a:blipFill>
                <a:blip r:embed="rId4"/>
                <a:stretch>
                  <a:fillRect t="-11307" b="-10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68F02E-5DD9-532C-CDDC-5A6237543DDD}"/>
                  </a:ext>
                </a:extLst>
              </p:cNvPr>
              <p:cNvSpPr txBox="1"/>
              <p:nvPr/>
            </p:nvSpPr>
            <p:spPr>
              <a:xfrm>
                <a:off x="4731290" y="8488957"/>
                <a:ext cx="8811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Fig. Configurations necessary to make the measurements required for the calculation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68F02E-5DD9-532C-CDDC-5A6237543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290" y="8488957"/>
                <a:ext cx="8811771" cy="369332"/>
              </a:xfrm>
              <a:prstGeom prst="rect">
                <a:avLst/>
              </a:prstGeom>
              <a:blipFill>
                <a:blip r:embed="rId5"/>
                <a:stretch>
                  <a:fillRect l="-55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B559662-ABA5-2A22-FC6F-6F59C5E2B1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139" y="3467100"/>
            <a:ext cx="16044074" cy="485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29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02F50-5EA0-6166-3BD5-BEA0EA30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857E4B-E3A4-6A24-0359-4EA2758AB5A6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733EE07-388D-D199-27FE-AC21C1A8C31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6FCAEF45-4073-39CD-06D3-E1753553A3A8}"/>
                  </a:ext>
                </a:extLst>
              </p:cNvPr>
              <p:cNvSpPr txBox="1"/>
              <p:nvPr/>
            </p:nvSpPr>
            <p:spPr>
              <a:xfrm>
                <a:off x="866384" y="1471912"/>
                <a:ext cx="16541583" cy="173124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Integrating Sphere measurement (Transmittance) </a:t>
                </a:r>
              </a:p>
              <a:p>
                <a:pPr marL="302259" lvl="1">
                  <a:lnSpc>
                    <a:spcPts val="4479"/>
                  </a:lnSpc>
                </a:pPr>
                <a:endPara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uce"/>
                </a:endParaRPr>
              </a:p>
              <a:p>
                <a:pPr marL="302259" lvl="1">
                  <a:lnSpc>
                    <a:spcPts val="447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500" i="0" dirty="0" smtClean="0"/>
                            <m:t>−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6FCAEF45-4073-39CD-06D3-E1753553A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4" y="1471912"/>
                <a:ext cx="16541583" cy="1731243"/>
              </a:xfrm>
              <a:prstGeom prst="rect">
                <a:avLst/>
              </a:prstGeom>
              <a:blipFill>
                <a:blip r:embed="rId4"/>
                <a:stretch>
                  <a:fillRect t="-10915" b="-6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446627-3694-3AD0-1069-921E8CB8E92A}"/>
                  </a:ext>
                </a:extLst>
              </p:cNvPr>
              <p:cNvSpPr txBox="1"/>
              <p:nvPr/>
            </p:nvSpPr>
            <p:spPr>
              <a:xfrm>
                <a:off x="4731289" y="8596153"/>
                <a:ext cx="8811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Fig. Configurations necessary to make the measurements required for the calculation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446627-3694-3AD0-1069-921E8CB8E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289" y="8596153"/>
                <a:ext cx="8811771" cy="369332"/>
              </a:xfrm>
              <a:prstGeom prst="rect">
                <a:avLst/>
              </a:prstGeom>
              <a:blipFill>
                <a:blip r:embed="rId5"/>
                <a:stretch>
                  <a:fillRect l="-55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6670717-DEE5-2B2B-64D1-6E536C867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417" y="3771900"/>
            <a:ext cx="14807516" cy="462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8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F14CC-BB8A-E89F-CAF3-4D776BBC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ED7595-F803-31C8-DDAC-20B357538FE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F6689A3-AE5B-C192-1252-E2FF9B5CBB4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32AB92F-3CF4-02E7-903E-70E69115C306}"/>
              </a:ext>
            </a:extLst>
          </p:cNvPr>
          <p:cNvSpPr txBox="1"/>
          <p:nvPr/>
        </p:nvSpPr>
        <p:spPr>
          <a:xfrm>
            <a:off x="5024700" y="1521821"/>
            <a:ext cx="99866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Radiative Transport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95B367-4233-1706-A61D-1B013CF89D89}"/>
                  </a:ext>
                </a:extLst>
              </p:cNvPr>
              <p:cNvSpPr txBox="1"/>
              <p:nvPr/>
            </p:nvSpPr>
            <p:spPr>
              <a:xfrm>
                <a:off x="762000" y="2705100"/>
                <a:ext cx="16389183" cy="547682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General  Form</a:t>
                </a: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 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a:rPr lang="en-US" sz="25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5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r>
                        <m:rPr>
                          <m:nor/>
                        </m:rPr>
                        <a:rPr lang="en-US" sz="2500" dirty="0"/>
                        <m:t>t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r>
                        <m:rPr>
                          <m:nor/>
                        </m:rPr>
                        <a:rPr lang="en-US" sz="2500" dirty="0"/>
                        <m:t>t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p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,</m:t>
                          </m:r>
                          <m:sSup>
                            <m:sSupPr>
                              <m:ctrlPr>
                                <a:rPr lang="en-US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5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b="0" i="0" dirty="0" smtClean="0"/>
                            <m:t>)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L</m:t>
                    </m:r>
                    <m:r>
                      <m:rPr>
                        <m:nor/>
                      </m:rPr>
                      <a:rPr lang="en-US" sz="2800" dirty="0"/>
                      <m:t>(</m:t>
                    </m:r>
                    <m:r>
                      <m:rPr>
                        <m:nor/>
                      </m:rPr>
                      <a:rPr lang="en-US" sz="2800" dirty="0"/>
                      <m:t>z</m:t>
                    </m:r>
                    <m:r>
                      <m:rPr>
                        <m:nor/>
                      </m:rPr>
                      <a:rPr lang="en-US" sz="2800" dirty="0"/>
                      <m:t>,</m:t>
                    </m:r>
                    <m:r>
                      <m:rPr>
                        <m:nor/>
                      </m:rPr>
                      <a:rPr lang="el-GR" sz="2800" dirty="0"/>
                      <m:t>μ</m:t>
                    </m:r>
                    <m:r>
                      <m:rPr>
                        <m:nor/>
                      </m:rPr>
                      <a:rPr lang="el-GR" sz="2800" dirty="0"/>
                      <m:t>)</m:t>
                    </m:r>
                    <m:r>
                      <m:rPr>
                        <m:nor/>
                      </m:rPr>
                      <a:rPr lang="en-US" sz="2800" dirty="0"/>
                      <m:t> =</m:t>
                    </m:r>
                  </m:oMath>
                </a14:m>
                <a:r>
                  <a:rPr lang="en-US" sz="2800" dirty="0"/>
                  <a:t> radiance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= absorption coefficient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= scattering coefficient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p</m:t>
                    </m:r>
                    <m:r>
                      <m:rPr>
                        <m:nor/>
                      </m:rPr>
                      <a:rPr lang="en-US" sz="2800" dirty="0"/>
                      <m:t>(</m:t>
                    </m:r>
                    <m:r>
                      <m:rPr>
                        <m:nor/>
                      </m:rPr>
                      <a:rPr lang="el-GR" sz="2800" dirty="0"/>
                      <m:t>μ</m:t>
                    </m:r>
                    <m:r>
                      <m:rPr>
                        <m:nor/>
                      </m:rPr>
                      <a:rPr lang="el-GR" sz="2800" dirty="0"/>
                      <m:t>,</m:t>
                    </m:r>
                    <m:r>
                      <m:rPr>
                        <m:nor/>
                      </m:rPr>
                      <a:rPr lang="el-GR" sz="2800" dirty="0"/>
                      <m:t>μ</m:t>
                    </m:r>
                    <m:r>
                      <m:rPr>
                        <m:nor/>
                      </m:rPr>
                      <a:rPr lang="el-GR" sz="2800" dirty="0"/>
                      <m:t>′)</m:t>
                    </m:r>
                  </m:oMath>
                </a14:m>
                <a:r>
                  <a:rPr lang="en-US" sz="2800" dirty="0"/>
                  <a:t> = phase function (</a:t>
                </a:r>
                <a:r>
                  <a:rPr lang="en-US" sz="2800" dirty="0" err="1"/>
                  <a:t>Henyey</a:t>
                </a:r>
                <a:r>
                  <a:rPr lang="en-US" sz="2800" dirty="0"/>
                  <a:t>-Greenstein)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g = anisotropy (average cosine of scattering angle)</a:t>
                </a:r>
              </a:p>
              <a:p>
                <a:pPr marL="302259" lvl="1"/>
                <a:endParaRPr lang="en-US" sz="2500" dirty="0"/>
              </a:p>
              <a:p>
                <a:pPr marL="302259" lvl="1"/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95B367-4233-1706-A61D-1B013CF89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705100"/>
                <a:ext cx="16389183" cy="5476820"/>
              </a:xfrm>
              <a:prstGeom prst="rect">
                <a:avLst/>
              </a:prstGeom>
              <a:blipFill>
                <a:blip r:embed="rId4"/>
                <a:stretch>
                  <a:fillRect t="-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08883C-D9FD-31BE-CC87-12D4881AC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3" t="31459" r="17298" b="30848"/>
          <a:stretch>
            <a:fillRect/>
          </a:stretch>
        </p:blipFill>
        <p:spPr>
          <a:xfrm>
            <a:off x="9718592" y="4448119"/>
            <a:ext cx="7807408" cy="4429181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4FF091EB-E1B4-D678-48B8-41DF769DEB7C}"/>
              </a:ext>
            </a:extLst>
          </p:cNvPr>
          <p:cNvSpPr txBox="1"/>
          <p:nvPr/>
        </p:nvSpPr>
        <p:spPr>
          <a:xfrm>
            <a:off x="10269496" y="8965527"/>
            <a:ext cx="6705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Light propagation through the space</a:t>
            </a:r>
          </a:p>
        </p:txBody>
      </p:sp>
    </p:spTree>
    <p:extLst>
      <p:ext uri="{BB962C8B-B14F-4D97-AF65-F5344CB8AC3E}">
        <p14:creationId xmlns:p14="http://schemas.microsoft.com/office/powerpoint/2010/main" val="3328677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1E66-3CD6-398F-A5DB-887DF8F0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E18492-B42F-F594-8B78-3B9263F0E609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BBB2340-E7BC-15E5-2039-AA31EF615F9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E3BB4A-0A7E-4E51-14CC-83452FF1456F}"/>
              </a:ext>
            </a:extLst>
          </p:cNvPr>
          <p:cNvSpPr txBox="1"/>
          <p:nvPr/>
        </p:nvSpPr>
        <p:spPr>
          <a:xfrm>
            <a:off x="762000" y="2359247"/>
            <a:ext cx="16541583" cy="7840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IAD Simulation 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Inverse Adding-Doubling (IAD) is a numerical method used to determine the intrinsic optical properties of turbid media such as: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Absorption coefficient (</a:t>
            </a:r>
            <a:r>
              <a:rPr lang="el-GR" sz="2800" dirty="0"/>
              <a:t>μ</a:t>
            </a:r>
            <a:r>
              <a:rPr lang="en-US" sz="2800" dirty="0"/>
              <a:t>ₐ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Scattering coefficient (</a:t>
            </a:r>
            <a:r>
              <a:rPr lang="el-GR" sz="2800" dirty="0"/>
              <a:t>μ</a:t>
            </a:r>
            <a:r>
              <a:rPr lang="en-US" sz="2800" dirty="0"/>
              <a:t>ₛ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Anisotropy factor (g)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From experimental measurements (integrating sphere), the following values are obtained: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Total diffuse reflectance (</a:t>
            </a:r>
            <a:r>
              <a:rPr lang="en-US" sz="2800" dirty="0"/>
              <a:t>Rₜ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Total diffuse transmittance (</a:t>
            </a:r>
            <a:r>
              <a:rPr lang="en-US" sz="2800" dirty="0"/>
              <a:t>Tₜ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Un-scattered / collimated transmittance (</a:t>
            </a:r>
            <a:r>
              <a:rPr lang="en-US" sz="2400" dirty="0"/>
              <a:t>T</a:t>
            </a:r>
            <a:r>
              <a:rPr lang="en-US" sz="1600" dirty="0"/>
              <a:t>c</a:t>
            </a:r>
            <a:r>
              <a:rPr lang="en-US" sz="2500" dirty="0"/>
              <a:t>)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88D5F75-6C97-D7A5-559C-1F6DAD417D5A}"/>
              </a:ext>
            </a:extLst>
          </p:cNvPr>
          <p:cNvSpPr txBox="1"/>
          <p:nvPr/>
        </p:nvSpPr>
        <p:spPr>
          <a:xfrm>
            <a:off x="3381826" y="1581978"/>
            <a:ext cx="115106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 Doubling Method</a:t>
            </a:r>
          </a:p>
        </p:txBody>
      </p:sp>
    </p:spTree>
    <p:extLst>
      <p:ext uri="{BB962C8B-B14F-4D97-AF65-F5344CB8AC3E}">
        <p14:creationId xmlns:p14="http://schemas.microsoft.com/office/powerpoint/2010/main" val="358292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FF554-3FEA-E8FC-F34B-41442FE7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879672-5420-79B2-72C7-DA31B2CEF60C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E6F1D04-24A7-5556-C7C7-F9A16272F40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0285342-AD3A-A49B-8B2A-DED71D08151C}"/>
              </a:ext>
            </a:extLst>
          </p:cNvPr>
          <p:cNvSpPr txBox="1"/>
          <p:nvPr/>
        </p:nvSpPr>
        <p:spPr>
          <a:xfrm>
            <a:off x="762000" y="2552700"/>
            <a:ext cx="8534400" cy="5855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 Principle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IAD works by repeatedly simulating light propagation and adjusting optical parameters until simulation matches measurement.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IAD uses an iterative, trial-an-error approach to solve the radiative transport equation.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optical properties calculated from the algorithm are compared with measured value until they are in agree.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95D3C4D6-B024-5DAC-3C05-5869BF506A9E}"/>
              </a:ext>
            </a:extLst>
          </p:cNvPr>
          <p:cNvSpPr txBox="1"/>
          <p:nvPr/>
        </p:nvSpPr>
        <p:spPr>
          <a:xfrm>
            <a:off x="3381826" y="1581978"/>
            <a:ext cx="115106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 Doubling Method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7BDF741B-1583-8D15-57A9-E7418A12BA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2931577"/>
            <a:ext cx="8356600" cy="5097693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C38AA6D1-B2BA-221B-712E-78579C2D89F6}"/>
              </a:ext>
            </a:extLst>
          </p:cNvPr>
          <p:cNvSpPr txBox="1"/>
          <p:nvPr/>
        </p:nvSpPr>
        <p:spPr>
          <a:xfrm>
            <a:off x="10998199" y="8029270"/>
            <a:ext cx="510540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Process Diagram of IAD</a:t>
            </a:r>
          </a:p>
        </p:txBody>
      </p:sp>
    </p:spTree>
    <p:extLst>
      <p:ext uri="{BB962C8B-B14F-4D97-AF65-F5344CB8AC3E}">
        <p14:creationId xmlns:p14="http://schemas.microsoft.com/office/powerpoint/2010/main" val="3369010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0A6C9-3BD3-66BC-C7B4-0EEDF222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D0FBF2-B86A-73C9-6E4D-611B8CE0CF08}"/>
              </a:ext>
            </a:extLst>
          </p:cNvPr>
          <p:cNvSpPr/>
          <p:nvPr/>
        </p:nvSpPr>
        <p:spPr>
          <a:xfrm>
            <a:off x="27296" y="164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C493C2-B7D0-542C-D115-FEB1D4F1376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8D4786E-0347-3FAB-2519-8C1A9D24A897}"/>
              </a:ext>
            </a:extLst>
          </p:cNvPr>
          <p:cNvSpPr txBox="1"/>
          <p:nvPr/>
        </p:nvSpPr>
        <p:spPr>
          <a:xfrm>
            <a:off x="6482755" y="1645717"/>
            <a:ext cx="537708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Upcoming Plan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4B1D7D-E671-8FBD-527D-B86B90ABDA99}"/>
              </a:ext>
            </a:extLst>
          </p:cNvPr>
          <p:cNvSpPr/>
          <p:nvPr/>
        </p:nvSpPr>
        <p:spPr>
          <a:xfrm>
            <a:off x="2036000" y="3390899"/>
            <a:ext cx="2622834" cy="13510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Set up Optical Sphere Experiment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7961A9-4A32-273C-6053-F9F14F801783}"/>
              </a:ext>
            </a:extLst>
          </p:cNvPr>
          <p:cNvSpPr/>
          <p:nvPr/>
        </p:nvSpPr>
        <p:spPr>
          <a:xfrm>
            <a:off x="5782132" y="3390901"/>
            <a:ext cx="2622834" cy="13510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Calibrate the measurement system with standard white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F8AACA-F8BB-D55B-7367-89F7B39522A9}"/>
              </a:ext>
            </a:extLst>
          </p:cNvPr>
          <p:cNvSpPr/>
          <p:nvPr/>
        </p:nvSpPr>
        <p:spPr>
          <a:xfrm>
            <a:off x="9528264" y="3390899"/>
            <a:ext cx="2622834" cy="13510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Create the Skin Phantom samples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6FD18B-AF8C-3594-AFC8-09D6A919A7FA}"/>
              </a:ext>
            </a:extLst>
          </p:cNvPr>
          <p:cNvSpPr/>
          <p:nvPr/>
        </p:nvSpPr>
        <p:spPr>
          <a:xfrm>
            <a:off x="13269847" y="3390900"/>
            <a:ext cx="2622834" cy="13510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Perform the measurement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2A3ADD-EF60-C147-F2D0-CDD60FB0E3CE}"/>
              </a:ext>
            </a:extLst>
          </p:cNvPr>
          <p:cNvSpPr/>
          <p:nvPr/>
        </p:nvSpPr>
        <p:spPr>
          <a:xfrm>
            <a:off x="4091866" y="5873910"/>
            <a:ext cx="2622834" cy="13510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Calculate the Optical properties of the skin phantom with IAD simulation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7DA17B-2279-4401-41BF-5435B257D9EE}"/>
              </a:ext>
            </a:extLst>
          </p:cNvPr>
          <p:cNvSpPr/>
          <p:nvPr/>
        </p:nvSpPr>
        <p:spPr>
          <a:xfrm>
            <a:off x="7532333" y="5873910"/>
            <a:ext cx="2622834" cy="13510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Calculate the Optical properties of the skin phantom with Monte Carlo simulation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2B64F5-8EE1-3F27-607C-2E7620366B6B}"/>
              </a:ext>
            </a:extLst>
          </p:cNvPr>
          <p:cNvSpPr/>
          <p:nvPr/>
        </p:nvSpPr>
        <p:spPr>
          <a:xfrm>
            <a:off x="10972800" y="5873910"/>
            <a:ext cx="2622834" cy="13510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Compare the two simulations result for the validation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38ED73-9A50-5264-7891-393C1EA12E3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658834" y="4066404"/>
            <a:ext cx="11232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5629CB-7409-77C1-5C31-5FEE285F9B97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8404966" y="4066404"/>
            <a:ext cx="11232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5106E2-7896-3712-0743-AD740919BD71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12151098" y="4066404"/>
            <a:ext cx="11187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2E5329B-39CF-288C-C843-62FC6A1A116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9426274" y="718919"/>
            <a:ext cx="1132001" cy="91779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9F71C9-E76D-F263-3355-C7D5BD0CE870}"/>
              </a:ext>
            </a:extLst>
          </p:cNvPr>
          <p:cNvCxnSpPr>
            <a:stCxn id="10" idx="3"/>
          </p:cNvCxnSpPr>
          <p:nvPr/>
        </p:nvCxnSpPr>
        <p:spPr>
          <a:xfrm>
            <a:off x="6714700" y="6549414"/>
            <a:ext cx="98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3EAA59-A6F4-7B21-A924-80496E6ADF3D}"/>
              </a:ext>
            </a:extLst>
          </p:cNvPr>
          <p:cNvCxnSpPr>
            <a:stCxn id="11" idx="3"/>
            <a:endCxn id="8" idx="1"/>
          </p:cNvCxnSpPr>
          <p:nvPr/>
        </p:nvCxnSpPr>
        <p:spPr>
          <a:xfrm>
            <a:off x="10155167" y="6549415"/>
            <a:ext cx="8176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155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C6D5F-9986-8754-CA04-59854F05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B4DA22-2AFE-2233-7DDF-AD86A7897EF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08D61D0-0037-F435-58EE-BEB70791E91E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7DAEB9C-CCA8-E0D6-88BF-8F94E75C09E7}"/>
              </a:ext>
            </a:extLst>
          </p:cNvPr>
          <p:cNvSpPr txBox="1"/>
          <p:nvPr/>
        </p:nvSpPr>
        <p:spPr>
          <a:xfrm>
            <a:off x="5024701" y="1517398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Progress of Simulation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268D9B3-170A-EF61-D7A4-43586DABB5AB}"/>
              </a:ext>
            </a:extLst>
          </p:cNvPr>
          <p:cNvSpPr txBox="1"/>
          <p:nvPr/>
        </p:nvSpPr>
        <p:spPr>
          <a:xfrm>
            <a:off x="6610019" y="8193824"/>
            <a:ext cx="506796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Vid. Crimping of stent to deployment diameter</a:t>
            </a:r>
          </a:p>
        </p:txBody>
      </p:sp>
      <p:pic>
        <p:nvPicPr>
          <p:cNvPr id="9" name="11FC0E7E">
            <a:hlinkClick r:id="" action="ppaction://media"/>
            <a:extLst>
              <a:ext uri="{FF2B5EF4-FFF2-40B4-BE49-F238E27FC236}">
                <a16:creationId xmlns:a16="http://schemas.microsoft.com/office/drawing/2014/main" id="{B2EDCFA2-6323-EB58-67EA-CD92769A33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83095" y="2656707"/>
            <a:ext cx="14121810" cy="553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D789-67AB-37AB-399C-D7DF6E53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819F89-6F89-34A8-8E64-EC4D6BBE82A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5A9454E-37B3-7B1F-EE81-1719698CF39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EBB38C9-6ACA-0815-D0EC-77314BE0B60D}"/>
              </a:ext>
            </a:extLst>
          </p:cNvPr>
          <p:cNvSpPr txBox="1"/>
          <p:nvPr/>
        </p:nvSpPr>
        <p:spPr>
          <a:xfrm>
            <a:off x="532739" y="2247900"/>
            <a:ext cx="9525000" cy="7278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ct val="200000"/>
              </a:lnSpc>
            </a:pPr>
            <a:r>
              <a:rPr lang="en-US" sz="4000" b="1" dirty="0"/>
              <a:t>Error in simulations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Poor-quality or distorted elements are not detected.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Asymmetric contact pairs make load transfer and stiffness become inconsistent, causing convergence instability.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Functional failure in contact pairs due to initial gaps between strut wires.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There exit a severe modelling error, with over-complex contact definition, poor contact geometry preparation and unsafe default contact parameters. 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61A1A72-D845-183C-3E6A-A226839D7F5A}"/>
              </a:ext>
            </a:extLst>
          </p:cNvPr>
          <p:cNvSpPr txBox="1"/>
          <p:nvPr/>
        </p:nvSpPr>
        <p:spPr>
          <a:xfrm>
            <a:off x="5024701" y="1517398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Progress of Simulation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E73A0C7-0A5B-27F3-99E6-41ADB7BAB32B}"/>
              </a:ext>
            </a:extLst>
          </p:cNvPr>
          <p:cNvSpPr txBox="1"/>
          <p:nvPr/>
        </p:nvSpPr>
        <p:spPr>
          <a:xfrm>
            <a:off x="11868808" y="8037841"/>
            <a:ext cx="460812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N</a:t>
            </a:r>
            <a:r>
              <a:rPr lang="en-US" dirty="0"/>
              <a:t>on-convergence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solution of the stent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907A9B-435F-C2DE-E981-C778B6FB5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039" y="4044651"/>
            <a:ext cx="7162800" cy="399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88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951</Words>
  <Application>Microsoft Office PowerPoint</Application>
  <PresentationFormat>Custom</PresentationFormat>
  <Paragraphs>127</Paragraphs>
  <Slides>16</Slides>
  <Notes>10</Notes>
  <HiddenSlides>1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Times New Roman</vt:lpstr>
      <vt:lpstr>DM Serif Display</vt:lpstr>
      <vt:lpstr>Open Sauce</vt:lpstr>
      <vt:lpstr>Calibri</vt:lpstr>
      <vt:lpstr>Arial</vt:lpstr>
      <vt:lpstr>Aptos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480</cp:revision>
  <dcterms:created xsi:type="dcterms:W3CDTF">2006-08-16T00:00:00Z</dcterms:created>
  <dcterms:modified xsi:type="dcterms:W3CDTF">2026-01-29T04:30:57Z</dcterms:modified>
  <dc:identifier>DAG0bfrM1o8</dc:identifier>
</cp:coreProperties>
</file>