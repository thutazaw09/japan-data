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56" r:id="rId2"/>
    <p:sldId id="865" r:id="rId3"/>
    <p:sldId id="861" r:id="rId4"/>
    <p:sldId id="868" r:id="rId5"/>
    <p:sldId id="867" r:id="rId6"/>
    <p:sldId id="864" r:id="rId7"/>
    <p:sldId id="866" r:id="rId8"/>
    <p:sldId id="863" r:id="rId9"/>
    <p:sldId id="869" r:id="rId10"/>
    <p:sldId id="854" r:id="rId11"/>
    <p:sldId id="870" r:id="rId12"/>
    <p:sldId id="859" r:id="rId13"/>
    <p:sldId id="872" r:id="rId14"/>
    <p:sldId id="267" r:id="rId15"/>
  </p:sldIdLst>
  <p:sldSz cx="18288000" cy="10287000"/>
  <p:notesSz cx="6858000" cy="9144000"/>
  <p:embeddedFontLst>
    <p:embeddedFont>
      <p:font typeface="Cambria Math" panose="02040503050406030204" pitchFamily="18" charset="0"/>
      <p:regular r:id="rId17"/>
    </p:embeddedFont>
    <p:embeddedFont>
      <p:font typeface="DM Serif Display" pitchFamily="2" charset="0"/>
      <p:regular r:id="rId18"/>
      <p:italic r:id="rId19"/>
    </p:embeddedFont>
    <p:embeddedFont>
      <p:font typeface="Open Sauce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8" autoAdjust="0"/>
    <p:restoredTop sz="92668" autoAdjust="0"/>
  </p:normalViewPr>
  <p:slideViewPr>
    <p:cSldViewPr>
      <p:cViewPr varScale="1">
        <p:scale>
          <a:sx n="70" d="100"/>
          <a:sy n="70" d="100"/>
        </p:scale>
        <p:origin x="1140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EF82B-E016-44BD-B0C4-D5A3DF34FAF9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A7D310-3A65-477A-971E-8091E55376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9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42067-0DCD-2AC2-2616-7DF9E29B3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CDD7E-C6CA-52FA-34A1-BFC2F8D07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6D0F76-A401-8C03-FD0F-504326AC3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E66B8-54A3-36FF-B4AF-404C54FE0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 rate of change</a:t>
            </a:r>
          </a:p>
          <a:p>
            <a:r>
              <a:rPr lang="en-US" dirty="0"/>
              <a:t>Loss due to streaming</a:t>
            </a:r>
          </a:p>
          <a:p>
            <a:r>
              <a:rPr lang="en-US" dirty="0"/>
              <a:t>Loss due to interaction </a:t>
            </a:r>
          </a:p>
          <a:p>
            <a:r>
              <a:rPr lang="en-US" dirty="0"/>
              <a:t>Gain through scattering</a:t>
            </a:r>
          </a:p>
          <a:p>
            <a:r>
              <a:rPr lang="en-US" dirty="0"/>
              <a:t>Gain from sources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99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3486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33E6-0FBA-B33E-0EFC-012B56974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06E975-F582-8530-FACC-1443288AB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B7197E-4035-4066-87A0-F6389A873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74D771-EAB7-D39B-7376-12B3E8F0B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351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3486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200A-3252-B94B-1DAC-C6B87210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132AAE-3745-F3F9-D964-A3C0DEC5D4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3A8CE3-8452-88F4-1A7D-B025BE11ED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B64F3-538A-EDD3-23A7-F6DC3AE65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47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fif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f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2613987" y="2765510"/>
            <a:ext cx="13060024" cy="23940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2000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Summary (Q4)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7B244B4F-61ED-CD64-3F42-BB24EA8E2BD6}"/>
              </a:ext>
            </a:extLst>
          </p:cNvPr>
          <p:cNvSpPr txBox="1"/>
          <p:nvPr/>
        </p:nvSpPr>
        <p:spPr>
          <a:xfrm>
            <a:off x="6905761" y="4925275"/>
            <a:ext cx="4476476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CF42FA-AD96-6718-B5FF-6A0BFF7AD7F8}"/>
              </a:ext>
            </a:extLst>
          </p:cNvPr>
          <p:cNvGrpSpPr/>
          <p:nvPr/>
        </p:nvGrpSpPr>
        <p:grpSpPr>
          <a:xfrm>
            <a:off x="13826319" y="0"/>
            <a:ext cx="4461681" cy="2019300"/>
            <a:chOff x="10985984" y="47827"/>
            <a:chExt cx="1034194" cy="467116"/>
          </a:xfrm>
        </p:grpSpPr>
        <p:pic>
          <p:nvPicPr>
            <p:cNvPr id="8" name="Picture 2" descr="ตราสัญลักษณ์เนื่องในโอกาสครบรอบ 60 ปี  แห่งการสถาปนามหาวิทยาลัยเทคโนโลยีพระจอมเกล้าธนบุรี – PR KMUTT">
              <a:extLst>
                <a:ext uri="{FF2B5EF4-FFF2-40B4-BE49-F238E27FC236}">
                  <a16:creationId xmlns:a16="http://schemas.microsoft.com/office/drawing/2014/main" id="{A069B459-3DF4-5F50-9704-697C705997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720" b="32723"/>
            <a:stretch/>
          </p:blipFill>
          <p:spPr bwMode="auto">
            <a:xfrm>
              <a:off x="10985984" y="47827"/>
              <a:ext cx="573968" cy="4319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Division of Health Sciences Graduate School of Medical Sciences, Kanazawa  University">
              <a:extLst>
                <a:ext uri="{FF2B5EF4-FFF2-40B4-BE49-F238E27FC236}">
                  <a16:creationId xmlns:a16="http://schemas.microsoft.com/office/drawing/2014/main" id="{5554D7E3-09F1-F888-8561-58B8ED11C8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59952" y="54717"/>
              <a:ext cx="460226" cy="460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B18B3-8E75-1984-E8DB-BD5D1AFD3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385FCA8-468C-081C-0856-84759669A5A1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6A4E623-6861-7164-14BE-B4385A62E3CE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A557693-0B54-A98C-0D2C-D423CBBF8D77}"/>
              </a:ext>
            </a:extLst>
          </p:cNvPr>
          <p:cNvSpPr txBox="1"/>
          <p:nvPr/>
        </p:nvSpPr>
        <p:spPr>
          <a:xfrm>
            <a:off x="755816" y="2628122"/>
            <a:ext cx="16541583" cy="33547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45159" lvl="1" indent="-3429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Optical properties describe how a material interacts with light (electromagnetic radiation), especially UV, visible, and infrared regions.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It can determine the color, transparency and reflectivity, which are essential for cells, sensors and lenses. 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When light interact with materials, it can be reflected, absorbed, transmitted, scattered and refracted. </a:t>
            </a:r>
            <a:br>
              <a:rPr lang="en-US" sz="2500" dirty="0"/>
            </a:b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484E0578-5D8E-2B35-28F5-76DCF82F941E}"/>
              </a:ext>
            </a:extLst>
          </p:cNvPr>
          <p:cNvSpPr txBox="1"/>
          <p:nvPr/>
        </p:nvSpPr>
        <p:spPr>
          <a:xfrm>
            <a:off x="3845850" y="1611989"/>
            <a:ext cx="105962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Materials</a:t>
            </a:r>
          </a:p>
        </p:txBody>
      </p:sp>
      <p:pic>
        <p:nvPicPr>
          <p:cNvPr id="15" name="Picture 14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EEABAAFB-6115-05C2-45DA-56745F4919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524500"/>
            <a:ext cx="5689518" cy="341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514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EA1F2-AFDB-17DA-E80F-EC9D44B3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50422E-C115-7FC3-76D8-93998F873170}"/>
              </a:ext>
            </a:extLst>
          </p:cNvPr>
          <p:cNvSpPr/>
          <p:nvPr/>
        </p:nvSpPr>
        <p:spPr>
          <a:xfrm>
            <a:off x="-320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E0F9060-2D4B-2535-DF21-1A6D9E9D60BD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222E280A-96CA-F13C-2BC3-34EBA8A1EB94}"/>
              </a:ext>
            </a:extLst>
          </p:cNvPr>
          <p:cNvSpPr txBox="1"/>
          <p:nvPr/>
        </p:nvSpPr>
        <p:spPr>
          <a:xfrm>
            <a:off x="3883949" y="1472438"/>
            <a:ext cx="105200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Materials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D75952B2-C5F1-EB54-2875-9B7E85123847}"/>
              </a:ext>
            </a:extLst>
          </p:cNvPr>
          <p:cNvSpPr txBox="1"/>
          <p:nvPr/>
        </p:nvSpPr>
        <p:spPr>
          <a:xfrm>
            <a:off x="873209" y="2529355"/>
            <a:ext cx="8270791" cy="34028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ctr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Reflection </a:t>
            </a:r>
          </a:p>
          <a:p>
            <a:pPr marL="302259" lvl="1">
              <a:lnSpc>
                <a:spcPts val="4479"/>
              </a:lnSpc>
            </a:pPr>
            <a:endParaRPr lang="en-US" sz="40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Open Sauce"/>
            </a:endParaRP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Fraction of incident light reflected from a surface.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Depends on surface roughness and refractive index.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Important for mirrors and metallic surfaces. </a:t>
            </a:r>
            <a:endParaRPr lang="en-US" sz="4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Open Sauce"/>
            </a:endParaRPr>
          </a:p>
          <a:p>
            <a:pPr marL="302259" lvl="1">
              <a:lnSpc>
                <a:spcPts val="4479"/>
              </a:lnSpc>
            </a:pPr>
            <a:endParaRPr lang="en-US" sz="2500" dirty="0"/>
          </a:p>
        </p:txBody>
      </p:sp>
      <p:pic>
        <p:nvPicPr>
          <p:cNvPr id="9" name="Picture 8" descr="A diagram of a reflection of light&#10;&#10;AI-generated content may be incorrect.">
            <a:extLst>
              <a:ext uri="{FF2B5EF4-FFF2-40B4-BE49-F238E27FC236}">
                <a16:creationId xmlns:a16="http://schemas.microsoft.com/office/drawing/2014/main" id="{2316AD78-336A-B535-32A0-ADBDD4C68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203" y="5524500"/>
            <a:ext cx="6148801" cy="36236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170A922-5CA4-8511-D003-E78ED522498C}"/>
              </a:ext>
            </a:extLst>
          </p:cNvPr>
          <p:cNvSpPr txBox="1"/>
          <p:nvPr/>
        </p:nvSpPr>
        <p:spPr>
          <a:xfrm>
            <a:off x="3484603" y="9148193"/>
            <a:ext cx="3048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Light reflection on surface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EBF26C1B-ECDD-6A35-2350-49B5AE475F9D}"/>
              </a:ext>
            </a:extLst>
          </p:cNvPr>
          <p:cNvSpPr txBox="1"/>
          <p:nvPr/>
        </p:nvSpPr>
        <p:spPr>
          <a:xfrm>
            <a:off x="9144000" y="2525888"/>
            <a:ext cx="8270791" cy="34028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ctr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Refraction </a:t>
            </a:r>
          </a:p>
          <a:p>
            <a:pPr marL="302259" lvl="1">
              <a:lnSpc>
                <a:spcPts val="4479"/>
              </a:lnSpc>
            </a:pPr>
            <a:endParaRPr lang="en-US" sz="40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Open Sauce"/>
            </a:endParaRP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Bending of light at the interface of two media.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Governed by Snell’s Law.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Important for lenses, optical fibers and skin.</a:t>
            </a:r>
            <a:endParaRPr lang="en-US" sz="4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Open Sauce"/>
            </a:endParaRPr>
          </a:p>
          <a:p>
            <a:pPr marL="302259" lvl="1">
              <a:lnSpc>
                <a:spcPts val="4479"/>
              </a:lnSpc>
            </a:pPr>
            <a:endParaRPr lang="en-US" sz="2500" dirty="0"/>
          </a:p>
        </p:txBody>
      </p:sp>
      <p:pic>
        <p:nvPicPr>
          <p:cNvPr id="12" name="Picture 11" descr="A graph of a line and a red line&#10;&#10;AI-generated content may be incorrect.">
            <a:extLst>
              <a:ext uri="{FF2B5EF4-FFF2-40B4-BE49-F238E27FC236}">
                <a16:creationId xmlns:a16="http://schemas.microsoft.com/office/drawing/2014/main" id="{950ACC4F-7CD2-ADBA-54EF-F7C57D3B15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2591" y="5511265"/>
            <a:ext cx="6828796" cy="36369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C403F96-8BB3-D76B-686A-FA80A635998B}"/>
              </a:ext>
            </a:extLst>
          </p:cNvPr>
          <p:cNvSpPr txBox="1"/>
          <p:nvPr/>
        </p:nvSpPr>
        <p:spPr>
          <a:xfrm>
            <a:off x="11430000" y="9159861"/>
            <a:ext cx="3941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Light refracted through the medium</a:t>
            </a:r>
          </a:p>
        </p:txBody>
      </p:sp>
    </p:spTree>
    <p:extLst>
      <p:ext uri="{BB962C8B-B14F-4D97-AF65-F5344CB8AC3E}">
        <p14:creationId xmlns:p14="http://schemas.microsoft.com/office/powerpoint/2010/main" val="169594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BF8A-9082-7A49-1E8A-02BE6FC2F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01BABB7-1F1A-3A4E-BF2C-EFE5DDD51089}"/>
              </a:ext>
            </a:extLst>
          </p:cNvPr>
          <p:cNvSpPr/>
          <p:nvPr/>
        </p:nvSpPr>
        <p:spPr>
          <a:xfrm>
            <a:off x="-320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7DD58C9-30A7-8EDB-2143-6EB039B0F6D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4E1B93DC-AA4B-D4F0-AC4E-95549796A390}"/>
              </a:ext>
            </a:extLst>
          </p:cNvPr>
          <p:cNvSpPr txBox="1"/>
          <p:nvPr/>
        </p:nvSpPr>
        <p:spPr>
          <a:xfrm>
            <a:off x="3883949" y="1472438"/>
            <a:ext cx="105200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Materials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68EB673C-CA9C-48FC-1334-9FDAE311C7F4}"/>
              </a:ext>
            </a:extLst>
          </p:cNvPr>
          <p:cNvSpPr txBox="1"/>
          <p:nvPr/>
        </p:nvSpPr>
        <p:spPr>
          <a:xfrm>
            <a:off x="876417" y="6978471"/>
            <a:ext cx="8270791" cy="22466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ctr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Light Absorption 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Ability of material to absorb light energy.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Related to electronic and vibrational transitions.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Determines opacity and band gap behavior. </a:t>
            </a:r>
            <a:endParaRPr lang="en-US" sz="4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Open Sauc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B28A2A-8B42-0D57-9C42-1081C56A86ED}"/>
              </a:ext>
            </a:extLst>
          </p:cNvPr>
          <p:cNvSpPr txBox="1"/>
          <p:nvPr/>
        </p:nvSpPr>
        <p:spPr>
          <a:xfrm>
            <a:off x="3883949" y="5879635"/>
            <a:ext cx="3385006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Light absorption phenomenon 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AFAA0BF5-C763-D809-3FE3-319980372709}"/>
              </a:ext>
            </a:extLst>
          </p:cNvPr>
          <p:cNvSpPr txBox="1"/>
          <p:nvPr/>
        </p:nvSpPr>
        <p:spPr>
          <a:xfrm>
            <a:off x="9147208" y="6978471"/>
            <a:ext cx="8270791" cy="2823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ctr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Light Scattering and Transmission 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Scattering is the redirection of light due to particles or defects. </a:t>
            </a:r>
          </a:p>
          <a:p>
            <a:pPr marL="873759" lvl="1" indent="-571500">
              <a:lnSpc>
                <a:spcPts val="4479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solidFill>
                  <a:srgbClr val="000000"/>
                </a:solidFill>
                <a:latin typeface="+mj-lt"/>
                <a:cs typeface="Times New Roman" panose="02020603050405020304" pitchFamily="18" charset="0"/>
                <a:sym typeface="Open Sauce"/>
              </a:rPr>
              <a:t>Transmission is the fraction of light that passes through a material.</a:t>
            </a:r>
            <a:endParaRPr lang="en-US" sz="4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Open Sauce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A60B05-8FF6-7673-7C79-79CCACEB8977}"/>
              </a:ext>
            </a:extLst>
          </p:cNvPr>
          <p:cNvSpPr txBox="1"/>
          <p:nvPr/>
        </p:nvSpPr>
        <p:spPr>
          <a:xfrm>
            <a:off x="12115800" y="6364003"/>
            <a:ext cx="3755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Light Scattering and Transmission</a:t>
            </a:r>
          </a:p>
        </p:txBody>
      </p:sp>
      <p:pic>
        <p:nvPicPr>
          <p:cNvPr id="5" name="Picture 4" descr="A diagram of a red apple with arrows and the sun and the sun&#10;&#10;AI-generated content may be incorrect.">
            <a:extLst>
              <a:ext uri="{FF2B5EF4-FFF2-40B4-BE49-F238E27FC236}">
                <a16:creationId xmlns:a16="http://schemas.microsoft.com/office/drawing/2014/main" id="{E394EA57-7040-9DB2-42D1-1FF68F9FBC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60" t="28803" r="16640"/>
          <a:stretch>
            <a:fillRect/>
          </a:stretch>
        </p:blipFill>
        <p:spPr>
          <a:xfrm>
            <a:off x="2101394" y="2698393"/>
            <a:ext cx="6400800" cy="3187306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9981C1-7FF4-59D9-1DFF-A968DA9419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93" t="31152" r="31528" b="8850"/>
          <a:stretch>
            <a:fillRect/>
          </a:stretch>
        </p:blipFill>
        <p:spPr>
          <a:xfrm>
            <a:off x="11582400" y="2310845"/>
            <a:ext cx="4508629" cy="396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143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27C48-98AF-956E-CC80-49B0AE1CD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3FAE7A0-008F-4C48-F15C-67D0BDDCE8E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D62ADCB-2F6E-2006-C2D0-A13EBB6A1B61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4BD628F8-3B21-A0BC-6447-24BB4CB26B2B}"/>
              </a:ext>
            </a:extLst>
          </p:cNvPr>
          <p:cNvSpPr txBox="1"/>
          <p:nvPr/>
        </p:nvSpPr>
        <p:spPr>
          <a:xfrm>
            <a:off x="685799" y="1638300"/>
            <a:ext cx="16916400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samples (skins and phantom)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DE0315E3-E777-57FF-755A-8E4C6D78CA8C}"/>
              </a:ext>
            </a:extLst>
          </p:cNvPr>
          <p:cNvSpPr txBox="1"/>
          <p:nvPr/>
        </p:nvSpPr>
        <p:spPr>
          <a:xfrm>
            <a:off x="873207" y="2667001"/>
            <a:ext cx="16541583" cy="6846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 flowing data biomedical samples can be measured using the integrating spheres: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Diffuse reflectance R</a:t>
            </a:r>
            <a:r>
              <a:rPr lang="en-US" sz="16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d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which is a fraction of light diffusely reflected from sample.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Total transmittance T</a:t>
            </a:r>
            <a:r>
              <a:rPr lang="en-US" sz="16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which is a fraction of light transmitted (diffuse and direct).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Specular reflectance R</a:t>
            </a:r>
            <a:r>
              <a:rPr lang="en-US" sz="16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s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which is a mirror-like surface reflection.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Absorptance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which is a fraction of light absorbed by sample.</a:t>
            </a:r>
          </a:p>
          <a:p>
            <a:pPr marL="302259" lvl="1">
              <a:lnSpc>
                <a:spcPts val="44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The flowing optical properties can be calculated from the measured data: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Absorption coefficient </a:t>
            </a:r>
            <a:r>
              <a:rPr lang="el-GR" sz="2800" b="1" dirty="0"/>
              <a:t>μ</a:t>
            </a:r>
            <a:r>
              <a:rPr lang="en-US" sz="1600" b="1" dirty="0"/>
              <a:t>a</a:t>
            </a:r>
            <a:r>
              <a:rPr lang="en-US" sz="2800" dirty="0"/>
              <a:t>​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which describes the photon loss due to chromophore absorption.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Reduced scattering </a:t>
            </a:r>
            <a:r>
              <a:rPr lang="el-GR" sz="2800" b="1" dirty="0"/>
              <a:t>μ</a:t>
            </a:r>
            <a:r>
              <a:rPr lang="en-US" sz="1600" b="1" dirty="0"/>
              <a:t>s</a:t>
            </a:r>
            <a:r>
              <a:rPr lang="en-US" sz="2800" b="1" dirty="0"/>
              <a:t>′​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which describes diffusion strength of scattered light.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Anisotropy Factor g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which describes the directionality of scattering (0 = isotropic and 1 = forward).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Refractive index </a:t>
            </a:r>
            <a:r>
              <a:rPr lang="en-US" sz="2800" b="1" dirty="0"/>
              <a:t>n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which describes the boundary reflection and transmission.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Albedo </a:t>
            </a:r>
            <a:r>
              <a:rPr lang="en-US" sz="2800" b="1" dirty="0"/>
              <a:t>a′</a:t>
            </a: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, </a:t>
            </a: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which describes the ratio of scattering to total extinction.</a:t>
            </a:r>
          </a:p>
          <a:p>
            <a:pPr marL="1061719" lvl="2" indent="-302260">
              <a:lnSpc>
                <a:spcPts val="4479"/>
              </a:lnSpc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Penetration depth </a:t>
            </a:r>
            <a:r>
              <a:rPr lang="el-GR" sz="2800" b="1" dirty="0"/>
              <a:t>δ</a:t>
            </a:r>
            <a:r>
              <a:rPr lang="en-US" sz="2800" dirty="0"/>
              <a:t>, which describes the effective photon travel depth.</a:t>
            </a:r>
            <a:endParaRPr lang="en-US" sz="2800" dirty="0">
              <a:solidFill>
                <a:srgbClr val="000000"/>
              </a:solidFill>
              <a:latin typeface="Times New Roman" panose="02020603050405020304" pitchFamily="18" charset="0"/>
              <a:ea typeface="Open Sauce"/>
              <a:cs typeface="Times New Roman" panose="02020603050405020304" pitchFamily="18" charset="0"/>
              <a:sym typeface="Open Sauce"/>
            </a:endParaRPr>
          </a:p>
        </p:txBody>
      </p:sp>
    </p:spTree>
    <p:extLst>
      <p:ext uri="{BB962C8B-B14F-4D97-AF65-F5344CB8AC3E}">
        <p14:creationId xmlns:p14="http://schemas.microsoft.com/office/powerpoint/2010/main" val="345761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ABEC9-6F01-2F68-F67F-ACACE7219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1AAE1A6-80F7-205D-5D00-18F23748A01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A5DC49B-6576-267B-EC1E-C738323B9851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0734244-857E-77C9-9B9B-C092898B1090}"/>
              </a:ext>
            </a:extLst>
          </p:cNvPr>
          <p:cNvSpPr txBox="1"/>
          <p:nvPr/>
        </p:nvSpPr>
        <p:spPr>
          <a:xfrm>
            <a:off x="532739" y="2247900"/>
            <a:ext cx="9525000" cy="75866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Integrating sphere is an optical measurement tool used to quantify how light interacts with scattering and absorbing media.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It is a hollow spherical cavity, coated internally with a diffuse reflective material. 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The radiation introduced into an integrating sphere strikes the reflective walls and undergoes multiple diffuse reflections.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After numerous reflections, the radiation is dispersed highly at the sphere walls.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The resulting integrated radiation level is directly proportional to the initial level and may be easily measured by using a detector. 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36C694F4-DFD1-3B1B-A663-13451D53C96E}"/>
              </a:ext>
            </a:extLst>
          </p:cNvPr>
          <p:cNvSpPr txBox="1"/>
          <p:nvPr/>
        </p:nvSpPr>
        <p:spPr>
          <a:xfrm>
            <a:off x="5024701" y="1521821"/>
            <a:ext cx="8238598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Integrating Sphere</a:t>
            </a:r>
          </a:p>
        </p:txBody>
      </p:sp>
      <p:pic>
        <p:nvPicPr>
          <p:cNvPr id="5" name="Picture 4" descr="A diagram of a machine&#10;&#10;AI-generated content may be incorrect.">
            <a:extLst>
              <a:ext uri="{FF2B5EF4-FFF2-40B4-BE49-F238E27FC236}">
                <a16:creationId xmlns:a16="http://schemas.microsoft.com/office/drawing/2014/main" id="{9DF7E121-A3DA-61AD-41CB-02F7BD6FC4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0" y="3442854"/>
            <a:ext cx="8234879" cy="4713567"/>
          </a:xfrm>
          <a:prstGeom prst="rect">
            <a:avLst/>
          </a:prstGeom>
        </p:spPr>
      </p:pic>
      <p:sp>
        <p:nvSpPr>
          <p:cNvPr id="6" name="TextBox 8">
            <a:extLst>
              <a:ext uri="{FF2B5EF4-FFF2-40B4-BE49-F238E27FC236}">
                <a16:creationId xmlns:a16="http://schemas.microsoft.com/office/drawing/2014/main" id="{E1445A2D-B0E4-84B9-A9D5-AB4864DDF723}"/>
              </a:ext>
            </a:extLst>
          </p:cNvPr>
          <p:cNvSpPr txBox="1"/>
          <p:nvPr/>
        </p:nvSpPr>
        <p:spPr>
          <a:xfrm>
            <a:off x="10174678" y="8267700"/>
            <a:ext cx="769752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/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Fig. Integrating sphere setup to measure the optical properties of sample</a:t>
            </a:r>
          </a:p>
        </p:txBody>
      </p:sp>
    </p:spTree>
    <p:extLst>
      <p:ext uri="{BB962C8B-B14F-4D97-AF65-F5344CB8AC3E}">
        <p14:creationId xmlns:p14="http://schemas.microsoft.com/office/powerpoint/2010/main" val="202528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F14CC-BB8A-E89F-CAF3-4D776BBCC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9ED7595-F803-31C8-DDAC-20B357538FE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F6689A3-AE5B-C192-1252-E2FF9B5CBB4A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B32AB92F-3CF4-02E7-903E-70E69115C306}"/>
              </a:ext>
            </a:extLst>
          </p:cNvPr>
          <p:cNvSpPr txBox="1"/>
          <p:nvPr/>
        </p:nvSpPr>
        <p:spPr>
          <a:xfrm>
            <a:off x="5024700" y="1521821"/>
            <a:ext cx="99866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Radiative Transport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95B367-4233-1706-A61D-1B013CF89D89}"/>
                  </a:ext>
                </a:extLst>
              </p:cNvPr>
              <p:cNvSpPr txBox="1"/>
              <p:nvPr/>
            </p:nvSpPr>
            <p:spPr>
              <a:xfrm>
                <a:off x="762000" y="2705100"/>
                <a:ext cx="16389183" cy="547682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302259" lvl="1">
                  <a:lnSpc>
                    <a:spcPts val="4479"/>
                  </a:lnSpc>
                </a:pPr>
                <a:r>
                  <a:rPr lang="en-US" sz="2800" b="1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Open Sauce"/>
                  </a:rPr>
                  <a:t>General  Form</a:t>
                </a:r>
              </a:p>
              <a:p>
                <a:pPr marL="302259"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den>
                      </m:f>
                      <m:f>
                        <m:fPr>
                          <m:ctrlPr>
                            <a:rPr lang="en-US" sz="25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5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L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(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r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5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nor/>
                                </m:rPr>
                                <a:rPr lang="el-GR" sz="2500" dirty="0"/>
                                <m:t>Ω</m:t>
                              </m:r>
                            </m:e>
                          </m:acc>
                          <m:r>
                            <m:rPr>
                              <m:nor/>
                            </m:rPr>
                            <a:rPr lang="en-US" sz="2500" dirty="0"/>
                            <m:t>,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t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) </m:t>
                          </m:r>
                        </m:num>
                        <m:den>
                          <m:r>
                            <a:rPr lang="en-US" sz="25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5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en-US" sz="25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l-GR" sz="2500" dirty="0"/>
                            <m:t>Ω</m:t>
                          </m:r>
                        </m:e>
                      </m:acc>
                      <m:r>
                        <a:rPr lang="en-US" sz="25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25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nor/>
                        </m:rPr>
                        <a:rPr lang="en-US" sz="2500" dirty="0"/>
                        <m:t>L</m:t>
                      </m:r>
                      <m:r>
                        <m:rPr>
                          <m:nor/>
                        </m:rPr>
                        <a:rPr lang="en-US" sz="2500" dirty="0"/>
                        <m:t>(</m:t>
                      </m:r>
                      <m:r>
                        <m:rPr>
                          <m:nor/>
                        </m:rPr>
                        <a:rPr lang="en-US" sz="2500" dirty="0"/>
                        <m:t>r</m:t>
                      </m:r>
                      <m:r>
                        <m:rPr>
                          <m:nor/>
                        </m:rPr>
                        <a:rPr lang="en-US" sz="2500" dirty="0"/>
                        <m:t>,</m:t>
                      </m:r>
                      <m:acc>
                        <m:accPr>
                          <m:chr m:val="̂"/>
                          <m:ctrlPr>
                            <a:rPr lang="en-US" sz="25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l-GR" sz="2500" dirty="0"/>
                            <m:t>Ω</m:t>
                          </m:r>
                        </m:e>
                      </m:acc>
                      <m:r>
                        <m:rPr>
                          <m:nor/>
                        </m:rPr>
                        <a:rPr lang="en-US" sz="2500" dirty="0"/>
                        <m:t>,</m:t>
                      </m:r>
                      <m:r>
                        <m:rPr>
                          <m:nor/>
                        </m:rPr>
                        <a:rPr lang="en-US" sz="2500" dirty="0"/>
                        <m:t>t</m:t>
                      </m:r>
                      <m:r>
                        <m:rPr>
                          <m:nor/>
                        </m:rPr>
                        <a:rPr lang="en-US" sz="2500" dirty="0"/>
                        <m:t>)</m:t>
                      </m:r>
                      <m:r>
                        <a:rPr lang="en-US" sz="25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500" dirty="0"/>
                        <m:t>L</m:t>
                      </m:r>
                      <m:r>
                        <m:rPr>
                          <m:nor/>
                        </m:rPr>
                        <a:rPr lang="en-US" sz="2500" dirty="0"/>
                        <m:t>(</m:t>
                      </m:r>
                      <m:r>
                        <m:rPr>
                          <m:nor/>
                        </m:rPr>
                        <a:rPr lang="en-US" sz="2500" dirty="0"/>
                        <m:t>r</m:t>
                      </m:r>
                      <m:r>
                        <m:rPr>
                          <m:nor/>
                        </m:rPr>
                        <a:rPr lang="en-US" sz="2500" dirty="0"/>
                        <m:t>,</m:t>
                      </m:r>
                      <m:acc>
                        <m:accPr>
                          <m:chr m:val="̂"/>
                          <m:ctrlPr>
                            <a:rPr lang="en-US" sz="25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nor/>
                            </m:rPr>
                            <a:rPr lang="el-GR" sz="2500" dirty="0"/>
                            <m:t>Ω</m:t>
                          </m:r>
                        </m:e>
                      </m:acc>
                      <m:r>
                        <m:rPr>
                          <m:nor/>
                        </m:rPr>
                        <a:rPr lang="en-US" sz="2500" dirty="0"/>
                        <m:t>,</m:t>
                      </m:r>
                      <m:r>
                        <m:rPr>
                          <m:nor/>
                        </m:rPr>
                        <a:rPr lang="en-US" sz="2500" dirty="0"/>
                        <m:t>t</m:t>
                      </m:r>
                      <m:r>
                        <m:rPr>
                          <m:nor/>
                        </m:rPr>
                        <a:rPr lang="en-US" sz="2500" dirty="0"/>
                        <m:t>)</m:t>
                      </m:r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nary>
                        <m:naryPr>
                          <m:ctrlPr>
                            <a:rPr lang="en-US" sz="25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5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  <m:sup/>
                        <m:e>
                          <m:r>
                            <m:rPr>
                              <m:nor/>
                            </m:rPr>
                            <a:rPr lang="en-US" sz="2500" dirty="0"/>
                            <m:t>L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(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r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5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nor/>
                                </m:rPr>
                                <a:rPr lang="el-GR" sz="2500" dirty="0"/>
                                <m:t>Ω</m:t>
                              </m:r>
                            </m:e>
                          </m:acc>
                          <m:r>
                            <m:rPr>
                              <m:nor/>
                            </m:rPr>
                            <a:rPr lang="en-US" sz="2500" dirty="0"/>
                            <m:t>,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t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)</m:t>
                          </m:r>
                          <m:r>
                            <m:rPr>
                              <m:nor/>
                            </m:rPr>
                            <a:rPr lang="en-US" sz="2500" b="0" i="0" dirty="0" smtClean="0"/>
                            <m:t>p</m:t>
                          </m:r>
                          <m:r>
                            <m:rPr>
                              <m:nor/>
                            </m:rPr>
                            <a:rPr lang="en-US" sz="2500" b="0" i="0" dirty="0" smtClean="0"/>
                            <m:t>(</m:t>
                          </m:r>
                          <m:r>
                            <m:rPr>
                              <m:nor/>
                            </m:rPr>
                            <a:rPr lang="en-US" sz="2500" b="0" i="0" dirty="0" smtClean="0"/>
                            <m:t>r</m:t>
                          </m:r>
                          <m:r>
                            <m:rPr>
                              <m:nor/>
                            </m:rPr>
                            <a:rPr lang="en-US" sz="2500" b="0" i="0" dirty="0" smtClean="0"/>
                            <m:t>,</m:t>
                          </m:r>
                          <m:sSup>
                            <m:sSupPr>
                              <m:ctrlPr>
                                <a:rPr lang="en-US" sz="25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25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nor/>
                                    </m:rPr>
                                    <a:rPr lang="el-GR" sz="2500" dirty="0"/>
                                    <m:t>Ω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25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5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̂"/>
                              <m:ctrlPr>
                                <a:rPr lang="en-US" sz="25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nor/>
                                </m:rPr>
                                <a:rPr lang="el-GR" sz="2500" dirty="0"/>
                                <m:t>Ω</m:t>
                              </m:r>
                            </m:e>
                          </m:acc>
                          <m:r>
                            <m:rPr>
                              <m:nor/>
                            </m:rPr>
                            <a:rPr lang="en-US" sz="2500" b="0" i="0" dirty="0" smtClean="0"/>
                            <m:t>)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5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25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nor/>
                                    </m:rPr>
                                    <a:rPr lang="el-GR" sz="2500" dirty="0"/>
                                    <m:t>Ω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25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en-US" sz="25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(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r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5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nor/>
                                </m:rPr>
                                <a:rPr lang="el-GR" sz="2500" dirty="0"/>
                                <m:t>Ω</m:t>
                              </m:r>
                            </m:e>
                          </m:acc>
                          <m:r>
                            <m:rPr>
                              <m:nor/>
                            </m:rPr>
                            <a:rPr lang="en-US" sz="2500" dirty="0"/>
                            <m:t>,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t</m:t>
                          </m:r>
                          <m:r>
                            <m:rPr>
                              <m:nor/>
                            </m:rPr>
                            <a:rPr lang="en-US" sz="2500" dirty="0"/>
                            <m:t>)</m:t>
                          </m:r>
                        </m:e>
                      </m:nary>
                    </m:oMath>
                  </m:oMathPara>
                </a14:m>
                <a:endParaRPr lang="en-US" sz="2500" dirty="0"/>
              </a:p>
              <a:p>
                <a:pPr marL="1216659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800" dirty="0"/>
                      <m:t>L</m:t>
                    </m:r>
                    <m:r>
                      <m:rPr>
                        <m:nor/>
                      </m:rPr>
                      <a:rPr lang="en-US" sz="2800" dirty="0"/>
                      <m:t>(</m:t>
                    </m:r>
                    <m:r>
                      <m:rPr>
                        <m:nor/>
                      </m:rPr>
                      <a:rPr lang="en-US" sz="2800" dirty="0"/>
                      <m:t>z</m:t>
                    </m:r>
                    <m:r>
                      <m:rPr>
                        <m:nor/>
                      </m:rPr>
                      <a:rPr lang="en-US" sz="2800" dirty="0"/>
                      <m:t>,</m:t>
                    </m:r>
                    <m:r>
                      <m:rPr>
                        <m:nor/>
                      </m:rPr>
                      <a:rPr lang="el-GR" sz="2800" dirty="0"/>
                      <m:t>μ</m:t>
                    </m:r>
                    <m:r>
                      <m:rPr>
                        <m:nor/>
                      </m:rPr>
                      <a:rPr lang="el-GR" sz="2800" dirty="0"/>
                      <m:t>)</m:t>
                    </m:r>
                    <m:r>
                      <m:rPr>
                        <m:nor/>
                      </m:rPr>
                      <a:rPr lang="en-US" sz="2800" dirty="0"/>
                      <m:t> =</m:t>
                    </m:r>
                  </m:oMath>
                </a14:m>
                <a:r>
                  <a:rPr lang="en-US" sz="2800" dirty="0"/>
                  <a:t> radiance</a:t>
                </a:r>
              </a:p>
              <a:p>
                <a:pPr marL="1216659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800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l-GR" sz="2800" dirty="0"/>
                          <m:t>μ</m:t>
                        </m:r>
                      </m:e>
                      <m:sub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800" dirty="0"/>
                  <a:t>= absorption coefficient</a:t>
                </a:r>
              </a:p>
              <a:p>
                <a:pPr marL="1216659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800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l-GR" sz="2800" dirty="0"/>
                          <m:t>μ</m:t>
                        </m:r>
                      </m:e>
                      <m:sub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800" dirty="0"/>
                  <a:t>= scattering coefficient</a:t>
                </a:r>
              </a:p>
              <a:p>
                <a:pPr marL="1216659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800" dirty="0"/>
                      <m:t>p</m:t>
                    </m:r>
                    <m:r>
                      <m:rPr>
                        <m:nor/>
                      </m:rPr>
                      <a:rPr lang="en-US" sz="2800" dirty="0"/>
                      <m:t>(</m:t>
                    </m:r>
                    <m:r>
                      <m:rPr>
                        <m:nor/>
                      </m:rPr>
                      <a:rPr lang="el-GR" sz="2800" dirty="0"/>
                      <m:t>μ</m:t>
                    </m:r>
                    <m:r>
                      <m:rPr>
                        <m:nor/>
                      </m:rPr>
                      <a:rPr lang="el-GR" sz="2800" dirty="0"/>
                      <m:t>,</m:t>
                    </m:r>
                    <m:r>
                      <m:rPr>
                        <m:nor/>
                      </m:rPr>
                      <a:rPr lang="el-GR" sz="2800" dirty="0"/>
                      <m:t>μ</m:t>
                    </m:r>
                    <m:r>
                      <m:rPr>
                        <m:nor/>
                      </m:rPr>
                      <a:rPr lang="el-GR" sz="2800" dirty="0"/>
                      <m:t>′)</m:t>
                    </m:r>
                  </m:oMath>
                </a14:m>
                <a:r>
                  <a:rPr lang="en-US" sz="2800" dirty="0"/>
                  <a:t> = phase function (</a:t>
                </a:r>
                <a:r>
                  <a:rPr lang="en-US" sz="2800" dirty="0" err="1"/>
                  <a:t>Henyey</a:t>
                </a:r>
                <a:r>
                  <a:rPr lang="en-US" sz="2800" dirty="0"/>
                  <a:t>-Greenstein)</a:t>
                </a:r>
              </a:p>
              <a:p>
                <a:pPr marL="1216659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800" dirty="0"/>
                  <a:t>g = anisotropy (average cosine of scattering angle)</a:t>
                </a:r>
              </a:p>
              <a:p>
                <a:pPr marL="302259" lvl="1"/>
                <a:endParaRPr lang="en-US" sz="2500" dirty="0"/>
              </a:p>
              <a:p>
                <a:pPr marL="302259" lvl="1"/>
                <a:endParaRPr lang="en-US" sz="25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95B367-4233-1706-A61D-1B013CF89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2705100"/>
                <a:ext cx="16389183" cy="5476820"/>
              </a:xfrm>
              <a:prstGeom prst="rect">
                <a:avLst/>
              </a:prstGeom>
              <a:blipFill>
                <a:blip r:embed="rId4"/>
                <a:stretch>
                  <a:fillRect t="-4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008883C-D9FD-31BE-CC87-12D4881ACF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33" t="31459" r="17298" b="30848"/>
          <a:stretch>
            <a:fillRect/>
          </a:stretch>
        </p:blipFill>
        <p:spPr>
          <a:xfrm>
            <a:off x="9718592" y="4448119"/>
            <a:ext cx="7807408" cy="4429181"/>
          </a:xfrm>
          <a:prstGeom prst="rect">
            <a:avLst/>
          </a:prstGeom>
        </p:spPr>
      </p:pic>
      <p:sp>
        <p:nvSpPr>
          <p:cNvPr id="11" name="TextBox 8">
            <a:extLst>
              <a:ext uri="{FF2B5EF4-FFF2-40B4-BE49-F238E27FC236}">
                <a16:creationId xmlns:a16="http://schemas.microsoft.com/office/drawing/2014/main" id="{4FF091EB-E1B4-D678-48B8-41DF769DEB7C}"/>
              </a:ext>
            </a:extLst>
          </p:cNvPr>
          <p:cNvSpPr txBox="1"/>
          <p:nvPr/>
        </p:nvSpPr>
        <p:spPr>
          <a:xfrm>
            <a:off x="10269496" y="8965527"/>
            <a:ext cx="6705600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/>
            <a:r>
              <a:rPr lang="en-US" sz="30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Fig. Light propagation through the space</a:t>
            </a:r>
          </a:p>
        </p:txBody>
      </p:sp>
    </p:spTree>
    <p:extLst>
      <p:ext uri="{BB962C8B-B14F-4D97-AF65-F5344CB8AC3E}">
        <p14:creationId xmlns:p14="http://schemas.microsoft.com/office/powerpoint/2010/main" val="3328677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F1E66-3CD6-398F-A5DB-887DF8F0A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1E18492-B42F-F594-8B78-3B9263F0E609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BBB2340-E7BC-15E5-2039-AA31EF615F97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5E3BB4A-0A7E-4E51-14CC-83452FF1456F}"/>
              </a:ext>
            </a:extLst>
          </p:cNvPr>
          <p:cNvSpPr txBox="1"/>
          <p:nvPr/>
        </p:nvSpPr>
        <p:spPr>
          <a:xfrm>
            <a:off x="762000" y="2359247"/>
            <a:ext cx="16541583" cy="7840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IAD Simulation 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Inverse Adding-Doubling (IAD) is a numerical method used to determine the intrinsic optical properties of turbid media such as: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Absorption coefficient (</a:t>
            </a:r>
            <a:r>
              <a:rPr lang="el-GR" sz="2800" dirty="0"/>
              <a:t>μ</a:t>
            </a:r>
            <a:r>
              <a:rPr lang="en-US" sz="2800" dirty="0"/>
              <a:t>ₐ</a:t>
            </a:r>
            <a:r>
              <a:rPr lang="en-US" sz="2500" dirty="0"/>
              <a:t>)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Scattering coefficient (</a:t>
            </a:r>
            <a:r>
              <a:rPr lang="el-GR" sz="2800" dirty="0"/>
              <a:t>μ</a:t>
            </a:r>
            <a:r>
              <a:rPr lang="en-US" sz="2800" dirty="0"/>
              <a:t>ₛ</a:t>
            </a:r>
            <a:r>
              <a:rPr lang="en-US" sz="2500" dirty="0"/>
              <a:t>)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Anisotropy factor (g)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From experimental measurements (integrating sphere), the following values are obtained: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Total diffuse reflectance (</a:t>
            </a:r>
            <a:r>
              <a:rPr lang="en-US" sz="2800" dirty="0"/>
              <a:t>Rₜ</a:t>
            </a:r>
            <a:r>
              <a:rPr lang="en-US" sz="2500" dirty="0"/>
              <a:t>)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Total diffuse transmittance (</a:t>
            </a:r>
            <a:r>
              <a:rPr lang="en-US" sz="2800" dirty="0"/>
              <a:t>Tₜ</a:t>
            </a:r>
            <a:r>
              <a:rPr lang="en-US" sz="2500" dirty="0"/>
              <a:t>)</a:t>
            </a:r>
          </a:p>
          <a:p>
            <a:pPr marL="1061719" lvl="2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Un-scattered / collimated transmittance (</a:t>
            </a:r>
            <a:r>
              <a:rPr lang="en-US" sz="2400" dirty="0"/>
              <a:t>T</a:t>
            </a:r>
            <a:r>
              <a:rPr lang="en-US" sz="1600" dirty="0"/>
              <a:t>c</a:t>
            </a:r>
            <a:r>
              <a:rPr lang="en-US" sz="2500" dirty="0"/>
              <a:t>)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88D5F75-6C97-D7A5-559C-1F6DAD417D5A}"/>
              </a:ext>
            </a:extLst>
          </p:cNvPr>
          <p:cNvSpPr txBox="1"/>
          <p:nvPr/>
        </p:nvSpPr>
        <p:spPr>
          <a:xfrm>
            <a:off x="3381826" y="1581978"/>
            <a:ext cx="115106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Inverse Adding Doubling Method</a:t>
            </a:r>
          </a:p>
        </p:txBody>
      </p:sp>
    </p:spTree>
    <p:extLst>
      <p:ext uri="{BB962C8B-B14F-4D97-AF65-F5344CB8AC3E}">
        <p14:creationId xmlns:p14="http://schemas.microsoft.com/office/powerpoint/2010/main" val="3582927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FF554-3FEA-E8FC-F34B-41442FE76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0879672-5420-79B2-72C7-DA31B2CEF60C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E6F1D04-24A7-5556-C7C7-F9A16272F409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0285342-AD3A-A49B-8B2A-DED71D08151C}"/>
              </a:ext>
            </a:extLst>
          </p:cNvPr>
          <p:cNvSpPr txBox="1"/>
          <p:nvPr/>
        </p:nvSpPr>
        <p:spPr>
          <a:xfrm>
            <a:off x="762000" y="2552700"/>
            <a:ext cx="8534400" cy="5855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Working Principle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works by repeatedly simulating light propagation and adjusting optical parameters until simulation matches measurement.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uses an iterative, trial-an-error approach to solve the radiative transport equation.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The optical properties calculated from the algorithm are compared with measured value until they are in agree.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95D3C4D6-B024-5DAC-3C05-5869BF506A9E}"/>
              </a:ext>
            </a:extLst>
          </p:cNvPr>
          <p:cNvSpPr txBox="1"/>
          <p:nvPr/>
        </p:nvSpPr>
        <p:spPr>
          <a:xfrm>
            <a:off x="3381826" y="1581978"/>
            <a:ext cx="115106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Inverse Adding Doubling Method</a:t>
            </a:r>
          </a:p>
        </p:txBody>
      </p:sp>
      <p:pic>
        <p:nvPicPr>
          <p:cNvPr id="5" name="Picture 4" descr="A diagram of a process&#10;&#10;AI-generated content may be incorrect.">
            <a:extLst>
              <a:ext uri="{FF2B5EF4-FFF2-40B4-BE49-F238E27FC236}">
                <a16:creationId xmlns:a16="http://schemas.microsoft.com/office/drawing/2014/main" id="{7BDF741B-1583-8D15-57A9-E7418A12BA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2600" y="2931577"/>
            <a:ext cx="8356600" cy="5097693"/>
          </a:xfrm>
          <a:prstGeom prst="rect">
            <a:avLst/>
          </a:prstGeom>
        </p:spPr>
      </p:pic>
      <p:sp>
        <p:nvSpPr>
          <p:cNvPr id="6" name="TextBox 8">
            <a:extLst>
              <a:ext uri="{FF2B5EF4-FFF2-40B4-BE49-F238E27FC236}">
                <a16:creationId xmlns:a16="http://schemas.microsoft.com/office/drawing/2014/main" id="{C38AA6D1-B2BA-221B-712E-78579C2D89F6}"/>
              </a:ext>
            </a:extLst>
          </p:cNvPr>
          <p:cNvSpPr txBox="1"/>
          <p:nvPr/>
        </p:nvSpPr>
        <p:spPr>
          <a:xfrm>
            <a:off x="10998199" y="8029270"/>
            <a:ext cx="5105401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/>
            <a:r>
              <a:rPr lang="en-US" sz="3000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Fig. Process Diagram of IAD</a:t>
            </a:r>
          </a:p>
        </p:txBody>
      </p:sp>
    </p:spTree>
    <p:extLst>
      <p:ext uri="{BB962C8B-B14F-4D97-AF65-F5344CB8AC3E}">
        <p14:creationId xmlns:p14="http://schemas.microsoft.com/office/powerpoint/2010/main" val="3369010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4A59-E510-D3CE-EEDC-BAF687066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2F69A78-7C48-B4A8-387C-4A83B1653B2F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B8D32E8-879F-FF77-5F6B-BB5553F71369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7F14995-EBF8-E012-9950-1F72926DF528}"/>
              </a:ext>
            </a:extLst>
          </p:cNvPr>
          <p:cNvSpPr txBox="1"/>
          <p:nvPr/>
        </p:nvSpPr>
        <p:spPr>
          <a:xfrm>
            <a:off x="755816" y="2628122"/>
            <a:ext cx="16541583" cy="8040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What is Monte Carlo Simulation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Monte Carlo simulation is a computational method that uses random sampling, models complex systems probabilistically and estimates quantities that are analytically intractable.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Uses the law of large number to average the samples which can find the true expectation values along with the central limit theorem to reduce the statistical error. 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It is used when:</a:t>
            </a:r>
          </a:p>
          <a:p>
            <a:pPr marL="1518919" lvl="3" indent="-302260">
              <a:lnSpc>
                <a:spcPct val="200000"/>
              </a:lnSpc>
              <a:buFont typeface="Arial"/>
              <a:buChar char="•"/>
            </a:pPr>
            <a:r>
              <a:rPr lang="en-US" sz="2400" dirty="0"/>
              <a:t>When the system is high-dimensional </a:t>
            </a:r>
          </a:p>
          <a:p>
            <a:pPr marL="1518919" lvl="3" indent="-302260">
              <a:lnSpc>
                <a:spcPct val="200000"/>
              </a:lnSpc>
              <a:buFont typeface="Arial"/>
              <a:buChar char="•"/>
            </a:pPr>
            <a:r>
              <a:rPr lang="en-US" sz="2400" dirty="0"/>
              <a:t>Governing equations are nonlinear.</a:t>
            </a:r>
          </a:p>
          <a:p>
            <a:pPr marL="1518919" lvl="3" indent="-302260">
              <a:lnSpc>
                <a:spcPct val="200000"/>
              </a:lnSpc>
              <a:buFont typeface="Arial"/>
              <a:buChar char="•"/>
            </a:pPr>
            <a:r>
              <a:rPr lang="en-US" sz="2400" dirty="0"/>
              <a:t>Boundary conditions are complex </a:t>
            </a:r>
          </a:p>
          <a:p>
            <a:pPr marL="1518919" lvl="3" indent="-302260">
              <a:lnSpc>
                <a:spcPct val="200000"/>
              </a:lnSpc>
              <a:buFont typeface="Arial"/>
              <a:buChar char="•"/>
            </a:pPr>
            <a:r>
              <a:rPr lang="en-US" sz="2400" dirty="0"/>
              <a:t>Experiments are too expensive.</a:t>
            </a:r>
            <a:br>
              <a:rPr lang="en-US" sz="2500" dirty="0"/>
            </a:b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054FA952-5108-6FE4-18F4-46D0E93CE8DD}"/>
              </a:ext>
            </a:extLst>
          </p:cNvPr>
          <p:cNvSpPr txBox="1"/>
          <p:nvPr/>
        </p:nvSpPr>
        <p:spPr>
          <a:xfrm>
            <a:off x="5024701" y="1521821"/>
            <a:ext cx="8238598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Monte Carlo Simulation</a:t>
            </a:r>
          </a:p>
        </p:txBody>
      </p:sp>
    </p:spTree>
    <p:extLst>
      <p:ext uri="{BB962C8B-B14F-4D97-AF65-F5344CB8AC3E}">
        <p14:creationId xmlns:p14="http://schemas.microsoft.com/office/powerpoint/2010/main" val="3479518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F1E66-3CD6-398F-A5DB-887DF8F0A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1E18492-B42F-F594-8B78-3B9263F0E609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BBB2340-E7BC-15E5-2039-AA31EF615F97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5E3BB4A-0A7E-4E51-14CC-83452FF1456F}"/>
              </a:ext>
            </a:extLst>
          </p:cNvPr>
          <p:cNvSpPr txBox="1"/>
          <p:nvPr/>
        </p:nvSpPr>
        <p:spPr>
          <a:xfrm>
            <a:off x="762000" y="2313081"/>
            <a:ext cx="16541583" cy="7855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Strength of Monte Carlo Simulation</a:t>
            </a:r>
            <a:endParaRPr lang="en-US" sz="25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Handle complex geometry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No need for analytical solutions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Flexible and general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Reveals hidden variables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Easily extensible</a:t>
            </a:r>
          </a:p>
          <a:p>
            <a:pPr marL="302259" lvl="1">
              <a:lnSpc>
                <a:spcPct val="200000"/>
              </a:lnSpc>
            </a:pP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of Monte Carlo Simulation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Computationally expensive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Statistical noise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Depends on model accuracy</a:t>
            </a: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88D5F75-6C97-D7A5-559C-1F6DAD417D5A}"/>
              </a:ext>
            </a:extLst>
          </p:cNvPr>
          <p:cNvSpPr txBox="1"/>
          <p:nvPr/>
        </p:nvSpPr>
        <p:spPr>
          <a:xfrm>
            <a:off x="5024701" y="1521821"/>
            <a:ext cx="8238598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Monte Carlo Simulation</a:t>
            </a:r>
          </a:p>
        </p:txBody>
      </p:sp>
    </p:spTree>
    <p:extLst>
      <p:ext uri="{BB962C8B-B14F-4D97-AF65-F5344CB8AC3E}">
        <p14:creationId xmlns:p14="http://schemas.microsoft.com/office/powerpoint/2010/main" val="4200821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43334-8F3B-0F4D-E7C3-853E5411F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C43BE4-65AB-45F5-17D5-CA6631B27FB4}"/>
              </a:ext>
            </a:extLst>
          </p:cNvPr>
          <p:cNvSpPr/>
          <p:nvPr/>
        </p:nvSpPr>
        <p:spPr>
          <a:xfrm>
            <a:off x="-6417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24D2E42-BC06-AD59-1C22-29D277656972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AC25FCB-0A34-A2FC-5B07-36FB284483B2}"/>
              </a:ext>
            </a:extLst>
          </p:cNvPr>
          <p:cNvSpPr txBox="1"/>
          <p:nvPr/>
        </p:nvSpPr>
        <p:spPr>
          <a:xfrm>
            <a:off x="755816" y="2628122"/>
            <a:ext cx="1654158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General Monte Carlo workflow</a:t>
            </a: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9AC2F7EB-9341-B79A-996A-5599265DA74A}"/>
              </a:ext>
            </a:extLst>
          </p:cNvPr>
          <p:cNvSpPr txBox="1"/>
          <p:nvPr/>
        </p:nvSpPr>
        <p:spPr>
          <a:xfrm>
            <a:off x="5024701" y="1521821"/>
            <a:ext cx="8238598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Monte Carlo Simulation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ED01E3C-699D-00B7-743D-3729BFE178F8}"/>
              </a:ext>
            </a:extLst>
          </p:cNvPr>
          <p:cNvSpPr/>
          <p:nvPr/>
        </p:nvSpPr>
        <p:spPr>
          <a:xfrm>
            <a:off x="1126888" y="3766448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Define the Model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53A81F-9A9E-7431-685F-2B8F1834EB4E}"/>
              </a:ext>
            </a:extLst>
          </p:cNvPr>
          <p:cNvSpPr/>
          <p:nvPr/>
        </p:nvSpPr>
        <p:spPr>
          <a:xfrm>
            <a:off x="4114800" y="3771276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Express system as probability distributions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2802A6-AAB1-BCF0-ED92-881EA6AD401A}"/>
              </a:ext>
            </a:extLst>
          </p:cNvPr>
          <p:cNvSpPr/>
          <p:nvPr/>
        </p:nvSpPr>
        <p:spPr>
          <a:xfrm>
            <a:off x="7228478" y="3766448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Generate random samples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DBFAA2E-9778-139F-16AF-2F55A1767E31}"/>
              </a:ext>
            </a:extLst>
          </p:cNvPr>
          <p:cNvSpPr/>
          <p:nvPr/>
        </p:nvSpPr>
        <p:spPr>
          <a:xfrm>
            <a:off x="10216390" y="3756665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Simulate events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D2B1F55-0823-911B-FCE8-B73599484BA0}"/>
              </a:ext>
            </a:extLst>
          </p:cNvPr>
          <p:cNvSpPr/>
          <p:nvPr/>
        </p:nvSpPr>
        <p:spPr>
          <a:xfrm>
            <a:off x="12960230" y="3766448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Accumulate statistics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9BD474C-13D2-E526-D892-B31D8BFFB109}"/>
              </a:ext>
            </a:extLst>
          </p:cNvPr>
          <p:cNvSpPr/>
          <p:nvPr/>
        </p:nvSpPr>
        <p:spPr>
          <a:xfrm>
            <a:off x="2632451" y="6491421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How accurate must results be?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16D59CD-37B2-CBFF-1892-AE2CCD864111}"/>
              </a:ext>
            </a:extLst>
          </p:cNvPr>
          <p:cNvSpPr/>
          <p:nvPr/>
        </p:nvSpPr>
        <p:spPr>
          <a:xfrm>
            <a:off x="9065475" y="6495654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How accurate must results be?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2998A7-DB3B-70FC-1261-4704016A3802}"/>
              </a:ext>
            </a:extLst>
          </p:cNvPr>
          <p:cNvSpPr/>
          <p:nvPr/>
        </p:nvSpPr>
        <p:spPr>
          <a:xfrm>
            <a:off x="5839675" y="6495654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What physics must be included?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EC82B0C-1040-2544-C589-C9A88E20D1F9}"/>
              </a:ext>
            </a:extLst>
          </p:cNvPr>
          <p:cNvSpPr/>
          <p:nvPr/>
        </p:nvSpPr>
        <p:spPr>
          <a:xfrm>
            <a:off x="12272699" y="6491421"/>
            <a:ext cx="1981200" cy="9912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What are the outputs?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1D05D859-D264-870A-FD39-0BE3C1C3B90D}"/>
              </a:ext>
            </a:extLst>
          </p:cNvPr>
          <p:cNvSpPr txBox="1"/>
          <p:nvPr/>
        </p:nvSpPr>
        <p:spPr>
          <a:xfrm>
            <a:off x="737240" y="5320943"/>
            <a:ext cx="1654158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Defining the Model</a:t>
            </a:r>
            <a:endParaRPr lang="en-US" sz="25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9F2BB25-9BA2-CE1D-C862-EFE8A0D021FD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108088" y="4262060"/>
            <a:ext cx="1006712" cy="4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AD011BE-A70E-441B-2283-5FB698E89DB9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6096000" y="4262060"/>
            <a:ext cx="1132478" cy="4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42769C-507A-F1E8-D6C6-F41B0BABB357}"/>
              </a:ext>
            </a:extLst>
          </p:cNvPr>
          <p:cNvCxnSpPr>
            <a:stCxn id="7" idx="3"/>
            <a:endCxn id="9" idx="1"/>
          </p:cNvCxnSpPr>
          <p:nvPr/>
        </p:nvCxnSpPr>
        <p:spPr>
          <a:xfrm flipV="1">
            <a:off x="9209678" y="4252277"/>
            <a:ext cx="1006712" cy="9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61F41C-A75A-6DEA-4A00-3EC22CDDDB4F}"/>
              </a:ext>
            </a:extLst>
          </p:cNvPr>
          <p:cNvCxnSpPr>
            <a:endCxn id="10" idx="1"/>
          </p:cNvCxnSpPr>
          <p:nvPr/>
        </p:nvCxnSpPr>
        <p:spPr>
          <a:xfrm>
            <a:off x="12197590" y="4262060"/>
            <a:ext cx="7626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2101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0A6C9-3BD3-66BC-C7B4-0EEDF2225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5D0FBF2-B86A-73C9-6E4D-611B8CE0CF08}"/>
              </a:ext>
            </a:extLst>
          </p:cNvPr>
          <p:cNvSpPr/>
          <p:nvPr/>
        </p:nvSpPr>
        <p:spPr>
          <a:xfrm>
            <a:off x="27296" y="16491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9C493C2-B7D0-542C-D115-FEB1D4F1376D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E8D4786E-0347-3FAB-2519-8C1A9D24A897}"/>
              </a:ext>
            </a:extLst>
          </p:cNvPr>
          <p:cNvSpPr txBox="1"/>
          <p:nvPr/>
        </p:nvSpPr>
        <p:spPr>
          <a:xfrm>
            <a:off x="6482755" y="1645717"/>
            <a:ext cx="5377082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Upcoming Plan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F4B1D7D-E671-8FBD-527D-B86B90ABDA99}"/>
              </a:ext>
            </a:extLst>
          </p:cNvPr>
          <p:cNvSpPr/>
          <p:nvPr/>
        </p:nvSpPr>
        <p:spPr>
          <a:xfrm>
            <a:off x="2036000" y="3390899"/>
            <a:ext cx="2622834" cy="135101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Set up Optical Sphere Experiment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7961A9-4A32-273C-6053-F9F14F801783}"/>
              </a:ext>
            </a:extLst>
          </p:cNvPr>
          <p:cNvSpPr/>
          <p:nvPr/>
        </p:nvSpPr>
        <p:spPr>
          <a:xfrm>
            <a:off x="5782132" y="3390901"/>
            <a:ext cx="2622834" cy="135100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Calibrate the measurement system with standard white 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EF8AACA-F8BB-D55B-7367-89F7B39522A9}"/>
              </a:ext>
            </a:extLst>
          </p:cNvPr>
          <p:cNvSpPr/>
          <p:nvPr/>
        </p:nvSpPr>
        <p:spPr>
          <a:xfrm>
            <a:off x="9528264" y="3390899"/>
            <a:ext cx="2622834" cy="135101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Create the Skin Phantom samples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6FD18B-AF8C-3594-AFC8-09D6A919A7FA}"/>
              </a:ext>
            </a:extLst>
          </p:cNvPr>
          <p:cNvSpPr/>
          <p:nvPr/>
        </p:nvSpPr>
        <p:spPr>
          <a:xfrm>
            <a:off x="13269847" y="3390900"/>
            <a:ext cx="2622834" cy="13510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Perform the measurement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42A3ADD-EF60-C147-F2D0-CDD60FB0E3CE}"/>
              </a:ext>
            </a:extLst>
          </p:cNvPr>
          <p:cNvSpPr/>
          <p:nvPr/>
        </p:nvSpPr>
        <p:spPr>
          <a:xfrm>
            <a:off x="4091866" y="5873910"/>
            <a:ext cx="2622834" cy="135100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Calculate the Optical properties of the skin phantom with IAD simulation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7DA17B-2279-4401-41BF-5435B257D9EE}"/>
              </a:ext>
            </a:extLst>
          </p:cNvPr>
          <p:cNvSpPr/>
          <p:nvPr/>
        </p:nvSpPr>
        <p:spPr>
          <a:xfrm>
            <a:off x="7532333" y="5873910"/>
            <a:ext cx="2622834" cy="13510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Calculate the Optical properties of the skin phantom with Monte Carlo simulation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2B64F5-8EE1-3F27-607C-2E7620366B6B}"/>
              </a:ext>
            </a:extLst>
          </p:cNvPr>
          <p:cNvSpPr/>
          <p:nvPr/>
        </p:nvSpPr>
        <p:spPr>
          <a:xfrm>
            <a:off x="10972800" y="5873910"/>
            <a:ext cx="2622834" cy="13510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Compare the two simulations result for the validation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538ED73-9A50-5264-7891-393C1EA12E30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658834" y="4066404"/>
            <a:ext cx="112329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75629CB-7409-77C1-5C31-5FEE285F9B97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8404966" y="4066404"/>
            <a:ext cx="112329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5106E2-7896-3712-0743-AD740919BD71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12151098" y="4066404"/>
            <a:ext cx="111874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32E5329B-39CF-288C-C843-62FC6A1A1163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9426274" y="718919"/>
            <a:ext cx="1132001" cy="917798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E9F71C9-E76D-F263-3355-C7D5BD0CE870}"/>
              </a:ext>
            </a:extLst>
          </p:cNvPr>
          <p:cNvCxnSpPr>
            <a:stCxn id="10" idx="3"/>
          </p:cNvCxnSpPr>
          <p:nvPr/>
        </p:nvCxnSpPr>
        <p:spPr>
          <a:xfrm>
            <a:off x="6714700" y="6549414"/>
            <a:ext cx="9815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3EAA59-A6F4-7B21-A924-80496E6ADF3D}"/>
              </a:ext>
            </a:extLst>
          </p:cNvPr>
          <p:cNvCxnSpPr>
            <a:stCxn id="11" idx="3"/>
            <a:endCxn id="8" idx="1"/>
          </p:cNvCxnSpPr>
          <p:nvPr/>
        </p:nvCxnSpPr>
        <p:spPr>
          <a:xfrm>
            <a:off x="10155167" y="6549415"/>
            <a:ext cx="8176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2155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485814" y="2762204"/>
            <a:ext cx="9316373" cy="2453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The End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80543" y="5328331"/>
            <a:ext cx="992691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THANK YOU FOR LISTENING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239"/>
              </a:lnSpc>
              <a:spcBef>
                <a:spcPct val="0"/>
              </a:spcBef>
            </a:pPr>
            <a:r>
              <a:rPr lang="en-US" sz="1599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  <a:endParaRPr lang="en-US" sz="1599" u="none" strike="noStrike" spc="159" dirty="0">
              <a:solidFill>
                <a:srgbClr val="000000">
                  <a:alpha val="49804"/>
                </a:srgbClr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3239</TotalTime>
  <Words>961</Words>
  <Application>Microsoft Office PowerPoint</Application>
  <PresentationFormat>Custom</PresentationFormat>
  <Paragraphs>131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Cambria Math</vt:lpstr>
      <vt:lpstr>Calibri</vt:lpstr>
      <vt:lpstr>DM Serif Display</vt:lpstr>
      <vt:lpstr>Aptos</vt:lpstr>
      <vt:lpstr>Arial</vt:lpstr>
      <vt:lpstr>Open Sauce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Simple Minimalist Pitch Deck Marketing Presentation</dc:title>
  <dc:creator>LUCUS</dc:creator>
  <cp:lastModifiedBy>THU TA ZAW</cp:lastModifiedBy>
  <cp:revision>471</cp:revision>
  <dcterms:created xsi:type="dcterms:W3CDTF">2006-08-16T00:00:00Z</dcterms:created>
  <dcterms:modified xsi:type="dcterms:W3CDTF">2026-01-08T13:36:21Z</dcterms:modified>
  <dc:identifier>DAG0bfrM1o8</dc:identifier>
</cp:coreProperties>
</file>