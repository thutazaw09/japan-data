
<file path=[Content_Types].xml><?xml version="1.0" encoding="utf-8"?>
<Types xmlns="http://schemas.openxmlformats.org/package/2006/content-types">
  <Default Extension="emf" ContentType="image/x-emf"/>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36"/>
  </p:notesMasterIdLst>
  <p:sldIdLst>
    <p:sldId id="256" r:id="rId2"/>
    <p:sldId id="854" r:id="rId3"/>
    <p:sldId id="860" r:id="rId4"/>
    <p:sldId id="861" r:id="rId5"/>
    <p:sldId id="862" r:id="rId6"/>
    <p:sldId id="864" r:id="rId7"/>
    <p:sldId id="863" r:id="rId8"/>
    <p:sldId id="865" r:id="rId9"/>
    <p:sldId id="866" r:id="rId10"/>
    <p:sldId id="867" r:id="rId11"/>
    <p:sldId id="868" r:id="rId12"/>
    <p:sldId id="869" r:id="rId13"/>
    <p:sldId id="870" r:id="rId14"/>
    <p:sldId id="874" r:id="rId15"/>
    <p:sldId id="875" r:id="rId16"/>
    <p:sldId id="876" r:id="rId17"/>
    <p:sldId id="873" r:id="rId18"/>
    <p:sldId id="878" r:id="rId19"/>
    <p:sldId id="877" r:id="rId20"/>
    <p:sldId id="879" r:id="rId21"/>
    <p:sldId id="880" r:id="rId22"/>
    <p:sldId id="881" r:id="rId23"/>
    <p:sldId id="882" r:id="rId24"/>
    <p:sldId id="883" r:id="rId25"/>
    <p:sldId id="893" r:id="rId26"/>
    <p:sldId id="884" r:id="rId27"/>
    <p:sldId id="885" r:id="rId28"/>
    <p:sldId id="886" r:id="rId29"/>
    <p:sldId id="887" r:id="rId30"/>
    <p:sldId id="888" r:id="rId31"/>
    <p:sldId id="889" r:id="rId32"/>
    <p:sldId id="891" r:id="rId33"/>
    <p:sldId id="892" r:id="rId34"/>
    <p:sldId id="267" r:id="rId35"/>
  </p:sldIdLst>
  <p:sldSz cx="18288000" cy="10287000"/>
  <p:notesSz cx="6858000" cy="9144000"/>
  <p:embeddedFontLst>
    <p:embeddedFont>
      <p:font typeface="Cambria Math" panose="02040503050406030204" pitchFamily="18" charset="0"/>
      <p:regular r:id="rId37"/>
    </p:embeddedFont>
    <p:embeddedFont>
      <p:font typeface="DM Serif Display" pitchFamily="2" charset="0"/>
      <p:regular r:id="rId38"/>
      <p:italic r:id="rId39"/>
    </p:embeddedFont>
    <p:embeddedFont>
      <p:font typeface="Open Sauce" panose="020B0604020202020204" charset="0"/>
      <p:regular r:id="rId40"/>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6322" autoAdjust="0"/>
    <p:restoredTop sz="85252" autoAdjust="0"/>
  </p:normalViewPr>
  <p:slideViewPr>
    <p:cSldViewPr>
      <p:cViewPr>
        <p:scale>
          <a:sx n="66" d="100"/>
          <a:sy n="66" d="100"/>
        </p:scale>
        <p:origin x="1548" y="-36"/>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font" Target="fonts/font3.fntdata"/><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font" Target="fonts/font1.fntdata"/><Relationship Id="rId40" Type="http://schemas.openxmlformats.org/officeDocument/2006/relationships/font" Target="fonts/font4.fnt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font" Target="fonts/font2.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E2EF82B-E016-44BD-B0C4-D5A3DF34FAF9}" type="datetimeFigureOut">
              <a:rPr lang="en-US" smtClean="0"/>
              <a:t>1/19/2026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CA7D310-3A65-477A-971E-8091E55376EC}" type="slidenum">
              <a:rPr lang="en-US" smtClean="0"/>
              <a:t>‹#›</a:t>
            </a:fld>
            <a:endParaRPr lang="en-US"/>
          </a:p>
        </p:txBody>
      </p:sp>
    </p:spTree>
    <p:extLst>
      <p:ext uri="{BB962C8B-B14F-4D97-AF65-F5344CB8AC3E}">
        <p14:creationId xmlns:p14="http://schemas.microsoft.com/office/powerpoint/2010/main" val="299359845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pPr/>
                <a14:m>
                  <m:oMathPara xmlns:m="http://schemas.openxmlformats.org/officeDocument/2006/math">
                    <m:oMathParaPr>
                      <m:jc m:val="centerGroup"/>
                    </m:oMathParaPr>
                    <m:oMath xmlns:m="http://schemas.openxmlformats.org/officeDocument/2006/math">
                      <m:sSub>
                        <m:sSubPr>
                          <m:ctrlPr>
                            <a:rPr lang="en-US" sz="1200" i="1" smtClean="0">
                              <a:latin typeface="Cambria Math" panose="02040503050406030204" pitchFamily="18" charset="0"/>
                            </a:rPr>
                          </m:ctrlPr>
                        </m:sSubPr>
                        <m:e>
                          <m:r>
                            <a:rPr lang="en-US" sz="1200" b="0" i="1">
                              <a:latin typeface="Cambria Math" panose="02040503050406030204" pitchFamily="18" charset="0"/>
                            </a:rPr>
                            <m:t>𝑟</m:t>
                          </m:r>
                        </m:e>
                        <m:sub>
                          <m:r>
                            <a:rPr lang="en-US" sz="1200" b="0" i="1">
                              <a:latin typeface="Cambria Math" panose="02040503050406030204" pitchFamily="18" charset="0"/>
                            </a:rPr>
                            <m:t>𝑠𝑡𝑑</m:t>
                          </m:r>
                        </m:sub>
                      </m:sSub>
                    </m:oMath>
                  </m:oMathPara>
                </a14:m>
                <a:endParaRPr lang="en-US" dirty="0"/>
              </a:p>
            </p:txBody>
          </p:sp>
        </mc:Choice>
        <mc:Fallback xmlns="">
          <p:sp>
            <p:nvSpPr>
              <p:cNvPr id="3" name="Notes Placeholder 2"/>
              <p:cNvSpPr>
                <a:spLocks noGrp="1"/>
              </p:cNvSpPr>
              <p:nvPr>
                <p:ph type="body" idx="1"/>
              </p:nvPr>
            </p:nvSpPr>
            <p:spPr/>
            <p:txBody>
              <a:bodyPr/>
              <a:lstStyle/>
              <a:p>
                <a:r>
                  <a:rPr lang="en-US" sz="1200" b="0" i="0">
                    <a:latin typeface="Cambria Math" panose="02040503050406030204" pitchFamily="18" charset="0"/>
                  </a:rPr>
                  <a:t>𝑟_𝑠𝑡𝑑</a:t>
                </a:r>
                <a:endParaRPr lang="en-US" dirty="0"/>
              </a:p>
            </p:txBody>
          </p:sp>
        </mc:Fallback>
      </mc:AlternateContent>
      <p:sp>
        <p:nvSpPr>
          <p:cNvPr id="4" name="Slide Number Placeholder 3"/>
          <p:cNvSpPr>
            <a:spLocks noGrp="1"/>
          </p:cNvSpPr>
          <p:nvPr>
            <p:ph type="sldNum" sz="quarter" idx="5"/>
          </p:nvPr>
        </p:nvSpPr>
        <p:spPr/>
        <p:txBody>
          <a:bodyPr/>
          <a:lstStyle/>
          <a:p>
            <a:fld id="{7CA7D310-3A65-477A-971E-8091E55376EC}" type="slidenum">
              <a:rPr lang="en-US" smtClean="0"/>
              <a:t>5</a:t>
            </a:fld>
            <a:endParaRPr lang="en-US"/>
          </a:p>
        </p:txBody>
      </p:sp>
    </p:spTree>
    <p:extLst>
      <p:ext uri="{BB962C8B-B14F-4D97-AF65-F5344CB8AC3E}">
        <p14:creationId xmlns:p14="http://schemas.microsoft.com/office/powerpoint/2010/main" val="148339032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063D97-E6C1-62F7-579A-CB9A0A8B351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70FE47E-C316-2B81-EF80-DCB7205AD520}"/>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4BBB68C4-7374-0E02-32C4-8EB7584EDAE5}"/>
                  </a:ext>
                </a:extLst>
              </p:cNvPr>
              <p:cNvSpPr>
                <a:spLocks noGrp="1"/>
              </p:cNvSpPr>
              <p:nvPr>
                <p:ph type="body" idx="1"/>
              </p:nvPr>
            </p:nvSpPr>
            <p:spPr/>
            <p:txBody>
              <a:bodyPr/>
              <a:lstStyle/>
              <a:p>
                <a:pPr/>
                <a14:m>
                  <m:oMathPara xmlns:m="http://schemas.openxmlformats.org/officeDocument/2006/math">
                    <m:oMathParaPr>
                      <m:jc m:val="centerGroup"/>
                    </m:oMathParaPr>
                    <m:oMath xmlns:m="http://schemas.openxmlformats.org/officeDocument/2006/math">
                      <m:sSub>
                        <m:sSubPr>
                          <m:ctrlPr>
                            <a:rPr lang="en-US" sz="1200" i="1" smtClean="0">
                              <a:latin typeface="Cambria Math" panose="02040503050406030204" pitchFamily="18" charset="0"/>
                            </a:rPr>
                          </m:ctrlPr>
                        </m:sSubPr>
                        <m:e>
                          <m:r>
                            <a:rPr lang="en-US" sz="1200" b="0" i="1">
                              <a:latin typeface="Cambria Math" panose="02040503050406030204" pitchFamily="18" charset="0"/>
                            </a:rPr>
                            <m:t>𝑟</m:t>
                          </m:r>
                        </m:e>
                        <m:sub>
                          <m:r>
                            <a:rPr lang="en-US" sz="1200" b="0" i="1">
                              <a:latin typeface="Cambria Math" panose="02040503050406030204" pitchFamily="18" charset="0"/>
                            </a:rPr>
                            <m:t>𝑠𝑡𝑑</m:t>
                          </m:r>
                        </m:sub>
                      </m:sSub>
                    </m:oMath>
                  </m:oMathPara>
                </a14:m>
                <a:endParaRPr lang="en-US" dirty="0"/>
              </a:p>
            </p:txBody>
          </p:sp>
        </mc:Choice>
        <mc:Fallback xmlns="">
          <p:sp>
            <p:nvSpPr>
              <p:cNvPr id="3" name="Notes Placeholder 2">
                <a:extLst>
                  <a:ext uri="{FF2B5EF4-FFF2-40B4-BE49-F238E27FC236}">
                    <a16:creationId xmlns:a16="http://schemas.microsoft.com/office/drawing/2014/main" id="{4BBB68C4-7374-0E02-32C4-8EB7584EDAE5}"/>
                  </a:ext>
                </a:extLst>
              </p:cNvPr>
              <p:cNvSpPr>
                <a:spLocks noGrp="1"/>
              </p:cNvSpPr>
              <p:nvPr>
                <p:ph type="body" idx="1"/>
              </p:nvPr>
            </p:nvSpPr>
            <p:spPr/>
            <p:txBody>
              <a:bodyPr/>
              <a:lstStyle/>
              <a:p>
                <a:r>
                  <a:rPr lang="en-US" sz="1200" b="0" i="0">
                    <a:latin typeface="Cambria Math" panose="02040503050406030204" pitchFamily="18" charset="0"/>
                  </a:rPr>
                  <a:t>𝑟_𝑠𝑡𝑑</a:t>
                </a:r>
                <a:endParaRPr lang="en-US" dirty="0"/>
              </a:p>
            </p:txBody>
          </p:sp>
        </mc:Fallback>
      </mc:AlternateContent>
      <p:sp>
        <p:nvSpPr>
          <p:cNvPr id="4" name="Slide Number Placeholder 3">
            <a:extLst>
              <a:ext uri="{FF2B5EF4-FFF2-40B4-BE49-F238E27FC236}">
                <a16:creationId xmlns:a16="http://schemas.microsoft.com/office/drawing/2014/main" id="{6A366876-2583-A53A-0423-ED1E56409439}"/>
              </a:ext>
            </a:extLst>
          </p:cNvPr>
          <p:cNvSpPr>
            <a:spLocks noGrp="1"/>
          </p:cNvSpPr>
          <p:nvPr>
            <p:ph type="sldNum" sz="quarter" idx="5"/>
          </p:nvPr>
        </p:nvSpPr>
        <p:spPr/>
        <p:txBody>
          <a:bodyPr/>
          <a:lstStyle/>
          <a:p>
            <a:fld id="{7CA7D310-3A65-477A-971E-8091E55376EC}" type="slidenum">
              <a:rPr lang="en-US" smtClean="0"/>
              <a:t>7</a:t>
            </a:fld>
            <a:endParaRPr lang="en-US"/>
          </a:p>
        </p:txBody>
      </p:sp>
    </p:spTree>
    <p:extLst>
      <p:ext uri="{BB962C8B-B14F-4D97-AF65-F5344CB8AC3E}">
        <p14:creationId xmlns:p14="http://schemas.microsoft.com/office/powerpoint/2010/main" val="62920111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F7D9A8-2131-11B5-15E5-83F2D4F6CE4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FD36D4C-2F0B-6F35-DAAC-5BC6ABCE238D}"/>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B8786E2B-D487-EAC8-E1D8-2CB5C8946638}"/>
                  </a:ext>
                </a:extLst>
              </p:cNvPr>
              <p:cNvSpPr>
                <a:spLocks noGrp="1"/>
              </p:cNvSpPr>
              <p:nvPr>
                <p:ph type="body" idx="1"/>
              </p:nvPr>
            </p:nvSpPr>
            <p:spPr/>
            <p:txBody>
              <a:bodyPr/>
              <a:lstStyle/>
              <a:p>
                <a:pPr/>
                <a14:m>
                  <m:oMathPara xmlns:m="http://schemas.openxmlformats.org/officeDocument/2006/math">
                    <m:oMathParaPr>
                      <m:jc m:val="centerGroup"/>
                    </m:oMathParaPr>
                    <m:oMath xmlns:m="http://schemas.openxmlformats.org/officeDocument/2006/math">
                      <m:sSub>
                        <m:sSubPr>
                          <m:ctrlPr>
                            <a:rPr lang="en-US" sz="1200" i="1" smtClean="0">
                              <a:latin typeface="Cambria Math" panose="02040503050406030204" pitchFamily="18" charset="0"/>
                            </a:rPr>
                          </m:ctrlPr>
                        </m:sSubPr>
                        <m:e>
                          <m:r>
                            <a:rPr lang="en-US" sz="1200" b="0" i="1">
                              <a:latin typeface="Cambria Math" panose="02040503050406030204" pitchFamily="18" charset="0"/>
                            </a:rPr>
                            <m:t>𝑟</m:t>
                          </m:r>
                        </m:e>
                        <m:sub>
                          <m:r>
                            <a:rPr lang="en-US" sz="1200" b="0" i="1">
                              <a:latin typeface="Cambria Math" panose="02040503050406030204" pitchFamily="18" charset="0"/>
                            </a:rPr>
                            <m:t>𝑠𝑡𝑑</m:t>
                          </m:r>
                        </m:sub>
                      </m:sSub>
                    </m:oMath>
                  </m:oMathPara>
                </a14:m>
                <a:endParaRPr lang="en-US" dirty="0"/>
              </a:p>
            </p:txBody>
          </p:sp>
        </mc:Choice>
        <mc:Fallback xmlns="">
          <p:sp>
            <p:nvSpPr>
              <p:cNvPr id="3" name="Notes Placeholder 2">
                <a:extLst>
                  <a:ext uri="{FF2B5EF4-FFF2-40B4-BE49-F238E27FC236}">
                    <a16:creationId xmlns:a16="http://schemas.microsoft.com/office/drawing/2014/main" id="{B8786E2B-D487-EAC8-E1D8-2CB5C8946638}"/>
                  </a:ext>
                </a:extLst>
              </p:cNvPr>
              <p:cNvSpPr>
                <a:spLocks noGrp="1"/>
              </p:cNvSpPr>
              <p:nvPr>
                <p:ph type="body" idx="1"/>
              </p:nvPr>
            </p:nvSpPr>
            <p:spPr/>
            <p:txBody>
              <a:bodyPr/>
              <a:lstStyle/>
              <a:p>
                <a:r>
                  <a:rPr lang="en-US" sz="1200" b="0" i="0">
                    <a:latin typeface="Cambria Math" panose="02040503050406030204" pitchFamily="18" charset="0"/>
                  </a:rPr>
                  <a:t>𝑟_𝑠𝑡𝑑</a:t>
                </a:r>
                <a:endParaRPr lang="en-US" dirty="0"/>
              </a:p>
            </p:txBody>
          </p:sp>
        </mc:Fallback>
      </mc:AlternateContent>
      <p:sp>
        <p:nvSpPr>
          <p:cNvPr id="4" name="Slide Number Placeholder 3">
            <a:extLst>
              <a:ext uri="{FF2B5EF4-FFF2-40B4-BE49-F238E27FC236}">
                <a16:creationId xmlns:a16="http://schemas.microsoft.com/office/drawing/2014/main" id="{D585FCF4-643A-5981-BBA3-630FCAD03E6A}"/>
              </a:ext>
            </a:extLst>
          </p:cNvPr>
          <p:cNvSpPr>
            <a:spLocks noGrp="1"/>
          </p:cNvSpPr>
          <p:nvPr>
            <p:ph type="sldNum" sz="quarter" idx="5"/>
          </p:nvPr>
        </p:nvSpPr>
        <p:spPr/>
        <p:txBody>
          <a:bodyPr/>
          <a:lstStyle/>
          <a:p>
            <a:fld id="{7CA7D310-3A65-477A-971E-8091E55376EC}" type="slidenum">
              <a:rPr lang="en-US" smtClean="0"/>
              <a:t>9</a:t>
            </a:fld>
            <a:endParaRPr lang="en-US"/>
          </a:p>
        </p:txBody>
      </p:sp>
    </p:spTree>
    <p:extLst>
      <p:ext uri="{BB962C8B-B14F-4D97-AF65-F5344CB8AC3E}">
        <p14:creationId xmlns:p14="http://schemas.microsoft.com/office/powerpoint/2010/main" val="368810317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Powell’s method don’t require the input function derivative. </a:t>
            </a:r>
          </a:p>
        </p:txBody>
      </p:sp>
      <p:sp>
        <p:nvSpPr>
          <p:cNvPr id="4" name="Slide Number Placeholder 3"/>
          <p:cNvSpPr>
            <a:spLocks noGrp="1"/>
          </p:cNvSpPr>
          <p:nvPr>
            <p:ph type="sldNum" sz="quarter" idx="5"/>
          </p:nvPr>
        </p:nvSpPr>
        <p:spPr/>
        <p:txBody>
          <a:bodyPr/>
          <a:lstStyle/>
          <a:p>
            <a:fld id="{7CA7D310-3A65-477A-971E-8091E55376EC}" type="slidenum">
              <a:rPr lang="en-US" smtClean="0"/>
              <a:t>17</a:t>
            </a:fld>
            <a:endParaRPr lang="en-US"/>
          </a:p>
        </p:txBody>
      </p:sp>
    </p:spTree>
    <p:extLst>
      <p:ext uri="{BB962C8B-B14F-4D97-AF65-F5344CB8AC3E}">
        <p14:creationId xmlns:p14="http://schemas.microsoft.com/office/powerpoint/2010/main" val="347438978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C8A8B6-085B-1635-88D5-43D77F1BFD2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52644AD-E421-5C83-FD16-89C93C0811B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B64ED78-CEB8-9A31-539F-3B00BD8F9441}"/>
              </a:ext>
            </a:extLst>
          </p:cNvPr>
          <p:cNvSpPr>
            <a:spLocks noGrp="1"/>
          </p:cNvSpPr>
          <p:nvPr>
            <p:ph type="body" idx="1"/>
          </p:nvPr>
        </p:nvSpPr>
        <p:spPr/>
        <p:txBody>
          <a:bodyPr/>
          <a:lstStyle/>
          <a:p>
            <a:r>
              <a:rPr lang="en-US" dirty="0"/>
              <a:t>Powell’s method don’t require the input function derivative. </a:t>
            </a:r>
          </a:p>
        </p:txBody>
      </p:sp>
      <p:sp>
        <p:nvSpPr>
          <p:cNvPr id="4" name="Slide Number Placeholder 3">
            <a:extLst>
              <a:ext uri="{FF2B5EF4-FFF2-40B4-BE49-F238E27FC236}">
                <a16:creationId xmlns:a16="http://schemas.microsoft.com/office/drawing/2014/main" id="{B1B6DE0C-B092-428A-97C7-BC1AD66A342C}"/>
              </a:ext>
            </a:extLst>
          </p:cNvPr>
          <p:cNvSpPr>
            <a:spLocks noGrp="1"/>
          </p:cNvSpPr>
          <p:nvPr>
            <p:ph type="sldNum" sz="quarter" idx="5"/>
          </p:nvPr>
        </p:nvSpPr>
        <p:spPr/>
        <p:txBody>
          <a:bodyPr/>
          <a:lstStyle/>
          <a:p>
            <a:fld id="{7CA7D310-3A65-477A-971E-8091E55376EC}" type="slidenum">
              <a:rPr lang="en-US" smtClean="0"/>
              <a:t>18</a:t>
            </a:fld>
            <a:endParaRPr lang="en-US"/>
          </a:p>
        </p:txBody>
      </p:sp>
    </p:spTree>
    <p:extLst>
      <p:ext uri="{BB962C8B-B14F-4D97-AF65-F5344CB8AC3E}">
        <p14:creationId xmlns:p14="http://schemas.microsoft.com/office/powerpoint/2010/main" val="401420251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5B7AA5-450A-F7D4-C815-F3012A4272F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5BBA879-490B-0051-B3CD-729A0A49042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BCDE282-D379-BAEE-9B4C-580FC156C425}"/>
              </a:ext>
            </a:extLst>
          </p:cNvPr>
          <p:cNvSpPr>
            <a:spLocks noGrp="1"/>
          </p:cNvSpPr>
          <p:nvPr>
            <p:ph type="body" idx="1"/>
          </p:nvPr>
        </p:nvSpPr>
        <p:spPr/>
        <p:txBody>
          <a:bodyPr/>
          <a:lstStyle/>
          <a:p>
            <a:r>
              <a:rPr lang="en-US" dirty="0"/>
              <a:t>Powell’s method don’t require the input function derivative. </a:t>
            </a:r>
          </a:p>
        </p:txBody>
      </p:sp>
      <p:sp>
        <p:nvSpPr>
          <p:cNvPr id="4" name="Slide Number Placeholder 3">
            <a:extLst>
              <a:ext uri="{FF2B5EF4-FFF2-40B4-BE49-F238E27FC236}">
                <a16:creationId xmlns:a16="http://schemas.microsoft.com/office/drawing/2014/main" id="{09BB9FB9-529C-4763-1321-5F182DAF7720}"/>
              </a:ext>
            </a:extLst>
          </p:cNvPr>
          <p:cNvSpPr>
            <a:spLocks noGrp="1"/>
          </p:cNvSpPr>
          <p:nvPr>
            <p:ph type="sldNum" sz="quarter" idx="5"/>
          </p:nvPr>
        </p:nvSpPr>
        <p:spPr/>
        <p:txBody>
          <a:bodyPr/>
          <a:lstStyle/>
          <a:p>
            <a:fld id="{7CA7D310-3A65-477A-971E-8091E55376EC}" type="slidenum">
              <a:rPr lang="en-US" smtClean="0"/>
              <a:t>19</a:t>
            </a:fld>
            <a:endParaRPr lang="en-US"/>
          </a:p>
        </p:txBody>
      </p:sp>
    </p:spTree>
    <p:extLst>
      <p:ext uri="{BB962C8B-B14F-4D97-AF65-F5344CB8AC3E}">
        <p14:creationId xmlns:p14="http://schemas.microsoft.com/office/powerpoint/2010/main" val="7178696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CA7D310-3A65-477A-971E-8091E55376EC}" type="slidenum">
              <a:rPr lang="en-US" smtClean="0"/>
              <a:t>26</a:t>
            </a:fld>
            <a:endParaRPr lang="en-US"/>
          </a:p>
        </p:txBody>
      </p:sp>
    </p:spTree>
    <p:extLst>
      <p:ext uri="{BB962C8B-B14F-4D97-AF65-F5344CB8AC3E}">
        <p14:creationId xmlns:p14="http://schemas.microsoft.com/office/powerpoint/2010/main" val="69824768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CA7D310-3A65-477A-971E-8091E55376EC}" type="slidenum">
              <a:rPr lang="en-US" smtClean="0"/>
              <a:t>27</a:t>
            </a:fld>
            <a:endParaRPr lang="en-US"/>
          </a:p>
        </p:txBody>
      </p:sp>
    </p:spTree>
    <p:extLst>
      <p:ext uri="{BB962C8B-B14F-4D97-AF65-F5344CB8AC3E}">
        <p14:creationId xmlns:p14="http://schemas.microsoft.com/office/powerpoint/2010/main" val="10560656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CA7D310-3A65-477A-971E-8091E55376EC}" type="slidenum">
              <a:rPr lang="en-US" smtClean="0"/>
              <a:t>33</a:t>
            </a:fld>
            <a:endParaRPr lang="en-US"/>
          </a:p>
        </p:txBody>
      </p:sp>
    </p:spTree>
    <p:extLst>
      <p:ext uri="{BB962C8B-B14F-4D97-AF65-F5344CB8AC3E}">
        <p14:creationId xmlns:p14="http://schemas.microsoft.com/office/powerpoint/2010/main" val="212067102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1/19/2026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1/19/2026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1/19/2026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1/19/2026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1/19/2026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1/19/2026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1/19/2026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Layout" Target="../slideLayouts/slideLayout7.xml"/><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jpe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1.xml"/><Relationship Id="rId1" Type="http://schemas.openxmlformats.org/officeDocument/2006/relationships/slideLayout" Target="../slideLayouts/slideLayout7.xml"/><Relationship Id="rId6" Type="http://schemas.openxmlformats.org/officeDocument/2006/relationships/image" Target="../media/image8.png"/><Relationship Id="rId5" Type="http://schemas.openxmlformats.org/officeDocument/2006/relationships/image" Target="../media/image5.emf"/><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4.jpe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2.xml"/><Relationship Id="rId1" Type="http://schemas.openxmlformats.org/officeDocument/2006/relationships/slideLayout" Target="../slideLayouts/slideLayout7.xml"/><Relationship Id="rId6" Type="http://schemas.openxmlformats.org/officeDocument/2006/relationships/image" Target="../media/image6.emf"/><Relationship Id="rId5" Type="http://schemas.openxmlformats.org/officeDocument/2006/relationships/image" Target="../media/image11.png"/><Relationship Id="rId4" Type="http://schemas.openxmlformats.org/officeDocument/2006/relationships/image" Target="../media/image10.png"/></Relationships>
</file>

<file path=ppt/slides/_rels/slide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4.jpe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3.xml"/><Relationship Id="rId1" Type="http://schemas.openxmlformats.org/officeDocument/2006/relationships/slideLayout" Target="../slideLayouts/slideLayout7.xml"/><Relationship Id="rId6" Type="http://schemas.openxmlformats.org/officeDocument/2006/relationships/image" Target="../media/image7.emf"/><Relationship Id="rId5" Type="http://schemas.openxmlformats.org/officeDocument/2006/relationships/image" Target="../media/image15.png"/><Relationship Id="rId4" Type="http://schemas.openxmlformats.org/officeDocument/2006/relationships/image" Target="../media/image14.png"/></Relationships>
</file>

<file path=ppt/slides/_rels/slide1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4.jpe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4.jpe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4.jpe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4.jpe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4.jpeg"/><Relationship Id="rId1" Type="http://schemas.openxmlformats.org/officeDocument/2006/relationships/slideLayout" Target="../slideLayouts/slideLayout7.xml"/><Relationship Id="rId4" Type="http://schemas.openxmlformats.org/officeDocument/2006/relationships/image" Target="../media/image19.emf"/></Relationships>
</file>

<file path=ppt/slides/_rels/slide17.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4.xml"/><Relationship Id="rId1" Type="http://schemas.openxmlformats.org/officeDocument/2006/relationships/slideLayout" Target="../slideLayouts/slideLayout7.xml"/><Relationship Id="rId4" Type="http://schemas.openxmlformats.org/officeDocument/2006/relationships/image" Target="../media/image20.PNG"/></Relationships>
</file>

<file path=ppt/slides/_rels/slide18.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6.xml"/><Relationship Id="rId1" Type="http://schemas.openxmlformats.org/officeDocument/2006/relationships/slideLayout" Target="../slideLayouts/slideLayout7.xml"/><Relationship Id="rId4" Type="http://schemas.openxmlformats.org/officeDocument/2006/relationships/image" Target="../media/image21.PNG"/></Relationships>
</file>

<file path=ppt/slides/_rels/slide20.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4.jpeg"/><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4.jpeg"/><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4.jpeg"/><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4.jpeg"/><Relationship Id="rId1" Type="http://schemas.openxmlformats.org/officeDocument/2006/relationships/slideLayout" Target="../slideLayouts/slideLayout7.xml"/><Relationship Id="rId5" Type="http://schemas.openxmlformats.org/officeDocument/2006/relationships/image" Target="../media/image27.png"/><Relationship Id="rId4" Type="http://schemas.openxmlformats.org/officeDocument/2006/relationships/image" Target="../media/image26.PNG"/></Relationships>
</file>

<file path=ppt/slides/_rels/slide24.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4.jpeg"/><Relationship Id="rId1" Type="http://schemas.openxmlformats.org/officeDocument/2006/relationships/slideLayout" Target="../slideLayouts/slideLayout7.xml"/><Relationship Id="rId4" Type="http://schemas.openxmlformats.org/officeDocument/2006/relationships/image" Target="../media/image29.png"/></Relationships>
</file>

<file path=ppt/slides/_rels/slide25.xml.rels><?xml version="1.0" encoding="UTF-8" standalone="yes"?>
<Relationships xmlns="http://schemas.openxmlformats.org/package/2006/relationships"><Relationship Id="rId8" Type="http://schemas.openxmlformats.org/officeDocument/2006/relationships/image" Target="../media/image35.png"/><Relationship Id="rId3" Type="http://schemas.openxmlformats.org/officeDocument/2006/relationships/image" Target="../media/image30.png"/><Relationship Id="rId7" Type="http://schemas.openxmlformats.org/officeDocument/2006/relationships/image" Target="../media/image34.png"/><Relationship Id="rId2" Type="http://schemas.openxmlformats.org/officeDocument/2006/relationships/image" Target="../media/image4.jpeg"/><Relationship Id="rId1" Type="http://schemas.openxmlformats.org/officeDocument/2006/relationships/slideLayout" Target="../slideLayouts/slideLayout7.xml"/><Relationship Id="rId6" Type="http://schemas.openxmlformats.org/officeDocument/2006/relationships/image" Target="../media/image33.PNG"/><Relationship Id="rId5" Type="http://schemas.openxmlformats.org/officeDocument/2006/relationships/image" Target="../media/image32.PNG"/><Relationship Id="rId4" Type="http://schemas.openxmlformats.org/officeDocument/2006/relationships/image" Target="../media/image31.PNG"/><Relationship Id="rId9" Type="http://schemas.openxmlformats.org/officeDocument/2006/relationships/image" Target="../media/image36.png"/></Relationships>
</file>

<file path=ppt/slides/_rels/slide26.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7.xml"/><Relationship Id="rId1" Type="http://schemas.openxmlformats.org/officeDocument/2006/relationships/slideLayout" Target="../slideLayouts/slideLayout7.xml"/><Relationship Id="rId6" Type="http://schemas.openxmlformats.org/officeDocument/2006/relationships/image" Target="../media/image39.png"/><Relationship Id="rId5" Type="http://schemas.openxmlformats.org/officeDocument/2006/relationships/image" Target="../media/image38.PNG"/><Relationship Id="rId4" Type="http://schemas.openxmlformats.org/officeDocument/2006/relationships/image" Target="../media/image37.png"/></Relationships>
</file>

<file path=ppt/slides/_rels/slide27.xml.rels><?xml version="1.0" encoding="UTF-8" standalone="yes"?>
<Relationships xmlns="http://schemas.openxmlformats.org/package/2006/relationships"><Relationship Id="rId8" Type="http://schemas.openxmlformats.org/officeDocument/2006/relationships/image" Target="../media/image44.png"/><Relationship Id="rId3" Type="http://schemas.openxmlformats.org/officeDocument/2006/relationships/image" Target="../media/image4.jpeg"/><Relationship Id="rId7" Type="http://schemas.openxmlformats.org/officeDocument/2006/relationships/image" Target="../media/image43.png"/><Relationship Id="rId2" Type="http://schemas.openxmlformats.org/officeDocument/2006/relationships/notesSlide" Target="../notesSlides/notesSlide8.xml"/><Relationship Id="rId1" Type="http://schemas.openxmlformats.org/officeDocument/2006/relationships/slideLayout" Target="../slideLayouts/slideLayout7.xml"/><Relationship Id="rId6" Type="http://schemas.openxmlformats.org/officeDocument/2006/relationships/image" Target="../media/image42.PNG"/><Relationship Id="rId5" Type="http://schemas.openxmlformats.org/officeDocument/2006/relationships/image" Target="../media/image41.PNG"/><Relationship Id="rId4" Type="http://schemas.openxmlformats.org/officeDocument/2006/relationships/image" Target="../media/image40.png"/></Relationships>
</file>

<file path=ppt/slides/_rels/slide28.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image" Target="../media/image4.jpeg"/><Relationship Id="rId1" Type="http://schemas.openxmlformats.org/officeDocument/2006/relationships/slideLayout" Target="../slideLayouts/slideLayout7.xml"/><Relationship Id="rId4" Type="http://schemas.openxmlformats.org/officeDocument/2006/relationships/image" Target="../media/image46.PNG"/></Relationships>
</file>

<file path=ppt/slides/_rels/slide29.xml.rels><?xml version="1.0" encoding="UTF-8" standalone="yes"?>
<Relationships xmlns="http://schemas.openxmlformats.org/package/2006/relationships"><Relationship Id="rId3" Type="http://schemas.openxmlformats.org/officeDocument/2006/relationships/image" Target="../media/image380.PNG"/><Relationship Id="rId2" Type="http://schemas.openxmlformats.org/officeDocument/2006/relationships/image" Target="../media/image4.jpeg"/><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image" Target="../media/image4.jpeg"/><Relationship Id="rId1" Type="http://schemas.openxmlformats.org/officeDocument/2006/relationships/slideLayout" Target="../slideLayouts/slideLayout7.xml"/><Relationship Id="rId5" Type="http://schemas.openxmlformats.org/officeDocument/2006/relationships/image" Target="../media/image49.png"/><Relationship Id="rId4" Type="http://schemas.openxmlformats.org/officeDocument/2006/relationships/image" Target="../media/image48.PNG"/></Relationships>
</file>

<file path=ppt/slides/_rels/slide32.xml.rels><?xml version="1.0" encoding="UTF-8" standalone="yes"?>
<Relationships xmlns="http://schemas.openxmlformats.org/package/2006/relationships"><Relationship Id="rId3" Type="http://schemas.openxmlformats.org/officeDocument/2006/relationships/image" Target="../media/image400.png"/><Relationship Id="rId2" Type="http://schemas.openxmlformats.org/officeDocument/2006/relationships/image" Target="../media/image4.jpeg"/><Relationship Id="rId1" Type="http://schemas.openxmlformats.org/officeDocument/2006/relationships/slideLayout" Target="../slideLayouts/slideLayout7.xml"/><Relationship Id="rId5" Type="http://schemas.openxmlformats.org/officeDocument/2006/relationships/image" Target="../media/image420.PNG"/><Relationship Id="rId4" Type="http://schemas.openxmlformats.org/officeDocument/2006/relationships/image" Target="../media/image50.PNG"/></Relationships>
</file>

<file path=ppt/slides/_rels/slide33.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9.xml"/><Relationship Id="rId1" Type="http://schemas.openxmlformats.org/officeDocument/2006/relationships/slideLayout" Target="../slideLayouts/slideLayout7.xml"/><Relationship Id="rId6" Type="http://schemas.openxmlformats.org/officeDocument/2006/relationships/image" Target="../media/image450.PNG"/><Relationship Id="rId5" Type="http://schemas.openxmlformats.org/officeDocument/2006/relationships/image" Target="../media/image51.PNG"/><Relationship Id="rId4" Type="http://schemas.openxmlformats.org/officeDocument/2006/relationships/image" Target="../media/image430.png"/></Relationships>
</file>

<file path=ppt/slides/_rels/slide34.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alphaModFix amt="50000"/>
            </a:blip>
            <a:stretch>
              <a:fillRect/>
            </a:stretch>
          </a:blipFill>
        </p:spPr>
        <p:txBody>
          <a:bodyPr/>
          <a:lstStyle/>
          <a:p>
            <a:endParaRPr lang="en-US" dirty="0"/>
          </a:p>
        </p:txBody>
      </p:sp>
      <p:sp>
        <p:nvSpPr>
          <p:cNvPr id="3" name="TextBox 3"/>
          <p:cNvSpPr txBox="1"/>
          <p:nvPr/>
        </p:nvSpPr>
        <p:spPr>
          <a:xfrm>
            <a:off x="2613987" y="2765510"/>
            <a:ext cx="13060024" cy="2394053"/>
          </a:xfrm>
          <a:prstGeom prst="rect">
            <a:avLst/>
          </a:prstGeom>
        </p:spPr>
        <p:txBody>
          <a:bodyPr wrap="square" lIns="0" tIns="0" rIns="0" bIns="0" rtlCol="0" anchor="t">
            <a:spAutoFit/>
          </a:bodyPr>
          <a:lstStyle/>
          <a:p>
            <a:pPr algn="ctr">
              <a:lnSpc>
                <a:spcPts val="20160"/>
              </a:lnSpc>
            </a:pPr>
            <a:r>
              <a:rPr lang="en-US" sz="12000" dirty="0">
                <a:solidFill>
                  <a:srgbClr val="000000"/>
                </a:solidFill>
                <a:latin typeface="DM Serif Display"/>
                <a:ea typeface="DM Serif Display"/>
                <a:cs typeface="DM Serif Display"/>
                <a:sym typeface="DM Serif Display"/>
              </a:rPr>
              <a:t>Presentation XI</a:t>
            </a:r>
          </a:p>
        </p:txBody>
      </p:sp>
      <p:sp>
        <p:nvSpPr>
          <p:cNvPr id="5" name="TextBox 5"/>
          <p:cNvSpPr txBox="1"/>
          <p:nvPr/>
        </p:nvSpPr>
        <p:spPr>
          <a:xfrm>
            <a:off x="7671329" y="8480425"/>
            <a:ext cx="2945342" cy="553165"/>
          </a:xfrm>
          <a:prstGeom prst="rect">
            <a:avLst/>
          </a:prstGeom>
        </p:spPr>
        <p:txBody>
          <a:bodyPr lIns="0" tIns="0" rIns="0" bIns="0" rtlCol="0" anchor="t">
            <a:spAutoFit/>
          </a:bodyPr>
          <a:lstStyle/>
          <a:p>
            <a:pPr algn="ctr">
              <a:lnSpc>
                <a:spcPts val="4480"/>
              </a:lnSpc>
              <a:spcBef>
                <a:spcPct val="0"/>
              </a:spcBef>
            </a:pPr>
            <a:r>
              <a:rPr lang="en-US" sz="3200" dirty="0">
                <a:solidFill>
                  <a:srgbClr val="000000">
                    <a:alpha val="49804"/>
                  </a:srgbClr>
                </a:solidFill>
                <a:latin typeface="DM Serif Display"/>
                <a:ea typeface="DM Serif Display"/>
                <a:cs typeface="DM Serif Display"/>
                <a:sym typeface="DM Serif Display"/>
              </a:rPr>
              <a:t>Thu Ta Zaw</a:t>
            </a:r>
          </a:p>
        </p:txBody>
      </p:sp>
      <p:sp>
        <p:nvSpPr>
          <p:cNvPr id="6" name="TextBox 6"/>
          <p:cNvSpPr txBox="1"/>
          <p:nvPr/>
        </p:nvSpPr>
        <p:spPr>
          <a:xfrm>
            <a:off x="7418762" y="9142095"/>
            <a:ext cx="3450476" cy="258725"/>
          </a:xfrm>
          <a:prstGeom prst="rect">
            <a:avLst/>
          </a:prstGeom>
        </p:spPr>
        <p:txBody>
          <a:bodyPr lIns="0" tIns="0" rIns="0" bIns="0" rtlCol="0" anchor="t">
            <a:spAutoFit/>
          </a:bodyPr>
          <a:lstStyle/>
          <a:p>
            <a:pPr marL="0" lvl="0" indent="0" algn="ctr">
              <a:lnSpc>
                <a:spcPts val="2239"/>
              </a:lnSpc>
              <a:spcBef>
                <a:spcPct val="0"/>
              </a:spcBef>
            </a:pPr>
            <a:r>
              <a:rPr lang="en-US" sz="1599" u="none" strike="noStrike" spc="159" dirty="0">
                <a:solidFill>
                  <a:srgbClr val="000000">
                    <a:alpha val="49804"/>
                  </a:srgbClr>
                </a:solidFill>
                <a:latin typeface="Open Sauce"/>
                <a:ea typeface="Open Sauce"/>
                <a:cs typeface="Open Sauce"/>
                <a:sym typeface="Open Sauce"/>
              </a:rPr>
              <a:t>2415121095</a:t>
            </a:r>
          </a:p>
        </p:txBody>
      </p:sp>
      <p:sp>
        <p:nvSpPr>
          <p:cNvPr id="7" name="TextBox 8">
            <a:extLst>
              <a:ext uri="{FF2B5EF4-FFF2-40B4-BE49-F238E27FC236}">
                <a16:creationId xmlns:a16="http://schemas.microsoft.com/office/drawing/2014/main" id="{7B244B4F-61ED-CD64-3F42-BB24EA8E2BD6}"/>
              </a:ext>
            </a:extLst>
          </p:cNvPr>
          <p:cNvSpPr txBox="1"/>
          <p:nvPr/>
        </p:nvSpPr>
        <p:spPr>
          <a:xfrm>
            <a:off x="6648724" y="4871022"/>
            <a:ext cx="4990550" cy="577081"/>
          </a:xfrm>
          <a:prstGeom prst="rect">
            <a:avLst/>
          </a:prstGeom>
        </p:spPr>
        <p:txBody>
          <a:bodyPr wrap="square" lIns="0" tIns="0" rIns="0" bIns="0" rtlCol="0" anchor="t">
            <a:spAutoFit/>
          </a:bodyPr>
          <a:lstStyle/>
          <a:p>
            <a:pPr marL="302259" lvl="1" algn="l">
              <a:lnSpc>
                <a:spcPts val="4479"/>
              </a:lnSpc>
            </a:pPr>
            <a:r>
              <a:rPr lang="en-US" sz="4000" b="1" dirty="0">
                <a:solidFill>
                  <a:srgbClr val="000000"/>
                </a:solidFill>
                <a:latin typeface="Times New Roman" panose="02020603050405020304" pitchFamily="18" charset="0"/>
                <a:ea typeface="Open Sauce"/>
                <a:cs typeface="Times New Roman" panose="02020603050405020304" pitchFamily="18" charset="0"/>
                <a:sym typeface="Open Sauce"/>
              </a:rPr>
              <a:t>Literature Review</a:t>
            </a:r>
          </a:p>
        </p:txBody>
      </p:sp>
      <p:grpSp>
        <p:nvGrpSpPr>
          <p:cNvPr id="4" name="Group 3">
            <a:extLst>
              <a:ext uri="{FF2B5EF4-FFF2-40B4-BE49-F238E27FC236}">
                <a16:creationId xmlns:a16="http://schemas.microsoft.com/office/drawing/2014/main" id="{ABCF42FA-AD96-6718-B5FF-6A0BFF7AD7F8}"/>
              </a:ext>
            </a:extLst>
          </p:cNvPr>
          <p:cNvGrpSpPr/>
          <p:nvPr/>
        </p:nvGrpSpPr>
        <p:grpSpPr>
          <a:xfrm>
            <a:off x="13826319" y="0"/>
            <a:ext cx="4461681" cy="2019300"/>
            <a:chOff x="10985984" y="47827"/>
            <a:chExt cx="1034194" cy="467116"/>
          </a:xfrm>
        </p:grpSpPr>
        <p:pic>
          <p:nvPicPr>
            <p:cNvPr id="8" name="Picture 2" descr="ตราสัญลักษณ์เนื่องในโอกาสครบรอบ 60 ปี  แห่งการสถาปนามหาวิทยาลัยเทคโนโลยีพระจอมเกล้าธนบุรี – PR KMUTT">
              <a:extLst>
                <a:ext uri="{FF2B5EF4-FFF2-40B4-BE49-F238E27FC236}">
                  <a16:creationId xmlns:a16="http://schemas.microsoft.com/office/drawing/2014/main" id="{A069B459-3DF4-5F50-9704-697C70599798}"/>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46720" b="32723"/>
            <a:stretch/>
          </p:blipFill>
          <p:spPr bwMode="auto">
            <a:xfrm>
              <a:off x="10985984" y="47827"/>
              <a:ext cx="573968" cy="431950"/>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2" descr="Division of Health Sciences Graduate School of Medical Sciences, Kanazawa  University">
              <a:extLst>
                <a:ext uri="{FF2B5EF4-FFF2-40B4-BE49-F238E27FC236}">
                  <a16:creationId xmlns:a16="http://schemas.microsoft.com/office/drawing/2014/main" id="{5554D7E3-09F1-F888-8561-58B8ED11C862}"/>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1559952" y="54717"/>
              <a:ext cx="460226" cy="460226"/>
            </a:xfrm>
            <a:prstGeom prst="rect">
              <a:avLst/>
            </a:prstGeom>
            <a:noFill/>
            <a:extLst>
              <a:ext uri="{909E8E84-426E-40DD-AFC4-6F175D3DCCD1}">
                <a14:hiddenFill xmlns:a14="http://schemas.microsoft.com/office/drawing/2010/main">
                  <a:solidFill>
                    <a:srgbClr val="FFFFFF"/>
                  </a:solidFill>
                </a14:hiddenFill>
              </a:ext>
            </a:extLst>
          </p:spPr>
        </p:pic>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E94A59-E510-D3CE-EEDC-BAF687066C95}"/>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02F69A78-7C48-B4A8-387C-4A83B1653B2F}"/>
              </a:ext>
            </a:extLst>
          </p:cNvPr>
          <p:cNvSpPr/>
          <p:nvPr/>
        </p:nvSpPr>
        <p:spPr>
          <a:xfrm>
            <a:off x="-6824"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alphaModFix amt="50000"/>
            </a:blip>
            <a:stretch>
              <a:fillRect/>
            </a:stretch>
          </a:blipFill>
          <a:ln cap="sq">
            <a:noFill/>
            <a:prstDash val="solid"/>
            <a:miter/>
          </a:ln>
        </p:spPr>
        <p:txBody>
          <a:bodyPr/>
          <a:lstStyle/>
          <a:p>
            <a:endParaRPr lang="en-US" dirty="0"/>
          </a:p>
        </p:txBody>
      </p:sp>
      <p:sp>
        <p:nvSpPr>
          <p:cNvPr id="3" name="AutoShape 3">
            <a:extLst>
              <a:ext uri="{FF2B5EF4-FFF2-40B4-BE49-F238E27FC236}">
                <a16:creationId xmlns:a16="http://schemas.microsoft.com/office/drawing/2014/main" id="{1B8D32E8-879F-FF77-5F6B-BB5553F71369}"/>
              </a:ext>
            </a:extLst>
          </p:cNvPr>
          <p:cNvSpPr/>
          <p:nvPr/>
        </p:nvSpPr>
        <p:spPr>
          <a:xfrm>
            <a:off x="1166399" y="1028700"/>
            <a:ext cx="687324" cy="0"/>
          </a:xfrm>
          <a:prstGeom prst="line">
            <a:avLst/>
          </a:prstGeom>
          <a:ln w="76200" cap="flat">
            <a:solidFill>
              <a:srgbClr val="000000"/>
            </a:solidFill>
            <a:prstDash val="solid"/>
            <a:headEnd type="none" w="sm" len="sm"/>
            <a:tailEnd type="none" w="sm" len="sm"/>
          </a:ln>
        </p:spPr>
        <p:txBody>
          <a:bodyPr/>
          <a:lstStyle/>
          <a:p>
            <a:endParaRPr lang="en-US" dirty="0"/>
          </a:p>
        </p:txBody>
      </p:sp>
      <p:sp>
        <p:nvSpPr>
          <p:cNvPr id="8" name="TextBox 8">
            <a:extLst>
              <a:ext uri="{FF2B5EF4-FFF2-40B4-BE49-F238E27FC236}">
                <a16:creationId xmlns:a16="http://schemas.microsoft.com/office/drawing/2014/main" id="{87F14995-EBF8-E012-9950-1F72926DF528}"/>
              </a:ext>
            </a:extLst>
          </p:cNvPr>
          <p:cNvSpPr txBox="1"/>
          <p:nvPr/>
        </p:nvSpPr>
        <p:spPr>
          <a:xfrm>
            <a:off x="755816" y="2628122"/>
            <a:ext cx="16541583" cy="6624891"/>
          </a:xfrm>
          <a:prstGeom prst="rect">
            <a:avLst/>
          </a:prstGeom>
        </p:spPr>
        <p:txBody>
          <a:bodyPr wrap="square" lIns="0" tIns="0" rIns="0" bIns="0" rtlCol="0" anchor="t">
            <a:spAutoFit/>
          </a:bodyPr>
          <a:lstStyle/>
          <a:p>
            <a:pPr marL="302259" lvl="1">
              <a:lnSpc>
                <a:spcPts val="4479"/>
              </a:lnSpc>
            </a:pPr>
            <a:r>
              <a:rPr lang="en-US" sz="4000" b="1" dirty="0">
                <a:solidFill>
                  <a:srgbClr val="000000"/>
                </a:solidFill>
                <a:latin typeface="Times New Roman" panose="02020603050405020304" pitchFamily="18" charset="0"/>
                <a:cs typeface="Times New Roman" panose="02020603050405020304" pitchFamily="18" charset="0"/>
                <a:sym typeface="Open Sauce"/>
              </a:rPr>
              <a:t> </a:t>
            </a:r>
            <a:endParaRPr lang="en-US" sz="2500" b="1" dirty="0"/>
          </a:p>
          <a:p>
            <a:pPr marL="604519" lvl="1" indent="-302260">
              <a:lnSpc>
                <a:spcPct val="200000"/>
              </a:lnSpc>
              <a:buFont typeface="Arial"/>
              <a:buChar char="•"/>
            </a:pPr>
            <a:r>
              <a:rPr lang="en-US" sz="2500" dirty="0"/>
              <a:t>Monte Carlo simulation is used for simulating light transport in biological tissue.</a:t>
            </a:r>
          </a:p>
          <a:p>
            <a:pPr marL="604519" lvl="1" indent="-302260">
              <a:lnSpc>
                <a:spcPct val="200000"/>
              </a:lnSpc>
              <a:buFont typeface="Arial"/>
              <a:buChar char="•"/>
            </a:pPr>
            <a:r>
              <a:rPr lang="en-US" sz="2500" dirty="0"/>
              <a:t>Integrating spheres make experimental measurements of the reflectance and transmittance of a sample.</a:t>
            </a:r>
          </a:p>
          <a:p>
            <a:pPr marL="604519" lvl="1" indent="-302260">
              <a:lnSpc>
                <a:spcPct val="200000"/>
              </a:lnSpc>
              <a:buFont typeface="Arial"/>
              <a:buChar char="•"/>
            </a:pPr>
            <a:r>
              <a:rPr lang="en-US" sz="2500" dirty="0"/>
              <a:t>In this research, the Integrating Sphere Monte Carlo (ISMC), which is the extension of Monte Carlo Photon transport methods to simulate the propagation of photons in Integrating Sphere is presented.</a:t>
            </a:r>
          </a:p>
          <a:p>
            <a:pPr marL="604519" lvl="1" indent="-302260">
              <a:lnSpc>
                <a:spcPct val="200000"/>
              </a:lnSpc>
              <a:buFont typeface="Arial"/>
              <a:buChar char="•"/>
            </a:pPr>
            <a:r>
              <a:rPr lang="en-US" sz="2500" dirty="0"/>
              <a:t>Validated with previous work on Monte Carlo photon transport, and experimental measurements of a synthetic tissue phantom validate this method.</a:t>
            </a:r>
          </a:p>
          <a:p>
            <a:pPr marL="604519" lvl="1" indent="-302260">
              <a:lnSpc>
                <a:spcPct val="200000"/>
              </a:lnSpc>
              <a:buFont typeface="Arial"/>
              <a:buChar char="•"/>
            </a:pPr>
            <a:r>
              <a:rPr lang="en-US" sz="2500" dirty="0"/>
              <a:t>Presented tow approach lookup table method and multivariable minimization method to back-calculate the optical properties of samples.</a:t>
            </a:r>
          </a:p>
        </p:txBody>
      </p:sp>
      <p:sp>
        <p:nvSpPr>
          <p:cNvPr id="4" name="TextBox 8">
            <a:extLst>
              <a:ext uri="{FF2B5EF4-FFF2-40B4-BE49-F238E27FC236}">
                <a16:creationId xmlns:a16="http://schemas.microsoft.com/office/drawing/2014/main" id="{054FA952-5108-6FE4-18F4-46D0E93CE8DD}"/>
              </a:ext>
            </a:extLst>
          </p:cNvPr>
          <p:cNvSpPr txBox="1"/>
          <p:nvPr/>
        </p:nvSpPr>
        <p:spPr>
          <a:xfrm>
            <a:off x="755816" y="1251330"/>
            <a:ext cx="15549299" cy="1154162"/>
          </a:xfrm>
          <a:prstGeom prst="rect">
            <a:avLst/>
          </a:prstGeom>
        </p:spPr>
        <p:txBody>
          <a:bodyPr wrap="square" lIns="0" tIns="0" rIns="0" bIns="0" rtlCol="0" anchor="t">
            <a:spAutoFit/>
          </a:bodyPr>
          <a:lstStyle/>
          <a:p>
            <a:pPr marL="302259" lvl="1">
              <a:lnSpc>
                <a:spcPts val="4479"/>
              </a:lnSpc>
            </a:pPr>
            <a:r>
              <a:rPr lang="en-US" sz="4000" b="1" dirty="0">
                <a:solidFill>
                  <a:srgbClr val="000000"/>
                </a:solidFill>
                <a:latin typeface="Times New Roman" panose="02020603050405020304" pitchFamily="18" charset="0"/>
                <a:ea typeface="Open Sauce"/>
                <a:cs typeface="Times New Roman" panose="02020603050405020304" pitchFamily="18" charset="0"/>
                <a:sym typeface="Open Sauce"/>
              </a:rPr>
              <a:t>Prediction of tissue optical properties using the Monte Carlo modeling of photon transport in turbid media and integrating sphere</a:t>
            </a:r>
          </a:p>
        </p:txBody>
      </p:sp>
    </p:spTree>
    <p:extLst>
      <p:ext uri="{BB962C8B-B14F-4D97-AF65-F5344CB8AC3E}">
        <p14:creationId xmlns:p14="http://schemas.microsoft.com/office/powerpoint/2010/main" val="347951814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5DE5F2-6CAF-44A3-5718-93946483BE95}"/>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1B272F20-70BA-349D-3C22-DB1314D8ACF7}"/>
              </a:ext>
            </a:extLst>
          </p:cNvPr>
          <p:cNvSpPr/>
          <p:nvPr/>
        </p:nvSpPr>
        <p:spPr>
          <a:xfrm>
            <a:off x="0" y="22058"/>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alphaModFix amt="50000"/>
            </a:blip>
            <a:stretch>
              <a:fillRect/>
            </a:stretch>
          </a:blipFill>
          <a:ln cap="sq">
            <a:noFill/>
            <a:prstDash val="solid"/>
            <a:miter/>
          </a:ln>
        </p:spPr>
        <p:txBody>
          <a:bodyPr/>
          <a:lstStyle/>
          <a:p>
            <a:endParaRPr lang="en-US" dirty="0"/>
          </a:p>
        </p:txBody>
      </p:sp>
      <p:sp>
        <p:nvSpPr>
          <p:cNvPr id="3" name="AutoShape 3">
            <a:extLst>
              <a:ext uri="{FF2B5EF4-FFF2-40B4-BE49-F238E27FC236}">
                <a16:creationId xmlns:a16="http://schemas.microsoft.com/office/drawing/2014/main" id="{24F1036A-E337-51F6-0F97-7F529267F136}"/>
              </a:ext>
            </a:extLst>
          </p:cNvPr>
          <p:cNvSpPr/>
          <p:nvPr/>
        </p:nvSpPr>
        <p:spPr>
          <a:xfrm>
            <a:off x="1166399" y="1028700"/>
            <a:ext cx="687324" cy="0"/>
          </a:xfrm>
          <a:prstGeom prst="line">
            <a:avLst/>
          </a:prstGeom>
          <a:ln w="76200" cap="flat">
            <a:solidFill>
              <a:srgbClr val="000000"/>
            </a:solidFill>
            <a:prstDash val="solid"/>
            <a:headEnd type="none" w="sm" len="sm"/>
            <a:tailEnd type="none" w="sm" len="sm"/>
          </a:ln>
        </p:spPr>
        <p:txBody>
          <a:bodyPr/>
          <a:lstStyle/>
          <a:p>
            <a:endParaRPr lang="en-US" dirty="0"/>
          </a:p>
        </p:txBody>
      </p:sp>
      <p:sp>
        <p:nvSpPr>
          <p:cNvPr id="8" name="TextBox 8">
            <a:extLst>
              <a:ext uri="{FF2B5EF4-FFF2-40B4-BE49-F238E27FC236}">
                <a16:creationId xmlns:a16="http://schemas.microsoft.com/office/drawing/2014/main" id="{79BA6975-857B-FBA3-D3AA-9D2EAA8ECB7A}"/>
              </a:ext>
            </a:extLst>
          </p:cNvPr>
          <p:cNvSpPr txBox="1"/>
          <p:nvPr/>
        </p:nvSpPr>
        <p:spPr>
          <a:xfrm>
            <a:off x="755816" y="2628122"/>
            <a:ext cx="16541583" cy="6047809"/>
          </a:xfrm>
          <a:prstGeom prst="rect">
            <a:avLst/>
          </a:prstGeom>
        </p:spPr>
        <p:txBody>
          <a:bodyPr wrap="square" lIns="0" tIns="0" rIns="0" bIns="0" rtlCol="0" anchor="t">
            <a:spAutoFit/>
          </a:bodyPr>
          <a:lstStyle/>
          <a:p>
            <a:pPr marL="604519" lvl="1" indent="-302260">
              <a:lnSpc>
                <a:spcPct val="200000"/>
              </a:lnSpc>
              <a:buFont typeface="Arial"/>
              <a:buChar char="•"/>
            </a:pPr>
            <a:r>
              <a:rPr lang="en-US" sz="2500" dirty="0"/>
              <a:t>Solved problem of standard Monte Carlo (MC) models ignore integrating sphere geometry. </a:t>
            </a:r>
          </a:p>
          <a:p>
            <a:pPr marL="604519" lvl="1" indent="-302260">
              <a:lnSpc>
                <a:spcPct val="200000"/>
              </a:lnSpc>
              <a:buFont typeface="Arial"/>
              <a:buChar char="•"/>
            </a:pPr>
            <a:r>
              <a:rPr lang="en-US" sz="2500" dirty="0"/>
              <a:t>Integrating spheres cause photon re-incidence and sphere-to-sphere crosstalk, which can lead to inaccurate inverse solution with error over &gt;20%.</a:t>
            </a:r>
          </a:p>
          <a:p>
            <a:pPr marL="604519" lvl="1" indent="-302260">
              <a:lnSpc>
                <a:spcPct val="200000"/>
              </a:lnSpc>
              <a:buFont typeface="Arial"/>
              <a:buChar char="•"/>
            </a:pPr>
            <a:r>
              <a:rPr lang="en-US" sz="2500" dirty="0"/>
              <a:t>ISMC models photon interactions with integrating spheres and accounts for photon re-incidence and dual-sphere crosstalk.</a:t>
            </a:r>
          </a:p>
          <a:p>
            <a:pPr marL="604519" lvl="1" indent="-302260">
              <a:lnSpc>
                <a:spcPct val="200000"/>
              </a:lnSpc>
              <a:buFont typeface="Arial"/>
              <a:buChar char="•"/>
            </a:pPr>
            <a:r>
              <a:rPr lang="en-US" sz="2500" dirty="0"/>
              <a:t>It is computationally efficient and avoids full ray-tracing inside spheres and only requires only one simulation per illumination. </a:t>
            </a:r>
          </a:p>
          <a:p>
            <a:pPr marL="604519" lvl="1" indent="-302260">
              <a:lnSpc>
                <a:spcPct val="200000"/>
              </a:lnSpc>
              <a:buFont typeface="Arial"/>
              <a:buChar char="•"/>
            </a:pPr>
            <a:r>
              <a:rPr lang="en-US" sz="2500" dirty="0"/>
              <a:t>Supports both single and dual sphere configurations. </a:t>
            </a:r>
          </a:p>
          <a:p>
            <a:pPr marL="604519" lvl="1" indent="-302260">
              <a:lnSpc>
                <a:spcPct val="200000"/>
              </a:lnSpc>
              <a:buFont typeface="Arial"/>
              <a:buChar char="•"/>
            </a:pPr>
            <a:r>
              <a:rPr lang="en-US" sz="2500" dirty="0"/>
              <a:t>Experimental and simulation uncertainties are propagated through both methods. </a:t>
            </a:r>
            <a:endParaRPr lang="en-US" sz="2500" dirty="0">
              <a:highlight>
                <a:srgbClr val="FFFF00"/>
              </a:highlight>
            </a:endParaRPr>
          </a:p>
        </p:txBody>
      </p:sp>
      <p:sp>
        <p:nvSpPr>
          <p:cNvPr id="4" name="TextBox 8">
            <a:extLst>
              <a:ext uri="{FF2B5EF4-FFF2-40B4-BE49-F238E27FC236}">
                <a16:creationId xmlns:a16="http://schemas.microsoft.com/office/drawing/2014/main" id="{5DBE742C-B643-C969-BBB4-A16EB04FC5DF}"/>
              </a:ext>
            </a:extLst>
          </p:cNvPr>
          <p:cNvSpPr txBox="1"/>
          <p:nvPr/>
        </p:nvSpPr>
        <p:spPr>
          <a:xfrm>
            <a:off x="755816" y="1251330"/>
            <a:ext cx="15549299" cy="1154162"/>
          </a:xfrm>
          <a:prstGeom prst="rect">
            <a:avLst/>
          </a:prstGeom>
        </p:spPr>
        <p:txBody>
          <a:bodyPr wrap="square" lIns="0" tIns="0" rIns="0" bIns="0" rtlCol="0" anchor="t">
            <a:spAutoFit/>
          </a:bodyPr>
          <a:lstStyle/>
          <a:p>
            <a:pPr marL="302259" lvl="1">
              <a:lnSpc>
                <a:spcPts val="4479"/>
              </a:lnSpc>
            </a:pPr>
            <a:r>
              <a:rPr lang="en-US" sz="4000" b="1" dirty="0">
                <a:solidFill>
                  <a:srgbClr val="000000"/>
                </a:solidFill>
                <a:latin typeface="Times New Roman" panose="02020603050405020304" pitchFamily="18" charset="0"/>
                <a:ea typeface="Open Sauce"/>
                <a:cs typeface="Times New Roman" panose="02020603050405020304" pitchFamily="18" charset="0"/>
                <a:sym typeface="Open Sauce"/>
              </a:rPr>
              <a:t>Prediction of tissue optical properties using the Monte Carlo modeling of photon transport in turbid media and integrating sphere</a:t>
            </a:r>
          </a:p>
        </p:txBody>
      </p:sp>
    </p:spTree>
    <p:extLst>
      <p:ext uri="{BB962C8B-B14F-4D97-AF65-F5344CB8AC3E}">
        <p14:creationId xmlns:p14="http://schemas.microsoft.com/office/powerpoint/2010/main" val="149150956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58B0BB-B3FE-3616-79A4-48D9371B5407}"/>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FAB69CFA-49BB-0793-A5BD-F596C7605DCD}"/>
              </a:ext>
            </a:extLst>
          </p:cNvPr>
          <p:cNvSpPr/>
          <p:nvPr/>
        </p:nvSpPr>
        <p:spPr>
          <a:xfrm>
            <a:off x="-6824"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alphaModFix amt="50000"/>
            </a:blip>
            <a:stretch>
              <a:fillRect/>
            </a:stretch>
          </a:blipFill>
          <a:ln cap="sq">
            <a:noFill/>
            <a:prstDash val="solid"/>
            <a:miter/>
          </a:ln>
        </p:spPr>
        <p:txBody>
          <a:bodyPr/>
          <a:lstStyle/>
          <a:p>
            <a:endParaRPr lang="en-US" dirty="0"/>
          </a:p>
        </p:txBody>
      </p:sp>
      <p:sp>
        <p:nvSpPr>
          <p:cNvPr id="3" name="AutoShape 3">
            <a:extLst>
              <a:ext uri="{FF2B5EF4-FFF2-40B4-BE49-F238E27FC236}">
                <a16:creationId xmlns:a16="http://schemas.microsoft.com/office/drawing/2014/main" id="{95C48AF8-12D4-A649-11F4-C4B437FF6D41}"/>
              </a:ext>
            </a:extLst>
          </p:cNvPr>
          <p:cNvSpPr/>
          <p:nvPr/>
        </p:nvSpPr>
        <p:spPr>
          <a:xfrm>
            <a:off x="1166399" y="1028700"/>
            <a:ext cx="687324" cy="0"/>
          </a:xfrm>
          <a:prstGeom prst="line">
            <a:avLst/>
          </a:prstGeom>
          <a:ln w="76200" cap="flat">
            <a:solidFill>
              <a:srgbClr val="000000"/>
            </a:solidFill>
            <a:prstDash val="solid"/>
            <a:headEnd type="none" w="sm" len="sm"/>
            <a:tailEnd type="none" w="sm" len="sm"/>
          </a:ln>
        </p:spPr>
        <p:txBody>
          <a:bodyPr/>
          <a:lstStyle/>
          <a:p>
            <a:endParaRPr lang="en-US" dirty="0"/>
          </a:p>
        </p:txBody>
      </p:sp>
      <mc:AlternateContent xmlns:mc="http://schemas.openxmlformats.org/markup-compatibility/2006" xmlns:a14="http://schemas.microsoft.com/office/drawing/2010/main">
        <mc:Choice Requires="a14">
          <p:sp>
            <p:nvSpPr>
              <p:cNvPr id="8" name="TextBox 8">
                <a:extLst>
                  <a:ext uri="{FF2B5EF4-FFF2-40B4-BE49-F238E27FC236}">
                    <a16:creationId xmlns:a16="http://schemas.microsoft.com/office/drawing/2014/main" id="{AD090B51-EE07-B3F8-47EF-1EA8621FB416}"/>
                  </a:ext>
                </a:extLst>
              </p:cNvPr>
              <p:cNvSpPr txBox="1"/>
              <p:nvPr/>
            </p:nvSpPr>
            <p:spPr>
              <a:xfrm>
                <a:off x="873208" y="1562100"/>
                <a:ext cx="16541583" cy="7419211"/>
              </a:xfrm>
              <a:prstGeom prst="rect">
                <a:avLst/>
              </a:prstGeom>
            </p:spPr>
            <p:txBody>
              <a:bodyPr wrap="square" lIns="0" tIns="0" rIns="0" bIns="0" rtlCol="0" anchor="t">
                <a:spAutoFit/>
              </a:bodyPr>
              <a:lstStyle/>
              <a:p>
                <a:pPr marL="302259" lvl="1">
                  <a:lnSpc>
                    <a:spcPts val="4479"/>
                  </a:lnSpc>
                </a:pPr>
                <a:r>
                  <a:rPr lang="en-US" sz="4000" b="1" dirty="0">
                    <a:solidFill>
                      <a:srgbClr val="000000"/>
                    </a:solidFill>
                    <a:latin typeface="Times New Roman" panose="02020603050405020304" pitchFamily="18" charset="0"/>
                    <a:cs typeface="Times New Roman" panose="02020603050405020304" pitchFamily="18" charset="0"/>
                    <a:sym typeface="Open Sauce"/>
                  </a:rPr>
                  <a:t>Integrating Sphere measurement (Reflectance)</a:t>
                </a:r>
                <a:endParaRPr lang="en-US" sz="2500" b="1" dirty="0"/>
              </a:p>
              <a:p>
                <a:pPr marL="604519" lvl="1" indent="-302260">
                  <a:lnSpc>
                    <a:spcPct val="200000"/>
                  </a:lnSpc>
                  <a:buFont typeface="Arial"/>
                  <a:buChar char="•"/>
                </a:pPr>
                <a:r>
                  <a:rPr lang="en-US" sz="2500" dirty="0"/>
                  <a:t>Integrating sphere measurements determine two important values: the measured reflectance, </a:t>
                </a:r>
                <a14:m>
                  <m:oMath xmlns:m="http://schemas.openxmlformats.org/officeDocument/2006/math">
                    <m:sSub>
                      <m:sSubPr>
                        <m:ctrlPr>
                          <a:rPr lang="en-US" sz="2500" i="1">
                            <a:latin typeface="Cambria Math" panose="02040503050406030204" pitchFamily="18" charset="0"/>
                          </a:rPr>
                        </m:ctrlPr>
                      </m:sSubPr>
                      <m:e>
                        <m:r>
                          <a:rPr lang="en-US" sz="2500" i="1">
                            <a:latin typeface="Cambria Math" panose="02040503050406030204" pitchFamily="18" charset="0"/>
                          </a:rPr>
                          <m:t>𝑀</m:t>
                        </m:r>
                      </m:e>
                      <m:sub>
                        <m:r>
                          <a:rPr lang="en-US" sz="2500" i="1">
                            <a:latin typeface="Cambria Math" panose="02040503050406030204" pitchFamily="18" charset="0"/>
                          </a:rPr>
                          <m:t>𝑅</m:t>
                        </m:r>
                      </m:sub>
                    </m:sSub>
                  </m:oMath>
                </a14:m>
                <a:r>
                  <a:rPr lang="en-US" sz="2500" dirty="0"/>
                  <a:t> and the Measured transmittance, </a:t>
                </a:r>
                <a14:m>
                  <m:oMath xmlns:m="http://schemas.openxmlformats.org/officeDocument/2006/math">
                    <m:sSub>
                      <m:sSubPr>
                        <m:ctrlPr>
                          <a:rPr lang="en-US" sz="2500" i="1">
                            <a:latin typeface="Cambria Math" panose="02040503050406030204" pitchFamily="18" charset="0"/>
                          </a:rPr>
                        </m:ctrlPr>
                      </m:sSubPr>
                      <m:e>
                        <m:r>
                          <a:rPr lang="en-US" sz="2500" i="1">
                            <a:latin typeface="Cambria Math" panose="02040503050406030204" pitchFamily="18" charset="0"/>
                          </a:rPr>
                          <m:t>𝑀</m:t>
                        </m:r>
                      </m:e>
                      <m:sub>
                        <m:r>
                          <a:rPr lang="en-US" sz="2500" b="0" i="1" smtClean="0">
                            <a:latin typeface="Cambria Math" panose="02040503050406030204" pitchFamily="18" charset="0"/>
                          </a:rPr>
                          <m:t>𝑇</m:t>
                        </m:r>
                      </m:sub>
                    </m:sSub>
                  </m:oMath>
                </a14:m>
                <a:r>
                  <a:rPr lang="en-US" sz="2500" dirty="0"/>
                  <a:t> . </a:t>
                </a:r>
                <a:endParaRPr lang="en-US" sz="2500" dirty="0">
                  <a:highlight>
                    <a:srgbClr val="FFFF00"/>
                  </a:highlight>
                </a:endParaRPr>
              </a:p>
              <a:p>
                <a:pPr marL="604519" lvl="1" indent="-302260">
                  <a:lnSpc>
                    <a:spcPct val="200000"/>
                  </a:lnSpc>
                  <a:buFont typeface="Arial"/>
                  <a:buChar char="•"/>
                </a:pPr>
                <a:r>
                  <a:rPr lang="en-US" sz="2500" dirty="0"/>
                  <a:t>Calculating </a:t>
                </a:r>
                <a14:m>
                  <m:oMath xmlns:m="http://schemas.openxmlformats.org/officeDocument/2006/math">
                    <m:sSub>
                      <m:sSubPr>
                        <m:ctrlPr>
                          <a:rPr lang="en-US" sz="2500" i="1" smtClean="0">
                            <a:latin typeface="Cambria Math" panose="02040503050406030204" pitchFamily="18" charset="0"/>
                          </a:rPr>
                        </m:ctrlPr>
                      </m:sSubPr>
                      <m:e>
                        <m:r>
                          <a:rPr lang="en-US" sz="2500" b="0" i="1" smtClean="0">
                            <a:latin typeface="Cambria Math" panose="02040503050406030204" pitchFamily="18" charset="0"/>
                          </a:rPr>
                          <m:t>𝑀</m:t>
                        </m:r>
                      </m:e>
                      <m:sub>
                        <m:r>
                          <a:rPr lang="en-US" sz="2500" b="0" i="1" smtClean="0">
                            <a:latin typeface="Cambria Math" panose="02040503050406030204" pitchFamily="18" charset="0"/>
                          </a:rPr>
                          <m:t>𝑅</m:t>
                        </m:r>
                      </m:sub>
                    </m:sSub>
                  </m:oMath>
                </a14:m>
                <a:r>
                  <a:rPr lang="en-US" sz="2500" dirty="0"/>
                  <a:t> requires one value and three measurements: </a:t>
                </a:r>
              </a:p>
              <a:p>
                <a:pPr marL="1976119" lvl="4" indent="-302260">
                  <a:lnSpc>
                    <a:spcPct val="200000"/>
                  </a:lnSpc>
                  <a:buFont typeface="Arial"/>
                  <a:buChar char="•"/>
                </a:pPr>
                <a14:m>
                  <m:oMath xmlns:m="http://schemas.openxmlformats.org/officeDocument/2006/math">
                    <m:sSub>
                      <m:sSubPr>
                        <m:ctrlPr>
                          <a:rPr lang="en-US" sz="2500" i="1">
                            <a:latin typeface="Cambria Math" panose="02040503050406030204" pitchFamily="18" charset="0"/>
                          </a:rPr>
                        </m:ctrlPr>
                      </m:sSubPr>
                      <m:e>
                        <m:r>
                          <a:rPr lang="en-US" sz="2500" b="0" i="1" smtClean="0">
                            <a:latin typeface="Cambria Math" panose="02040503050406030204" pitchFamily="18" charset="0"/>
                          </a:rPr>
                          <m:t>𝑟</m:t>
                        </m:r>
                      </m:e>
                      <m:sub>
                        <m:r>
                          <a:rPr lang="en-US" sz="2500" b="0" i="1" smtClean="0">
                            <a:latin typeface="Cambria Math" panose="02040503050406030204" pitchFamily="18" charset="0"/>
                          </a:rPr>
                          <m:t>𝑠𝑡𝑑</m:t>
                        </m:r>
                      </m:sub>
                    </m:sSub>
                  </m:oMath>
                </a14:m>
                <a:r>
                  <a:rPr lang="en-US" sz="2500" dirty="0"/>
                  <a:t> : the reflectance of a reflectance standard.</a:t>
                </a:r>
              </a:p>
              <a:p>
                <a:pPr marL="1976119" lvl="4" indent="-302260">
                  <a:lnSpc>
                    <a:spcPct val="200000"/>
                  </a:lnSpc>
                  <a:buFont typeface="Arial"/>
                  <a:buChar char="•"/>
                </a:pPr>
                <a:r>
                  <a:rPr lang="en-US" sz="2500" dirty="0"/>
                  <a:t>R(</a:t>
                </a:r>
                <a14:m>
                  <m:oMath xmlns:m="http://schemas.openxmlformats.org/officeDocument/2006/math">
                    <m:sSub>
                      <m:sSubPr>
                        <m:ctrlPr>
                          <a:rPr lang="en-US" sz="2500" i="1">
                            <a:latin typeface="Cambria Math" panose="02040503050406030204" pitchFamily="18" charset="0"/>
                          </a:rPr>
                        </m:ctrlPr>
                      </m:sSubPr>
                      <m:e>
                        <m:r>
                          <a:rPr lang="en-US" sz="2500" i="1">
                            <a:latin typeface="Cambria Math" panose="02040503050406030204" pitchFamily="18" charset="0"/>
                          </a:rPr>
                          <m:t>𝑟</m:t>
                        </m:r>
                      </m:e>
                      <m:sub>
                        <m:r>
                          <a:rPr lang="en-US" sz="2500" i="1">
                            <a:latin typeface="Cambria Math" panose="02040503050406030204" pitchFamily="18" charset="0"/>
                          </a:rPr>
                          <m:t>𝑠𝑡𝑑</m:t>
                        </m:r>
                      </m:sub>
                    </m:sSub>
                  </m:oMath>
                </a14:m>
                <a:r>
                  <a:rPr lang="en-US" sz="2500" dirty="0"/>
                  <a:t> , </a:t>
                </a:r>
                <a14:m>
                  <m:oMath xmlns:m="http://schemas.openxmlformats.org/officeDocument/2006/math">
                    <m:sSub>
                      <m:sSubPr>
                        <m:ctrlPr>
                          <a:rPr lang="en-US" sz="2500" i="1">
                            <a:latin typeface="Cambria Math" panose="02040503050406030204" pitchFamily="18" charset="0"/>
                          </a:rPr>
                        </m:ctrlPr>
                      </m:sSubPr>
                      <m:e>
                        <m:r>
                          <a:rPr lang="en-US" sz="2500" i="1">
                            <a:latin typeface="Cambria Math" panose="02040503050406030204" pitchFamily="18" charset="0"/>
                          </a:rPr>
                          <m:t>𝑟</m:t>
                        </m:r>
                      </m:e>
                      <m:sub>
                        <m:r>
                          <a:rPr lang="en-US" sz="2500" i="1">
                            <a:latin typeface="Cambria Math" panose="02040503050406030204" pitchFamily="18" charset="0"/>
                          </a:rPr>
                          <m:t>𝑠𝑡𝑑</m:t>
                        </m:r>
                      </m:sub>
                    </m:sSub>
                  </m:oMath>
                </a14:m>
                <a:r>
                  <a:rPr lang="en-US" sz="2500" dirty="0"/>
                  <a:t>) : the measured reflected power of the reflectance standard.</a:t>
                </a:r>
              </a:p>
              <a:p>
                <a:pPr marL="1976119" lvl="4" indent="-302260">
                  <a:lnSpc>
                    <a:spcPct val="200000"/>
                  </a:lnSpc>
                  <a:buFont typeface="Arial"/>
                  <a:buChar char="•"/>
                </a:pPr>
                <a:r>
                  <a:rPr lang="en-US" sz="2500" dirty="0"/>
                  <a:t>R(</a:t>
                </a:r>
                <a14:m>
                  <m:oMath xmlns:m="http://schemas.openxmlformats.org/officeDocument/2006/math">
                    <m:sSubSup>
                      <m:sSubSupPr>
                        <m:ctrlPr>
                          <a:rPr lang="en-US" sz="2500" i="1" smtClean="0">
                            <a:latin typeface="Cambria Math" panose="02040503050406030204" pitchFamily="18" charset="0"/>
                          </a:rPr>
                        </m:ctrlPr>
                      </m:sSubSupPr>
                      <m:e>
                        <m:r>
                          <a:rPr lang="en-US" sz="2500" b="0" i="1" smtClean="0">
                            <a:latin typeface="Cambria Math" panose="02040503050406030204" pitchFamily="18" charset="0"/>
                          </a:rPr>
                          <m:t>𝑟</m:t>
                        </m:r>
                      </m:e>
                      <m:sub>
                        <m:r>
                          <a:rPr lang="en-US" sz="2500" b="0" i="1" smtClean="0">
                            <a:latin typeface="Cambria Math" panose="02040503050406030204" pitchFamily="18" charset="0"/>
                          </a:rPr>
                          <m:t>𝑠</m:t>
                        </m:r>
                      </m:sub>
                      <m:sup>
                        <m:r>
                          <a:rPr lang="en-US" sz="2500" b="0" i="1" smtClean="0">
                            <a:latin typeface="Cambria Math" panose="02040503050406030204" pitchFamily="18" charset="0"/>
                          </a:rPr>
                          <m:t>𝑑𝑖𝑟𝑒𝑐𝑡</m:t>
                        </m:r>
                      </m:sup>
                    </m:sSubSup>
                  </m:oMath>
                </a14:m>
                <a:r>
                  <a:rPr lang="en-US" sz="2500" dirty="0"/>
                  <a:t>, </a:t>
                </a:r>
                <a14:m>
                  <m:oMath xmlns:m="http://schemas.openxmlformats.org/officeDocument/2006/math">
                    <m:sSub>
                      <m:sSubPr>
                        <m:ctrlPr>
                          <a:rPr lang="en-US" sz="2500" i="1">
                            <a:latin typeface="Cambria Math" panose="02040503050406030204" pitchFamily="18" charset="0"/>
                          </a:rPr>
                        </m:ctrlPr>
                      </m:sSubPr>
                      <m:e>
                        <m:r>
                          <a:rPr lang="en-US" sz="2500" i="1">
                            <a:latin typeface="Cambria Math" panose="02040503050406030204" pitchFamily="18" charset="0"/>
                          </a:rPr>
                          <m:t>𝑟</m:t>
                        </m:r>
                      </m:e>
                      <m:sub>
                        <m:r>
                          <a:rPr lang="en-US" sz="2500" i="1">
                            <a:latin typeface="Cambria Math" panose="02040503050406030204" pitchFamily="18" charset="0"/>
                          </a:rPr>
                          <m:t>𝑠𝑡𝑑</m:t>
                        </m:r>
                      </m:sub>
                    </m:sSub>
                  </m:oMath>
                </a14:m>
                <a:r>
                  <a:rPr lang="en-US" sz="2500" dirty="0"/>
                  <a:t>) : the measured reflected power of the sample. </a:t>
                </a:r>
              </a:p>
              <a:p>
                <a:pPr marL="1976119" lvl="4" indent="-302260">
                  <a:lnSpc>
                    <a:spcPct val="200000"/>
                  </a:lnSpc>
                  <a:buFont typeface="Arial"/>
                  <a:buChar char="•"/>
                </a:pPr>
                <a:r>
                  <a:rPr lang="en-US" sz="2500" dirty="0"/>
                  <a:t>R(0,0) : the measured reflected power of the empty integrating sphere.</a:t>
                </a:r>
              </a:p>
              <a:p>
                <a:pPr marL="604519" lvl="1" indent="-302260">
                  <a:lnSpc>
                    <a:spcPct val="200000"/>
                  </a:lnSpc>
                  <a:buFont typeface="Arial"/>
                  <a:buChar char="•"/>
                </a:pPr>
                <a14:m>
                  <m:oMath xmlns:m="http://schemas.openxmlformats.org/officeDocument/2006/math">
                    <m:sSub>
                      <m:sSubPr>
                        <m:ctrlPr>
                          <a:rPr lang="en-US" sz="2500" i="1">
                            <a:latin typeface="Cambria Math" panose="02040503050406030204" pitchFamily="18" charset="0"/>
                          </a:rPr>
                        </m:ctrlPr>
                      </m:sSubPr>
                      <m:e>
                        <m:r>
                          <a:rPr lang="en-US" sz="2500" i="1">
                            <a:latin typeface="Cambria Math" panose="02040503050406030204" pitchFamily="18" charset="0"/>
                          </a:rPr>
                          <m:t>𝑟</m:t>
                        </m:r>
                      </m:e>
                      <m:sub>
                        <m:r>
                          <a:rPr lang="en-US" sz="2500" i="1">
                            <a:latin typeface="Cambria Math" panose="02040503050406030204" pitchFamily="18" charset="0"/>
                          </a:rPr>
                          <m:t>𝑠𝑡𝑑</m:t>
                        </m:r>
                      </m:sub>
                    </m:sSub>
                  </m:oMath>
                </a14:m>
                <a:r>
                  <a:rPr lang="en-US" sz="2500" dirty="0"/>
                  <a:t> , is provided by the manufacture of the standard. (mostly used the one with the slightly higher reflectance).</a:t>
                </a:r>
              </a:p>
              <a:p>
                <a:pPr marL="604519" lvl="1" indent="-302260">
                  <a:lnSpc>
                    <a:spcPct val="200000"/>
                  </a:lnSpc>
                  <a:buFont typeface="Arial"/>
                  <a:buChar char="•"/>
                </a:pPr>
                <a:r>
                  <a:rPr lang="en-US" sz="2500" dirty="0"/>
                  <a:t>R(0,0) is not identically 0,due to diffraction and laser is not perfectly collimated beam, and thus some light may still reflect.</a:t>
                </a:r>
              </a:p>
            </p:txBody>
          </p:sp>
        </mc:Choice>
        <mc:Fallback xmlns="">
          <p:sp>
            <p:nvSpPr>
              <p:cNvPr id="8" name="TextBox 8">
                <a:extLst>
                  <a:ext uri="{FF2B5EF4-FFF2-40B4-BE49-F238E27FC236}">
                    <a16:creationId xmlns:a16="http://schemas.microsoft.com/office/drawing/2014/main" id="{AD090B51-EE07-B3F8-47EF-1EA8621FB416}"/>
                  </a:ext>
                </a:extLst>
              </p:cNvPr>
              <p:cNvSpPr txBox="1">
                <a:spLocks noRot="1" noChangeAspect="1" noMove="1" noResize="1" noEditPoints="1" noAdjustHandles="1" noChangeArrowheads="1" noChangeShapeType="1" noTextEdit="1"/>
              </p:cNvSpPr>
              <p:nvPr/>
            </p:nvSpPr>
            <p:spPr>
              <a:xfrm>
                <a:off x="873208" y="1562100"/>
                <a:ext cx="16541583" cy="7419211"/>
              </a:xfrm>
              <a:prstGeom prst="rect">
                <a:avLst/>
              </a:prstGeom>
              <a:blipFill>
                <a:blip r:embed="rId3"/>
                <a:stretch>
                  <a:fillRect t="-2712" b="-1726"/>
                </a:stretch>
              </a:blipFill>
            </p:spPr>
            <p:txBody>
              <a:bodyPr/>
              <a:lstStyle/>
              <a:p>
                <a:r>
                  <a:rPr lang="en-US">
                    <a:noFill/>
                  </a:rPr>
                  <a:t> </a:t>
                </a:r>
              </a:p>
            </p:txBody>
          </p:sp>
        </mc:Fallback>
      </mc:AlternateContent>
    </p:spTree>
    <p:extLst>
      <p:ext uri="{BB962C8B-B14F-4D97-AF65-F5344CB8AC3E}">
        <p14:creationId xmlns:p14="http://schemas.microsoft.com/office/powerpoint/2010/main" val="272973749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CA0B6B-003E-D4F8-C1DD-5BBA7516D593}"/>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2EAA9B8F-F683-AAE0-63D6-65A6C5D270BB}"/>
              </a:ext>
            </a:extLst>
          </p:cNvPr>
          <p:cNvSpPr/>
          <p:nvPr/>
        </p:nvSpPr>
        <p:spPr>
          <a:xfrm>
            <a:off x="-6824"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3">
              <a:alphaModFix amt="50000"/>
            </a:blip>
            <a:stretch>
              <a:fillRect/>
            </a:stretch>
          </a:blipFill>
          <a:ln cap="sq">
            <a:noFill/>
            <a:prstDash val="solid"/>
            <a:miter/>
          </a:ln>
        </p:spPr>
        <p:txBody>
          <a:bodyPr/>
          <a:lstStyle/>
          <a:p>
            <a:endParaRPr lang="en-US" dirty="0"/>
          </a:p>
        </p:txBody>
      </p:sp>
      <p:sp>
        <p:nvSpPr>
          <p:cNvPr id="3" name="AutoShape 3">
            <a:extLst>
              <a:ext uri="{FF2B5EF4-FFF2-40B4-BE49-F238E27FC236}">
                <a16:creationId xmlns:a16="http://schemas.microsoft.com/office/drawing/2014/main" id="{E6D7ECFD-63D3-A77A-E946-ED8A0A498912}"/>
              </a:ext>
            </a:extLst>
          </p:cNvPr>
          <p:cNvSpPr/>
          <p:nvPr/>
        </p:nvSpPr>
        <p:spPr>
          <a:xfrm>
            <a:off x="1166399" y="1028700"/>
            <a:ext cx="687324" cy="0"/>
          </a:xfrm>
          <a:prstGeom prst="line">
            <a:avLst/>
          </a:prstGeom>
          <a:ln w="76200" cap="flat">
            <a:solidFill>
              <a:srgbClr val="000000"/>
            </a:solidFill>
            <a:prstDash val="solid"/>
            <a:headEnd type="none" w="sm" len="sm"/>
            <a:tailEnd type="none" w="sm" len="sm"/>
          </a:ln>
        </p:spPr>
        <p:txBody>
          <a:bodyPr/>
          <a:lstStyle/>
          <a:p>
            <a:endParaRPr lang="en-US" dirty="0"/>
          </a:p>
        </p:txBody>
      </p:sp>
      <mc:AlternateContent xmlns:mc="http://schemas.openxmlformats.org/markup-compatibility/2006" xmlns:a14="http://schemas.microsoft.com/office/drawing/2010/main">
        <mc:Choice Requires="a14">
          <p:sp>
            <p:nvSpPr>
              <p:cNvPr id="8" name="TextBox 8">
                <a:extLst>
                  <a:ext uri="{FF2B5EF4-FFF2-40B4-BE49-F238E27FC236}">
                    <a16:creationId xmlns:a16="http://schemas.microsoft.com/office/drawing/2014/main" id="{D6B9741F-DF57-0AF8-B386-2AA31F1E4825}"/>
                  </a:ext>
                </a:extLst>
              </p:cNvPr>
              <p:cNvSpPr txBox="1"/>
              <p:nvPr/>
            </p:nvSpPr>
            <p:spPr>
              <a:xfrm>
                <a:off x="866384" y="1333500"/>
                <a:ext cx="16541583" cy="1731243"/>
              </a:xfrm>
              <a:prstGeom prst="rect">
                <a:avLst/>
              </a:prstGeom>
            </p:spPr>
            <p:txBody>
              <a:bodyPr wrap="square" lIns="0" tIns="0" rIns="0" bIns="0" rtlCol="0" anchor="t">
                <a:spAutoFit/>
              </a:bodyPr>
              <a:lstStyle/>
              <a:p>
                <a:pPr marL="302259" lvl="1">
                  <a:lnSpc>
                    <a:spcPts val="4479"/>
                  </a:lnSpc>
                </a:pPr>
                <a:r>
                  <a:rPr lang="en-US" sz="4000" b="1" dirty="0">
                    <a:solidFill>
                      <a:srgbClr val="000000"/>
                    </a:solidFill>
                    <a:latin typeface="Times New Roman" panose="02020603050405020304" pitchFamily="18" charset="0"/>
                    <a:cs typeface="Times New Roman" panose="02020603050405020304" pitchFamily="18" charset="0"/>
                    <a:sym typeface="Open Sauce"/>
                  </a:rPr>
                  <a:t>Integrating Sphere measurement (Reflectance)</a:t>
                </a:r>
              </a:p>
              <a:p>
                <a:pPr marL="302259" lvl="1">
                  <a:lnSpc>
                    <a:spcPts val="4479"/>
                  </a:lnSpc>
                </a:pPr>
                <a:endParaRPr lang="en-US" sz="4000" b="1" dirty="0">
                  <a:solidFill>
                    <a:srgbClr val="000000"/>
                  </a:solidFill>
                  <a:latin typeface="Times New Roman" panose="02020603050405020304" pitchFamily="18" charset="0"/>
                  <a:cs typeface="Times New Roman" panose="02020603050405020304" pitchFamily="18" charset="0"/>
                  <a:sym typeface="Open Sauce"/>
                </a:endParaRPr>
              </a:p>
              <a:p>
                <a:pPr marL="302259" lvl="1">
                  <a:lnSpc>
                    <a:spcPts val="4479"/>
                  </a:lnSpc>
                </a:pPr>
                <a14:m>
                  <m:oMathPara xmlns:m="http://schemas.openxmlformats.org/officeDocument/2006/math">
                    <m:oMathParaPr>
                      <m:jc m:val="centerGroup"/>
                    </m:oMathParaPr>
                    <m:oMath xmlns:m="http://schemas.openxmlformats.org/officeDocument/2006/math">
                      <m:sSub>
                        <m:sSubPr>
                          <m:ctrlPr>
                            <a:rPr lang="en-US" sz="2500" i="1">
                              <a:latin typeface="Cambria Math" panose="02040503050406030204" pitchFamily="18" charset="0"/>
                            </a:rPr>
                          </m:ctrlPr>
                        </m:sSubPr>
                        <m:e>
                          <m:sSub>
                            <m:sSubPr>
                              <m:ctrlPr>
                                <a:rPr lang="en-US" sz="2500" i="1">
                                  <a:latin typeface="Cambria Math" panose="02040503050406030204" pitchFamily="18" charset="0"/>
                                </a:rPr>
                              </m:ctrlPr>
                            </m:sSubPr>
                            <m:e>
                              <m:r>
                                <a:rPr lang="en-US" sz="2500" b="0" i="1" smtClean="0">
                                  <a:latin typeface="Cambria Math" panose="02040503050406030204" pitchFamily="18" charset="0"/>
                                </a:rPr>
                                <m:t>𝑀</m:t>
                              </m:r>
                            </m:e>
                            <m:sub>
                              <m:r>
                                <a:rPr lang="en-US" sz="2500" b="0" i="1" smtClean="0">
                                  <a:latin typeface="Cambria Math" panose="02040503050406030204" pitchFamily="18" charset="0"/>
                                </a:rPr>
                                <m:t>𝑅</m:t>
                              </m:r>
                            </m:sub>
                          </m:sSub>
                          <m:r>
                            <a:rPr lang="en-US" sz="2500" b="0" i="1" smtClean="0">
                              <a:latin typeface="Cambria Math" panose="02040503050406030204" pitchFamily="18" charset="0"/>
                            </a:rPr>
                            <m:t>=</m:t>
                          </m:r>
                          <m:r>
                            <a:rPr lang="en-US" sz="2500" i="1">
                              <a:latin typeface="Cambria Math" panose="02040503050406030204" pitchFamily="18" charset="0"/>
                            </a:rPr>
                            <m:t>𝑟</m:t>
                          </m:r>
                        </m:e>
                        <m:sub>
                          <m:r>
                            <a:rPr lang="en-US" sz="2500" i="1">
                              <a:latin typeface="Cambria Math" panose="02040503050406030204" pitchFamily="18" charset="0"/>
                            </a:rPr>
                            <m:t>𝑠𝑡𝑑</m:t>
                          </m:r>
                        </m:sub>
                      </m:sSub>
                      <m:f>
                        <m:fPr>
                          <m:ctrlPr>
                            <a:rPr lang="en-US" sz="2500" i="1" smtClean="0">
                              <a:latin typeface="Cambria Math" panose="02040503050406030204" pitchFamily="18" charset="0"/>
                            </a:rPr>
                          </m:ctrlPr>
                        </m:fPr>
                        <m:num>
                          <m:r>
                            <m:rPr>
                              <m:nor/>
                            </m:rPr>
                            <a:rPr lang="en-US" sz="2500" dirty="0"/>
                            <m:t>R</m:t>
                          </m:r>
                          <m:r>
                            <m:rPr>
                              <m:nor/>
                            </m:rPr>
                            <a:rPr lang="en-US" sz="2500" dirty="0"/>
                            <m:t>(</m:t>
                          </m:r>
                          <m:sSubSup>
                            <m:sSubSupPr>
                              <m:ctrlPr>
                                <a:rPr lang="en-US" sz="2500" i="1">
                                  <a:latin typeface="Cambria Math" panose="02040503050406030204" pitchFamily="18" charset="0"/>
                                </a:rPr>
                              </m:ctrlPr>
                            </m:sSubSupPr>
                            <m:e>
                              <m:r>
                                <a:rPr lang="en-US" sz="2500" b="0" i="1">
                                  <a:latin typeface="Cambria Math" panose="02040503050406030204" pitchFamily="18" charset="0"/>
                                </a:rPr>
                                <m:t>𝑟</m:t>
                              </m:r>
                            </m:e>
                            <m:sub>
                              <m:r>
                                <a:rPr lang="en-US" sz="2500" b="0" i="1">
                                  <a:latin typeface="Cambria Math" panose="02040503050406030204" pitchFamily="18" charset="0"/>
                                </a:rPr>
                                <m:t>𝑠</m:t>
                              </m:r>
                            </m:sub>
                            <m:sup>
                              <m:r>
                                <a:rPr lang="en-US" sz="2500" b="0" i="1">
                                  <a:latin typeface="Cambria Math" panose="02040503050406030204" pitchFamily="18" charset="0"/>
                                </a:rPr>
                                <m:t>𝑑𝑖𝑟𝑒𝑐𝑡</m:t>
                              </m:r>
                            </m:sup>
                          </m:sSubSup>
                          <m:r>
                            <m:rPr>
                              <m:nor/>
                            </m:rPr>
                            <a:rPr lang="en-US" sz="2500" dirty="0"/>
                            <m:t>, </m:t>
                          </m:r>
                          <m:sSub>
                            <m:sSubPr>
                              <m:ctrlPr>
                                <a:rPr lang="en-US" sz="2500" i="1">
                                  <a:latin typeface="Cambria Math" panose="02040503050406030204" pitchFamily="18" charset="0"/>
                                </a:rPr>
                              </m:ctrlPr>
                            </m:sSubPr>
                            <m:e>
                              <m:r>
                                <a:rPr lang="en-US" sz="2500" b="0" i="1">
                                  <a:latin typeface="Cambria Math" panose="02040503050406030204" pitchFamily="18" charset="0"/>
                                </a:rPr>
                                <m:t>𝑟</m:t>
                              </m:r>
                            </m:e>
                            <m:sub>
                              <m:r>
                                <a:rPr lang="en-US" sz="2500" b="0" i="1">
                                  <a:latin typeface="Cambria Math" panose="02040503050406030204" pitchFamily="18" charset="0"/>
                                </a:rPr>
                                <m:t>𝑠𝑡𝑑</m:t>
                              </m:r>
                            </m:sub>
                          </m:sSub>
                          <m:r>
                            <m:rPr>
                              <m:nor/>
                            </m:rPr>
                            <a:rPr lang="en-US" sz="2500" dirty="0"/>
                            <m:t>)</m:t>
                          </m:r>
                          <m:r>
                            <m:rPr>
                              <m:nor/>
                            </m:rPr>
                            <a:rPr lang="en-US" sz="2500" i="0" dirty="0" smtClean="0"/>
                            <m:t> − </m:t>
                          </m:r>
                          <m:r>
                            <m:rPr>
                              <m:nor/>
                            </m:rPr>
                            <a:rPr lang="en-US" sz="2500" i="0" dirty="0" smtClean="0"/>
                            <m:t>R</m:t>
                          </m:r>
                          <m:r>
                            <m:rPr>
                              <m:nor/>
                            </m:rPr>
                            <a:rPr lang="en-US" sz="2500" i="0" dirty="0" smtClean="0"/>
                            <m:t>(0,0)</m:t>
                          </m:r>
                        </m:num>
                        <m:den>
                          <m:r>
                            <m:rPr>
                              <m:nor/>
                            </m:rPr>
                            <a:rPr lang="en-US" sz="2500" dirty="0"/>
                            <m:t>R</m:t>
                          </m:r>
                          <m:r>
                            <m:rPr>
                              <m:nor/>
                            </m:rPr>
                            <a:rPr lang="en-US" sz="2500" b="0" i="0" dirty="0" smtClean="0"/>
                            <m:t>(</m:t>
                          </m:r>
                          <m:sSub>
                            <m:sSubPr>
                              <m:ctrlPr>
                                <a:rPr lang="en-US" sz="2500" i="1">
                                  <a:latin typeface="Cambria Math" panose="02040503050406030204" pitchFamily="18" charset="0"/>
                                </a:rPr>
                              </m:ctrlPr>
                            </m:sSubPr>
                            <m:e>
                              <m:r>
                                <a:rPr lang="en-US" sz="2500" i="1">
                                  <a:latin typeface="Cambria Math" panose="02040503050406030204" pitchFamily="18" charset="0"/>
                                </a:rPr>
                                <m:t>𝑟</m:t>
                              </m:r>
                            </m:e>
                            <m:sub>
                              <m:r>
                                <a:rPr lang="en-US" sz="2500" i="1">
                                  <a:latin typeface="Cambria Math" panose="02040503050406030204" pitchFamily="18" charset="0"/>
                                </a:rPr>
                                <m:t>𝑠𝑡𝑑</m:t>
                              </m:r>
                            </m:sub>
                          </m:sSub>
                          <m:r>
                            <m:rPr>
                              <m:nor/>
                            </m:rPr>
                            <a:rPr lang="en-US" sz="2500" dirty="0"/>
                            <m:t>, </m:t>
                          </m:r>
                          <m:sSub>
                            <m:sSubPr>
                              <m:ctrlPr>
                                <a:rPr lang="en-US" sz="2500" i="1">
                                  <a:latin typeface="Cambria Math" panose="02040503050406030204" pitchFamily="18" charset="0"/>
                                </a:rPr>
                              </m:ctrlPr>
                            </m:sSubPr>
                            <m:e>
                              <m:r>
                                <a:rPr lang="en-US" sz="2500" b="0" i="1">
                                  <a:latin typeface="Cambria Math" panose="02040503050406030204" pitchFamily="18" charset="0"/>
                                </a:rPr>
                                <m:t>𝑟</m:t>
                              </m:r>
                            </m:e>
                            <m:sub>
                              <m:r>
                                <a:rPr lang="en-US" sz="2500" b="0" i="1">
                                  <a:latin typeface="Cambria Math" panose="02040503050406030204" pitchFamily="18" charset="0"/>
                                </a:rPr>
                                <m:t>𝑠𝑡𝑑</m:t>
                              </m:r>
                            </m:sub>
                          </m:sSub>
                          <m:r>
                            <m:rPr>
                              <m:nor/>
                            </m:rPr>
                            <a:rPr lang="en-US" sz="2500" dirty="0"/>
                            <m:t>)</m:t>
                          </m:r>
                          <m:r>
                            <m:rPr>
                              <m:nor/>
                            </m:rPr>
                            <a:rPr lang="en-US" sz="2500" i="0" dirty="0" smtClean="0"/>
                            <m:t> − </m:t>
                          </m:r>
                          <m:r>
                            <m:rPr>
                              <m:nor/>
                            </m:rPr>
                            <a:rPr lang="en-US" sz="2500" i="0" dirty="0" smtClean="0"/>
                            <m:t>R</m:t>
                          </m:r>
                          <m:r>
                            <a:rPr lang="en-US" sz="2500" b="0" i="1" dirty="0" smtClean="0">
                              <a:latin typeface="Cambria Math" panose="02040503050406030204" pitchFamily="18" charset="0"/>
                            </a:rPr>
                            <m:t>(0,0)</m:t>
                          </m:r>
                        </m:den>
                      </m:f>
                    </m:oMath>
                  </m:oMathPara>
                </a14:m>
                <a:endParaRPr lang="en-US" sz="2500" dirty="0"/>
              </a:p>
            </p:txBody>
          </p:sp>
        </mc:Choice>
        <mc:Fallback xmlns="">
          <p:sp>
            <p:nvSpPr>
              <p:cNvPr id="8" name="TextBox 8">
                <a:extLst>
                  <a:ext uri="{FF2B5EF4-FFF2-40B4-BE49-F238E27FC236}">
                    <a16:creationId xmlns:a16="http://schemas.microsoft.com/office/drawing/2014/main" id="{D6B9741F-DF57-0AF8-B386-2AA31F1E4825}"/>
                  </a:ext>
                </a:extLst>
              </p:cNvPr>
              <p:cNvSpPr txBox="1">
                <a:spLocks noRot="1" noChangeAspect="1" noMove="1" noResize="1" noEditPoints="1" noAdjustHandles="1" noChangeArrowheads="1" noChangeShapeType="1" noTextEdit="1"/>
              </p:cNvSpPr>
              <p:nvPr/>
            </p:nvSpPr>
            <p:spPr>
              <a:xfrm>
                <a:off x="866384" y="1333500"/>
                <a:ext cx="16541583" cy="1731243"/>
              </a:xfrm>
              <a:prstGeom prst="rect">
                <a:avLst/>
              </a:prstGeom>
              <a:blipFill>
                <a:blip r:embed="rId4"/>
                <a:stretch>
                  <a:fillRect t="-11268" b="-11268"/>
                </a:stretch>
              </a:blipFill>
            </p:spPr>
            <p:txBody>
              <a:bodyPr/>
              <a:lstStyle/>
              <a:p>
                <a:r>
                  <a:rPr lang="en-US">
                    <a:noFill/>
                  </a:rPr>
                  <a:t> </a:t>
                </a:r>
              </a:p>
            </p:txBody>
          </p:sp>
        </mc:Fallback>
      </mc:AlternateContent>
      <p:pic>
        <p:nvPicPr>
          <p:cNvPr id="6" name="Picture 5">
            <a:extLst>
              <a:ext uri="{FF2B5EF4-FFF2-40B4-BE49-F238E27FC236}">
                <a16:creationId xmlns:a16="http://schemas.microsoft.com/office/drawing/2014/main" id="{9E9CEA9A-5DA4-F549-BD58-3FD0ED8C9988}"/>
              </a:ext>
            </a:extLst>
          </p:cNvPr>
          <p:cNvPicPr>
            <a:picLocks noChangeAspect="1"/>
          </p:cNvPicPr>
          <p:nvPr/>
        </p:nvPicPr>
        <p:blipFill>
          <a:blip r:embed="rId5"/>
          <a:stretch>
            <a:fillRect/>
          </a:stretch>
        </p:blipFill>
        <p:spPr>
          <a:xfrm>
            <a:off x="1421323" y="3543300"/>
            <a:ext cx="15445354" cy="4858498"/>
          </a:xfrm>
          <a:prstGeom prst="rect">
            <a:avLst/>
          </a:prstGeom>
        </p:spPr>
      </p:pic>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D8634053-4BAC-CA7A-0C5B-FF947C89933D}"/>
                  </a:ext>
                </a:extLst>
              </p:cNvPr>
              <p:cNvSpPr txBox="1"/>
              <p:nvPr/>
            </p:nvSpPr>
            <p:spPr>
              <a:xfrm>
                <a:off x="4731289" y="8695689"/>
                <a:ext cx="8811771" cy="369332"/>
              </a:xfrm>
              <a:prstGeom prst="rect">
                <a:avLst/>
              </a:prstGeom>
              <a:noFill/>
            </p:spPr>
            <p:txBody>
              <a:bodyPr wrap="none" rtlCol="0">
                <a:spAutoFit/>
              </a:bodyPr>
              <a:lstStyle/>
              <a:p>
                <a:r>
                  <a:rPr lang="en-US" dirty="0"/>
                  <a:t>Fig. Configurations necessary to make the measurements required for the calculation of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𝑀</m:t>
                        </m:r>
                      </m:e>
                      <m:sub>
                        <m:r>
                          <a:rPr lang="en-US" b="0" i="1" smtClean="0">
                            <a:latin typeface="Cambria Math" panose="02040503050406030204" pitchFamily="18" charset="0"/>
                          </a:rPr>
                          <m:t>𝑅</m:t>
                        </m:r>
                      </m:sub>
                    </m:sSub>
                  </m:oMath>
                </a14:m>
                <a:r>
                  <a:rPr lang="en-US" dirty="0"/>
                  <a:t> </a:t>
                </a:r>
              </a:p>
            </p:txBody>
          </p:sp>
        </mc:Choice>
        <mc:Fallback xmlns="">
          <p:sp>
            <p:nvSpPr>
              <p:cNvPr id="7" name="TextBox 6">
                <a:extLst>
                  <a:ext uri="{FF2B5EF4-FFF2-40B4-BE49-F238E27FC236}">
                    <a16:creationId xmlns:a16="http://schemas.microsoft.com/office/drawing/2014/main" id="{D8634053-4BAC-CA7A-0C5B-FF947C89933D}"/>
                  </a:ext>
                </a:extLst>
              </p:cNvPr>
              <p:cNvSpPr txBox="1">
                <a:spLocks noRot="1" noChangeAspect="1" noMove="1" noResize="1" noEditPoints="1" noAdjustHandles="1" noChangeArrowheads="1" noChangeShapeType="1" noTextEdit="1"/>
              </p:cNvSpPr>
              <p:nvPr/>
            </p:nvSpPr>
            <p:spPr>
              <a:xfrm>
                <a:off x="4731289" y="8695689"/>
                <a:ext cx="8811771" cy="369332"/>
              </a:xfrm>
              <a:prstGeom prst="rect">
                <a:avLst/>
              </a:prstGeom>
              <a:blipFill>
                <a:blip r:embed="rId6"/>
                <a:stretch>
                  <a:fillRect l="-553" t="-8197" b="-24590"/>
                </a:stretch>
              </a:blipFill>
            </p:spPr>
            <p:txBody>
              <a:bodyPr/>
              <a:lstStyle/>
              <a:p>
                <a:r>
                  <a:rPr lang="en-US">
                    <a:noFill/>
                  </a:rPr>
                  <a:t> </a:t>
                </a:r>
              </a:p>
            </p:txBody>
          </p:sp>
        </mc:Fallback>
      </mc:AlternateContent>
    </p:spTree>
    <p:extLst>
      <p:ext uri="{BB962C8B-B14F-4D97-AF65-F5344CB8AC3E}">
        <p14:creationId xmlns:p14="http://schemas.microsoft.com/office/powerpoint/2010/main" val="130868110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5F0CE5-79A5-15E4-2121-212989F73109}"/>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1050C459-4B37-A9F3-0918-49D8DB7B4EC9}"/>
              </a:ext>
            </a:extLst>
          </p:cNvPr>
          <p:cNvSpPr/>
          <p:nvPr/>
        </p:nvSpPr>
        <p:spPr>
          <a:xfrm>
            <a:off x="-6824"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alphaModFix amt="50000"/>
            </a:blip>
            <a:stretch>
              <a:fillRect/>
            </a:stretch>
          </a:blipFill>
          <a:ln cap="sq">
            <a:noFill/>
            <a:prstDash val="solid"/>
            <a:miter/>
          </a:ln>
        </p:spPr>
        <p:txBody>
          <a:bodyPr/>
          <a:lstStyle/>
          <a:p>
            <a:endParaRPr lang="en-US" dirty="0"/>
          </a:p>
        </p:txBody>
      </p:sp>
      <p:sp>
        <p:nvSpPr>
          <p:cNvPr id="3" name="AutoShape 3">
            <a:extLst>
              <a:ext uri="{FF2B5EF4-FFF2-40B4-BE49-F238E27FC236}">
                <a16:creationId xmlns:a16="http://schemas.microsoft.com/office/drawing/2014/main" id="{07BCB3B9-ED0B-37E8-3D51-8301A71D07A0}"/>
              </a:ext>
            </a:extLst>
          </p:cNvPr>
          <p:cNvSpPr/>
          <p:nvPr/>
        </p:nvSpPr>
        <p:spPr>
          <a:xfrm>
            <a:off x="1166399" y="1028700"/>
            <a:ext cx="687324" cy="0"/>
          </a:xfrm>
          <a:prstGeom prst="line">
            <a:avLst/>
          </a:prstGeom>
          <a:ln w="76200" cap="flat">
            <a:solidFill>
              <a:srgbClr val="000000"/>
            </a:solidFill>
            <a:prstDash val="solid"/>
            <a:headEnd type="none" w="sm" len="sm"/>
            <a:tailEnd type="none" w="sm" len="sm"/>
          </a:ln>
        </p:spPr>
        <p:txBody>
          <a:bodyPr/>
          <a:lstStyle/>
          <a:p>
            <a:endParaRPr lang="en-US" dirty="0"/>
          </a:p>
        </p:txBody>
      </p:sp>
      <mc:AlternateContent xmlns:mc="http://schemas.openxmlformats.org/markup-compatibility/2006" xmlns:a14="http://schemas.microsoft.com/office/drawing/2010/main">
        <mc:Choice Requires="a14">
          <p:sp>
            <p:nvSpPr>
              <p:cNvPr id="8" name="TextBox 8">
                <a:extLst>
                  <a:ext uri="{FF2B5EF4-FFF2-40B4-BE49-F238E27FC236}">
                    <a16:creationId xmlns:a16="http://schemas.microsoft.com/office/drawing/2014/main" id="{B89B54EB-5B95-0224-7667-177C310F7DB4}"/>
                  </a:ext>
                </a:extLst>
              </p:cNvPr>
              <p:cNvSpPr txBox="1"/>
              <p:nvPr/>
            </p:nvSpPr>
            <p:spPr>
              <a:xfrm>
                <a:off x="873208" y="1485900"/>
                <a:ext cx="16541583" cy="6649769"/>
              </a:xfrm>
              <a:prstGeom prst="rect">
                <a:avLst/>
              </a:prstGeom>
            </p:spPr>
            <p:txBody>
              <a:bodyPr wrap="square" lIns="0" tIns="0" rIns="0" bIns="0" rtlCol="0" anchor="t">
                <a:spAutoFit/>
              </a:bodyPr>
              <a:lstStyle/>
              <a:p>
                <a:pPr marL="302259" lvl="1">
                  <a:lnSpc>
                    <a:spcPts val="4479"/>
                  </a:lnSpc>
                </a:pPr>
                <a:r>
                  <a:rPr lang="en-US" sz="4000" b="1" dirty="0">
                    <a:solidFill>
                      <a:srgbClr val="000000"/>
                    </a:solidFill>
                    <a:latin typeface="Times New Roman" panose="02020603050405020304" pitchFamily="18" charset="0"/>
                    <a:cs typeface="Times New Roman" panose="02020603050405020304" pitchFamily="18" charset="0"/>
                    <a:sym typeface="Open Sauce"/>
                  </a:rPr>
                  <a:t>Integrating Sphere measurement (Transmittance) </a:t>
                </a:r>
                <a:endParaRPr lang="en-US" sz="2500" dirty="0">
                  <a:highlight>
                    <a:srgbClr val="FFFF00"/>
                  </a:highlight>
                </a:endParaRPr>
              </a:p>
              <a:p>
                <a:pPr marL="604519" lvl="1" indent="-302260">
                  <a:lnSpc>
                    <a:spcPct val="200000"/>
                  </a:lnSpc>
                  <a:buFont typeface="Arial"/>
                  <a:buChar char="•"/>
                </a:pPr>
                <a:r>
                  <a:rPr lang="en-US" sz="2500" dirty="0"/>
                  <a:t>Calculating </a:t>
                </a:r>
                <a14:m>
                  <m:oMath xmlns:m="http://schemas.openxmlformats.org/officeDocument/2006/math">
                    <m:sSub>
                      <m:sSubPr>
                        <m:ctrlPr>
                          <a:rPr lang="en-US" sz="2500" i="1" smtClean="0">
                            <a:latin typeface="Cambria Math" panose="02040503050406030204" pitchFamily="18" charset="0"/>
                          </a:rPr>
                        </m:ctrlPr>
                      </m:sSubPr>
                      <m:e>
                        <m:r>
                          <a:rPr lang="en-US" sz="2500" b="0" i="1" smtClean="0">
                            <a:latin typeface="Cambria Math" panose="02040503050406030204" pitchFamily="18" charset="0"/>
                          </a:rPr>
                          <m:t>𝑀</m:t>
                        </m:r>
                      </m:e>
                      <m:sub>
                        <m:r>
                          <a:rPr lang="en-US" sz="2500" b="0" i="1" smtClean="0">
                            <a:latin typeface="Cambria Math" panose="02040503050406030204" pitchFamily="18" charset="0"/>
                          </a:rPr>
                          <m:t>𝑇</m:t>
                        </m:r>
                      </m:sub>
                    </m:sSub>
                  </m:oMath>
                </a14:m>
                <a:r>
                  <a:rPr lang="en-US" sz="2500" dirty="0"/>
                  <a:t> requires the following measurements: </a:t>
                </a:r>
              </a:p>
              <a:p>
                <a:pPr marL="1976119" lvl="4" indent="-302260">
                  <a:lnSpc>
                    <a:spcPct val="200000"/>
                  </a:lnSpc>
                  <a:buFont typeface="Arial"/>
                  <a:buChar char="•"/>
                </a:pPr>
                <a14:m>
                  <m:oMath xmlns:m="http://schemas.openxmlformats.org/officeDocument/2006/math">
                    <m:sSub>
                      <m:sSubPr>
                        <m:ctrlPr>
                          <a:rPr lang="en-US" sz="2500" i="1">
                            <a:latin typeface="Cambria Math" panose="02040503050406030204" pitchFamily="18" charset="0"/>
                          </a:rPr>
                        </m:ctrlPr>
                      </m:sSubPr>
                      <m:e>
                        <m:r>
                          <a:rPr lang="en-US" sz="2500" b="0" i="1" smtClean="0">
                            <a:latin typeface="Cambria Math" panose="02040503050406030204" pitchFamily="18" charset="0"/>
                          </a:rPr>
                          <m:t>𝑇</m:t>
                        </m:r>
                      </m:e>
                      <m:sub>
                        <m:r>
                          <a:rPr lang="en-US" sz="2500" b="0" i="1" smtClean="0">
                            <a:latin typeface="Cambria Math" panose="02040503050406030204" pitchFamily="18" charset="0"/>
                          </a:rPr>
                          <m:t>𝑑𝑎𝑟𝑘</m:t>
                        </m:r>
                      </m:sub>
                    </m:sSub>
                  </m:oMath>
                </a14:m>
                <a:r>
                  <a:rPr lang="en-US" sz="2500" dirty="0"/>
                  <a:t> : the measured transmitted power with the laser blocked or turned off.</a:t>
                </a:r>
              </a:p>
              <a:p>
                <a:pPr marL="1976119" lvl="4" indent="-302260">
                  <a:lnSpc>
                    <a:spcPct val="200000"/>
                  </a:lnSpc>
                  <a:buFont typeface="Arial"/>
                  <a:buChar char="•"/>
                </a:pPr>
                <a:r>
                  <a:rPr lang="en-US" sz="2500" dirty="0"/>
                  <a:t>T(</a:t>
                </a:r>
                <a14:m>
                  <m:oMath xmlns:m="http://schemas.openxmlformats.org/officeDocument/2006/math">
                    <m:sSubSup>
                      <m:sSubSupPr>
                        <m:ctrlPr>
                          <a:rPr lang="en-US" sz="2500" i="1" smtClean="0">
                            <a:latin typeface="Cambria Math" panose="02040503050406030204" pitchFamily="18" charset="0"/>
                          </a:rPr>
                        </m:ctrlPr>
                      </m:sSubSupPr>
                      <m:e>
                        <m:r>
                          <a:rPr lang="en-US" sz="2500" b="0" i="1" smtClean="0">
                            <a:latin typeface="Cambria Math" panose="02040503050406030204" pitchFamily="18" charset="0"/>
                          </a:rPr>
                          <m:t>𝑟</m:t>
                        </m:r>
                      </m:e>
                      <m:sub>
                        <m:r>
                          <a:rPr lang="en-US" sz="2500" b="0" i="1" smtClean="0">
                            <a:latin typeface="Cambria Math" panose="02040503050406030204" pitchFamily="18" charset="0"/>
                          </a:rPr>
                          <m:t>𝑠</m:t>
                        </m:r>
                      </m:sub>
                      <m:sup>
                        <m:r>
                          <a:rPr lang="en-US" sz="2500" b="0" i="1" smtClean="0">
                            <a:latin typeface="Cambria Math" panose="02040503050406030204" pitchFamily="18" charset="0"/>
                          </a:rPr>
                          <m:t>𝑑𝑖𝑟𝑒𝑐𝑡</m:t>
                        </m:r>
                      </m:sup>
                    </m:sSubSup>
                  </m:oMath>
                </a14:m>
                <a:r>
                  <a:rPr lang="en-US" sz="2500" dirty="0"/>
                  <a:t>, </a:t>
                </a:r>
                <a14:m>
                  <m:oMath xmlns:m="http://schemas.openxmlformats.org/officeDocument/2006/math">
                    <m:sSub>
                      <m:sSubPr>
                        <m:ctrlPr>
                          <a:rPr lang="en-US" sz="2500" i="1">
                            <a:latin typeface="Cambria Math" panose="02040503050406030204" pitchFamily="18" charset="0"/>
                          </a:rPr>
                        </m:ctrlPr>
                      </m:sSubPr>
                      <m:e>
                        <m:r>
                          <a:rPr lang="en-US" sz="2500" i="1">
                            <a:latin typeface="Cambria Math" panose="02040503050406030204" pitchFamily="18" charset="0"/>
                          </a:rPr>
                          <m:t>𝑟</m:t>
                        </m:r>
                      </m:e>
                      <m:sub>
                        <m:r>
                          <a:rPr lang="en-US" sz="2500" i="1">
                            <a:latin typeface="Cambria Math" panose="02040503050406030204" pitchFamily="18" charset="0"/>
                          </a:rPr>
                          <m:t>𝑠</m:t>
                        </m:r>
                      </m:sub>
                    </m:sSub>
                  </m:oMath>
                </a14:m>
                <a:r>
                  <a:rPr lang="en-US" sz="2500" dirty="0"/>
                  <a:t>) : the measured transmitted power of the sample. </a:t>
                </a:r>
              </a:p>
              <a:p>
                <a:pPr marL="1976119" lvl="4" indent="-302260">
                  <a:lnSpc>
                    <a:spcPct val="200000"/>
                  </a:lnSpc>
                  <a:buFont typeface="Arial"/>
                  <a:buChar char="•"/>
                </a:pPr>
                <a:r>
                  <a:rPr lang="en-US" sz="2500" dirty="0"/>
                  <a:t>T(0,0) : the measured transmitted power of the empty integrating sphere.</a:t>
                </a:r>
              </a:p>
              <a:p>
                <a:pPr marL="604519" lvl="1" indent="-302260">
                  <a:lnSpc>
                    <a:spcPct val="200000"/>
                  </a:lnSpc>
                  <a:buFont typeface="Arial"/>
                  <a:buChar char="•"/>
                </a:pPr>
                <a14:m>
                  <m:oMath xmlns:m="http://schemas.openxmlformats.org/officeDocument/2006/math">
                    <m:sSub>
                      <m:sSubPr>
                        <m:ctrlPr>
                          <a:rPr lang="en-US" sz="2500" i="1">
                            <a:latin typeface="Cambria Math" panose="02040503050406030204" pitchFamily="18" charset="0"/>
                          </a:rPr>
                        </m:ctrlPr>
                      </m:sSubPr>
                      <m:e>
                        <m:r>
                          <a:rPr lang="en-US" sz="2500" i="1">
                            <a:latin typeface="Cambria Math" panose="02040503050406030204" pitchFamily="18" charset="0"/>
                          </a:rPr>
                          <m:t>𝑇</m:t>
                        </m:r>
                      </m:e>
                      <m:sub>
                        <m:r>
                          <a:rPr lang="en-US" sz="2500" i="1">
                            <a:latin typeface="Cambria Math" panose="02040503050406030204" pitchFamily="18" charset="0"/>
                          </a:rPr>
                          <m:t>𝑑𝑎𝑟𝑘</m:t>
                        </m:r>
                      </m:sub>
                    </m:sSub>
                  </m:oMath>
                </a14:m>
                <a:r>
                  <a:rPr lang="en-US" sz="2500" dirty="0"/>
                  <a:t> is not necessarily 0 since the detector in the sphere is not perfect and will likely measure some background even when in darkness. </a:t>
                </a:r>
              </a:p>
              <a:p>
                <a:pPr marL="302259" lvl="1">
                  <a:lnSpc>
                    <a:spcPct val="200000"/>
                  </a:lnSpc>
                </a:pPr>
                <a:endParaRPr lang="en-US" sz="2500" dirty="0"/>
              </a:p>
              <a:p>
                <a:pPr marL="604519" lvl="1" indent="-302260">
                  <a:lnSpc>
                    <a:spcPct val="200000"/>
                  </a:lnSpc>
                  <a:buFont typeface="Arial"/>
                  <a:buChar char="•"/>
                </a:pPr>
                <a:endParaRPr lang="en-US" sz="2500" dirty="0"/>
              </a:p>
            </p:txBody>
          </p:sp>
        </mc:Choice>
        <mc:Fallback xmlns="">
          <p:sp>
            <p:nvSpPr>
              <p:cNvPr id="8" name="TextBox 8">
                <a:extLst>
                  <a:ext uri="{FF2B5EF4-FFF2-40B4-BE49-F238E27FC236}">
                    <a16:creationId xmlns:a16="http://schemas.microsoft.com/office/drawing/2014/main" id="{B89B54EB-5B95-0224-7667-177C310F7DB4}"/>
                  </a:ext>
                </a:extLst>
              </p:cNvPr>
              <p:cNvSpPr txBox="1">
                <a:spLocks noRot="1" noChangeAspect="1" noMove="1" noResize="1" noEditPoints="1" noAdjustHandles="1" noChangeArrowheads="1" noChangeShapeType="1" noTextEdit="1"/>
              </p:cNvSpPr>
              <p:nvPr/>
            </p:nvSpPr>
            <p:spPr>
              <a:xfrm>
                <a:off x="873208" y="1485900"/>
                <a:ext cx="16541583" cy="6649769"/>
              </a:xfrm>
              <a:prstGeom prst="rect">
                <a:avLst/>
              </a:prstGeom>
              <a:blipFill>
                <a:blip r:embed="rId3"/>
                <a:stretch>
                  <a:fillRect t="-3116"/>
                </a:stretch>
              </a:blipFill>
            </p:spPr>
            <p:txBody>
              <a:bodyPr/>
              <a:lstStyle/>
              <a:p>
                <a:r>
                  <a:rPr lang="en-US">
                    <a:noFill/>
                  </a:rPr>
                  <a:t> </a:t>
                </a:r>
              </a:p>
            </p:txBody>
          </p:sp>
        </mc:Fallback>
      </mc:AlternateContent>
    </p:spTree>
    <p:extLst>
      <p:ext uri="{BB962C8B-B14F-4D97-AF65-F5344CB8AC3E}">
        <p14:creationId xmlns:p14="http://schemas.microsoft.com/office/powerpoint/2010/main" val="207916723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4CC848-3B91-D0CC-E6A0-0177AFA25D31}"/>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14AB513A-85DF-ADAE-A5AD-97E90B56157E}"/>
              </a:ext>
            </a:extLst>
          </p:cNvPr>
          <p:cNvSpPr/>
          <p:nvPr/>
        </p:nvSpPr>
        <p:spPr>
          <a:xfrm>
            <a:off x="-6824"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3">
              <a:alphaModFix amt="50000"/>
            </a:blip>
            <a:stretch>
              <a:fillRect/>
            </a:stretch>
          </a:blipFill>
          <a:ln cap="sq">
            <a:noFill/>
            <a:prstDash val="solid"/>
            <a:miter/>
          </a:ln>
        </p:spPr>
        <p:txBody>
          <a:bodyPr/>
          <a:lstStyle/>
          <a:p>
            <a:endParaRPr lang="en-US" dirty="0"/>
          </a:p>
        </p:txBody>
      </p:sp>
      <p:sp>
        <p:nvSpPr>
          <p:cNvPr id="3" name="AutoShape 3">
            <a:extLst>
              <a:ext uri="{FF2B5EF4-FFF2-40B4-BE49-F238E27FC236}">
                <a16:creationId xmlns:a16="http://schemas.microsoft.com/office/drawing/2014/main" id="{695A7C43-D673-D991-E53A-E94A1820DA4F}"/>
              </a:ext>
            </a:extLst>
          </p:cNvPr>
          <p:cNvSpPr/>
          <p:nvPr/>
        </p:nvSpPr>
        <p:spPr>
          <a:xfrm>
            <a:off x="1166399" y="1028700"/>
            <a:ext cx="687324" cy="0"/>
          </a:xfrm>
          <a:prstGeom prst="line">
            <a:avLst/>
          </a:prstGeom>
          <a:ln w="76200" cap="flat">
            <a:solidFill>
              <a:srgbClr val="000000"/>
            </a:solidFill>
            <a:prstDash val="solid"/>
            <a:headEnd type="none" w="sm" len="sm"/>
            <a:tailEnd type="none" w="sm" len="sm"/>
          </a:ln>
        </p:spPr>
        <p:txBody>
          <a:bodyPr/>
          <a:lstStyle/>
          <a:p>
            <a:endParaRPr lang="en-US" dirty="0"/>
          </a:p>
        </p:txBody>
      </p:sp>
      <mc:AlternateContent xmlns:mc="http://schemas.openxmlformats.org/markup-compatibility/2006" xmlns:a14="http://schemas.microsoft.com/office/drawing/2010/main">
        <mc:Choice Requires="a14">
          <p:sp>
            <p:nvSpPr>
              <p:cNvPr id="8" name="TextBox 8">
                <a:extLst>
                  <a:ext uri="{FF2B5EF4-FFF2-40B4-BE49-F238E27FC236}">
                    <a16:creationId xmlns:a16="http://schemas.microsoft.com/office/drawing/2014/main" id="{C535A55E-C118-61A3-90F2-D16BF04BE736}"/>
                  </a:ext>
                </a:extLst>
              </p:cNvPr>
              <p:cNvSpPr txBox="1"/>
              <p:nvPr/>
            </p:nvSpPr>
            <p:spPr>
              <a:xfrm>
                <a:off x="873208" y="1191779"/>
                <a:ext cx="16541583" cy="1731243"/>
              </a:xfrm>
              <a:prstGeom prst="rect">
                <a:avLst/>
              </a:prstGeom>
            </p:spPr>
            <p:txBody>
              <a:bodyPr wrap="square" lIns="0" tIns="0" rIns="0" bIns="0" rtlCol="0" anchor="t">
                <a:spAutoFit/>
              </a:bodyPr>
              <a:lstStyle/>
              <a:p>
                <a:pPr marL="302259" lvl="1">
                  <a:lnSpc>
                    <a:spcPts val="4479"/>
                  </a:lnSpc>
                </a:pPr>
                <a:r>
                  <a:rPr lang="en-US" sz="4000" b="1" dirty="0">
                    <a:solidFill>
                      <a:srgbClr val="000000"/>
                    </a:solidFill>
                    <a:latin typeface="Times New Roman" panose="02020603050405020304" pitchFamily="18" charset="0"/>
                    <a:cs typeface="Times New Roman" panose="02020603050405020304" pitchFamily="18" charset="0"/>
                    <a:sym typeface="Open Sauce"/>
                  </a:rPr>
                  <a:t>Integrating Sphere measurement (Transmittance) </a:t>
                </a:r>
              </a:p>
              <a:p>
                <a:pPr marL="302259" lvl="1">
                  <a:lnSpc>
                    <a:spcPts val="4479"/>
                  </a:lnSpc>
                </a:pPr>
                <a:endParaRPr lang="en-US" sz="4000" b="1" dirty="0">
                  <a:solidFill>
                    <a:srgbClr val="000000"/>
                  </a:solidFill>
                  <a:latin typeface="Times New Roman" panose="02020603050405020304" pitchFamily="18" charset="0"/>
                  <a:cs typeface="Times New Roman" panose="02020603050405020304" pitchFamily="18" charset="0"/>
                  <a:sym typeface="Open Sauce"/>
                </a:endParaRPr>
              </a:p>
              <a:p>
                <a:pPr marL="302259" lvl="1">
                  <a:lnSpc>
                    <a:spcPts val="4479"/>
                  </a:lnSpc>
                </a:pPr>
                <a14:m>
                  <m:oMathPara xmlns:m="http://schemas.openxmlformats.org/officeDocument/2006/math">
                    <m:oMathParaPr>
                      <m:jc m:val="centerGroup"/>
                    </m:oMathParaPr>
                    <m:oMath xmlns:m="http://schemas.openxmlformats.org/officeDocument/2006/math">
                      <m:sSub>
                        <m:sSubPr>
                          <m:ctrlPr>
                            <a:rPr lang="en-US" sz="2500" i="1">
                              <a:latin typeface="Cambria Math" panose="02040503050406030204" pitchFamily="18" charset="0"/>
                            </a:rPr>
                          </m:ctrlPr>
                        </m:sSubPr>
                        <m:e>
                          <m:r>
                            <a:rPr lang="en-US" sz="2500" i="1">
                              <a:latin typeface="Cambria Math" panose="02040503050406030204" pitchFamily="18" charset="0"/>
                            </a:rPr>
                            <m:t>𝑀</m:t>
                          </m:r>
                        </m:e>
                        <m:sub>
                          <m:r>
                            <a:rPr lang="en-US" sz="2500" i="1">
                              <a:latin typeface="Cambria Math" panose="02040503050406030204" pitchFamily="18" charset="0"/>
                            </a:rPr>
                            <m:t>𝑇</m:t>
                          </m:r>
                        </m:sub>
                      </m:sSub>
                      <m:r>
                        <a:rPr lang="en-US" sz="2500" b="0" i="1" smtClean="0">
                          <a:latin typeface="Cambria Math" panose="02040503050406030204" pitchFamily="18" charset="0"/>
                        </a:rPr>
                        <m:t>=</m:t>
                      </m:r>
                      <m:f>
                        <m:fPr>
                          <m:ctrlPr>
                            <a:rPr lang="en-US" sz="2500" i="1" smtClean="0">
                              <a:latin typeface="Cambria Math" panose="02040503050406030204" pitchFamily="18" charset="0"/>
                            </a:rPr>
                          </m:ctrlPr>
                        </m:fPr>
                        <m:num>
                          <m:r>
                            <m:rPr>
                              <m:nor/>
                            </m:rPr>
                            <a:rPr lang="en-US" sz="2500" b="0" i="0" smtClean="0">
                              <a:latin typeface="Cambria Math" panose="02040503050406030204" pitchFamily="18" charset="0"/>
                            </a:rPr>
                            <m:t>T</m:t>
                          </m:r>
                          <m:r>
                            <m:rPr>
                              <m:nor/>
                            </m:rPr>
                            <a:rPr lang="en-US" sz="2500" dirty="0"/>
                            <m:t>(</m:t>
                          </m:r>
                          <m:sSubSup>
                            <m:sSubSupPr>
                              <m:ctrlPr>
                                <a:rPr lang="en-US" sz="2500" i="1">
                                  <a:latin typeface="Cambria Math" panose="02040503050406030204" pitchFamily="18" charset="0"/>
                                </a:rPr>
                              </m:ctrlPr>
                            </m:sSubSupPr>
                            <m:e>
                              <m:r>
                                <a:rPr lang="en-US" sz="2500" b="0" i="1">
                                  <a:latin typeface="Cambria Math" panose="02040503050406030204" pitchFamily="18" charset="0"/>
                                </a:rPr>
                                <m:t>𝑟</m:t>
                              </m:r>
                            </m:e>
                            <m:sub>
                              <m:r>
                                <a:rPr lang="en-US" sz="2500" b="0" i="1">
                                  <a:latin typeface="Cambria Math" panose="02040503050406030204" pitchFamily="18" charset="0"/>
                                </a:rPr>
                                <m:t>𝑠</m:t>
                              </m:r>
                            </m:sub>
                            <m:sup>
                              <m:r>
                                <a:rPr lang="en-US" sz="2500" b="0" i="1">
                                  <a:latin typeface="Cambria Math" panose="02040503050406030204" pitchFamily="18" charset="0"/>
                                </a:rPr>
                                <m:t>𝑑𝑖𝑟𝑒𝑐𝑡</m:t>
                              </m:r>
                            </m:sup>
                          </m:sSubSup>
                          <m:r>
                            <m:rPr>
                              <m:nor/>
                            </m:rPr>
                            <a:rPr lang="en-US" sz="2500" dirty="0"/>
                            <m:t>, </m:t>
                          </m:r>
                          <m:sSub>
                            <m:sSubPr>
                              <m:ctrlPr>
                                <a:rPr lang="en-US" sz="2500" i="1">
                                  <a:latin typeface="Cambria Math" panose="02040503050406030204" pitchFamily="18" charset="0"/>
                                </a:rPr>
                              </m:ctrlPr>
                            </m:sSubPr>
                            <m:e>
                              <m:r>
                                <a:rPr lang="en-US" sz="2500" b="0" i="1">
                                  <a:latin typeface="Cambria Math" panose="02040503050406030204" pitchFamily="18" charset="0"/>
                                </a:rPr>
                                <m:t>𝑟</m:t>
                              </m:r>
                            </m:e>
                            <m:sub>
                              <m:r>
                                <a:rPr lang="en-US" sz="2500" b="0" i="1">
                                  <a:latin typeface="Cambria Math" panose="02040503050406030204" pitchFamily="18" charset="0"/>
                                </a:rPr>
                                <m:t>𝑠</m:t>
                              </m:r>
                            </m:sub>
                          </m:sSub>
                          <m:r>
                            <m:rPr>
                              <m:nor/>
                            </m:rPr>
                            <a:rPr lang="en-US" sz="2500" dirty="0"/>
                            <m:t>)</m:t>
                          </m:r>
                          <m:r>
                            <m:rPr>
                              <m:nor/>
                            </m:rPr>
                            <a:rPr lang="en-US" sz="2500" i="0" dirty="0" smtClean="0"/>
                            <m:t> −</m:t>
                          </m:r>
                          <m:sSub>
                            <m:sSubPr>
                              <m:ctrlPr>
                                <a:rPr lang="en-US" sz="2500" i="1">
                                  <a:latin typeface="Cambria Math" panose="02040503050406030204" pitchFamily="18" charset="0"/>
                                </a:rPr>
                              </m:ctrlPr>
                            </m:sSubPr>
                            <m:e>
                              <m:r>
                                <a:rPr lang="en-US" sz="2500" b="0" i="1" smtClean="0">
                                  <a:latin typeface="Cambria Math" panose="02040503050406030204" pitchFamily="18" charset="0"/>
                                </a:rPr>
                                <m:t> </m:t>
                              </m:r>
                              <m:r>
                                <a:rPr lang="en-US" sz="2500" b="0" i="1" smtClean="0">
                                  <a:latin typeface="Cambria Math" panose="02040503050406030204" pitchFamily="18" charset="0"/>
                                </a:rPr>
                                <m:t>𝑇</m:t>
                              </m:r>
                            </m:e>
                            <m:sub>
                              <m:r>
                                <a:rPr lang="en-US" sz="2500" b="0" i="1" smtClean="0">
                                  <a:latin typeface="Cambria Math" panose="02040503050406030204" pitchFamily="18" charset="0"/>
                                </a:rPr>
                                <m:t>𝑑𝑎𝑟𝑘</m:t>
                              </m:r>
                            </m:sub>
                          </m:sSub>
                        </m:num>
                        <m:den>
                          <m:r>
                            <m:rPr>
                              <m:nor/>
                            </m:rPr>
                            <a:rPr lang="en-US" sz="2500" b="0" i="0" smtClean="0">
                              <a:latin typeface="Cambria Math" panose="02040503050406030204" pitchFamily="18" charset="0"/>
                            </a:rPr>
                            <m:t>T</m:t>
                          </m:r>
                          <m:r>
                            <m:rPr>
                              <m:nor/>
                            </m:rPr>
                            <a:rPr lang="en-US" sz="2500" b="0" i="0" dirty="0" smtClean="0"/>
                            <m:t>(0</m:t>
                          </m:r>
                          <m:r>
                            <m:rPr>
                              <m:nor/>
                            </m:rPr>
                            <a:rPr lang="en-US" sz="2500" dirty="0"/>
                            <m:t>,</m:t>
                          </m:r>
                          <m:r>
                            <m:rPr>
                              <m:nor/>
                            </m:rPr>
                            <a:rPr lang="en-US" sz="2500" b="0" i="0" dirty="0" smtClean="0"/>
                            <m:t>0</m:t>
                          </m:r>
                          <m:r>
                            <m:rPr>
                              <m:nor/>
                            </m:rPr>
                            <a:rPr lang="en-US" sz="2500" dirty="0"/>
                            <m:t>)</m:t>
                          </m:r>
                          <m:r>
                            <m:rPr>
                              <m:nor/>
                            </m:rPr>
                            <a:rPr lang="en-US" sz="2500" i="0" dirty="0" smtClean="0"/>
                            <m:t> −</m:t>
                          </m:r>
                          <m:r>
                            <m:rPr>
                              <m:nor/>
                            </m:rPr>
                            <a:rPr lang="en-US" sz="2500" b="0" i="0" dirty="0" smtClean="0"/>
                            <m:t> </m:t>
                          </m:r>
                          <m:sSub>
                            <m:sSubPr>
                              <m:ctrlPr>
                                <a:rPr lang="en-US" sz="2500" i="1">
                                  <a:latin typeface="Cambria Math" panose="02040503050406030204" pitchFamily="18" charset="0"/>
                                </a:rPr>
                              </m:ctrlPr>
                            </m:sSubPr>
                            <m:e>
                              <m:r>
                                <a:rPr lang="en-US" sz="2500" b="0" i="1" smtClean="0">
                                  <a:latin typeface="Cambria Math" panose="02040503050406030204" pitchFamily="18" charset="0"/>
                                </a:rPr>
                                <m:t>𝑇</m:t>
                              </m:r>
                            </m:e>
                            <m:sub>
                              <m:r>
                                <a:rPr lang="en-US" sz="2500" b="0" i="1" smtClean="0">
                                  <a:latin typeface="Cambria Math" panose="02040503050406030204" pitchFamily="18" charset="0"/>
                                </a:rPr>
                                <m:t>𝑑𝑎𝑟𝑘</m:t>
                              </m:r>
                            </m:sub>
                          </m:sSub>
                        </m:den>
                      </m:f>
                    </m:oMath>
                  </m:oMathPara>
                </a14:m>
                <a:endParaRPr lang="en-US" sz="2500" dirty="0"/>
              </a:p>
            </p:txBody>
          </p:sp>
        </mc:Choice>
        <mc:Fallback xmlns="">
          <p:sp>
            <p:nvSpPr>
              <p:cNvPr id="8" name="TextBox 8">
                <a:extLst>
                  <a:ext uri="{FF2B5EF4-FFF2-40B4-BE49-F238E27FC236}">
                    <a16:creationId xmlns:a16="http://schemas.microsoft.com/office/drawing/2014/main" id="{C535A55E-C118-61A3-90F2-D16BF04BE736}"/>
                  </a:ext>
                </a:extLst>
              </p:cNvPr>
              <p:cNvSpPr txBox="1">
                <a:spLocks noRot="1" noChangeAspect="1" noMove="1" noResize="1" noEditPoints="1" noAdjustHandles="1" noChangeArrowheads="1" noChangeShapeType="1" noTextEdit="1"/>
              </p:cNvSpPr>
              <p:nvPr/>
            </p:nvSpPr>
            <p:spPr>
              <a:xfrm>
                <a:off x="873208" y="1191779"/>
                <a:ext cx="16541583" cy="1731243"/>
              </a:xfrm>
              <a:prstGeom prst="rect">
                <a:avLst/>
              </a:prstGeom>
              <a:blipFill>
                <a:blip r:embed="rId4"/>
                <a:stretch>
                  <a:fillRect t="-11307" b="-1095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BA68F02E-5DD9-532C-CDDC-5A6237543DDD}"/>
                  </a:ext>
                </a:extLst>
              </p:cNvPr>
              <p:cNvSpPr txBox="1"/>
              <p:nvPr/>
            </p:nvSpPr>
            <p:spPr>
              <a:xfrm>
                <a:off x="4731290" y="8488957"/>
                <a:ext cx="8811771" cy="369332"/>
              </a:xfrm>
              <a:prstGeom prst="rect">
                <a:avLst/>
              </a:prstGeom>
              <a:noFill/>
            </p:spPr>
            <p:txBody>
              <a:bodyPr wrap="none" rtlCol="0">
                <a:spAutoFit/>
              </a:bodyPr>
              <a:lstStyle/>
              <a:p>
                <a:r>
                  <a:rPr lang="en-US" dirty="0"/>
                  <a:t>Fig. Configurations necessary to make the measurements required for the calculation of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𝑀</m:t>
                        </m:r>
                      </m:e>
                      <m:sub>
                        <m:r>
                          <a:rPr lang="en-US" b="0" i="1" smtClean="0">
                            <a:latin typeface="Cambria Math" panose="02040503050406030204" pitchFamily="18" charset="0"/>
                          </a:rPr>
                          <m:t>𝑇</m:t>
                        </m:r>
                      </m:sub>
                    </m:sSub>
                  </m:oMath>
                </a14:m>
                <a:r>
                  <a:rPr lang="en-US" dirty="0"/>
                  <a:t> </a:t>
                </a:r>
              </a:p>
            </p:txBody>
          </p:sp>
        </mc:Choice>
        <mc:Fallback xmlns="">
          <p:sp>
            <p:nvSpPr>
              <p:cNvPr id="7" name="TextBox 6">
                <a:extLst>
                  <a:ext uri="{FF2B5EF4-FFF2-40B4-BE49-F238E27FC236}">
                    <a16:creationId xmlns:a16="http://schemas.microsoft.com/office/drawing/2014/main" id="{BA68F02E-5DD9-532C-CDDC-5A6237543DDD}"/>
                  </a:ext>
                </a:extLst>
              </p:cNvPr>
              <p:cNvSpPr txBox="1">
                <a:spLocks noRot="1" noChangeAspect="1" noMove="1" noResize="1" noEditPoints="1" noAdjustHandles="1" noChangeArrowheads="1" noChangeShapeType="1" noTextEdit="1"/>
              </p:cNvSpPr>
              <p:nvPr/>
            </p:nvSpPr>
            <p:spPr>
              <a:xfrm>
                <a:off x="4731290" y="8488957"/>
                <a:ext cx="8811771" cy="369332"/>
              </a:xfrm>
              <a:prstGeom prst="rect">
                <a:avLst/>
              </a:prstGeom>
              <a:blipFill>
                <a:blip r:embed="rId5"/>
                <a:stretch>
                  <a:fillRect l="-553" t="-10000" b="-26667"/>
                </a:stretch>
              </a:blipFill>
            </p:spPr>
            <p:txBody>
              <a:bodyPr/>
              <a:lstStyle/>
              <a:p>
                <a:r>
                  <a:rPr lang="en-US">
                    <a:noFill/>
                  </a:rPr>
                  <a:t> </a:t>
                </a:r>
              </a:p>
            </p:txBody>
          </p:sp>
        </mc:Fallback>
      </mc:AlternateContent>
      <p:pic>
        <p:nvPicPr>
          <p:cNvPr id="9" name="Picture 8">
            <a:extLst>
              <a:ext uri="{FF2B5EF4-FFF2-40B4-BE49-F238E27FC236}">
                <a16:creationId xmlns:a16="http://schemas.microsoft.com/office/drawing/2014/main" id="{8B559662-ABA5-2A22-FC6F-6F59C5E2B1D6}"/>
              </a:ext>
            </a:extLst>
          </p:cNvPr>
          <p:cNvPicPr>
            <a:picLocks noChangeAspect="1"/>
          </p:cNvPicPr>
          <p:nvPr/>
        </p:nvPicPr>
        <p:blipFill>
          <a:blip r:embed="rId6"/>
          <a:stretch>
            <a:fillRect/>
          </a:stretch>
        </p:blipFill>
        <p:spPr>
          <a:xfrm>
            <a:off x="1115139" y="3467100"/>
            <a:ext cx="16044074" cy="4851523"/>
          </a:xfrm>
          <a:prstGeom prst="rect">
            <a:avLst/>
          </a:prstGeom>
        </p:spPr>
      </p:pic>
    </p:spTree>
    <p:extLst>
      <p:ext uri="{BB962C8B-B14F-4D97-AF65-F5344CB8AC3E}">
        <p14:creationId xmlns:p14="http://schemas.microsoft.com/office/powerpoint/2010/main" val="273152934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89AD5E-21EE-B218-1C14-BD3E596964D9}"/>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444B64BB-43B7-8C5C-4CFC-0A2E6DB6C736}"/>
              </a:ext>
            </a:extLst>
          </p:cNvPr>
          <p:cNvSpPr/>
          <p:nvPr/>
        </p:nvSpPr>
        <p:spPr>
          <a:xfrm>
            <a:off x="-6824"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alphaModFix amt="50000"/>
            </a:blip>
            <a:stretch>
              <a:fillRect/>
            </a:stretch>
          </a:blipFill>
          <a:ln cap="sq">
            <a:noFill/>
            <a:prstDash val="solid"/>
            <a:miter/>
          </a:ln>
        </p:spPr>
        <p:txBody>
          <a:bodyPr/>
          <a:lstStyle/>
          <a:p>
            <a:endParaRPr lang="en-US" dirty="0"/>
          </a:p>
        </p:txBody>
      </p:sp>
      <p:sp>
        <p:nvSpPr>
          <p:cNvPr id="3" name="AutoShape 3">
            <a:extLst>
              <a:ext uri="{FF2B5EF4-FFF2-40B4-BE49-F238E27FC236}">
                <a16:creationId xmlns:a16="http://schemas.microsoft.com/office/drawing/2014/main" id="{57E9882E-DD64-14DB-B133-DB4F0ECAF4A3}"/>
              </a:ext>
            </a:extLst>
          </p:cNvPr>
          <p:cNvSpPr/>
          <p:nvPr/>
        </p:nvSpPr>
        <p:spPr>
          <a:xfrm>
            <a:off x="1166399" y="1028700"/>
            <a:ext cx="687324" cy="0"/>
          </a:xfrm>
          <a:prstGeom prst="line">
            <a:avLst/>
          </a:prstGeom>
          <a:ln w="76200" cap="flat">
            <a:solidFill>
              <a:srgbClr val="000000"/>
            </a:solidFill>
            <a:prstDash val="solid"/>
            <a:headEnd type="none" w="sm" len="sm"/>
            <a:tailEnd type="none" w="sm" len="sm"/>
          </a:ln>
        </p:spPr>
        <p:txBody>
          <a:bodyPr/>
          <a:lstStyle/>
          <a:p>
            <a:endParaRPr lang="en-US" dirty="0"/>
          </a:p>
        </p:txBody>
      </p:sp>
      <mc:AlternateContent xmlns:mc="http://schemas.openxmlformats.org/markup-compatibility/2006" xmlns:a14="http://schemas.microsoft.com/office/drawing/2010/main">
        <mc:Choice Requires="a14">
          <p:sp>
            <p:nvSpPr>
              <p:cNvPr id="8" name="TextBox 8">
                <a:extLst>
                  <a:ext uri="{FF2B5EF4-FFF2-40B4-BE49-F238E27FC236}">
                    <a16:creationId xmlns:a16="http://schemas.microsoft.com/office/drawing/2014/main" id="{00F6E17F-7CCB-997F-9B15-B113D2604EB0}"/>
                  </a:ext>
                </a:extLst>
              </p:cNvPr>
              <p:cNvSpPr txBox="1"/>
              <p:nvPr/>
            </p:nvSpPr>
            <p:spPr>
              <a:xfrm>
                <a:off x="866384" y="1409700"/>
                <a:ext cx="16541583" cy="6624891"/>
              </a:xfrm>
              <a:prstGeom prst="rect">
                <a:avLst/>
              </a:prstGeom>
            </p:spPr>
            <p:txBody>
              <a:bodyPr wrap="square" lIns="0" tIns="0" rIns="0" bIns="0" rtlCol="0" anchor="t">
                <a:spAutoFit/>
              </a:bodyPr>
              <a:lstStyle/>
              <a:p>
                <a:pPr marL="302259" lvl="1">
                  <a:lnSpc>
                    <a:spcPts val="4479"/>
                  </a:lnSpc>
                </a:pPr>
                <a:r>
                  <a:rPr lang="en-US" sz="4000" b="1" dirty="0">
                    <a:solidFill>
                      <a:srgbClr val="000000"/>
                    </a:solidFill>
                    <a:latin typeface="Times New Roman" panose="02020603050405020304" pitchFamily="18" charset="0"/>
                    <a:cs typeface="Times New Roman" panose="02020603050405020304" pitchFamily="18" charset="0"/>
                    <a:sym typeface="Open Sauce"/>
                  </a:rPr>
                  <a:t>Integrating Sphere measurement (Regular or </a:t>
                </a:r>
                <a:r>
                  <a:rPr lang="en-US" sz="4000" b="1" dirty="0" err="1">
                    <a:solidFill>
                      <a:srgbClr val="000000"/>
                    </a:solidFill>
                    <a:latin typeface="Times New Roman" panose="02020603050405020304" pitchFamily="18" charset="0"/>
                    <a:cs typeface="Times New Roman" panose="02020603050405020304" pitchFamily="18" charset="0"/>
                    <a:sym typeface="Open Sauce"/>
                  </a:rPr>
                  <a:t>unscattered</a:t>
                </a:r>
                <a:r>
                  <a:rPr lang="en-US" sz="4000" b="1" dirty="0">
                    <a:solidFill>
                      <a:srgbClr val="000000"/>
                    </a:solidFill>
                    <a:latin typeface="Times New Roman" panose="02020603050405020304" pitchFamily="18" charset="0"/>
                    <a:cs typeface="Times New Roman" panose="02020603050405020304" pitchFamily="18" charset="0"/>
                    <a:sym typeface="Open Sauce"/>
                  </a:rPr>
                  <a:t> transmittance) </a:t>
                </a:r>
                <a:endParaRPr lang="en-US" sz="2500" dirty="0">
                  <a:highlight>
                    <a:srgbClr val="FFFF00"/>
                  </a:highlight>
                </a:endParaRPr>
              </a:p>
              <a:p>
                <a:pPr marL="604519" lvl="1" indent="-302260">
                  <a:lnSpc>
                    <a:spcPct val="200000"/>
                  </a:lnSpc>
                  <a:buFont typeface="Arial"/>
                  <a:buChar char="•"/>
                </a:pPr>
                <a:r>
                  <a:rPr lang="en-US" sz="2500" dirty="0"/>
                  <a:t>Calculating </a:t>
                </a:r>
                <a14:m>
                  <m:oMath xmlns:m="http://schemas.openxmlformats.org/officeDocument/2006/math">
                    <m:sSub>
                      <m:sSubPr>
                        <m:ctrlPr>
                          <a:rPr lang="en-US" sz="2500" i="1" smtClean="0">
                            <a:latin typeface="Cambria Math" panose="02040503050406030204" pitchFamily="18" charset="0"/>
                          </a:rPr>
                        </m:ctrlPr>
                      </m:sSubPr>
                      <m:e>
                        <m:r>
                          <a:rPr lang="en-US" sz="2500" b="0" i="1" smtClean="0">
                            <a:latin typeface="Cambria Math" panose="02040503050406030204" pitchFamily="18" charset="0"/>
                          </a:rPr>
                          <m:t>𝑀</m:t>
                        </m:r>
                      </m:e>
                      <m:sub>
                        <m:r>
                          <a:rPr lang="en-US" sz="2500" b="0" i="1" smtClean="0">
                            <a:latin typeface="Cambria Math" panose="02040503050406030204" pitchFamily="18" charset="0"/>
                          </a:rPr>
                          <m:t>𝑈</m:t>
                        </m:r>
                      </m:sub>
                    </m:sSub>
                  </m:oMath>
                </a14:m>
                <a:r>
                  <a:rPr lang="en-US" sz="2500" dirty="0"/>
                  <a:t> requires the following measurements: </a:t>
                </a:r>
              </a:p>
              <a:p>
                <a:pPr marL="1976119" lvl="4" indent="-302260">
                  <a:lnSpc>
                    <a:spcPct val="200000"/>
                  </a:lnSpc>
                  <a:buFont typeface="Arial"/>
                  <a:buChar char="•"/>
                </a:pPr>
                <a14:m>
                  <m:oMath xmlns:m="http://schemas.openxmlformats.org/officeDocument/2006/math">
                    <m:sSub>
                      <m:sSubPr>
                        <m:ctrlPr>
                          <a:rPr lang="en-US" sz="2500" i="1">
                            <a:latin typeface="Cambria Math" panose="02040503050406030204" pitchFamily="18" charset="0"/>
                          </a:rPr>
                        </m:ctrlPr>
                      </m:sSubPr>
                      <m:e>
                        <m:r>
                          <a:rPr lang="en-US" sz="2500" b="0" i="1" smtClean="0">
                            <a:latin typeface="Cambria Math" panose="02040503050406030204" pitchFamily="18" charset="0"/>
                          </a:rPr>
                          <m:t>𝑈</m:t>
                        </m:r>
                      </m:e>
                      <m:sub>
                        <m:r>
                          <a:rPr lang="en-US" sz="2500" b="0" i="1" smtClean="0">
                            <a:latin typeface="Cambria Math" panose="02040503050406030204" pitchFamily="18" charset="0"/>
                          </a:rPr>
                          <m:t>𝑠</m:t>
                        </m:r>
                      </m:sub>
                    </m:sSub>
                  </m:oMath>
                </a14:m>
                <a:r>
                  <a:rPr lang="en-US" sz="2500" dirty="0"/>
                  <a:t> : the measured regular transmitted power of the sample.</a:t>
                </a:r>
              </a:p>
              <a:p>
                <a:pPr marL="1976119" lvl="4" indent="-302260">
                  <a:lnSpc>
                    <a:spcPct val="200000"/>
                  </a:lnSpc>
                  <a:buFont typeface="Arial"/>
                  <a:buChar char="•"/>
                </a:pPr>
                <a14:m>
                  <m:oMath xmlns:m="http://schemas.openxmlformats.org/officeDocument/2006/math">
                    <m:sSub>
                      <m:sSubPr>
                        <m:ctrlPr>
                          <a:rPr lang="en-US" sz="2500" i="1">
                            <a:latin typeface="Cambria Math" panose="02040503050406030204" pitchFamily="18" charset="0"/>
                          </a:rPr>
                        </m:ctrlPr>
                      </m:sSubPr>
                      <m:e>
                        <m:r>
                          <a:rPr lang="en-US" sz="2500" i="1">
                            <a:latin typeface="Cambria Math" panose="02040503050406030204" pitchFamily="18" charset="0"/>
                          </a:rPr>
                          <m:t>𝑈</m:t>
                        </m:r>
                      </m:e>
                      <m:sub>
                        <m:r>
                          <a:rPr lang="en-US" sz="2500" b="0" i="1" smtClean="0">
                            <a:latin typeface="Cambria Math" panose="02040503050406030204" pitchFamily="18" charset="0"/>
                          </a:rPr>
                          <m:t>0</m:t>
                        </m:r>
                      </m:sub>
                    </m:sSub>
                  </m:oMath>
                </a14:m>
                <a:r>
                  <a:rPr lang="en-US" sz="2500" dirty="0"/>
                  <a:t> : the measured transmitted power with the aperture closed. </a:t>
                </a:r>
              </a:p>
              <a:p>
                <a:pPr marL="1976119" lvl="4" indent="-302260">
                  <a:lnSpc>
                    <a:spcPct val="200000"/>
                  </a:lnSpc>
                  <a:buFont typeface="Arial"/>
                  <a:buChar char="•"/>
                </a:pPr>
                <a14:m>
                  <m:oMath xmlns:m="http://schemas.openxmlformats.org/officeDocument/2006/math">
                    <m:sSub>
                      <m:sSubPr>
                        <m:ctrlPr>
                          <a:rPr lang="en-US" sz="2500" i="1">
                            <a:latin typeface="Cambria Math" panose="02040503050406030204" pitchFamily="18" charset="0"/>
                          </a:rPr>
                        </m:ctrlPr>
                      </m:sSubPr>
                      <m:e>
                        <m:r>
                          <a:rPr lang="en-US" sz="2500" i="1">
                            <a:latin typeface="Cambria Math" panose="02040503050406030204" pitchFamily="18" charset="0"/>
                          </a:rPr>
                          <m:t>𝑈</m:t>
                        </m:r>
                      </m:e>
                      <m:sub>
                        <m:r>
                          <a:rPr lang="en-US" sz="2500" b="0" i="1" smtClean="0">
                            <a:latin typeface="Cambria Math" panose="02040503050406030204" pitchFamily="18" charset="0"/>
                          </a:rPr>
                          <m:t>100</m:t>
                        </m:r>
                      </m:sub>
                    </m:sSub>
                  </m:oMath>
                </a14:m>
                <a:r>
                  <a:rPr lang="en-US" sz="2500" dirty="0"/>
                  <a:t> : the measured regular transmitted power of the unabated laser.</a:t>
                </a:r>
              </a:p>
              <a:p>
                <a:pPr marL="604519" lvl="1" indent="-302260">
                  <a:lnSpc>
                    <a:spcPct val="200000"/>
                  </a:lnSpc>
                  <a:buFont typeface="Arial"/>
                  <a:buChar char="•"/>
                </a:pPr>
                <a14:m>
                  <m:oMath xmlns:m="http://schemas.openxmlformats.org/officeDocument/2006/math">
                    <m:sSub>
                      <m:sSubPr>
                        <m:ctrlPr>
                          <a:rPr lang="en-US" sz="2500" i="1">
                            <a:latin typeface="Cambria Math" panose="02040503050406030204" pitchFamily="18" charset="0"/>
                          </a:rPr>
                        </m:ctrlPr>
                      </m:sSubPr>
                      <m:e>
                        <m:r>
                          <a:rPr lang="en-US" sz="2500" b="0" i="1" smtClean="0">
                            <a:latin typeface="Cambria Math" panose="02040503050406030204" pitchFamily="18" charset="0"/>
                          </a:rPr>
                          <m:t>𝑈</m:t>
                        </m:r>
                      </m:e>
                      <m:sub>
                        <m:r>
                          <a:rPr lang="en-US" sz="2500" b="0" i="1" smtClean="0">
                            <a:latin typeface="Cambria Math" panose="02040503050406030204" pitchFamily="18" charset="0"/>
                          </a:rPr>
                          <m:t>0</m:t>
                        </m:r>
                      </m:sub>
                    </m:sSub>
                  </m:oMath>
                </a14:m>
                <a:r>
                  <a:rPr lang="en-US" sz="2500" dirty="0"/>
                  <a:t> is not always 0 because of external lighting and noise from the detector itself.</a:t>
                </a:r>
              </a:p>
              <a:p>
                <a:pPr marL="604519" lvl="1" indent="-302260">
                  <a:lnSpc>
                    <a:spcPct val="200000"/>
                  </a:lnSpc>
                  <a:buFont typeface="Arial"/>
                  <a:buChar char="•"/>
                </a:pPr>
                <a:r>
                  <a:rPr lang="en-US" sz="2500" dirty="0"/>
                  <a:t>In practice, Mu is difficult to determine accurately due to the massive difference in </a:t>
                </a:r>
                <a14:m>
                  <m:oMath xmlns:m="http://schemas.openxmlformats.org/officeDocument/2006/math">
                    <m:sSub>
                      <m:sSubPr>
                        <m:ctrlPr>
                          <a:rPr lang="en-US" sz="2500" i="1">
                            <a:latin typeface="Cambria Math" panose="02040503050406030204" pitchFamily="18" charset="0"/>
                          </a:rPr>
                        </m:ctrlPr>
                      </m:sSubPr>
                      <m:e>
                        <m:r>
                          <a:rPr lang="en-US" sz="2500" i="1">
                            <a:latin typeface="Cambria Math" panose="02040503050406030204" pitchFamily="18" charset="0"/>
                          </a:rPr>
                          <m:t>𝑈</m:t>
                        </m:r>
                      </m:e>
                      <m:sub>
                        <m:r>
                          <a:rPr lang="en-US" sz="2500" i="1">
                            <a:latin typeface="Cambria Math" panose="02040503050406030204" pitchFamily="18" charset="0"/>
                          </a:rPr>
                          <m:t>100</m:t>
                        </m:r>
                      </m:sub>
                    </m:sSub>
                  </m:oMath>
                </a14:m>
                <a:r>
                  <a:rPr lang="en-US" sz="2500" dirty="0"/>
                  <a:t> and </a:t>
                </a:r>
                <a14:m>
                  <m:oMath xmlns:m="http://schemas.openxmlformats.org/officeDocument/2006/math">
                    <m:sSub>
                      <m:sSubPr>
                        <m:ctrlPr>
                          <a:rPr lang="en-US" sz="2500" i="1">
                            <a:latin typeface="Cambria Math" panose="02040503050406030204" pitchFamily="18" charset="0"/>
                          </a:rPr>
                        </m:ctrlPr>
                      </m:sSubPr>
                      <m:e>
                        <m:r>
                          <a:rPr lang="en-US" sz="2500" i="1">
                            <a:latin typeface="Cambria Math" panose="02040503050406030204" pitchFamily="18" charset="0"/>
                          </a:rPr>
                          <m:t>𝑈</m:t>
                        </m:r>
                      </m:e>
                      <m:sub>
                        <m:r>
                          <a:rPr lang="en-US" sz="2500" b="0" i="1" smtClean="0">
                            <a:latin typeface="Cambria Math" panose="02040503050406030204" pitchFamily="18" charset="0"/>
                          </a:rPr>
                          <m:t>0</m:t>
                        </m:r>
                      </m:sub>
                    </m:sSub>
                    <m:r>
                      <a:rPr lang="en-US" sz="2500" b="0" i="1" smtClean="0">
                        <a:latin typeface="Cambria Math" panose="02040503050406030204" pitchFamily="18" charset="0"/>
                      </a:rPr>
                      <m:t>.</m:t>
                    </m:r>
                  </m:oMath>
                </a14:m>
                <a:r>
                  <a:rPr lang="en-US" sz="2500" dirty="0"/>
                  <a:t> </a:t>
                </a:r>
              </a:p>
              <a:p>
                <a:pPr marL="302259" lvl="1">
                  <a:lnSpc>
                    <a:spcPct val="200000"/>
                  </a:lnSpc>
                </a:pPr>
                <a:endParaRPr lang="en-US" sz="2500" dirty="0"/>
              </a:p>
              <a:p>
                <a:pPr marL="604519" lvl="1" indent="-302260">
                  <a:lnSpc>
                    <a:spcPct val="200000"/>
                  </a:lnSpc>
                  <a:buFont typeface="Arial"/>
                  <a:buChar char="•"/>
                </a:pPr>
                <a:endParaRPr lang="en-US" sz="2500" dirty="0"/>
              </a:p>
            </p:txBody>
          </p:sp>
        </mc:Choice>
        <mc:Fallback xmlns="">
          <p:sp>
            <p:nvSpPr>
              <p:cNvPr id="8" name="TextBox 8">
                <a:extLst>
                  <a:ext uri="{FF2B5EF4-FFF2-40B4-BE49-F238E27FC236}">
                    <a16:creationId xmlns:a16="http://schemas.microsoft.com/office/drawing/2014/main" id="{00F6E17F-7CCB-997F-9B15-B113D2604EB0}"/>
                  </a:ext>
                </a:extLst>
              </p:cNvPr>
              <p:cNvSpPr txBox="1">
                <a:spLocks noRot="1" noChangeAspect="1" noMove="1" noResize="1" noEditPoints="1" noAdjustHandles="1" noChangeArrowheads="1" noChangeShapeType="1" noTextEdit="1"/>
              </p:cNvSpPr>
              <p:nvPr/>
            </p:nvSpPr>
            <p:spPr>
              <a:xfrm>
                <a:off x="866384" y="1409700"/>
                <a:ext cx="16541583" cy="6624891"/>
              </a:xfrm>
              <a:prstGeom prst="rect">
                <a:avLst/>
              </a:prstGeom>
              <a:blipFill>
                <a:blip r:embed="rId3"/>
                <a:stretch>
                  <a:fillRect t="-3036"/>
                </a:stretch>
              </a:blipFill>
            </p:spPr>
            <p:txBody>
              <a:bodyPr/>
              <a:lstStyle/>
              <a:p>
                <a:r>
                  <a:rPr lang="en-US">
                    <a:noFill/>
                  </a:rPr>
                  <a:t> </a:t>
                </a:r>
              </a:p>
            </p:txBody>
          </p:sp>
        </mc:Fallback>
      </mc:AlternateContent>
    </p:spTree>
    <p:extLst>
      <p:ext uri="{BB962C8B-B14F-4D97-AF65-F5344CB8AC3E}">
        <p14:creationId xmlns:p14="http://schemas.microsoft.com/office/powerpoint/2010/main" val="25216815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C02F50-5EA0-6166-3BD5-BEA0EA3063DB}"/>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A8857E4B-E3A4-6A24-0359-4EA2758AB5A6}"/>
              </a:ext>
            </a:extLst>
          </p:cNvPr>
          <p:cNvSpPr/>
          <p:nvPr/>
        </p:nvSpPr>
        <p:spPr>
          <a:xfrm>
            <a:off x="-6824"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3">
              <a:alphaModFix amt="50000"/>
            </a:blip>
            <a:stretch>
              <a:fillRect/>
            </a:stretch>
          </a:blipFill>
          <a:ln cap="sq">
            <a:noFill/>
            <a:prstDash val="solid"/>
            <a:miter/>
          </a:ln>
        </p:spPr>
        <p:txBody>
          <a:bodyPr/>
          <a:lstStyle/>
          <a:p>
            <a:endParaRPr lang="en-US" dirty="0"/>
          </a:p>
        </p:txBody>
      </p:sp>
      <p:sp>
        <p:nvSpPr>
          <p:cNvPr id="3" name="AutoShape 3">
            <a:extLst>
              <a:ext uri="{FF2B5EF4-FFF2-40B4-BE49-F238E27FC236}">
                <a16:creationId xmlns:a16="http://schemas.microsoft.com/office/drawing/2014/main" id="{F733EE07-388D-D199-27FE-AC21C1A8C318}"/>
              </a:ext>
            </a:extLst>
          </p:cNvPr>
          <p:cNvSpPr/>
          <p:nvPr/>
        </p:nvSpPr>
        <p:spPr>
          <a:xfrm>
            <a:off x="1166399" y="1028700"/>
            <a:ext cx="687324" cy="0"/>
          </a:xfrm>
          <a:prstGeom prst="line">
            <a:avLst/>
          </a:prstGeom>
          <a:ln w="76200" cap="flat">
            <a:solidFill>
              <a:srgbClr val="000000"/>
            </a:solidFill>
            <a:prstDash val="solid"/>
            <a:headEnd type="none" w="sm" len="sm"/>
            <a:tailEnd type="none" w="sm" len="sm"/>
          </a:ln>
        </p:spPr>
        <p:txBody>
          <a:bodyPr/>
          <a:lstStyle/>
          <a:p>
            <a:endParaRPr lang="en-US" dirty="0"/>
          </a:p>
        </p:txBody>
      </p:sp>
      <mc:AlternateContent xmlns:mc="http://schemas.openxmlformats.org/markup-compatibility/2006" xmlns:a14="http://schemas.microsoft.com/office/drawing/2010/main">
        <mc:Choice Requires="a14">
          <p:sp>
            <p:nvSpPr>
              <p:cNvPr id="8" name="TextBox 8">
                <a:extLst>
                  <a:ext uri="{FF2B5EF4-FFF2-40B4-BE49-F238E27FC236}">
                    <a16:creationId xmlns:a16="http://schemas.microsoft.com/office/drawing/2014/main" id="{6FCAEF45-4073-39CD-06D3-E1753553A3A8}"/>
                  </a:ext>
                </a:extLst>
              </p:cNvPr>
              <p:cNvSpPr txBox="1"/>
              <p:nvPr/>
            </p:nvSpPr>
            <p:spPr>
              <a:xfrm>
                <a:off x="866384" y="1471912"/>
                <a:ext cx="16541583" cy="1731243"/>
              </a:xfrm>
              <a:prstGeom prst="rect">
                <a:avLst/>
              </a:prstGeom>
            </p:spPr>
            <p:txBody>
              <a:bodyPr wrap="square" lIns="0" tIns="0" rIns="0" bIns="0" rtlCol="0" anchor="t">
                <a:spAutoFit/>
              </a:bodyPr>
              <a:lstStyle/>
              <a:p>
                <a:pPr marL="302259" lvl="1">
                  <a:lnSpc>
                    <a:spcPts val="4479"/>
                  </a:lnSpc>
                </a:pPr>
                <a:r>
                  <a:rPr lang="en-US" sz="4000" b="1" dirty="0">
                    <a:solidFill>
                      <a:srgbClr val="000000"/>
                    </a:solidFill>
                    <a:latin typeface="Times New Roman" panose="02020603050405020304" pitchFamily="18" charset="0"/>
                    <a:cs typeface="Times New Roman" panose="02020603050405020304" pitchFamily="18" charset="0"/>
                    <a:sym typeface="Open Sauce"/>
                  </a:rPr>
                  <a:t>Integrating Sphere measurement (Transmittance) </a:t>
                </a:r>
              </a:p>
              <a:p>
                <a:pPr marL="302259" lvl="1">
                  <a:lnSpc>
                    <a:spcPts val="4479"/>
                  </a:lnSpc>
                </a:pPr>
                <a:endParaRPr lang="en-US" sz="4000" b="1" dirty="0">
                  <a:solidFill>
                    <a:srgbClr val="000000"/>
                  </a:solidFill>
                  <a:latin typeface="Times New Roman" panose="02020603050405020304" pitchFamily="18" charset="0"/>
                  <a:cs typeface="Times New Roman" panose="02020603050405020304" pitchFamily="18" charset="0"/>
                  <a:sym typeface="Open Sauce"/>
                </a:endParaRPr>
              </a:p>
              <a:p>
                <a:pPr marL="302259" lvl="1">
                  <a:lnSpc>
                    <a:spcPts val="4479"/>
                  </a:lnSpc>
                </a:pPr>
                <a14:m>
                  <m:oMathPara xmlns:m="http://schemas.openxmlformats.org/officeDocument/2006/math">
                    <m:oMathParaPr>
                      <m:jc m:val="centerGroup"/>
                    </m:oMathParaPr>
                    <m:oMath xmlns:m="http://schemas.openxmlformats.org/officeDocument/2006/math">
                      <m:sSub>
                        <m:sSubPr>
                          <m:ctrlPr>
                            <a:rPr lang="en-US" sz="2500" i="1">
                              <a:latin typeface="Cambria Math" panose="02040503050406030204" pitchFamily="18" charset="0"/>
                            </a:rPr>
                          </m:ctrlPr>
                        </m:sSubPr>
                        <m:e>
                          <m:r>
                            <a:rPr lang="en-US" sz="2500" i="1">
                              <a:latin typeface="Cambria Math" panose="02040503050406030204" pitchFamily="18" charset="0"/>
                            </a:rPr>
                            <m:t>𝑀</m:t>
                          </m:r>
                        </m:e>
                        <m:sub>
                          <m:r>
                            <a:rPr lang="en-US" sz="2500" b="0" i="1" smtClean="0">
                              <a:latin typeface="Cambria Math" panose="02040503050406030204" pitchFamily="18" charset="0"/>
                            </a:rPr>
                            <m:t>𝑈</m:t>
                          </m:r>
                        </m:sub>
                      </m:sSub>
                      <m:r>
                        <a:rPr lang="en-US" sz="2500" b="0" i="1" smtClean="0">
                          <a:latin typeface="Cambria Math" panose="02040503050406030204" pitchFamily="18" charset="0"/>
                        </a:rPr>
                        <m:t>=</m:t>
                      </m:r>
                      <m:f>
                        <m:fPr>
                          <m:ctrlPr>
                            <a:rPr lang="en-US" sz="2500" i="1" smtClean="0">
                              <a:latin typeface="Cambria Math" panose="02040503050406030204" pitchFamily="18" charset="0"/>
                            </a:rPr>
                          </m:ctrlPr>
                        </m:fPr>
                        <m:num>
                          <m:sSub>
                            <m:sSubPr>
                              <m:ctrlPr>
                                <a:rPr lang="en-US" sz="2500" i="1">
                                  <a:latin typeface="Cambria Math" panose="02040503050406030204" pitchFamily="18" charset="0"/>
                                </a:rPr>
                              </m:ctrlPr>
                            </m:sSubPr>
                            <m:e>
                              <m:r>
                                <a:rPr lang="en-US" sz="2500" i="1">
                                  <a:latin typeface="Cambria Math" panose="02040503050406030204" pitchFamily="18" charset="0"/>
                                </a:rPr>
                                <m:t> </m:t>
                              </m:r>
                              <m:r>
                                <a:rPr lang="en-US" sz="2500" i="1">
                                  <a:latin typeface="Cambria Math" panose="02040503050406030204" pitchFamily="18" charset="0"/>
                                </a:rPr>
                                <m:t>𝑈</m:t>
                              </m:r>
                            </m:e>
                            <m:sub>
                              <m:r>
                                <a:rPr lang="en-US" sz="2500" b="0" i="1" smtClean="0">
                                  <a:latin typeface="Cambria Math" panose="02040503050406030204" pitchFamily="18" charset="0"/>
                                </a:rPr>
                                <m:t>𝑠</m:t>
                              </m:r>
                              <m:r>
                                <a:rPr lang="en-US" sz="2500" b="0" i="1" smtClean="0">
                                  <a:latin typeface="Cambria Math" panose="02040503050406030204" pitchFamily="18" charset="0"/>
                                </a:rPr>
                                <m:t> </m:t>
                              </m:r>
                            </m:sub>
                          </m:sSub>
                          <m:r>
                            <m:rPr>
                              <m:nor/>
                            </m:rPr>
                            <a:rPr lang="en-US" sz="2500" i="0" dirty="0" smtClean="0"/>
                            <m:t>−</m:t>
                          </m:r>
                          <m:sSub>
                            <m:sSubPr>
                              <m:ctrlPr>
                                <a:rPr lang="en-US" sz="2500" i="1">
                                  <a:latin typeface="Cambria Math" panose="02040503050406030204" pitchFamily="18" charset="0"/>
                                </a:rPr>
                              </m:ctrlPr>
                            </m:sSubPr>
                            <m:e>
                              <m:r>
                                <a:rPr lang="en-US" sz="2500" b="0" i="1" smtClean="0">
                                  <a:latin typeface="Cambria Math" panose="02040503050406030204" pitchFamily="18" charset="0"/>
                                </a:rPr>
                                <m:t> </m:t>
                              </m:r>
                              <m:r>
                                <a:rPr lang="en-US" sz="2500" b="0" i="1" smtClean="0">
                                  <a:latin typeface="Cambria Math" panose="02040503050406030204" pitchFamily="18" charset="0"/>
                                </a:rPr>
                                <m:t>𝑈</m:t>
                              </m:r>
                            </m:e>
                            <m:sub>
                              <m:r>
                                <a:rPr lang="en-US" sz="2500" b="0" i="1" smtClean="0">
                                  <a:latin typeface="Cambria Math" panose="02040503050406030204" pitchFamily="18" charset="0"/>
                                </a:rPr>
                                <m:t>0</m:t>
                              </m:r>
                            </m:sub>
                          </m:sSub>
                        </m:num>
                        <m:den>
                          <m:sSub>
                            <m:sSubPr>
                              <m:ctrlPr>
                                <a:rPr lang="en-US" sz="2500" i="1">
                                  <a:latin typeface="Cambria Math" panose="02040503050406030204" pitchFamily="18" charset="0"/>
                                </a:rPr>
                              </m:ctrlPr>
                            </m:sSubPr>
                            <m:e>
                              <m:r>
                                <a:rPr lang="en-US" sz="2500" i="1">
                                  <a:latin typeface="Cambria Math" panose="02040503050406030204" pitchFamily="18" charset="0"/>
                                </a:rPr>
                                <m:t> </m:t>
                              </m:r>
                              <m:r>
                                <a:rPr lang="en-US" sz="2500" i="1">
                                  <a:latin typeface="Cambria Math" panose="02040503050406030204" pitchFamily="18" charset="0"/>
                                </a:rPr>
                                <m:t>𝑈</m:t>
                              </m:r>
                            </m:e>
                            <m:sub>
                              <m:r>
                                <a:rPr lang="en-US" sz="2500" b="0" i="1" smtClean="0">
                                  <a:latin typeface="Cambria Math" panose="02040503050406030204" pitchFamily="18" charset="0"/>
                                </a:rPr>
                                <m:t>100</m:t>
                              </m:r>
                            </m:sub>
                          </m:sSub>
                          <m:r>
                            <m:rPr>
                              <m:nor/>
                            </m:rPr>
                            <a:rPr lang="en-US" sz="2500" b="0" i="0" smtClean="0">
                              <a:latin typeface="Cambria Math" panose="02040503050406030204" pitchFamily="18" charset="0"/>
                            </a:rPr>
                            <m:t> −</m:t>
                          </m:r>
                          <m:sSub>
                            <m:sSubPr>
                              <m:ctrlPr>
                                <a:rPr lang="en-US" sz="2500" i="1">
                                  <a:latin typeface="Cambria Math" panose="02040503050406030204" pitchFamily="18" charset="0"/>
                                </a:rPr>
                              </m:ctrlPr>
                            </m:sSubPr>
                            <m:e>
                              <m:r>
                                <a:rPr lang="en-US" sz="2500" i="1">
                                  <a:latin typeface="Cambria Math" panose="02040503050406030204" pitchFamily="18" charset="0"/>
                                </a:rPr>
                                <m:t> </m:t>
                              </m:r>
                              <m:r>
                                <a:rPr lang="en-US" sz="2500" i="1">
                                  <a:latin typeface="Cambria Math" panose="02040503050406030204" pitchFamily="18" charset="0"/>
                                </a:rPr>
                                <m:t>𝑈</m:t>
                              </m:r>
                            </m:e>
                            <m:sub>
                              <m:r>
                                <a:rPr lang="en-US" sz="2500" i="1">
                                  <a:latin typeface="Cambria Math" panose="02040503050406030204" pitchFamily="18" charset="0"/>
                                </a:rPr>
                                <m:t>0</m:t>
                              </m:r>
                            </m:sub>
                          </m:sSub>
                        </m:den>
                      </m:f>
                    </m:oMath>
                  </m:oMathPara>
                </a14:m>
                <a:endParaRPr lang="en-US" sz="2500" dirty="0"/>
              </a:p>
            </p:txBody>
          </p:sp>
        </mc:Choice>
        <mc:Fallback xmlns="">
          <p:sp>
            <p:nvSpPr>
              <p:cNvPr id="8" name="TextBox 8">
                <a:extLst>
                  <a:ext uri="{FF2B5EF4-FFF2-40B4-BE49-F238E27FC236}">
                    <a16:creationId xmlns:a16="http://schemas.microsoft.com/office/drawing/2014/main" id="{6FCAEF45-4073-39CD-06D3-E1753553A3A8}"/>
                  </a:ext>
                </a:extLst>
              </p:cNvPr>
              <p:cNvSpPr txBox="1">
                <a:spLocks noRot="1" noChangeAspect="1" noMove="1" noResize="1" noEditPoints="1" noAdjustHandles="1" noChangeArrowheads="1" noChangeShapeType="1" noTextEdit="1"/>
              </p:cNvSpPr>
              <p:nvPr/>
            </p:nvSpPr>
            <p:spPr>
              <a:xfrm>
                <a:off x="866384" y="1471912"/>
                <a:ext cx="16541583" cy="1731243"/>
              </a:xfrm>
              <a:prstGeom prst="rect">
                <a:avLst/>
              </a:prstGeom>
              <a:blipFill>
                <a:blip r:embed="rId4"/>
                <a:stretch>
                  <a:fillRect t="-10915" b="-669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5E446627-3694-3AD0-1069-921E8CB8E92A}"/>
                  </a:ext>
                </a:extLst>
              </p:cNvPr>
              <p:cNvSpPr txBox="1"/>
              <p:nvPr/>
            </p:nvSpPr>
            <p:spPr>
              <a:xfrm>
                <a:off x="4731289" y="8596153"/>
                <a:ext cx="8811771" cy="369332"/>
              </a:xfrm>
              <a:prstGeom prst="rect">
                <a:avLst/>
              </a:prstGeom>
              <a:noFill/>
            </p:spPr>
            <p:txBody>
              <a:bodyPr wrap="none" rtlCol="0">
                <a:spAutoFit/>
              </a:bodyPr>
              <a:lstStyle/>
              <a:p>
                <a:r>
                  <a:rPr lang="en-US" dirty="0"/>
                  <a:t>Fig. Configurations necessary to make the measurements required for the calculation of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𝑀</m:t>
                        </m:r>
                      </m:e>
                      <m:sub>
                        <m:r>
                          <a:rPr lang="en-US" b="0" i="1" smtClean="0">
                            <a:latin typeface="Cambria Math" panose="02040503050406030204" pitchFamily="18" charset="0"/>
                          </a:rPr>
                          <m:t>𝑈</m:t>
                        </m:r>
                      </m:sub>
                    </m:sSub>
                  </m:oMath>
                </a14:m>
                <a:r>
                  <a:rPr lang="en-US" dirty="0"/>
                  <a:t> </a:t>
                </a:r>
              </a:p>
            </p:txBody>
          </p:sp>
        </mc:Choice>
        <mc:Fallback xmlns="">
          <p:sp>
            <p:nvSpPr>
              <p:cNvPr id="7" name="TextBox 6">
                <a:extLst>
                  <a:ext uri="{FF2B5EF4-FFF2-40B4-BE49-F238E27FC236}">
                    <a16:creationId xmlns:a16="http://schemas.microsoft.com/office/drawing/2014/main" id="{5E446627-3694-3AD0-1069-921E8CB8E92A}"/>
                  </a:ext>
                </a:extLst>
              </p:cNvPr>
              <p:cNvSpPr txBox="1">
                <a:spLocks noRot="1" noChangeAspect="1" noMove="1" noResize="1" noEditPoints="1" noAdjustHandles="1" noChangeArrowheads="1" noChangeShapeType="1" noTextEdit="1"/>
              </p:cNvSpPr>
              <p:nvPr/>
            </p:nvSpPr>
            <p:spPr>
              <a:xfrm>
                <a:off x="4731289" y="8596153"/>
                <a:ext cx="8811771" cy="369332"/>
              </a:xfrm>
              <a:prstGeom prst="rect">
                <a:avLst/>
              </a:prstGeom>
              <a:blipFill>
                <a:blip r:embed="rId5"/>
                <a:stretch>
                  <a:fillRect l="-553" t="-8197" b="-24590"/>
                </a:stretch>
              </a:blipFill>
            </p:spPr>
            <p:txBody>
              <a:bodyPr/>
              <a:lstStyle/>
              <a:p>
                <a:r>
                  <a:rPr lang="en-US">
                    <a:noFill/>
                  </a:rPr>
                  <a:t> </a:t>
                </a:r>
              </a:p>
            </p:txBody>
          </p:sp>
        </mc:Fallback>
      </mc:AlternateContent>
      <p:pic>
        <p:nvPicPr>
          <p:cNvPr id="6" name="Picture 5">
            <a:extLst>
              <a:ext uri="{FF2B5EF4-FFF2-40B4-BE49-F238E27FC236}">
                <a16:creationId xmlns:a16="http://schemas.microsoft.com/office/drawing/2014/main" id="{E6670717-DEE5-2B2B-64D1-6E536C867405}"/>
              </a:ext>
            </a:extLst>
          </p:cNvPr>
          <p:cNvPicPr>
            <a:picLocks noChangeAspect="1"/>
          </p:cNvPicPr>
          <p:nvPr/>
        </p:nvPicPr>
        <p:blipFill>
          <a:blip r:embed="rId6"/>
          <a:stretch>
            <a:fillRect/>
          </a:stretch>
        </p:blipFill>
        <p:spPr>
          <a:xfrm>
            <a:off x="1733417" y="3771900"/>
            <a:ext cx="14807516" cy="4624840"/>
          </a:xfrm>
          <a:prstGeom prst="rect">
            <a:avLst/>
          </a:prstGeom>
        </p:spPr>
      </p:pic>
    </p:spTree>
    <p:extLst>
      <p:ext uri="{BB962C8B-B14F-4D97-AF65-F5344CB8AC3E}">
        <p14:creationId xmlns:p14="http://schemas.microsoft.com/office/powerpoint/2010/main" val="366458864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6217FA-0DC4-1421-8B3B-1C593365B711}"/>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9373026C-23AE-714E-D433-E66E773C4AEF}"/>
              </a:ext>
            </a:extLst>
          </p:cNvPr>
          <p:cNvSpPr/>
          <p:nvPr/>
        </p:nvSpPr>
        <p:spPr>
          <a:xfrm>
            <a:off x="-6824"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alphaModFix amt="50000"/>
            </a:blip>
            <a:stretch>
              <a:fillRect/>
            </a:stretch>
          </a:blipFill>
          <a:ln cap="sq">
            <a:noFill/>
            <a:prstDash val="solid"/>
            <a:miter/>
          </a:ln>
        </p:spPr>
        <p:txBody>
          <a:bodyPr/>
          <a:lstStyle/>
          <a:p>
            <a:endParaRPr lang="en-US" dirty="0"/>
          </a:p>
        </p:txBody>
      </p:sp>
      <p:sp>
        <p:nvSpPr>
          <p:cNvPr id="3" name="AutoShape 3">
            <a:extLst>
              <a:ext uri="{FF2B5EF4-FFF2-40B4-BE49-F238E27FC236}">
                <a16:creationId xmlns:a16="http://schemas.microsoft.com/office/drawing/2014/main" id="{EB224D95-6794-0E31-C71E-10CF1F712FE2}"/>
              </a:ext>
            </a:extLst>
          </p:cNvPr>
          <p:cNvSpPr/>
          <p:nvPr/>
        </p:nvSpPr>
        <p:spPr>
          <a:xfrm>
            <a:off x="1166399" y="1028700"/>
            <a:ext cx="687324" cy="0"/>
          </a:xfrm>
          <a:prstGeom prst="line">
            <a:avLst/>
          </a:prstGeom>
          <a:ln w="76200" cap="flat">
            <a:solidFill>
              <a:srgbClr val="000000"/>
            </a:solidFill>
            <a:prstDash val="solid"/>
            <a:headEnd type="none" w="sm" len="sm"/>
            <a:tailEnd type="none" w="sm" len="sm"/>
          </a:ln>
        </p:spPr>
        <p:txBody>
          <a:bodyPr/>
          <a:lstStyle/>
          <a:p>
            <a:endParaRPr lang="en-US" dirty="0"/>
          </a:p>
        </p:txBody>
      </p:sp>
      <mc:AlternateContent xmlns:mc="http://schemas.openxmlformats.org/markup-compatibility/2006" xmlns:a14="http://schemas.microsoft.com/office/drawing/2010/main">
        <mc:Choice Requires="a14">
          <p:sp>
            <p:nvSpPr>
              <p:cNvPr id="8" name="TextBox 8">
                <a:extLst>
                  <a:ext uri="{FF2B5EF4-FFF2-40B4-BE49-F238E27FC236}">
                    <a16:creationId xmlns:a16="http://schemas.microsoft.com/office/drawing/2014/main" id="{CA5DC404-0092-71B2-3BD0-FA45B083C30B}"/>
                  </a:ext>
                </a:extLst>
              </p:cNvPr>
              <p:cNvSpPr txBox="1"/>
              <p:nvPr/>
            </p:nvSpPr>
            <p:spPr>
              <a:xfrm>
                <a:off x="762000" y="1638300"/>
                <a:ext cx="16541583" cy="8239435"/>
              </a:xfrm>
              <a:prstGeom prst="rect">
                <a:avLst/>
              </a:prstGeom>
            </p:spPr>
            <p:txBody>
              <a:bodyPr wrap="square" lIns="0" tIns="0" rIns="0" bIns="0" rtlCol="0" anchor="t">
                <a:spAutoFit/>
              </a:bodyPr>
              <a:lstStyle/>
              <a:p>
                <a:pPr marL="302259" lvl="1">
                  <a:lnSpc>
                    <a:spcPts val="4479"/>
                  </a:lnSpc>
                </a:pPr>
                <a:r>
                  <a:rPr lang="en-US" sz="4000" b="1" dirty="0">
                    <a:solidFill>
                      <a:srgbClr val="000000"/>
                    </a:solidFill>
                    <a:latin typeface="Times New Roman" panose="02020603050405020304" pitchFamily="18" charset="0"/>
                    <a:cs typeface="Times New Roman" panose="02020603050405020304" pitchFamily="18" charset="0"/>
                    <a:sym typeface="Open Sauce"/>
                  </a:rPr>
                  <a:t>Integrating Sphere measurement (Regular or </a:t>
                </a:r>
                <a:r>
                  <a:rPr lang="en-US" sz="4000" b="1" dirty="0" err="1">
                    <a:solidFill>
                      <a:srgbClr val="000000"/>
                    </a:solidFill>
                    <a:latin typeface="Times New Roman" panose="02020603050405020304" pitchFamily="18" charset="0"/>
                    <a:cs typeface="Times New Roman" panose="02020603050405020304" pitchFamily="18" charset="0"/>
                    <a:sym typeface="Open Sauce"/>
                  </a:rPr>
                  <a:t>unscattered</a:t>
                </a:r>
                <a:r>
                  <a:rPr lang="en-US" sz="4000" b="1" dirty="0">
                    <a:solidFill>
                      <a:srgbClr val="000000"/>
                    </a:solidFill>
                    <a:latin typeface="Times New Roman" panose="02020603050405020304" pitchFamily="18" charset="0"/>
                    <a:cs typeface="Times New Roman" panose="02020603050405020304" pitchFamily="18" charset="0"/>
                    <a:sym typeface="Open Sauce"/>
                  </a:rPr>
                  <a:t> transmittance) </a:t>
                </a:r>
                <a:endParaRPr lang="en-US" sz="2500" dirty="0">
                  <a:highlight>
                    <a:srgbClr val="FFFF00"/>
                  </a:highlight>
                </a:endParaRPr>
              </a:p>
              <a:p>
                <a:pPr marL="604519" lvl="1" indent="-302260">
                  <a:lnSpc>
                    <a:spcPct val="200000"/>
                  </a:lnSpc>
                  <a:buFont typeface="Arial"/>
                  <a:buChar char="•"/>
                </a:pPr>
                <a:r>
                  <a:rPr lang="en-US" sz="2500" dirty="0"/>
                  <a:t>The additional required values are:</a:t>
                </a:r>
              </a:p>
              <a:p>
                <a:pPr marL="1518919" lvl="3" indent="-302260">
                  <a:lnSpc>
                    <a:spcPct val="200000"/>
                  </a:lnSpc>
                  <a:buFont typeface="Arial"/>
                  <a:buChar char="•"/>
                </a:pPr>
                <a:r>
                  <a:rPr lang="en-US" sz="2500" dirty="0"/>
                  <a:t>The inner wall reflectance</a:t>
                </a:r>
              </a:p>
              <a:p>
                <a:pPr marL="1518919" lvl="3" indent="-302260">
                  <a:lnSpc>
                    <a:spcPct val="200000"/>
                  </a:lnSpc>
                  <a:buFont typeface="Arial"/>
                  <a:buChar char="•"/>
                </a:pPr>
                <a:r>
                  <a:rPr lang="en-US" sz="2500" dirty="0"/>
                  <a:t>Diameter of the sphere</a:t>
                </a:r>
              </a:p>
              <a:p>
                <a:pPr marL="1518919" lvl="3" indent="-302260">
                  <a:lnSpc>
                    <a:spcPct val="200000"/>
                  </a:lnSpc>
                  <a:buFont typeface="Arial"/>
                  <a:buChar char="•"/>
                </a:pPr>
                <a:r>
                  <a:rPr lang="en-US" sz="2500" dirty="0"/>
                  <a:t>Diameter of each port. </a:t>
                </a:r>
              </a:p>
              <a:p>
                <a:pPr marL="1518919" lvl="3" indent="-302260">
                  <a:lnSpc>
                    <a:spcPct val="200000"/>
                  </a:lnSpc>
                  <a:buFont typeface="Arial"/>
                  <a:buChar char="•"/>
                </a:pPr>
                <a:r>
                  <a:rPr lang="en-US" sz="2500" dirty="0"/>
                  <a:t>Maximum permissible polar angle measured from the central axis of the incident laser which will be use as a threshold for regular transmittance. </a:t>
                </a:r>
              </a:p>
              <a:p>
                <a:pPr marL="604519" lvl="1" indent="-302260">
                  <a:lnSpc>
                    <a:spcPct val="200000"/>
                  </a:lnSpc>
                  <a:buFont typeface="Arial"/>
                  <a:buChar char="•"/>
                </a:pPr>
                <a:r>
                  <a:rPr lang="en-US" sz="2500" dirty="0"/>
                  <a:t>The maximum permissible polar angle is </a:t>
                </a:r>
                <a14:m>
                  <m:oMath xmlns:m="http://schemas.openxmlformats.org/officeDocument/2006/math">
                    <m:sSub>
                      <m:sSubPr>
                        <m:ctrlPr>
                          <a:rPr lang="en-US" sz="2500" i="1">
                            <a:latin typeface="Cambria Math" panose="02040503050406030204" pitchFamily="18" charset="0"/>
                          </a:rPr>
                        </m:ctrlPr>
                      </m:sSubPr>
                      <m:e>
                        <m:r>
                          <a:rPr lang="en-US" sz="2500" i="1" smtClean="0">
                            <a:latin typeface="Cambria Math" panose="02040503050406030204" pitchFamily="18" charset="0"/>
                            <a:ea typeface="Cambria Math" panose="02040503050406030204" pitchFamily="18" charset="0"/>
                          </a:rPr>
                          <m:t>𝜃</m:t>
                        </m:r>
                      </m:e>
                      <m:sub>
                        <m:r>
                          <a:rPr lang="en-US" sz="2500" b="0" i="1" smtClean="0">
                            <a:latin typeface="Cambria Math" panose="02040503050406030204" pitchFamily="18" charset="0"/>
                          </a:rPr>
                          <m:t>𝑈</m:t>
                        </m:r>
                      </m:sub>
                    </m:sSub>
                    <m:r>
                      <a:rPr lang="en-US" sz="2500" i="1">
                        <a:latin typeface="Cambria Math" panose="02040503050406030204" pitchFamily="18" charset="0"/>
                      </a:rPr>
                      <m:t> </m:t>
                    </m:r>
                  </m:oMath>
                </a14:m>
                <a:r>
                  <a:rPr lang="en-US" sz="2500" dirty="0"/>
                  <a:t>and it is calculated from the aperture diameter, A, and the distance of the aperture from the sample, </a:t>
                </a:r>
                <a:r>
                  <a:rPr lang="en-US" sz="2500" i="1" dirty="0"/>
                  <a:t>l</a:t>
                </a:r>
                <a:r>
                  <a:rPr lang="en-US" sz="2500" dirty="0"/>
                  <a:t>. </a:t>
                </a:r>
              </a:p>
              <a:p>
                <a:pPr marL="302259" lvl="1">
                  <a:lnSpc>
                    <a:spcPct val="200000"/>
                  </a:lnSpc>
                </a:pPr>
                <a14:m>
                  <m:oMathPara xmlns:m="http://schemas.openxmlformats.org/officeDocument/2006/math">
                    <m:oMathParaPr>
                      <m:jc m:val="centerGroup"/>
                    </m:oMathParaPr>
                    <m:oMath xmlns:m="http://schemas.openxmlformats.org/officeDocument/2006/math">
                      <m:sSub>
                        <m:sSubPr>
                          <m:ctrlPr>
                            <a:rPr lang="en-US" sz="2500" i="1" smtClean="0">
                              <a:latin typeface="Cambria Math" panose="02040503050406030204" pitchFamily="18" charset="0"/>
                            </a:rPr>
                          </m:ctrlPr>
                        </m:sSubPr>
                        <m:e>
                          <m:r>
                            <a:rPr lang="en-US" sz="2500" i="1">
                              <a:latin typeface="Cambria Math" panose="02040503050406030204" pitchFamily="18" charset="0"/>
                              <a:ea typeface="Cambria Math" panose="02040503050406030204" pitchFamily="18" charset="0"/>
                            </a:rPr>
                            <m:t>𝜃</m:t>
                          </m:r>
                        </m:e>
                        <m:sub>
                          <m:r>
                            <a:rPr lang="en-US" sz="2500" b="0" i="1" smtClean="0">
                              <a:latin typeface="Cambria Math" panose="02040503050406030204" pitchFamily="18" charset="0"/>
                            </a:rPr>
                            <m:t>𝑈</m:t>
                          </m:r>
                        </m:sub>
                      </m:sSub>
                      <m:r>
                        <a:rPr lang="en-US" sz="2500" b="0" i="1" smtClean="0">
                          <a:latin typeface="Cambria Math" panose="02040503050406030204" pitchFamily="18" charset="0"/>
                        </a:rPr>
                        <m:t>=</m:t>
                      </m:r>
                      <m:sSup>
                        <m:sSupPr>
                          <m:ctrlPr>
                            <a:rPr lang="en-US" sz="2500" b="0" i="1" smtClean="0">
                              <a:latin typeface="Cambria Math" panose="02040503050406030204" pitchFamily="18" charset="0"/>
                            </a:rPr>
                          </m:ctrlPr>
                        </m:sSupPr>
                        <m:e>
                          <m:r>
                            <a:rPr lang="en-US" sz="2500" b="0" i="1" smtClean="0">
                              <a:latin typeface="Cambria Math" panose="02040503050406030204" pitchFamily="18" charset="0"/>
                            </a:rPr>
                            <m:t>𝑡𝑎𝑛</m:t>
                          </m:r>
                        </m:e>
                        <m:sup>
                          <m:r>
                            <a:rPr lang="en-US" sz="2500" b="0" i="1" smtClean="0">
                              <a:latin typeface="Cambria Math" panose="02040503050406030204" pitchFamily="18" charset="0"/>
                            </a:rPr>
                            <m:t>−1</m:t>
                          </m:r>
                        </m:sup>
                      </m:sSup>
                      <m:f>
                        <m:fPr>
                          <m:ctrlPr>
                            <a:rPr lang="en-US" sz="2500" b="0" i="1" smtClean="0">
                              <a:latin typeface="Cambria Math" panose="02040503050406030204" pitchFamily="18" charset="0"/>
                            </a:rPr>
                          </m:ctrlPr>
                        </m:fPr>
                        <m:num>
                          <m:r>
                            <a:rPr lang="en-US" sz="2500" b="0" i="1" smtClean="0">
                              <a:latin typeface="Cambria Math" panose="02040503050406030204" pitchFamily="18" charset="0"/>
                            </a:rPr>
                            <m:t>𝐴</m:t>
                          </m:r>
                        </m:num>
                        <m:den>
                          <m:r>
                            <a:rPr lang="en-US" sz="2500" b="0" i="1" smtClean="0">
                              <a:latin typeface="Cambria Math" panose="02040503050406030204" pitchFamily="18" charset="0"/>
                            </a:rPr>
                            <m:t>2</m:t>
                          </m:r>
                          <m:r>
                            <a:rPr lang="en-US" sz="2500" b="0" i="1" smtClean="0">
                              <a:latin typeface="Cambria Math" panose="02040503050406030204" pitchFamily="18" charset="0"/>
                            </a:rPr>
                            <m:t>𝑙</m:t>
                          </m:r>
                        </m:den>
                      </m:f>
                    </m:oMath>
                  </m:oMathPara>
                </a14:m>
                <a:endParaRPr lang="en-US" sz="2500" dirty="0"/>
              </a:p>
            </p:txBody>
          </p:sp>
        </mc:Choice>
        <mc:Fallback xmlns="">
          <p:sp>
            <p:nvSpPr>
              <p:cNvPr id="8" name="TextBox 8">
                <a:extLst>
                  <a:ext uri="{FF2B5EF4-FFF2-40B4-BE49-F238E27FC236}">
                    <a16:creationId xmlns:a16="http://schemas.microsoft.com/office/drawing/2014/main" id="{CA5DC404-0092-71B2-3BD0-FA45B083C30B}"/>
                  </a:ext>
                </a:extLst>
              </p:cNvPr>
              <p:cNvSpPr txBox="1">
                <a:spLocks noRot="1" noChangeAspect="1" noMove="1" noResize="1" noEditPoints="1" noAdjustHandles="1" noChangeArrowheads="1" noChangeShapeType="1" noTextEdit="1"/>
              </p:cNvSpPr>
              <p:nvPr/>
            </p:nvSpPr>
            <p:spPr>
              <a:xfrm>
                <a:off x="762000" y="1638300"/>
                <a:ext cx="16541583" cy="8239435"/>
              </a:xfrm>
              <a:prstGeom prst="rect">
                <a:avLst/>
              </a:prstGeom>
              <a:blipFill>
                <a:blip r:embed="rId3"/>
                <a:stretch>
                  <a:fillRect t="-2517"/>
                </a:stretch>
              </a:blipFill>
            </p:spPr>
            <p:txBody>
              <a:bodyPr/>
              <a:lstStyle/>
              <a:p>
                <a:r>
                  <a:rPr lang="en-US">
                    <a:noFill/>
                  </a:rPr>
                  <a:t> </a:t>
                </a:r>
              </a:p>
            </p:txBody>
          </p:sp>
        </mc:Fallback>
      </mc:AlternateContent>
    </p:spTree>
    <p:extLst>
      <p:ext uri="{BB962C8B-B14F-4D97-AF65-F5344CB8AC3E}">
        <p14:creationId xmlns:p14="http://schemas.microsoft.com/office/powerpoint/2010/main" val="87133999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6491CF-2338-4189-4467-354F4F8376F2}"/>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672BF256-349D-13C3-B704-091BF1905E03}"/>
              </a:ext>
            </a:extLst>
          </p:cNvPr>
          <p:cNvSpPr/>
          <p:nvPr/>
        </p:nvSpPr>
        <p:spPr>
          <a:xfrm>
            <a:off x="-6824"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alphaModFix amt="50000"/>
            </a:blip>
            <a:stretch>
              <a:fillRect/>
            </a:stretch>
          </a:blipFill>
          <a:ln cap="sq">
            <a:noFill/>
            <a:prstDash val="solid"/>
            <a:miter/>
          </a:ln>
        </p:spPr>
        <p:txBody>
          <a:bodyPr/>
          <a:lstStyle/>
          <a:p>
            <a:endParaRPr lang="en-US" dirty="0"/>
          </a:p>
        </p:txBody>
      </p:sp>
      <p:sp>
        <p:nvSpPr>
          <p:cNvPr id="3" name="AutoShape 3">
            <a:extLst>
              <a:ext uri="{FF2B5EF4-FFF2-40B4-BE49-F238E27FC236}">
                <a16:creationId xmlns:a16="http://schemas.microsoft.com/office/drawing/2014/main" id="{2A86B94C-74DD-5D92-84A6-1F3C8B1ACE80}"/>
              </a:ext>
            </a:extLst>
          </p:cNvPr>
          <p:cNvSpPr/>
          <p:nvPr/>
        </p:nvSpPr>
        <p:spPr>
          <a:xfrm>
            <a:off x="1166399" y="1028700"/>
            <a:ext cx="687324" cy="0"/>
          </a:xfrm>
          <a:prstGeom prst="line">
            <a:avLst/>
          </a:prstGeom>
          <a:ln w="76200" cap="flat">
            <a:solidFill>
              <a:srgbClr val="000000"/>
            </a:solidFill>
            <a:prstDash val="solid"/>
            <a:headEnd type="none" w="sm" len="sm"/>
            <a:tailEnd type="none" w="sm" len="sm"/>
          </a:ln>
        </p:spPr>
        <p:txBody>
          <a:bodyPr/>
          <a:lstStyle/>
          <a:p>
            <a:endParaRPr lang="en-US" dirty="0"/>
          </a:p>
        </p:txBody>
      </p:sp>
      <p:sp>
        <p:nvSpPr>
          <p:cNvPr id="8" name="TextBox 8">
            <a:extLst>
              <a:ext uri="{FF2B5EF4-FFF2-40B4-BE49-F238E27FC236}">
                <a16:creationId xmlns:a16="http://schemas.microsoft.com/office/drawing/2014/main" id="{0AFAF887-4798-BF41-223E-6258E4CB8644}"/>
              </a:ext>
            </a:extLst>
          </p:cNvPr>
          <p:cNvSpPr txBox="1"/>
          <p:nvPr/>
        </p:nvSpPr>
        <p:spPr>
          <a:xfrm>
            <a:off x="873208" y="1104900"/>
            <a:ext cx="16541583" cy="8163773"/>
          </a:xfrm>
          <a:prstGeom prst="rect">
            <a:avLst/>
          </a:prstGeom>
        </p:spPr>
        <p:txBody>
          <a:bodyPr wrap="square" lIns="0" tIns="0" rIns="0" bIns="0" rtlCol="0" anchor="t">
            <a:spAutoFit/>
          </a:bodyPr>
          <a:lstStyle/>
          <a:p>
            <a:pPr marL="302259" lvl="1">
              <a:lnSpc>
                <a:spcPts val="4479"/>
              </a:lnSpc>
            </a:pPr>
            <a:r>
              <a:rPr lang="en-US" sz="4000" b="1" dirty="0">
                <a:solidFill>
                  <a:srgbClr val="000000"/>
                </a:solidFill>
                <a:latin typeface="Times New Roman" panose="02020603050405020304" pitchFamily="18" charset="0"/>
                <a:cs typeface="Times New Roman" panose="02020603050405020304" pitchFamily="18" charset="0"/>
                <a:sym typeface="Open Sauce"/>
              </a:rPr>
              <a:t>Methods</a:t>
            </a:r>
            <a:endParaRPr lang="en-US" sz="2500" dirty="0"/>
          </a:p>
          <a:p>
            <a:pPr marL="604519" lvl="1" indent="-302260">
              <a:lnSpc>
                <a:spcPct val="200000"/>
              </a:lnSpc>
              <a:buFont typeface="Arial"/>
              <a:buChar char="•"/>
            </a:pPr>
            <a:r>
              <a:rPr lang="en-US" sz="2500" dirty="0"/>
              <a:t>Extends the standard Monte Carlo photon transport to include integrating sphere.</a:t>
            </a:r>
          </a:p>
          <a:p>
            <a:pPr marL="1976119" lvl="4" indent="-302260">
              <a:lnSpc>
                <a:spcPct val="200000"/>
              </a:lnSpc>
              <a:buFont typeface="Arial"/>
              <a:buChar char="•"/>
            </a:pPr>
            <a:r>
              <a:rPr lang="en-US" sz="2500" dirty="0"/>
              <a:t>Tracks photons after exiting the sample:</a:t>
            </a:r>
          </a:p>
          <a:p>
            <a:pPr marL="1976119" lvl="4" indent="-302260">
              <a:lnSpc>
                <a:spcPct val="200000"/>
              </a:lnSpc>
              <a:buFont typeface="Arial"/>
              <a:buChar char="•"/>
            </a:pPr>
            <a:r>
              <a:rPr lang="en-US" sz="2500" dirty="0"/>
              <a:t>Photons escape through ports </a:t>
            </a:r>
          </a:p>
          <a:p>
            <a:pPr marL="1976119" lvl="4" indent="-302260">
              <a:lnSpc>
                <a:spcPct val="200000"/>
              </a:lnSpc>
              <a:buFont typeface="Arial"/>
              <a:buChar char="•"/>
            </a:pPr>
            <a:r>
              <a:rPr lang="en-US" sz="2500" dirty="0"/>
              <a:t>Detection of photons at the detector</a:t>
            </a:r>
          </a:p>
          <a:p>
            <a:pPr marL="1976119" lvl="4" indent="-302260">
              <a:lnSpc>
                <a:spcPct val="200000"/>
              </a:lnSpc>
              <a:buFont typeface="Arial"/>
              <a:buChar char="•"/>
            </a:pPr>
            <a:r>
              <a:rPr lang="en-US" sz="2500" dirty="0"/>
              <a:t>Absorption of photons by the sphere wall</a:t>
            </a:r>
          </a:p>
          <a:p>
            <a:pPr marL="1976119" lvl="4" indent="-302260">
              <a:lnSpc>
                <a:spcPct val="200000"/>
              </a:lnSpc>
              <a:buFont typeface="Arial"/>
              <a:buChar char="•"/>
            </a:pPr>
            <a:r>
              <a:rPr lang="en-US" sz="2500" dirty="0"/>
              <a:t>Photons re-incidence on sample</a:t>
            </a:r>
          </a:p>
          <a:p>
            <a:pPr marL="604519" lvl="1" indent="-302260">
              <a:lnSpc>
                <a:spcPct val="200000"/>
              </a:lnSpc>
              <a:buFont typeface="Arial"/>
              <a:buChar char="•"/>
            </a:pPr>
            <a:r>
              <a:rPr lang="en-US" sz="2500" dirty="0"/>
              <a:t>Uses analytical probability for photon re-incidence (no ray tracing)</a:t>
            </a:r>
          </a:p>
          <a:p>
            <a:pPr marL="604519" lvl="1" indent="-302260">
              <a:lnSpc>
                <a:spcPct val="200000"/>
              </a:lnSpc>
              <a:buFont typeface="Arial"/>
              <a:buChar char="•"/>
            </a:pPr>
            <a:r>
              <a:rPr lang="en-US" sz="2500" dirty="0"/>
              <a:t>Integrating sphere is modeled using the wall reflectance, ports fractional areas and detector fractional areas.</a:t>
            </a:r>
          </a:p>
          <a:p>
            <a:pPr marL="604519" lvl="1" indent="-302260">
              <a:lnSpc>
                <a:spcPct val="200000"/>
              </a:lnSpc>
              <a:buFont typeface="Arial"/>
              <a:buChar char="•"/>
            </a:pPr>
            <a:r>
              <a:rPr lang="en-US" sz="2500" dirty="0"/>
              <a:t>Accounts for sphere-to-sphere crosstalk which enables using for both single and double integrating sphere.</a:t>
            </a:r>
          </a:p>
          <a:p>
            <a:pPr marL="604519" lvl="1" indent="-302260">
              <a:lnSpc>
                <a:spcPct val="200000"/>
              </a:lnSpc>
              <a:buFont typeface="Arial"/>
              <a:buChar char="•"/>
            </a:pPr>
            <a:r>
              <a:rPr lang="en-US" sz="2500" dirty="0"/>
              <a:t>Uses Monte Carlo statistics to estimate simulation uncertainty. </a:t>
            </a:r>
          </a:p>
        </p:txBody>
      </p:sp>
    </p:spTree>
    <p:extLst>
      <p:ext uri="{BB962C8B-B14F-4D97-AF65-F5344CB8AC3E}">
        <p14:creationId xmlns:p14="http://schemas.microsoft.com/office/powerpoint/2010/main" val="138504733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5DCCCB-18E2-38FC-E639-CC41EF1DED57}"/>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C9BC1A0A-08F9-1438-D9FA-5012B5876DEC}"/>
              </a:ext>
            </a:extLst>
          </p:cNvPr>
          <p:cNvSpPr/>
          <p:nvPr/>
        </p:nvSpPr>
        <p:spPr>
          <a:xfrm>
            <a:off x="-6824"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alphaModFix amt="50000"/>
            </a:blip>
            <a:stretch>
              <a:fillRect/>
            </a:stretch>
          </a:blipFill>
          <a:ln cap="sq">
            <a:noFill/>
            <a:prstDash val="solid"/>
            <a:miter/>
          </a:ln>
        </p:spPr>
        <p:txBody>
          <a:bodyPr/>
          <a:lstStyle/>
          <a:p>
            <a:endParaRPr lang="en-US" dirty="0"/>
          </a:p>
        </p:txBody>
      </p:sp>
      <p:sp>
        <p:nvSpPr>
          <p:cNvPr id="3" name="AutoShape 3">
            <a:extLst>
              <a:ext uri="{FF2B5EF4-FFF2-40B4-BE49-F238E27FC236}">
                <a16:creationId xmlns:a16="http://schemas.microsoft.com/office/drawing/2014/main" id="{9B1494A5-6815-B5F7-851A-E27B84044C4D}"/>
              </a:ext>
            </a:extLst>
          </p:cNvPr>
          <p:cNvSpPr/>
          <p:nvPr/>
        </p:nvSpPr>
        <p:spPr>
          <a:xfrm>
            <a:off x="1166399" y="1028700"/>
            <a:ext cx="687324" cy="0"/>
          </a:xfrm>
          <a:prstGeom prst="line">
            <a:avLst/>
          </a:prstGeom>
          <a:ln w="76200" cap="flat">
            <a:solidFill>
              <a:srgbClr val="000000"/>
            </a:solidFill>
            <a:prstDash val="solid"/>
            <a:headEnd type="none" w="sm" len="sm"/>
            <a:tailEnd type="none" w="sm" len="sm"/>
          </a:ln>
        </p:spPr>
        <p:txBody>
          <a:bodyPr/>
          <a:lstStyle/>
          <a:p>
            <a:endParaRPr lang="en-US" dirty="0"/>
          </a:p>
        </p:txBody>
      </p:sp>
      <p:sp>
        <p:nvSpPr>
          <p:cNvPr id="8" name="TextBox 8">
            <a:extLst>
              <a:ext uri="{FF2B5EF4-FFF2-40B4-BE49-F238E27FC236}">
                <a16:creationId xmlns:a16="http://schemas.microsoft.com/office/drawing/2014/main" id="{0766BB56-7C57-E224-9007-667DF758D859}"/>
              </a:ext>
            </a:extLst>
          </p:cNvPr>
          <p:cNvSpPr txBox="1"/>
          <p:nvPr/>
        </p:nvSpPr>
        <p:spPr>
          <a:xfrm>
            <a:off x="873208" y="1409700"/>
            <a:ext cx="16541583" cy="6624891"/>
          </a:xfrm>
          <a:prstGeom prst="rect">
            <a:avLst/>
          </a:prstGeom>
        </p:spPr>
        <p:txBody>
          <a:bodyPr wrap="square" lIns="0" tIns="0" rIns="0" bIns="0" rtlCol="0" anchor="t">
            <a:spAutoFit/>
          </a:bodyPr>
          <a:lstStyle/>
          <a:p>
            <a:pPr marL="302259" lvl="1">
              <a:lnSpc>
                <a:spcPts val="4479"/>
              </a:lnSpc>
            </a:pPr>
            <a:r>
              <a:rPr lang="en-US" sz="4000" b="1" dirty="0">
                <a:solidFill>
                  <a:srgbClr val="000000"/>
                </a:solidFill>
                <a:latin typeface="Times New Roman" panose="02020603050405020304" pitchFamily="18" charset="0"/>
                <a:cs typeface="Times New Roman" panose="02020603050405020304" pitchFamily="18" charset="0"/>
                <a:sym typeface="Open Sauce"/>
              </a:rPr>
              <a:t>Assumptions and modifications</a:t>
            </a:r>
            <a:endParaRPr lang="en-US" sz="2500" dirty="0"/>
          </a:p>
          <a:p>
            <a:pPr marL="604519" lvl="1" indent="-302260">
              <a:lnSpc>
                <a:spcPct val="200000"/>
              </a:lnSpc>
              <a:buFont typeface="Arial"/>
              <a:buChar char="•"/>
            </a:pPr>
            <a:r>
              <a:rPr lang="en-US" sz="2500" dirty="0"/>
              <a:t>Surface roughness effects is ignored as in common MC simulations sample is placed between the glass slides.</a:t>
            </a:r>
          </a:p>
          <a:p>
            <a:pPr marL="604519" lvl="1" indent="-302260">
              <a:lnSpc>
                <a:spcPct val="200000"/>
              </a:lnSpc>
              <a:buFont typeface="Arial"/>
              <a:buChar char="•"/>
            </a:pPr>
            <a:r>
              <a:rPr lang="en-US" sz="2500" dirty="0"/>
              <a:t>Baffle is assumed to be large enough to block the photons to directly enters the detector paths and small enough not to block the photons to escapes though the source port.</a:t>
            </a:r>
          </a:p>
          <a:p>
            <a:pPr marL="604519" lvl="1" indent="-302260">
              <a:lnSpc>
                <a:spcPct val="200000"/>
              </a:lnSpc>
              <a:buFont typeface="Arial"/>
              <a:buChar char="•"/>
            </a:pPr>
            <a:r>
              <a:rPr lang="en-US" sz="2500" dirty="0"/>
              <a:t>Baffle is treated as sphere wall and sphere walls is assumed ideal Lambertian.</a:t>
            </a:r>
          </a:p>
          <a:p>
            <a:pPr marL="604519" lvl="1" indent="-302260">
              <a:lnSpc>
                <a:spcPct val="200000"/>
              </a:lnSpc>
              <a:buFont typeface="Arial"/>
              <a:buChar char="•"/>
            </a:pPr>
            <a:r>
              <a:rPr lang="en-US" sz="2500" dirty="0"/>
              <a:t>Photons are assumed to exit and re-enter sample at port center, which could cause over estimation of R and T.</a:t>
            </a:r>
          </a:p>
          <a:p>
            <a:pPr marL="604519" lvl="1" indent="-302260">
              <a:lnSpc>
                <a:spcPct val="200000"/>
              </a:lnSpc>
              <a:buFont typeface="Arial"/>
              <a:buChar char="•"/>
            </a:pPr>
            <a:r>
              <a:rPr lang="en-US" sz="2500" dirty="0"/>
              <a:t>Sample is assumed infinite laterally and side losses are ignored which could overestimate the absorption coefficient. </a:t>
            </a:r>
          </a:p>
          <a:p>
            <a:pPr marL="604519" lvl="1" indent="-302260">
              <a:lnSpc>
                <a:spcPct val="200000"/>
              </a:lnSpc>
              <a:buFont typeface="Arial"/>
              <a:buChar char="•"/>
            </a:pPr>
            <a:r>
              <a:rPr lang="en-US" sz="2500" dirty="0"/>
              <a:t>For the unbaffled sphere, the photons that directly enter into the detector  counted immediately as R or T.</a:t>
            </a:r>
          </a:p>
          <a:p>
            <a:pPr marL="604519" lvl="1" indent="-302260">
              <a:lnSpc>
                <a:spcPct val="200000"/>
              </a:lnSpc>
              <a:buFont typeface="Arial"/>
              <a:buChar char="•"/>
            </a:pPr>
            <a:r>
              <a:rPr lang="en-US" sz="2500" dirty="0"/>
              <a:t>No charge to re-incidence equations.  </a:t>
            </a:r>
          </a:p>
        </p:txBody>
      </p:sp>
    </p:spTree>
    <p:extLst>
      <p:ext uri="{BB962C8B-B14F-4D97-AF65-F5344CB8AC3E}">
        <p14:creationId xmlns:p14="http://schemas.microsoft.com/office/powerpoint/2010/main" val="239601156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CDED3B-BCA4-5B85-2294-389118B15B4C}"/>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2238398E-8899-C2AA-7828-DC261D5EF92E}"/>
              </a:ext>
            </a:extLst>
          </p:cNvPr>
          <p:cNvSpPr/>
          <p:nvPr/>
        </p:nvSpPr>
        <p:spPr>
          <a:xfrm>
            <a:off x="-6824"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alphaModFix amt="50000"/>
            </a:blip>
            <a:stretch>
              <a:fillRect/>
            </a:stretch>
          </a:blipFill>
          <a:ln cap="sq">
            <a:noFill/>
            <a:prstDash val="solid"/>
            <a:miter/>
          </a:ln>
        </p:spPr>
        <p:txBody>
          <a:bodyPr/>
          <a:lstStyle/>
          <a:p>
            <a:endParaRPr lang="en-US" dirty="0"/>
          </a:p>
        </p:txBody>
      </p:sp>
      <p:sp>
        <p:nvSpPr>
          <p:cNvPr id="3" name="AutoShape 3">
            <a:extLst>
              <a:ext uri="{FF2B5EF4-FFF2-40B4-BE49-F238E27FC236}">
                <a16:creationId xmlns:a16="http://schemas.microsoft.com/office/drawing/2014/main" id="{5942BFE9-DC21-9F05-CDB5-2C96880A2A94}"/>
              </a:ext>
            </a:extLst>
          </p:cNvPr>
          <p:cNvSpPr/>
          <p:nvPr/>
        </p:nvSpPr>
        <p:spPr>
          <a:xfrm>
            <a:off x="1166399" y="1028700"/>
            <a:ext cx="687324" cy="0"/>
          </a:xfrm>
          <a:prstGeom prst="line">
            <a:avLst/>
          </a:prstGeom>
          <a:ln w="76200" cap="flat">
            <a:solidFill>
              <a:srgbClr val="000000"/>
            </a:solidFill>
            <a:prstDash val="solid"/>
            <a:headEnd type="none" w="sm" len="sm"/>
            <a:tailEnd type="none" w="sm" len="sm"/>
          </a:ln>
        </p:spPr>
        <p:txBody>
          <a:bodyPr/>
          <a:lstStyle/>
          <a:p>
            <a:endParaRPr lang="en-US" dirty="0"/>
          </a:p>
        </p:txBody>
      </p:sp>
      <p:sp>
        <p:nvSpPr>
          <p:cNvPr id="8" name="TextBox 8">
            <a:extLst>
              <a:ext uri="{FF2B5EF4-FFF2-40B4-BE49-F238E27FC236}">
                <a16:creationId xmlns:a16="http://schemas.microsoft.com/office/drawing/2014/main" id="{EC8DA597-5E1C-A255-2BAF-2697D276D7E6}"/>
              </a:ext>
            </a:extLst>
          </p:cNvPr>
          <p:cNvSpPr txBox="1"/>
          <p:nvPr/>
        </p:nvSpPr>
        <p:spPr>
          <a:xfrm>
            <a:off x="873208" y="1491326"/>
            <a:ext cx="16541583" cy="3547125"/>
          </a:xfrm>
          <a:prstGeom prst="rect">
            <a:avLst/>
          </a:prstGeom>
        </p:spPr>
        <p:txBody>
          <a:bodyPr wrap="square" lIns="0" tIns="0" rIns="0" bIns="0" rtlCol="0" anchor="t">
            <a:spAutoFit/>
          </a:bodyPr>
          <a:lstStyle/>
          <a:p>
            <a:pPr marL="302259" lvl="1">
              <a:lnSpc>
                <a:spcPts val="4479"/>
              </a:lnSpc>
            </a:pPr>
            <a:r>
              <a:rPr lang="en-US" sz="4000" b="1" dirty="0">
                <a:solidFill>
                  <a:srgbClr val="000000"/>
                </a:solidFill>
                <a:latin typeface="Times New Roman" panose="02020603050405020304" pitchFamily="18" charset="0"/>
                <a:cs typeface="Times New Roman" panose="02020603050405020304" pitchFamily="18" charset="0"/>
                <a:sym typeface="Open Sauce"/>
              </a:rPr>
              <a:t>Verification</a:t>
            </a:r>
            <a:endParaRPr lang="en-US" sz="2500" dirty="0"/>
          </a:p>
          <a:p>
            <a:pPr marL="302259" lvl="1">
              <a:lnSpc>
                <a:spcPct val="200000"/>
              </a:lnSpc>
            </a:pPr>
            <a:r>
              <a:rPr lang="en-US" sz="2500" b="1" dirty="0"/>
              <a:t>Verification with previous work on Monte Carlo simulation without sphere</a:t>
            </a:r>
          </a:p>
          <a:p>
            <a:pPr marL="604519" lvl="1" indent="-302260">
              <a:lnSpc>
                <a:spcPct val="200000"/>
              </a:lnSpc>
              <a:buFont typeface="Arial"/>
              <a:buChar char="•"/>
            </a:pPr>
            <a:r>
              <a:rPr lang="en-US" sz="2500" dirty="0"/>
              <a:t>Has Excellent agreement when comparing with the established MC codes for Total reflectance, total transmittance for the index-matched boundary condition.</a:t>
            </a:r>
          </a:p>
          <a:p>
            <a:pPr marL="604519" lvl="1" indent="-302260">
              <a:lnSpc>
                <a:spcPct val="200000"/>
              </a:lnSpc>
              <a:buFont typeface="Arial"/>
              <a:buChar char="•"/>
            </a:pPr>
            <a:endParaRPr lang="en-US" sz="2500" dirty="0"/>
          </a:p>
        </p:txBody>
      </p:sp>
      <p:sp>
        <p:nvSpPr>
          <p:cNvPr id="4" name="TextBox 3">
            <a:extLst>
              <a:ext uri="{FF2B5EF4-FFF2-40B4-BE49-F238E27FC236}">
                <a16:creationId xmlns:a16="http://schemas.microsoft.com/office/drawing/2014/main" id="{638B4CDE-50E7-BE5D-F207-A77A0360ED00}"/>
              </a:ext>
            </a:extLst>
          </p:cNvPr>
          <p:cNvSpPr txBox="1"/>
          <p:nvPr/>
        </p:nvSpPr>
        <p:spPr>
          <a:xfrm>
            <a:off x="5492198" y="8496300"/>
            <a:ext cx="7303602" cy="369332"/>
          </a:xfrm>
          <a:prstGeom prst="rect">
            <a:avLst/>
          </a:prstGeom>
          <a:noFill/>
        </p:spPr>
        <p:txBody>
          <a:bodyPr wrap="none" rtlCol="0">
            <a:spAutoFit/>
          </a:bodyPr>
          <a:lstStyle/>
          <a:p>
            <a:r>
              <a:rPr lang="en-US" dirty="0"/>
              <a:t>Table 1. Verification for a sample with a refractive-index-matched boundary </a:t>
            </a:r>
          </a:p>
        </p:txBody>
      </p:sp>
      <p:pic>
        <p:nvPicPr>
          <p:cNvPr id="9" name="Picture 8">
            <a:extLst>
              <a:ext uri="{FF2B5EF4-FFF2-40B4-BE49-F238E27FC236}">
                <a16:creationId xmlns:a16="http://schemas.microsoft.com/office/drawing/2014/main" id="{0935413C-89D5-47F4-A212-F58649500427}"/>
              </a:ext>
            </a:extLst>
          </p:cNvPr>
          <p:cNvPicPr>
            <a:picLocks noChangeAspect="1"/>
          </p:cNvPicPr>
          <p:nvPr/>
        </p:nvPicPr>
        <p:blipFill>
          <a:blip r:embed="rId3">
            <a:extLst>
              <a:ext uri="{28A0092B-C50C-407E-A947-70E740481C1C}">
                <a14:useLocalDpi xmlns:a14="http://schemas.microsoft.com/office/drawing/2010/main" val="0"/>
              </a:ext>
            </a:extLst>
          </a:blip>
          <a:srcRect t="10095"/>
          <a:stretch>
            <a:fillRect/>
          </a:stretch>
        </p:blipFill>
        <p:spPr>
          <a:xfrm>
            <a:off x="1193288" y="4533900"/>
            <a:ext cx="15901422" cy="3885304"/>
          </a:xfrm>
          <a:prstGeom prst="rect">
            <a:avLst/>
          </a:prstGeom>
        </p:spPr>
      </p:pic>
    </p:spTree>
    <p:extLst>
      <p:ext uri="{BB962C8B-B14F-4D97-AF65-F5344CB8AC3E}">
        <p14:creationId xmlns:p14="http://schemas.microsoft.com/office/powerpoint/2010/main" val="134851166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B89D90-7F9B-16E2-C5D9-4BA7046CC672}"/>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A924CBC3-983B-5053-3A0E-F942D7D698CD}"/>
              </a:ext>
            </a:extLst>
          </p:cNvPr>
          <p:cNvSpPr/>
          <p:nvPr/>
        </p:nvSpPr>
        <p:spPr>
          <a:xfrm>
            <a:off x="-6824"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alphaModFix amt="50000"/>
            </a:blip>
            <a:stretch>
              <a:fillRect/>
            </a:stretch>
          </a:blipFill>
          <a:ln cap="sq">
            <a:noFill/>
            <a:prstDash val="solid"/>
            <a:miter/>
          </a:ln>
        </p:spPr>
        <p:txBody>
          <a:bodyPr/>
          <a:lstStyle/>
          <a:p>
            <a:endParaRPr lang="en-US" dirty="0"/>
          </a:p>
        </p:txBody>
      </p:sp>
      <p:sp>
        <p:nvSpPr>
          <p:cNvPr id="3" name="AutoShape 3">
            <a:extLst>
              <a:ext uri="{FF2B5EF4-FFF2-40B4-BE49-F238E27FC236}">
                <a16:creationId xmlns:a16="http://schemas.microsoft.com/office/drawing/2014/main" id="{076985D1-75CD-0831-8E03-55EBF83FBB05}"/>
              </a:ext>
            </a:extLst>
          </p:cNvPr>
          <p:cNvSpPr/>
          <p:nvPr/>
        </p:nvSpPr>
        <p:spPr>
          <a:xfrm>
            <a:off x="1166399" y="1028700"/>
            <a:ext cx="687324" cy="0"/>
          </a:xfrm>
          <a:prstGeom prst="line">
            <a:avLst/>
          </a:prstGeom>
          <a:ln w="76200" cap="flat">
            <a:solidFill>
              <a:srgbClr val="000000"/>
            </a:solidFill>
            <a:prstDash val="solid"/>
            <a:headEnd type="none" w="sm" len="sm"/>
            <a:tailEnd type="none" w="sm" len="sm"/>
          </a:ln>
        </p:spPr>
        <p:txBody>
          <a:bodyPr/>
          <a:lstStyle/>
          <a:p>
            <a:endParaRPr lang="en-US" dirty="0"/>
          </a:p>
        </p:txBody>
      </p:sp>
      <p:sp>
        <p:nvSpPr>
          <p:cNvPr id="8" name="TextBox 8">
            <a:extLst>
              <a:ext uri="{FF2B5EF4-FFF2-40B4-BE49-F238E27FC236}">
                <a16:creationId xmlns:a16="http://schemas.microsoft.com/office/drawing/2014/main" id="{6FF13614-2497-E592-06D2-3AE50C6CD0D3}"/>
              </a:ext>
            </a:extLst>
          </p:cNvPr>
          <p:cNvSpPr txBox="1"/>
          <p:nvPr/>
        </p:nvSpPr>
        <p:spPr>
          <a:xfrm>
            <a:off x="873208" y="1491326"/>
            <a:ext cx="16541583" cy="2777683"/>
          </a:xfrm>
          <a:prstGeom prst="rect">
            <a:avLst/>
          </a:prstGeom>
        </p:spPr>
        <p:txBody>
          <a:bodyPr wrap="square" lIns="0" tIns="0" rIns="0" bIns="0" rtlCol="0" anchor="t">
            <a:spAutoFit/>
          </a:bodyPr>
          <a:lstStyle/>
          <a:p>
            <a:pPr marL="302259" lvl="1">
              <a:lnSpc>
                <a:spcPts val="4479"/>
              </a:lnSpc>
            </a:pPr>
            <a:r>
              <a:rPr lang="en-US" sz="4000" b="1" dirty="0">
                <a:solidFill>
                  <a:srgbClr val="000000"/>
                </a:solidFill>
                <a:latin typeface="Times New Roman" panose="02020603050405020304" pitchFamily="18" charset="0"/>
                <a:cs typeface="Times New Roman" panose="02020603050405020304" pitchFamily="18" charset="0"/>
                <a:sym typeface="Open Sauce"/>
              </a:rPr>
              <a:t>Verification</a:t>
            </a:r>
            <a:endParaRPr lang="en-US" sz="2500" dirty="0"/>
          </a:p>
          <a:p>
            <a:pPr marL="302259" lvl="1">
              <a:lnSpc>
                <a:spcPct val="200000"/>
              </a:lnSpc>
            </a:pPr>
            <a:r>
              <a:rPr lang="en-US" sz="2500" b="1" dirty="0"/>
              <a:t>Verification with previous work on Monte Carlo simulation without sphere</a:t>
            </a:r>
          </a:p>
          <a:p>
            <a:pPr marL="645159" lvl="1" indent="-342900">
              <a:lnSpc>
                <a:spcPct val="200000"/>
              </a:lnSpc>
              <a:buFont typeface="Arial" panose="020B0604020202020204" pitchFamily="34" charset="0"/>
              <a:buChar char="•"/>
            </a:pPr>
            <a:r>
              <a:rPr lang="en-US" sz="2500" dirty="0"/>
              <a:t>Achieved excellent agreement for the diffuse reflectance for index-mismatched boundary condition.</a:t>
            </a:r>
          </a:p>
          <a:p>
            <a:pPr marL="604519" lvl="1" indent="-302260">
              <a:lnSpc>
                <a:spcPct val="200000"/>
              </a:lnSpc>
              <a:buFont typeface="Arial"/>
              <a:buChar char="•"/>
            </a:pPr>
            <a:endParaRPr lang="en-US" sz="2500" dirty="0"/>
          </a:p>
        </p:txBody>
      </p:sp>
      <p:sp>
        <p:nvSpPr>
          <p:cNvPr id="5" name="TextBox 4">
            <a:extLst>
              <a:ext uri="{FF2B5EF4-FFF2-40B4-BE49-F238E27FC236}">
                <a16:creationId xmlns:a16="http://schemas.microsoft.com/office/drawing/2014/main" id="{B361EFBB-E06A-1E0A-884D-764FA1D70A7E}"/>
              </a:ext>
            </a:extLst>
          </p:cNvPr>
          <p:cNvSpPr txBox="1"/>
          <p:nvPr/>
        </p:nvSpPr>
        <p:spPr>
          <a:xfrm>
            <a:off x="5321868" y="7882290"/>
            <a:ext cx="7630615" cy="369332"/>
          </a:xfrm>
          <a:prstGeom prst="rect">
            <a:avLst/>
          </a:prstGeom>
          <a:noFill/>
        </p:spPr>
        <p:txBody>
          <a:bodyPr wrap="none" rtlCol="0">
            <a:spAutoFit/>
          </a:bodyPr>
          <a:lstStyle/>
          <a:p>
            <a:r>
              <a:rPr lang="en-US" dirty="0"/>
              <a:t>Table 2. Verification for a sample with a refractive-index-mismatched boundary </a:t>
            </a:r>
          </a:p>
        </p:txBody>
      </p:sp>
      <p:pic>
        <p:nvPicPr>
          <p:cNvPr id="9" name="Picture 8">
            <a:extLst>
              <a:ext uri="{FF2B5EF4-FFF2-40B4-BE49-F238E27FC236}">
                <a16:creationId xmlns:a16="http://schemas.microsoft.com/office/drawing/2014/main" id="{71EF4AD4-CD54-EA6E-63C4-0CFCAC2ACB4E}"/>
              </a:ext>
            </a:extLst>
          </p:cNvPr>
          <p:cNvPicPr>
            <a:picLocks noChangeAspect="1"/>
          </p:cNvPicPr>
          <p:nvPr/>
        </p:nvPicPr>
        <p:blipFill>
          <a:blip r:embed="rId3">
            <a:extLst>
              <a:ext uri="{28A0092B-C50C-407E-A947-70E740481C1C}">
                <a14:useLocalDpi xmlns:a14="http://schemas.microsoft.com/office/drawing/2010/main" val="0"/>
              </a:ext>
            </a:extLst>
          </a:blip>
          <a:srcRect l="-955" t="11173" r="955" b="-11173"/>
          <a:stretch>
            <a:fillRect/>
          </a:stretch>
        </p:blipFill>
        <p:spPr>
          <a:xfrm>
            <a:off x="1059976" y="3700192"/>
            <a:ext cx="16154400" cy="4539799"/>
          </a:xfrm>
          <a:prstGeom prst="rect">
            <a:avLst/>
          </a:prstGeom>
        </p:spPr>
      </p:pic>
    </p:spTree>
    <p:extLst>
      <p:ext uri="{BB962C8B-B14F-4D97-AF65-F5344CB8AC3E}">
        <p14:creationId xmlns:p14="http://schemas.microsoft.com/office/powerpoint/2010/main" val="421557551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B5EA0D-0F0F-AB9B-3F11-680876AC774D}"/>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6663688C-49C3-AC57-C3AD-C462E5083041}"/>
              </a:ext>
            </a:extLst>
          </p:cNvPr>
          <p:cNvSpPr/>
          <p:nvPr/>
        </p:nvSpPr>
        <p:spPr>
          <a:xfrm>
            <a:off x="-6824"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alphaModFix amt="50000"/>
            </a:blip>
            <a:stretch>
              <a:fillRect/>
            </a:stretch>
          </a:blipFill>
          <a:ln cap="sq">
            <a:noFill/>
            <a:prstDash val="solid"/>
            <a:miter/>
          </a:ln>
        </p:spPr>
        <p:txBody>
          <a:bodyPr/>
          <a:lstStyle/>
          <a:p>
            <a:endParaRPr lang="en-US" dirty="0"/>
          </a:p>
        </p:txBody>
      </p:sp>
      <p:sp>
        <p:nvSpPr>
          <p:cNvPr id="3" name="AutoShape 3">
            <a:extLst>
              <a:ext uri="{FF2B5EF4-FFF2-40B4-BE49-F238E27FC236}">
                <a16:creationId xmlns:a16="http://schemas.microsoft.com/office/drawing/2014/main" id="{F5C7BA9D-A99B-61C1-D495-4AF28D4EB7AE}"/>
              </a:ext>
            </a:extLst>
          </p:cNvPr>
          <p:cNvSpPr/>
          <p:nvPr/>
        </p:nvSpPr>
        <p:spPr>
          <a:xfrm>
            <a:off x="1166399" y="1028700"/>
            <a:ext cx="687324" cy="0"/>
          </a:xfrm>
          <a:prstGeom prst="line">
            <a:avLst/>
          </a:prstGeom>
          <a:ln w="76200" cap="flat">
            <a:solidFill>
              <a:srgbClr val="000000"/>
            </a:solidFill>
            <a:prstDash val="solid"/>
            <a:headEnd type="none" w="sm" len="sm"/>
            <a:tailEnd type="none" w="sm" len="sm"/>
          </a:ln>
        </p:spPr>
        <p:txBody>
          <a:bodyPr/>
          <a:lstStyle/>
          <a:p>
            <a:endParaRPr lang="en-US" dirty="0"/>
          </a:p>
        </p:txBody>
      </p:sp>
      <p:sp>
        <p:nvSpPr>
          <p:cNvPr id="8" name="TextBox 8">
            <a:extLst>
              <a:ext uri="{FF2B5EF4-FFF2-40B4-BE49-F238E27FC236}">
                <a16:creationId xmlns:a16="http://schemas.microsoft.com/office/drawing/2014/main" id="{C106EB59-16B4-4BD5-A5DC-187DBA53C906}"/>
              </a:ext>
            </a:extLst>
          </p:cNvPr>
          <p:cNvSpPr txBox="1"/>
          <p:nvPr/>
        </p:nvSpPr>
        <p:spPr>
          <a:xfrm>
            <a:off x="873208" y="1491326"/>
            <a:ext cx="16541583" cy="3547125"/>
          </a:xfrm>
          <a:prstGeom prst="rect">
            <a:avLst/>
          </a:prstGeom>
        </p:spPr>
        <p:txBody>
          <a:bodyPr wrap="square" lIns="0" tIns="0" rIns="0" bIns="0" rtlCol="0" anchor="t">
            <a:spAutoFit/>
          </a:bodyPr>
          <a:lstStyle/>
          <a:p>
            <a:pPr marL="302259" lvl="1">
              <a:lnSpc>
                <a:spcPts val="4479"/>
              </a:lnSpc>
            </a:pPr>
            <a:r>
              <a:rPr lang="en-US" sz="4000" b="1" dirty="0">
                <a:solidFill>
                  <a:srgbClr val="000000"/>
                </a:solidFill>
                <a:latin typeface="Times New Roman" panose="02020603050405020304" pitchFamily="18" charset="0"/>
                <a:cs typeface="Times New Roman" panose="02020603050405020304" pitchFamily="18" charset="0"/>
                <a:sym typeface="Open Sauce"/>
              </a:rPr>
              <a:t>Verification</a:t>
            </a:r>
            <a:endParaRPr lang="en-US" sz="2500" dirty="0"/>
          </a:p>
          <a:p>
            <a:pPr marL="302259" lvl="1">
              <a:lnSpc>
                <a:spcPct val="200000"/>
              </a:lnSpc>
            </a:pPr>
            <a:r>
              <a:rPr lang="en-US" sz="2500" b="1" dirty="0"/>
              <a:t>Verified with the integrating sphere experiment performed on a synthetic tissue phantom</a:t>
            </a:r>
          </a:p>
          <a:p>
            <a:pPr marL="604519" lvl="1" indent="-302260">
              <a:lnSpc>
                <a:spcPct val="200000"/>
              </a:lnSpc>
              <a:buFont typeface="Arial"/>
              <a:buChar char="•"/>
            </a:pPr>
            <a:r>
              <a:rPr lang="en-US" sz="2500" dirty="0"/>
              <a:t>ISMC simulation results closely match experimental diffuse reflectance and diffuse transmittance.</a:t>
            </a:r>
          </a:p>
          <a:p>
            <a:pPr marL="302259" lvl="1">
              <a:lnSpc>
                <a:spcPct val="200000"/>
              </a:lnSpc>
            </a:pPr>
            <a:endParaRPr lang="en-US" sz="2500" dirty="0"/>
          </a:p>
          <a:p>
            <a:pPr marL="604519" lvl="1" indent="-302260">
              <a:lnSpc>
                <a:spcPct val="200000"/>
              </a:lnSpc>
              <a:buFont typeface="Arial"/>
              <a:buChar char="•"/>
            </a:pPr>
            <a:endParaRPr lang="en-US" sz="2500" dirty="0"/>
          </a:p>
        </p:txBody>
      </p:sp>
      <p:sp>
        <p:nvSpPr>
          <p:cNvPr id="6" name="TextBox 5">
            <a:extLst>
              <a:ext uri="{FF2B5EF4-FFF2-40B4-BE49-F238E27FC236}">
                <a16:creationId xmlns:a16="http://schemas.microsoft.com/office/drawing/2014/main" id="{D926FF43-AFEC-146F-C711-2E9F594BD929}"/>
              </a:ext>
            </a:extLst>
          </p:cNvPr>
          <p:cNvSpPr txBox="1"/>
          <p:nvPr/>
        </p:nvSpPr>
        <p:spPr>
          <a:xfrm>
            <a:off x="2117017" y="7962900"/>
            <a:ext cx="14232679" cy="369332"/>
          </a:xfrm>
          <a:prstGeom prst="rect">
            <a:avLst/>
          </a:prstGeom>
          <a:noFill/>
        </p:spPr>
        <p:txBody>
          <a:bodyPr wrap="none" rtlCol="0">
            <a:spAutoFit/>
          </a:bodyPr>
          <a:lstStyle/>
          <a:p>
            <a:r>
              <a:rPr lang="en-US" dirty="0"/>
              <a:t>Table 3. Optical properties of the tissue phantom at wavelength 532 nm according to the National Institute of Standards and Technology (NIST) report </a:t>
            </a:r>
          </a:p>
        </p:txBody>
      </p:sp>
      <p:pic>
        <p:nvPicPr>
          <p:cNvPr id="9" name="Picture 8">
            <a:extLst>
              <a:ext uri="{FF2B5EF4-FFF2-40B4-BE49-F238E27FC236}">
                <a16:creationId xmlns:a16="http://schemas.microsoft.com/office/drawing/2014/main" id="{C8CAA9DB-D620-E059-EEEB-E401D9EE1A46}"/>
              </a:ext>
            </a:extLst>
          </p:cNvPr>
          <p:cNvPicPr>
            <a:picLocks noChangeAspect="1"/>
          </p:cNvPicPr>
          <p:nvPr/>
        </p:nvPicPr>
        <p:blipFill>
          <a:blip r:embed="rId3">
            <a:extLst>
              <a:ext uri="{28A0092B-C50C-407E-A947-70E740481C1C}">
                <a14:useLocalDpi xmlns:a14="http://schemas.microsoft.com/office/drawing/2010/main" val="0"/>
              </a:ext>
            </a:extLst>
          </a:blip>
          <a:srcRect t="23672"/>
          <a:stretch>
            <a:fillRect/>
          </a:stretch>
        </p:blipFill>
        <p:spPr>
          <a:xfrm>
            <a:off x="1333499" y="3903120"/>
            <a:ext cx="15621000" cy="3983580"/>
          </a:xfrm>
          <a:prstGeom prst="rect">
            <a:avLst/>
          </a:prstGeom>
        </p:spPr>
      </p:pic>
    </p:spTree>
    <p:extLst>
      <p:ext uri="{BB962C8B-B14F-4D97-AF65-F5344CB8AC3E}">
        <p14:creationId xmlns:p14="http://schemas.microsoft.com/office/powerpoint/2010/main" val="213944948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56BB03-2369-6D76-E2D6-07805D9A1A39}"/>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611B3A84-7A55-F818-99CB-1476934CE3B8}"/>
              </a:ext>
            </a:extLst>
          </p:cNvPr>
          <p:cNvSpPr/>
          <p:nvPr/>
        </p:nvSpPr>
        <p:spPr>
          <a:xfrm>
            <a:off x="-6824"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alphaModFix amt="50000"/>
            </a:blip>
            <a:stretch>
              <a:fillRect/>
            </a:stretch>
          </a:blipFill>
          <a:ln cap="sq">
            <a:noFill/>
            <a:prstDash val="solid"/>
            <a:miter/>
          </a:ln>
        </p:spPr>
        <p:txBody>
          <a:bodyPr/>
          <a:lstStyle/>
          <a:p>
            <a:endParaRPr lang="en-US" dirty="0"/>
          </a:p>
        </p:txBody>
      </p:sp>
      <p:sp>
        <p:nvSpPr>
          <p:cNvPr id="3" name="AutoShape 3">
            <a:extLst>
              <a:ext uri="{FF2B5EF4-FFF2-40B4-BE49-F238E27FC236}">
                <a16:creationId xmlns:a16="http://schemas.microsoft.com/office/drawing/2014/main" id="{075437A1-726B-26B7-1D14-E493B585F29B}"/>
              </a:ext>
            </a:extLst>
          </p:cNvPr>
          <p:cNvSpPr/>
          <p:nvPr/>
        </p:nvSpPr>
        <p:spPr>
          <a:xfrm>
            <a:off x="1166399" y="1028700"/>
            <a:ext cx="687324" cy="0"/>
          </a:xfrm>
          <a:prstGeom prst="line">
            <a:avLst/>
          </a:prstGeom>
          <a:ln w="76200" cap="flat">
            <a:solidFill>
              <a:srgbClr val="000000"/>
            </a:solidFill>
            <a:prstDash val="solid"/>
            <a:headEnd type="none" w="sm" len="sm"/>
            <a:tailEnd type="none" w="sm" len="sm"/>
          </a:ln>
        </p:spPr>
        <p:txBody>
          <a:bodyPr/>
          <a:lstStyle/>
          <a:p>
            <a:endParaRPr lang="en-US" dirty="0"/>
          </a:p>
        </p:txBody>
      </p:sp>
      <mc:AlternateContent xmlns:mc="http://schemas.openxmlformats.org/markup-compatibility/2006" xmlns:a14="http://schemas.microsoft.com/office/drawing/2010/main">
        <mc:Choice Requires="a14">
          <p:sp>
            <p:nvSpPr>
              <p:cNvPr id="8" name="TextBox 8">
                <a:extLst>
                  <a:ext uri="{FF2B5EF4-FFF2-40B4-BE49-F238E27FC236}">
                    <a16:creationId xmlns:a16="http://schemas.microsoft.com/office/drawing/2014/main" id="{9CB863DE-070C-052A-268F-A3CB9CFC175A}"/>
                  </a:ext>
                </a:extLst>
              </p:cNvPr>
              <p:cNvSpPr txBox="1"/>
              <p:nvPr/>
            </p:nvSpPr>
            <p:spPr>
              <a:xfrm>
                <a:off x="873209" y="1491326"/>
                <a:ext cx="8880392" cy="11049179"/>
              </a:xfrm>
              <a:prstGeom prst="rect">
                <a:avLst/>
              </a:prstGeom>
            </p:spPr>
            <p:txBody>
              <a:bodyPr wrap="square" lIns="0" tIns="0" rIns="0" bIns="0" rtlCol="0" anchor="t">
                <a:spAutoFit/>
              </a:bodyPr>
              <a:lstStyle/>
              <a:p>
                <a:pPr marL="302259" lvl="1">
                  <a:lnSpc>
                    <a:spcPts val="4479"/>
                  </a:lnSpc>
                </a:pPr>
                <a:r>
                  <a:rPr lang="en-US" sz="4000" b="1" dirty="0">
                    <a:solidFill>
                      <a:srgbClr val="000000"/>
                    </a:solidFill>
                    <a:latin typeface="Times New Roman" panose="02020603050405020304" pitchFamily="18" charset="0"/>
                    <a:cs typeface="Times New Roman" panose="02020603050405020304" pitchFamily="18" charset="0"/>
                    <a:sym typeface="Open Sauce"/>
                  </a:rPr>
                  <a:t>Application to measuring optical properties</a:t>
                </a:r>
                <a:endParaRPr lang="en-US" sz="2500" dirty="0"/>
              </a:p>
              <a:p>
                <a:pPr marL="604519" lvl="1" indent="-302260">
                  <a:lnSpc>
                    <a:spcPct val="200000"/>
                  </a:lnSpc>
                  <a:buFont typeface="Arial"/>
                  <a:buChar char="•"/>
                </a:pPr>
                <a:r>
                  <a:rPr lang="en-US" sz="2500" dirty="0"/>
                  <a:t>Estimate the optical properties, absorption coefficient </a:t>
                </a:r>
                <a14:m>
                  <m:oMath xmlns:m="http://schemas.openxmlformats.org/officeDocument/2006/math">
                    <m:sSub>
                      <m:sSubPr>
                        <m:ctrlPr>
                          <a:rPr lang="en-US" sz="2500" i="1" smtClean="0">
                            <a:latin typeface="Cambria Math" panose="02040503050406030204" pitchFamily="18" charset="0"/>
                          </a:rPr>
                        </m:ctrlPr>
                      </m:sSubPr>
                      <m:e>
                        <m:r>
                          <a:rPr lang="en-US" sz="2500" i="1" smtClean="0">
                            <a:latin typeface="Cambria Math" panose="02040503050406030204" pitchFamily="18" charset="0"/>
                            <a:ea typeface="Cambria Math" panose="02040503050406030204" pitchFamily="18" charset="0"/>
                          </a:rPr>
                          <m:t>𝜇</m:t>
                        </m:r>
                      </m:e>
                      <m:sub>
                        <m:r>
                          <a:rPr lang="en-US" sz="2500" b="0" i="1" smtClean="0">
                            <a:latin typeface="Cambria Math" panose="02040503050406030204" pitchFamily="18" charset="0"/>
                          </a:rPr>
                          <m:t>𝑎</m:t>
                        </m:r>
                      </m:sub>
                    </m:sSub>
                  </m:oMath>
                </a14:m>
                <a:r>
                  <a:rPr lang="en-US" sz="2500" dirty="0"/>
                  <a:t> and reduced scattering </a:t>
                </a:r>
                <a14:m>
                  <m:oMath xmlns:m="http://schemas.openxmlformats.org/officeDocument/2006/math">
                    <m:sSubSup>
                      <m:sSubSupPr>
                        <m:ctrlPr>
                          <a:rPr lang="en-US" sz="2500" i="1" smtClean="0">
                            <a:latin typeface="Cambria Math" panose="02040503050406030204" pitchFamily="18" charset="0"/>
                          </a:rPr>
                        </m:ctrlPr>
                      </m:sSubSupPr>
                      <m:e>
                        <m:r>
                          <a:rPr lang="en-US" sz="2500" i="1">
                            <a:latin typeface="Cambria Math" panose="02040503050406030204" pitchFamily="18" charset="0"/>
                            <a:ea typeface="Cambria Math" panose="02040503050406030204" pitchFamily="18" charset="0"/>
                          </a:rPr>
                          <m:t>𝜇</m:t>
                        </m:r>
                      </m:e>
                      <m:sub>
                        <m:r>
                          <a:rPr lang="en-US" sz="2500" b="0" i="1" smtClean="0">
                            <a:latin typeface="Cambria Math" panose="02040503050406030204" pitchFamily="18" charset="0"/>
                          </a:rPr>
                          <m:t>𝑠</m:t>
                        </m:r>
                      </m:sub>
                      <m:sup>
                        <m:r>
                          <a:rPr lang="en-US" sz="2500" b="0" i="1" smtClean="0">
                            <a:latin typeface="Cambria Math" panose="02040503050406030204" pitchFamily="18" charset="0"/>
                          </a:rPr>
                          <m:t>′</m:t>
                        </m:r>
                      </m:sup>
                    </m:sSubSup>
                  </m:oMath>
                </a14:m>
                <a:r>
                  <a:rPr lang="en-US" sz="2500" dirty="0"/>
                  <a:t> by using the diffuse reflectance </a:t>
                </a:r>
                <a14:m>
                  <m:oMath xmlns:m="http://schemas.openxmlformats.org/officeDocument/2006/math">
                    <m:sSub>
                      <m:sSubPr>
                        <m:ctrlPr>
                          <a:rPr lang="en-US" sz="2500" i="1">
                            <a:latin typeface="Cambria Math" panose="02040503050406030204" pitchFamily="18" charset="0"/>
                          </a:rPr>
                        </m:ctrlPr>
                      </m:sSubPr>
                      <m:e>
                        <m:r>
                          <a:rPr lang="en-US" sz="2500" b="0" i="1" smtClean="0">
                            <a:latin typeface="Cambria Math" panose="02040503050406030204" pitchFamily="18" charset="0"/>
                          </a:rPr>
                          <m:t>𝑀</m:t>
                        </m:r>
                      </m:e>
                      <m:sub>
                        <m:r>
                          <a:rPr lang="en-US" sz="2500" b="0" i="1" smtClean="0">
                            <a:latin typeface="Cambria Math" panose="02040503050406030204" pitchFamily="18" charset="0"/>
                            <a:ea typeface="Cambria Math" panose="02040503050406030204" pitchFamily="18" charset="0"/>
                          </a:rPr>
                          <m:t>𝑅</m:t>
                        </m:r>
                      </m:sub>
                    </m:sSub>
                  </m:oMath>
                </a14:m>
                <a:r>
                  <a:rPr lang="en-US" sz="2500" dirty="0"/>
                  <a:t> , diffuse transmittance </a:t>
                </a:r>
                <a14:m>
                  <m:oMath xmlns:m="http://schemas.openxmlformats.org/officeDocument/2006/math">
                    <m:sSub>
                      <m:sSubPr>
                        <m:ctrlPr>
                          <a:rPr lang="en-US" sz="2500" i="1">
                            <a:latin typeface="Cambria Math" panose="02040503050406030204" pitchFamily="18" charset="0"/>
                          </a:rPr>
                        </m:ctrlPr>
                      </m:sSubPr>
                      <m:e>
                        <m:r>
                          <a:rPr lang="en-US" sz="2500" b="0" i="1" smtClean="0">
                            <a:latin typeface="Cambria Math" panose="02040503050406030204" pitchFamily="18" charset="0"/>
                          </a:rPr>
                          <m:t>𝑀</m:t>
                        </m:r>
                      </m:e>
                      <m:sub>
                        <m:r>
                          <a:rPr lang="en-US" sz="2500" b="0" i="1" smtClean="0">
                            <a:latin typeface="Cambria Math" panose="02040503050406030204" pitchFamily="18" charset="0"/>
                            <a:ea typeface="Cambria Math" panose="02040503050406030204" pitchFamily="18" charset="0"/>
                          </a:rPr>
                          <m:t>𝑇</m:t>
                        </m:r>
                      </m:sub>
                    </m:sSub>
                  </m:oMath>
                </a14:m>
                <a:r>
                  <a:rPr lang="en-US" sz="2500" dirty="0"/>
                  <a:t> and optional regular transmittance </a:t>
                </a:r>
                <a14:m>
                  <m:oMath xmlns:m="http://schemas.openxmlformats.org/officeDocument/2006/math">
                    <m:sSub>
                      <m:sSubPr>
                        <m:ctrlPr>
                          <a:rPr lang="en-US" sz="2500" i="1">
                            <a:latin typeface="Cambria Math" panose="02040503050406030204" pitchFamily="18" charset="0"/>
                          </a:rPr>
                        </m:ctrlPr>
                      </m:sSubPr>
                      <m:e>
                        <m:r>
                          <a:rPr lang="en-US" sz="2500" b="0" i="1" smtClean="0">
                            <a:latin typeface="Cambria Math" panose="02040503050406030204" pitchFamily="18" charset="0"/>
                          </a:rPr>
                          <m:t>𝑀</m:t>
                        </m:r>
                      </m:e>
                      <m:sub>
                        <m:r>
                          <a:rPr lang="en-US" sz="2500" b="0" i="1" smtClean="0">
                            <a:latin typeface="Cambria Math" panose="02040503050406030204" pitchFamily="18" charset="0"/>
                            <a:ea typeface="Cambria Math" panose="02040503050406030204" pitchFamily="18" charset="0"/>
                          </a:rPr>
                          <m:t>𝑈</m:t>
                        </m:r>
                      </m:sub>
                    </m:sSub>
                  </m:oMath>
                </a14:m>
                <a:r>
                  <a:rPr lang="en-US" sz="2500" dirty="0"/>
                  <a:t> .</a:t>
                </a:r>
              </a:p>
              <a:p>
                <a:pPr marL="302259" lvl="1">
                  <a:lnSpc>
                    <a:spcPct val="200000"/>
                  </a:lnSpc>
                </a:pPr>
                <a:r>
                  <a:rPr lang="en-US" sz="2500" b="1" dirty="0"/>
                  <a:t>Lookup Table method </a:t>
                </a:r>
              </a:p>
              <a:p>
                <a:pPr marL="604519" lvl="1" indent="-302260">
                  <a:lnSpc>
                    <a:spcPct val="200000"/>
                  </a:lnSpc>
                  <a:buFont typeface="Arial"/>
                  <a:buChar char="•"/>
                </a:pPr>
                <a:r>
                  <a:rPr lang="en-US" sz="2500" dirty="0"/>
                  <a:t>Simulate the wide range of </a:t>
                </a:r>
                <a14:m>
                  <m:oMath xmlns:m="http://schemas.openxmlformats.org/officeDocument/2006/math">
                    <m:sSub>
                      <m:sSubPr>
                        <m:ctrlPr>
                          <a:rPr lang="en-US" sz="2500" i="1">
                            <a:latin typeface="Cambria Math" panose="02040503050406030204" pitchFamily="18" charset="0"/>
                          </a:rPr>
                        </m:ctrlPr>
                      </m:sSubPr>
                      <m:e>
                        <m:r>
                          <a:rPr lang="en-US" sz="2500" i="1">
                            <a:latin typeface="Cambria Math" panose="02040503050406030204" pitchFamily="18" charset="0"/>
                            <a:ea typeface="Cambria Math" panose="02040503050406030204" pitchFamily="18" charset="0"/>
                          </a:rPr>
                          <m:t>𝜇</m:t>
                        </m:r>
                      </m:e>
                      <m:sub>
                        <m:r>
                          <a:rPr lang="en-US" sz="2500" i="1">
                            <a:latin typeface="Cambria Math" panose="02040503050406030204" pitchFamily="18" charset="0"/>
                          </a:rPr>
                          <m:t>𝑎</m:t>
                        </m:r>
                      </m:sub>
                    </m:sSub>
                  </m:oMath>
                </a14:m>
                <a:r>
                  <a:rPr lang="en-US" sz="2500" dirty="0"/>
                  <a:t> and </a:t>
                </a:r>
                <a14:m>
                  <m:oMath xmlns:m="http://schemas.openxmlformats.org/officeDocument/2006/math">
                    <m:sSubSup>
                      <m:sSubSupPr>
                        <m:ctrlPr>
                          <a:rPr lang="en-US" sz="2500" i="1">
                            <a:latin typeface="Cambria Math" panose="02040503050406030204" pitchFamily="18" charset="0"/>
                          </a:rPr>
                        </m:ctrlPr>
                      </m:sSubSupPr>
                      <m:e>
                        <m:r>
                          <a:rPr lang="en-US" sz="2500" i="1">
                            <a:latin typeface="Cambria Math" panose="02040503050406030204" pitchFamily="18" charset="0"/>
                            <a:ea typeface="Cambria Math" panose="02040503050406030204" pitchFamily="18" charset="0"/>
                          </a:rPr>
                          <m:t>𝜇</m:t>
                        </m:r>
                      </m:e>
                      <m:sub>
                        <m:r>
                          <a:rPr lang="en-US" sz="2500" i="1">
                            <a:latin typeface="Cambria Math" panose="02040503050406030204" pitchFamily="18" charset="0"/>
                          </a:rPr>
                          <m:t>𝑠</m:t>
                        </m:r>
                      </m:sub>
                      <m:sup>
                        <m:r>
                          <a:rPr lang="en-US" sz="2500" i="1">
                            <a:latin typeface="Cambria Math" panose="02040503050406030204" pitchFamily="18" charset="0"/>
                          </a:rPr>
                          <m:t>′</m:t>
                        </m:r>
                      </m:sup>
                    </m:sSubSup>
                  </m:oMath>
                </a14:m>
                <a:r>
                  <a:rPr lang="en-US" sz="2500" dirty="0"/>
                  <a:t> values and stores the corresponding R and T results. </a:t>
                </a:r>
              </a:p>
              <a:p>
                <a:pPr marL="604519" lvl="1" indent="-302260">
                  <a:lnSpc>
                    <a:spcPct val="200000"/>
                  </a:lnSpc>
                  <a:buFont typeface="Arial"/>
                  <a:buChar char="•"/>
                </a:pPr>
                <a:r>
                  <a:rPr lang="en-US" sz="2500" dirty="0"/>
                  <a:t>Invert the table to find the optical properties.</a:t>
                </a:r>
              </a:p>
              <a:p>
                <a:pPr marL="604519" lvl="1" indent="-302260">
                  <a:lnSpc>
                    <a:spcPct val="200000"/>
                  </a:lnSpc>
                  <a:buFont typeface="Arial"/>
                  <a:buChar char="•"/>
                </a:pPr>
                <a:r>
                  <a:rPr lang="en-US" sz="2500" dirty="0"/>
                  <a:t>It is easy to understand and suitable for multiple similar samples. </a:t>
                </a:r>
              </a:p>
              <a:p>
                <a:pPr marL="604519" lvl="1" indent="-302260">
                  <a:lnSpc>
                    <a:spcPct val="200000"/>
                  </a:lnSpc>
                  <a:buFont typeface="Arial"/>
                  <a:buChar char="•"/>
                </a:pPr>
                <a:endParaRPr lang="en-US" sz="2500" dirty="0"/>
              </a:p>
              <a:p>
                <a:pPr marL="302259" lvl="1">
                  <a:lnSpc>
                    <a:spcPct val="200000"/>
                  </a:lnSpc>
                </a:pPr>
                <a:endParaRPr lang="en-US" sz="2500" dirty="0"/>
              </a:p>
              <a:p>
                <a:pPr marL="604519" lvl="1" indent="-302260">
                  <a:lnSpc>
                    <a:spcPct val="200000"/>
                  </a:lnSpc>
                  <a:buFont typeface="Arial"/>
                  <a:buChar char="•"/>
                </a:pPr>
                <a:endParaRPr lang="en-US" sz="2500" dirty="0"/>
              </a:p>
            </p:txBody>
          </p:sp>
        </mc:Choice>
        <mc:Fallback xmlns="">
          <p:sp>
            <p:nvSpPr>
              <p:cNvPr id="8" name="TextBox 8">
                <a:extLst>
                  <a:ext uri="{FF2B5EF4-FFF2-40B4-BE49-F238E27FC236}">
                    <a16:creationId xmlns:a16="http://schemas.microsoft.com/office/drawing/2014/main" id="{9CB863DE-070C-052A-268F-A3CB9CFC175A}"/>
                  </a:ext>
                </a:extLst>
              </p:cNvPr>
              <p:cNvSpPr txBox="1">
                <a:spLocks noRot="1" noChangeAspect="1" noMove="1" noResize="1" noEditPoints="1" noAdjustHandles="1" noChangeArrowheads="1" noChangeShapeType="1" noTextEdit="1"/>
              </p:cNvSpPr>
              <p:nvPr/>
            </p:nvSpPr>
            <p:spPr>
              <a:xfrm>
                <a:off x="873209" y="1491326"/>
                <a:ext cx="8880392" cy="11049179"/>
              </a:xfrm>
              <a:prstGeom prst="rect">
                <a:avLst/>
              </a:prstGeom>
              <a:blipFill>
                <a:blip r:embed="rId3"/>
                <a:stretch>
                  <a:fillRect t="-1766"/>
                </a:stretch>
              </a:blipFill>
            </p:spPr>
            <p:txBody>
              <a:bodyPr/>
              <a:lstStyle/>
              <a:p>
                <a:r>
                  <a:rPr lang="en-US">
                    <a:noFill/>
                  </a:rPr>
                  <a:t> </a:t>
                </a:r>
              </a:p>
            </p:txBody>
          </p:sp>
        </mc:Fallback>
      </mc:AlternateContent>
      <p:pic>
        <p:nvPicPr>
          <p:cNvPr id="5" name="Picture 4">
            <a:extLst>
              <a:ext uri="{FF2B5EF4-FFF2-40B4-BE49-F238E27FC236}">
                <a16:creationId xmlns:a16="http://schemas.microsoft.com/office/drawing/2014/main" id="{4FEC37DB-C9DC-F73B-44C5-17722301B3CF}"/>
              </a:ext>
            </a:extLst>
          </p:cNvPr>
          <p:cNvPicPr>
            <a:picLocks noChangeAspect="1"/>
          </p:cNvPicPr>
          <p:nvPr/>
        </p:nvPicPr>
        <p:blipFill>
          <a:blip r:embed="rId4"/>
          <a:srcRect r="49958"/>
          <a:stretch>
            <a:fillRect/>
          </a:stretch>
        </p:blipFill>
        <p:spPr>
          <a:xfrm>
            <a:off x="11403521" y="1072112"/>
            <a:ext cx="5285487" cy="4185574"/>
          </a:xfrm>
          <a:prstGeom prst="rect">
            <a:avLst/>
          </a:prstGeom>
        </p:spPr>
      </p:pic>
      <p:pic>
        <p:nvPicPr>
          <p:cNvPr id="6" name="Picture 5">
            <a:extLst>
              <a:ext uri="{FF2B5EF4-FFF2-40B4-BE49-F238E27FC236}">
                <a16:creationId xmlns:a16="http://schemas.microsoft.com/office/drawing/2014/main" id="{922B9BF7-D4F7-A38D-8B4F-DC01CEE0E209}"/>
              </a:ext>
            </a:extLst>
          </p:cNvPr>
          <p:cNvPicPr>
            <a:picLocks noChangeAspect="1"/>
          </p:cNvPicPr>
          <p:nvPr/>
        </p:nvPicPr>
        <p:blipFill>
          <a:blip r:embed="rId4"/>
          <a:srcRect l="48265"/>
          <a:stretch>
            <a:fillRect/>
          </a:stretch>
        </p:blipFill>
        <p:spPr>
          <a:xfrm>
            <a:off x="11403520" y="5257686"/>
            <a:ext cx="5285488" cy="4063279"/>
          </a:xfrm>
          <a:prstGeom prst="rect">
            <a:avLst/>
          </a:prstGeom>
        </p:spPr>
      </p:pic>
      <p:sp>
        <p:nvSpPr>
          <p:cNvPr id="7" name="TextBox 6">
            <a:extLst>
              <a:ext uri="{FF2B5EF4-FFF2-40B4-BE49-F238E27FC236}">
                <a16:creationId xmlns:a16="http://schemas.microsoft.com/office/drawing/2014/main" id="{66D4AC4A-F7AD-3209-944D-0F4DEC00EA7F}"/>
              </a:ext>
            </a:extLst>
          </p:cNvPr>
          <p:cNvSpPr txBox="1"/>
          <p:nvPr/>
        </p:nvSpPr>
        <p:spPr>
          <a:xfrm>
            <a:off x="9850596" y="9320965"/>
            <a:ext cx="8430580" cy="646331"/>
          </a:xfrm>
          <a:prstGeom prst="rect">
            <a:avLst/>
          </a:prstGeom>
          <a:noFill/>
        </p:spPr>
        <p:txBody>
          <a:bodyPr wrap="square" rtlCol="0">
            <a:spAutoFit/>
          </a:bodyPr>
          <a:lstStyle/>
          <a:p>
            <a:r>
              <a:rPr lang="en-US" dirty="0"/>
              <a:t>Fig. Lookup table for (a) absorption coefficient and (b) for reduced scattering coefficient</a:t>
            </a:r>
          </a:p>
          <a:p>
            <a:r>
              <a:rPr lang="en-US" dirty="0"/>
              <a:t>n = 1.4, g = 0.9 and t = 1 cm with a zero-sphere setup.</a:t>
            </a:r>
          </a:p>
        </p:txBody>
      </p:sp>
    </p:spTree>
    <p:extLst>
      <p:ext uri="{BB962C8B-B14F-4D97-AF65-F5344CB8AC3E}">
        <p14:creationId xmlns:p14="http://schemas.microsoft.com/office/powerpoint/2010/main" val="169110620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32FAC9-30D3-CFE7-786E-AC4ED4AD3B67}"/>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5B54BC11-8108-DCCA-2191-1038470BBD4F}"/>
              </a:ext>
            </a:extLst>
          </p:cNvPr>
          <p:cNvSpPr/>
          <p:nvPr/>
        </p:nvSpPr>
        <p:spPr>
          <a:xfrm>
            <a:off x="-6824"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3">
              <a:alphaModFix amt="50000"/>
            </a:blip>
            <a:stretch>
              <a:fillRect/>
            </a:stretch>
          </a:blipFill>
          <a:ln cap="sq">
            <a:noFill/>
            <a:prstDash val="solid"/>
            <a:miter/>
          </a:ln>
        </p:spPr>
        <p:txBody>
          <a:bodyPr/>
          <a:lstStyle/>
          <a:p>
            <a:endParaRPr lang="en-US" dirty="0"/>
          </a:p>
        </p:txBody>
      </p:sp>
      <p:sp>
        <p:nvSpPr>
          <p:cNvPr id="3" name="AutoShape 3">
            <a:extLst>
              <a:ext uri="{FF2B5EF4-FFF2-40B4-BE49-F238E27FC236}">
                <a16:creationId xmlns:a16="http://schemas.microsoft.com/office/drawing/2014/main" id="{5F71138C-BD66-F057-ABE5-E056CC088731}"/>
              </a:ext>
            </a:extLst>
          </p:cNvPr>
          <p:cNvSpPr/>
          <p:nvPr/>
        </p:nvSpPr>
        <p:spPr>
          <a:xfrm>
            <a:off x="1166399" y="1028700"/>
            <a:ext cx="687324" cy="0"/>
          </a:xfrm>
          <a:prstGeom prst="line">
            <a:avLst/>
          </a:prstGeom>
          <a:ln w="76200" cap="flat">
            <a:solidFill>
              <a:srgbClr val="000000"/>
            </a:solidFill>
            <a:prstDash val="solid"/>
            <a:headEnd type="none" w="sm" len="sm"/>
            <a:tailEnd type="none" w="sm" len="sm"/>
          </a:ln>
        </p:spPr>
        <p:txBody>
          <a:bodyPr/>
          <a:lstStyle/>
          <a:p>
            <a:endParaRPr lang="en-US" dirty="0"/>
          </a:p>
        </p:txBody>
      </p:sp>
      <p:sp>
        <p:nvSpPr>
          <p:cNvPr id="8" name="TextBox 8">
            <a:extLst>
              <a:ext uri="{FF2B5EF4-FFF2-40B4-BE49-F238E27FC236}">
                <a16:creationId xmlns:a16="http://schemas.microsoft.com/office/drawing/2014/main" id="{E4B08B9B-EC43-C441-4085-850FE086D07F}"/>
              </a:ext>
            </a:extLst>
          </p:cNvPr>
          <p:cNvSpPr txBox="1"/>
          <p:nvPr/>
        </p:nvSpPr>
        <p:spPr>
          <a:xfrm>
            <a:off x="873208" y="1491326"/>
            <a:ext cx="16541583" cy="4316566"/>
          </a:xfrm>
          <a:prstGeom prst="rect">
            <a:avLst/>
          </a:prstGeom>
        </p:spPr>
        <p:txBody>
          <a:bodyPr wrap="square" lIns="0" tIns="0" rIns="0" bIns="0" rtlCol="0" anchor="t">
            <a:spAutoFit/>
          </a:bodyPr>
          <a:lstStyle/>
          <a:p>
            <a:pPr marL="302259" lvl="1">
              <a:lnSpc>
                <a:spcPts val="4479"/>
              </a:lnSpc>
            </a:pPr>
            <a:r>
              <a:rPr lang="en-US" sz="4000" b="1" dirty="0">
                <a:solidFill>
                  <a:srgbClr val="000000"/>
                </a:solidFill>
                <a:latin typeface="Times New Roman" panose="02020603050405020304" pitchFamily="18" charset="0"/>
                <a:cs typeface="Times New Roman" panose="02020603050405020304" pitchFamily="18" charset="0"/>
                <a:sym typeface="Open Sauce"/>
              </a:rPr>
              <a:t>Application to measuring optical properties</a:t>
            </a:r>
            <a:endParaRPr lang="en-US" sz="2500" dirty="0"/>
          </a:p>
          <a:p>
            <a:pPr marL="302259" lvl="1">
              <a:lnSpc>
                <a:spcPct val="200000"/>
              </a:lnSpc>
            </a:pPr>
            <a:r>
              <a:rPr lang="en-US" sz="2500" b="1" dirty="0"/>
              <a:t>Multivariable minimization method </a:t>
            </a:r>
          </a:p>
          <a:p>
            <a:pPr marL="604519" lvl="1" indent="-302260">
              <a:lnSpc>
                <a:spcPct val="200000"/>
              </a:lnSpc>
              <a:buFont typeface="Arial"/>
              <a:buChar char="•"/>
            </a:pPr>
            <a:r>
              <a:rPr lang="en-US" sz="2500" dirty="0"/>
              <a:t>Define the objective function for the difference between measured values and simulation result  </a:t>
            </a:r>
          </a:p>
          <a:p>
            <a:pPr marL="604519" lvl="1" indent="-302260">
              <a:lnSpc>
                <a:spcPct val="200000"/>
              </a:lnSpc>
              <a:buFont typeface="Arial"/>
              <a:buChar char="•"/>
            </a:pPr>
            <a:endParaRPr lang="en-US" sz="2500" dirty="0"/>
          </a:p>
          <a:p>
            <a:pPr marL="302259" lvl="1">
              <a:lnSpc>
                <a:spcPct val="200000"/>
              </a:lnSpc>
            </a:pPr>
            <a:endParaRPr lang="en-US" sz="2500" dirty="0"/>
          </a:p>
          <a:p>
            <a:pPr marL="604519" lvl="1" indent="-302260">
              <a:lnSpc>
                <a:spcPct val="200000"/>
              </a:lnSpc>
              <a:buFont typeface="Arial"/>
              <a:buChar char="•"/>
            </a:pPr>
            <a:endParaRPr lang="en-US" sz="2500" dirty="0"/>
          </a:p>
        </p:txBody>
      </p:sp>
      <p:pic>
        <p:nvPicPr>
          <p:cNvPr id="5" name="Picture 4">
            <a:extLst>
              <a:ext uri="{FF2B5EF4-FFF2-40B4-BE49-F238E27FC236}">
                <a16:creationId xmlns:a16="http://schemas.microsoft.com/office/drawing/2014/main" id="{3A42BEAC-0B20-BF92-AC2E-3A22C64B323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166399" y="3543301"/>
            <a:ext cx="10949401" cy="6246542"/>
          </a:xfrm>
          <a:prstGeom prst="rect">
            <a:avLst/>
          </a:prstGeom>
        </p:spPr>
      </p:pic>
    </p:spTree>
    <p:extLst>
      <p:ext uri="{BB962C8B-B14F-4D97-AF65-F5344CB8AC3E}">
        <p14:creationId xmlns:p14="http://schemas.microsoft.com/office/powerpoint/2010/main" val="351559498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64E9DA-427B-144A-5DCD-C911B9B71FC6}"/>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09BD5C20-3315-8706-7189-29678B95F290}"/>
              </a:ext>
            </a:extLst>
          </p:cNvPr>
          <p:cNvSpPr/>
          <p:nvPr/>
        </p:nvSpPr>
        <p:spPr>
          <a:xfrm>
            <a:off x="-1" y="-16443"/>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3">
              <a:alphaModFix amt="50000"/>
            </a:blip>
            <a:stretch>
              <a:fillRect/>
            </a:stretch>
          </a:blipFill>
          <a:ln cap="sq">
            <a:noFill/>
            <a:prstDash val="solid"/>
            <a:miter/>
          </a:ln>
        </p:spPr>
        <p:txBody>
          <a:bodyPr/>
          <a:lstStyle/>
          <a:p>
            <a:endParaRPr lang="en-US" dirty="0"/>
          </a:p>
        </p:txBody>
      </p:sp>
      <p:sp>
        <p:nvSpPr>
          <p:cNvPr id="3" name="AutoShape 3">
            <a:extLst>
              <a:ext uri="{FF2B5EF4-FFF2-40B4-BE49-F238E27FC236}">
                <a16:creationId xmlns:a16="http://schemas.microsoft.com/office/drawing/2014/main" id="{C259670F-966D-70FB-A157-01C6A34B7619}"/>
              </a:ext>
            </a:extLst>
          </p:cNvPr>
          <p:cNvSpPr/>
          <p:nvPr/>
        </p:nvSpPr>
        <p:spPr>
          <a:xfrm>
            <a:off x="1166399" y="1028700"/>
            <a:ext cx="687324" cy="0"/>
          </a:xfrm>
          <a:prstGeom prst="line">
            <a:avLst/>
          </a:prstGeom>
          <a:ln w="76200" cap="flat">
            <a:solidFill>
              <a:srgbClr val="000000"/>
            </a:solidFill>
            <a:prstDash val="solid"/>
            <a:headEnd type="none" w="sm" len="sm"/>
            <a:tailEnd type="none" w="sm" len="sm"/>
          </a:ln>
        </p:spPr>
        <p:txBody>
          <a:bodyPr/>
          <a:lstStyle/>
          <a:p>
            <a:endParaRPr lang="en-US" dirty="0"/>
          </a:p>
        </p:txBody>
      </p:sp>
      <p:sp>
        <p:nvSpPr>
          <p:cNvPr id="8" name="TextBox 8">
            <a:extLst>
              <a:ext uri="{FF2B5EF4-FFF2-40B4-BE49-F238E27FC236}">
                <a16:creationId xmlns:a16="http://schemas.microsoft.com/office/drawing/2014/main" id="{526FA171-0DAE-D691-0F27-AD5C02AEACD8}"/>
              </a:ext>
            </a:extLst>
          </p:cNvPr>
          <p:cNvSpPr txBox="1"/>
          <p:nvPr/>
        </p:nvSpPr>
        <p:spPr>
          <a:xfrm>
            <a:off x="873208" y="1491326"/>
            <a:ext cx="16541583" cy="8163773"/>
          </a:xfrm>
          <a:prstGeom prst="rect">
            <a:avLst/>
          </a:prstGeom>
        </p:spPr>
        <p:txBody>
          <a:bodyPr wrap="square" lIns="0" tIns="0" rIns="0" bIns="0" rtlCol="0" anchor="t">
            <a:spAutoFit/>
          </a:bodyPr>
          <a:lstStyle/>
          <a:p>
            <a:pPr marL="302259" lvl="1">
              <a:lnSpc>
                <a:spcPts val="4479"/>
              </a:lnSpc>
            </a:pPr>
            <a:r>
              <a:rPr lang="en-US" sz="4000" b="1" dirty="0">
                <a:solidFill>
                  <a:srgbClr val="000000"/>
                </a:solidFill>
                <a:latin typeface="Times New Roman" panose="02020603050405020304" pitchFamily="18" charset="0"/>
                <a:cs typeface="Times New Roman" panose="02020603050405020304" pitchFamily="18" charset="0"/>
                <a:sym typeface="Open Sauce"/>
              </a:rPr>
              <a:t>Propagation of uncertainties</a:t>
            </a:r>
            <a:endParaRPr lang="en-US" sz="2500" dirty="0"/>
          </a:p>
          <a:p>
            <a:pPr marL="302259" lvl="1">
              <a:lnSpc>
                <a:spcPct val="200000"/>
              </a:lnSpc>
            </a:pPr>
            <a:r>
              <a:rPr lang="en-US" sz="2500" b="1" dirty="0"/>
              <a:t>Lookup table method</a:t>
            </a:r>
          </a:p>
          <a:p>
            <a:pPr marL="645159" lvl="1" indent="-342900">
              <a:lnSpc>
                <a:spcPct val="200000"/>
              </a:lnSpc>
              <a:buFont typeface="Arial" panose="020B0604020202020204" pitchFamily="34" charset="0"/>
              <a:buChar char="•"/>
            </a:pPr>
            <a:r>
              <a:rPr lang="en-US" sz="2500" dirty="0"/>
              <a:t>Required</a:t>
            </a:r>
            <a:r>
              <a:rPr lang="en-US" sz="2500" b="1" dirty="0"/>
              <a:t> </a:t>
            </a:r>
            <a:r>
              <a:rPr lang="en-US" sz="2500" dirty="0"/>
              <a:t>both forward propagation and backward propagation.</a:t>
            </a:r>
          </a:p>
          <a:p>
            <a:pPr marL="645159" lvl="1" indent="-342900">
              <a:lnSpc>
                <a:spcPct val="200000"/>
              </a:lnSpc>
              <a:buFont typeface="Arial" panose="020B0604020202020204" pitchFamily="34" charset="0"/>
              <a:buChar char="•"/>
            </a:pPr>
            <a:r>
              <a:rPr lang="en-US" sz="2500" dirty="0"/>
              <a:t>Combined experimental and simulation uncertainties for the final uncertainty.</a:t>
            </a:r>
          </a:p>
          <a:p>
            <a:pPr marL="302259" lvl="1">
              <a:lnSpc>
                <a:spcPct val="200000"/>
              </a:lnSpc>
            </a:pPr>
            <a:r>
              <a:rPr lang="en-US" sz="2500" b="1" dirty="0"/>
              <a:t>Minimization method</a:t>
            </a:r>
          </a:p>
          <a:p>
            <a:pPr marL="645159" lvl="1" indent="-342900">
              <a:lnSpc>
                <a:spcPct val="200000"/>
              </a:lnSpc>
              <a:buFont typeface="Arial" panose="020B0604020202020204" pitchFamily="34" charset="0"/>
              <a:buChar char="•"/>
            </a:pPr>
            <a:r>
              <a:rPr lang="en-US" sz="2500" dirty="0"/>
              <a:t>Only forward propagation is required. </a:t>
            </a:r>
          </a:p>
          <a:p>
            <a:pPr marL="645159" lvl="1" indent="-342900">
              <a:lnSpc>
                <a:spcPct val="200000"/>
              </a:lnSpc>
              <a:buFont typeface="Arial" panose="020B0604020202020204" pitchFamily="34" charset="0"/>
              <a:buChar char="•"/>
            </a:pPr>
            <a:r>
              <a:rPr lang="en-US" sz="2500" dirty="0"/>
              <a:t>Randomly samples the experimental uncertainties (), simulation and sphere parameter uncertainties.</a:t>
            </a:r>
          </a:p>
          <a:p>
            <a:pPr marL="645159" lvl="1" indent="-342900">
              <a:lnSpc>
                <a:spcPct val="200000"/>
              </a:lnSpc>
              <a:buFont typeface="Arial" panose="020B0604020202020204" pitchFamily="34" charset="0"/>
              <a:buChar char="•"/>
            </a:pPr>
            <a:r>
              <a:rPr lang="en-US" sz="2500" dirty="0"/>
              <a:t>Run multiple minimizations. </a:t>
            </a:r>
          </a:p>
          <a:p>
            <a:pPr marL="645159" lvl="1" indent="-342900">
              <a:lnSpc>
                <a:spcPct val="200000"/>
              </a:lnSpc>
              <a:buFont typeface="Arial" panose="020B0604020202020204" pitchFamily="34" charset="0"/>
              <a:buChar char="•"/>
            </a:pPr>
            <a:r>
              <a:rPr lang="en-US" sz="2500" dirty="0"/>
              <a:t>Final uncertainty is equal to the standard error of the mean. </a:t>
            </a:r>
          </a:p>
          <a:p>
            <a:pPr marL="302259" lvl="1">
              <a:lnSpc>
                <a:spcPct val="200000"/>
              </a:lnSpc>
            </a:pPr>
            <a:r>
              <a:rPr lang="en-US" sz="2500" dirty="0"/>
              <a:t>Both methods yield realistic and comparable uncertainty estimates. 							</a:t>
            </a:r>
          </a:p>
          <a:p>
            <a:pPr marL="302259" lvl="1">
              <a:lnSpc>
                <a:spcPct val="200000"/>
              </a:lnSpc>
            </a:pPr>
            <a:endParaRPr lang="en-US" sz="2500" dirty="0"/>
          </a:p>
        </p:txBody>
      </p:sp>
    </p:spTree>
    <p:extLst>
      <p:ext uri="{BB962C8B-B14F-4D97-AF65-F5344CB8AC3E}">
        <p14:creationId xmlns:p14="http://schemas.microsoft.com/office/powerpoint/2010/main" val="247429089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5C6CCD-0B4E-4EFA-2440-1192FDC35C43}"/>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6C153BBE-50AD-BC9D-EC98-A6D14B14ED5E}"/>
              </a:ext>
            </a:extLst>
          </p:cNvPr>
          <p:cNvSpPr/>
          <p:nvPr/>
        </p:nvSpPr>
        <p:spPr>
          <a:xfrm>
            <a:off x="-6824"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3">
              <a:alphaModFix amt="50000"/>
            </a:blip>
            <a:stretch>
              <a:fillRect/>
            </a:stretch>
          </a:blipFill>
          <a:ln cap="sq">
            <a:noFill/>
            <a:prstDash val="solid"/>
            <a:miter/>
          </a:ln>
        </p:spPr>
        <p:txBody>
          <a:bodyPr/>
          <a:lstStyle/>
          <a:p>
            <a:endParaRPr lang="en-US" dirty="0"/>
          </a:p>
        </p:txBody>
      </p:sp>
      <p:sp>
        <p:nvSpPr>
          <p:cNvPr id="3" name="AutoShape 3">
            <a:extLst>
              <a:ext uri="{FF2B5EF4-FFF2-40B4-BE49-F238E27FC236}">
                <a16:creationId xmlns:a16="http://schemas.microsoft.com/office/drawing/2014/main" id="{0AC35846-625A-6F94-9640-B90403F5A614}"/>
              </a:ext>
            </a:extLst>
          </p:cNvPr>
          <p:cNvSpPr/>
          <p:nvPr/>
        </p:nvSpPr>
        <p:spPr>
          <a:xfrm>
            <a:off x="1166399" y="1028700"/>
            <a:ext cx="687324" cy="0"/>
          </a:xfrm>
          <a:prstGeom prst="line">
            <a:avLst/>
          </a:prstGeom>
          <a:ln w="76200" cap="flat">
            <a:solidFill>
              <a:srgbClr val="000000"/>
            </a:solidFill>
            <a:prstDash val="solid"/>
            <a:headEnd type="none" w="sm" len="sm"/>
            <a:tailEnd type="none" w="sm" len="sm"/>
          </a:ln>
        </p:spPr>
        <p:txBody>
          <a:bodyPr/>
          <a:lstStyle/>
          <a:p>
            <a:endParaRPr lang="en-US" dirty="0"/>
          </a:p>
        </p:txBody>
      </p:sp>
      <p:sp>
        <p:nvSpPr>
          <p:cNvPr id="8" name="TextBox 8">
            <a:extLst>
              <a:ext uri="{FF2B5EF4-FFF2-40B4-BE49-F238E27FC236}">
                <a16:creationId xmlns:a16="http://schemas.microsoft.com/office/drawing/2014/main" id="{3007B227-30E9-D0BF-AF13-5EFF53244C6E}"/>
              </a:ext>
            </a:extLst>
          </p:cNvPr>
          <p:cNvSpPr txBox="1"/>
          <p:nvPr/>
        </p:nvSpPr>
        <p:spPr>
          <a:xfrm>
            <a:off x="873208" y="1491326"/>
            <a:ext cx="16541583" cy="3547125"/>
          </a:xfrm>
          <a:prstGeom prst="rect">
            <a:avLst/>
          </a:prstGeom>
        </p:spPr>
        <p:txBody>
          <a:bodyPr wrap="square" lIns="0" tIns="0" rIns="0" bIns="0" rtlCol="0" anchor="t">
            <a:spAutoFit/>
          </a:bodyPr>
          <a:lstStyle/>
          <a:p>
            <a:pPr marL="302259" lvl="1">
              <a:lnSpc>
                <a:spcPts val="4479"/>
              </a:lnSpc>
            </a:pPr>
            <a:r>
              <a:rPr lang="en-US" sz="4000" b="1" dirty="0">
                <a:solidFill>
                  <a:srgbClr val="000000"/>
                </a:solidFill>
                <a:latin typeface="Times New Roman" panose="02020603050405020304" pitchFamily="18" charset="0"/>
                <a:cs typeface="Times New Roman" panose="02020603050405020304" pitchFamily="18" charset="0"/>
                <a:sym typeface="Open Sauce"/>
              </a:rPr>
              <a:t>Propagation of uncertainties</a:t>
            </a:r>
            <a:endParaRPr lang="en-US" sz="2500" dirty="0"/>
          </a:p>
          <a:p>
            <a:pPr marL="302259" lvl="1">
              <a:lnSpc>
                <a:spcPct val="200000"/>
              </a:lnSpc>
            </a:pPr>
            <a:r>
              <a:rPr lang="en-US" sz="2500" b="1" dirty="0"/>
              <a:t>Lookup table method </a:t>
            </a:r>
          </a:p>
          <a:p>
            <a:pPr marL="302259" lvl="1">
              <a:lnSpc>
                <a:spcPct val="200000"/>
              </a:lnSpc>
            </a:pPr>
            <a:endParaRPr lang="en-US" sz="2500" dirty="0"/>
          </a:p>
          <a:p>
            <a:pPr marL="302259" lvl="1">
              <a:lnSpc>
                <a:spcPct val="200000"/>
              </a:lnSpc>
            </a:pPr>
            <a:endParaRPr lang="en-US" sz="2500" dirty="0"/>
          </a:p>
          <a:p>
            <a:pPr marL="604519" lvl="1" indent="-302260">
              <a:lnSpc>
                <a:spcPct val="200000"/>
              </a:lnSpc>
              <a:buFont typeface="Arial"/>
              <a:buChar char="•"/>
            </a:pPr>
            <a:endParaRPr lang="en-US" sz="2500" dirty="0"/>
          </a:p>
        </p:txBody>
      </p:sp>
      <p:sp>
        <p:nvSpPr>
          <p:cNvPr id="4" name="TextBox 3">
            <a:extLst>
              <a:ext uri="{FF2B5EF4-FFF2-40B4-BE49-F238E27FC236}">
                <a16:creationId xmlns:a16="http://schemas.microsoft.com/office/drawing/2014/main" id="{0E5DBEF4-FF94-5532-38A2-789CB1EDEC0D}"/>
              </a:ext>
            </a:extLst>
          </p:cNvPr>
          <p:cNvSpPr txBox="1"/>
          <p:nvPr/>
        </p:nvSpPr>
        <p:spPr>
          <a:xfrm>
            <a:off x="4689874" y="9530834"/>
            <a:ext cx="8894604" cy="369332"/>
          </a:xfrm>
          <a:prstGeom prst="rect">
            <a:avLst/>
          </a:prstGeom>
          <a:noFill/>
        </p:spPr>
        <p:txBody>
          <a:bodyPr wrap="square" rtlCol="0">
            <a:spAutoFit/>
          </a:bodyPr>
          <a:lstStyle/>
          <a:p>
            <a:r>
              <a:rPr lang="en-US" dirty="0"/>
              <a:t>Fig. A flowchart showing the propagation of uncertainties through the lookup table method</a:t>
            </a:r>
          </a:p>
        </p:txBody>
      </p:sp>
      <p:pic>
        <p:nvPicPr>
          <p:cNvPr id="7" name="Picture 6">
            <a:extLst>
              <a:ext uri="{FF2B5EF4-FFF2-40B4-BE49-F238E27FC236}">
                <a16:creationId xmlns:a16="http://schemas.microsoft.com/office/drawing/2014/main" id="{EC72EAB9-DD91-ACD4-445C-6B69ECCBC47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763885" y="2405062"/>
            <a:ext cx="4760230" cy="7108270"/>
          </a:xfrm>
          <a:prstGeom prst="rect">
            <a:avLst/>
          </a:prstGeom>
        </p:spPr>
      </p:pic>
    </p:spTree>
    <p:extLst>
      <p:ext uri="{BB962C8B-B14F-4D97-AF65-F5344CB8AC3E}">
        <p14:creationId xmlns:p14="http://schemas.microsoft.com/office/powerpoint/2010/main" val="54837070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581C07-6CED-61E9-1BB2-C29562CBCCFC}"/>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FEBA95DA-5DC3-9245-2668-80FBBFB15909}"/>
              </a:ext>
            </a:extLst>
          </p:cNvPr>
          <p:cNvSpPr/>
          <p:nvPr/>
        </p:nvSpPr>
        <p:spPr>
          <a:xfrm>
            <a:off x="-6824"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alphaModFix amt="50000"/>
            </a:blip>
            <a:stretch>
              <a:fillRect/>
            </a:stretch>
          </a:blipFill>
          <a:ln cap="sq">
            <a:noFill/>
            <a:prstDash val="solid"/>
            <a:miter/>
          </a:ln>
        </p:spPr>
        <p:txBody>
          <a:bodyPr/>
          <a:lstStyle/>
          <a:p>
            <a:endParaRPr lang="en-US" dirty="0"/>
          </a:p>
        </p:txBody>
      </p:sp>
      <p:sp>
        <p:nvSpPr>
          <p:cNvPr id="3" name="AutoShape 3">
            <a:extLst>
              <a:ext uri="{FF2B5EF4-FFF2-40B4-BE49-F238E27FC236}">
                <a16:creationId xmlns:a16="http://schemas.microsoft.com/office/drawing/2014/main" id="{DA4B014E-EDED-095B-6DDA-84C506095837}"/>
              </a:ext>
            </a:extLst>
          </p:cNvPr>
          <p:cNvSpPr/>
          <p:nvPr/>
        </p:nvSpPr>
        <p:spPr>
          <a:xfrm>
            <a:off x="1166399" y="1028700"/>
            <a:ext cx="687324" cy="0"/>
          </a:xfrm>
          <a:prstGeom prst="line">
            <a:avLst/>
          </a:prstGeom>
          <a:ln w="76200" cap="flat">
            <a:solidFill>
              <a:srgbClr val="000000"/>
            </a:solidFill>
            <a:prstDash val="solid"/>
            <a:headEnd type="none" w="sm" len="sm"/>
            <a:tailEnd type="none" w="sm" len="sm"/>
          </a:ln>
        </p:spPr>
        <p:txBody>
          <a:bodyPr/>
          <a:lstStyle/>
          <a:p>
            <a:endParaRPr lang="en-US" dirty="0"/>
          </a:p>
        </p:txBody>
      </p:sp>
      <mc:AlternateContent xmlns:mc="http://schemas.openxmlformats.org/markup-compatibility/2006" xmlns:a14="http://schemas.microsoft.com/office/drawing/2010/main">
        <mc:Choice Requires="a14">
          <p:sp>
            <p:nvSpPr>
              <p:cNvPr id="8" name="TextBox 8">
                <a:extLst>
                  <a:ext uri="{FF2B5EF4-FFF2-40B4-BE49-F238E27FC236}">
                    <a16:creationId xmlns:a16="http://schemas.microsoft.com/office/drawing/2014/main" id="{FAF2744F-75BF-64D5-7116-AC76683CBF00}"/>
                  </a:ext>
                </a:extLst>
              </p:cNvPr>
              <p:cNvSpPr txBox="1"/>
              <p:nvPr/>
            </p:nvSpPr>
            <p:spPr>
              <a:xfrm>
                <a:off x="873208" y="1409700"/>
                <a:ext cx="16541583" cy="8740854"/>
              </a:xfrm>
              <a:prstGeom prst="rect">
                <a:avLst/>
              </a:prstGeom>
            </p:spPr>
            <p:txBody>
              <a:bodyPr wrap="square" lIns="0" tIns="0" rIns="0" bIns="0" rtlCol="0" anchor="t">
                <a:spAutoFit/>
              </a:bodyPr>
              <a:lstStyle/>
              <a:p>
                <a:pPr marL="302259" lvl="1">
                  <a:lnSpc>
                    <a:spcPts val="4479"/>
                  </a:lnSpc>
                </a:pPr>
                <a:r>
                  <a:rPr lang="en-US" sz="4000" b="1" dirty="0">
                    <a:solidFill>
                      <a:srgbClr val="000000"/>
                    </a:solidFill>
                    <a:latin typeface="Times New Roman" panose="02020603050405020304" pitchFamily="18" charset="0"/>
                    <a:cs typeface="Times New Roman" panose="02020603050405020304" pitchFamily="18" charset="0"/>
                    <a:sym typeface="Open Sauce"/>
                  </a:rPr>
                  <a:t>A Monte Carlo estimation of tissue optical properties for use in laser dosimetry </a:t>
                </a:r>
                <a:endParaRPr lang="en-US" sz="2500" dirty="0"/>
              </a:p>
              <a:p>
                <a:pPr marL="604519" lvl="1" indent="-302260">
                  <a:lnSpc>
                    <a:spcPct val="200000"/>
                  </a:lnSpc>
                  <a:buFont typeface="Arial"/>
                  <a:buChar char="•"/>
                </a:pPr>
                <a:r>
                  <a:rPr lang="en-US" sz="2500" dirty="0"/>
                  <a:t>It is important to consider the light dosimetry in certain clinical situation, such as photodynamic therapy.</a:t>
                </a:r>
              </a:p>
              <a:p>
                <a:pPr marL="604519" lvl="1" indent="-302260">
                  <a:lnSpc>
                    <a:spcPct val="200000"/>
                  </a:lnSpc>
                  <a:buFont typeface="Arial"/>
                  <a:buChar char="•"/>
                </a:pPr>
                <a:r>
                  <a:rPr lang="en-US" sz="2500" dirty="0"/>
                  <a:t>The propagation of light tissues is influenced by microscopic properties (absorption coefficient </a:t>
                </a:r>
                <a14:m>
                  <m:oMath xmlns:m="http://schemas.openxmlformats.org/officeDocument/2006/math">
                    <m:sSub>
                      <m:sSubPr>
                        <m:ctrlPr>
                          <a:rPr lang="en-US" sz="2500" i="1" smtClean="0">
                            <a:latin typeface="Cambria Math" panose="02040503050406030204" pitchFamily="18" charset="0"/>
                          </a:rPr>
                        </m:ctrlPr>
                      </m:sSubPr>
                      <m:e>
                        <m:r>
                          <a:rPr lang="en-US" sz="2500" i="1" smtClean="0">
                            <a:latin typeface="Cambria Math" panose="02040503050406030204" pitchFamily="18" charset="0"/>
                            <a:ea typeface="Cambria Math" panose="02040503050406030204" pitchFamily="18" charset="0"/>
                          </a:rPr>
                          <m:t>𝜇</m:t>
                        </m:r>
                      </m:e>
                      <m:sub>
                        <m:r>
                          <a:rPr lang="en-US" sz="2500" b="0" i="1" smtClean="0">
                            <a:latin typeface="Cambria Math" panose="02040503050406030204" pitchFamily="18" charset="0"/>
                          </a:rPr>
                          <m:t>𝑎</m:t>
                        </m:r>
                      </m:sub>
                    </m:sSub>
                  </m:oMath>
                </a14:m>
                <a:r>
                  <a:rPr lang="en-US" sz="2500" dirty="0"/>
                  <a:t>, scattering coefficients </a:t>
                </a:r>
                <a14:m>
                  <m:oMath xmlns:m="http://schemas.openxmlformats.org/officeDocument/2006/math">
                    <m:sSubSup>
                      <m:sSubSupPr>
                        <m:ctrlPr>
                          <a:rPr lang="en-US" sz="2500" i="1">
                            <a:latin typeface="Cambria Math" panose="02040503050406030204" pitchFamily="18" charset="0"/>
                          </a:rPr>
                        </m:ctrlPr>
                      </m:sSubSupPr>
                      <m:e>
                        <m:r>
                          <a:rPr lang="en-US" sz="2500" i="1">
                            <a:latin typeface="Cambria Math" panose="02040503050406030204" pitchFamily="18" charset="0"/>
                            <a:ea typeface="Cambria Math" panose="02040503050406030204" pitchFamily="18" charset="0"/>
                          </a:rPr>
                          <m:t>𝜇</m:t>
                        </m:r>
                      </m:e>
                      <m:sub>
                        <m:r>
                          <a:rPr lang="en-US" sz="2500" i="1">
                            <a:latin typeface="Cambria Math" panose="02040503050406030204" pitchFamily="18" charset="0"/>
                          </a:rPr>
                          <m:t>𝑠</m:t>
                        </m:r>
                      </m:sub>
                      <m:sup>
                        <m:r>
                          <a:rPr lang="en-US" sz="2500" i="1">
                            <a:latin typeface="Cambria Math" panose="02040503050406030204" pitchFamily="18" charset="0"/>
                          </a:rPr>
                          <m:t>′</m:t>
                        </m:r>
                      </m:sup>
                    </m:sSubSup>
                  </m:oMath>
                </a14:m>
                <a:r>
                  <a:rPr lang="en-US" sz="2500" dirty="0"/>
                  <a:t>, refractive index n, and anisotropy factor g), which can be calculated from direct or indirect methods if tissue macroscopic properties, such as reflectance, transmittance or collimated transmittance, are measured. </a:t>
                </a:r>
              </a:p>
              <a:p>
                <a:pPr marL="604519" lvl="1" indent="-302260">
                  <a:lnSpc>
                    <a:spcPct val="200000"/>
                  </a:lnSpc>
                  <a:buFont typeface="Arial"/>
                  <a:buChar char="•"/>
                </a:pPr>
                <a:r>
                  <a:rPr lang="en-US" sz="2500" dirty="0"/>
                  <a:t>In this research,  an inverse method using the graphical approach, in which Monte Carlo simulations were performed for a wide range of skin type, to get the optical coefficients. </a:t>
                </a:r>
              </a:p>
              <a:p>
                <a:pPr marL="604519" lvl="1" indent="-302260">
                  <a:lnSpc>
                    <a:spcPct val="200000"/>
                  </a:lnSpc>
                  <a:buFont typeface="Arial"/>
                  <a:buChar char="•"/>
                </a:pPr>
                <a:r>
                  <a:rPr lang="en-US" sz="2500" dirty="0"/>
                  <a:t>The method can be used either direct or indirect techniques by making assumptions.</a:t>
                </a:r>
              </a:p>
              <a:p>
                <a:pPr marL="604519" lvl="1" indent="-302260">
                  <a:lnSpc>
                    <a:spcPct val="200000"/>
                  </a:lnSpc>
                  <a:buFont typeface="Arial"/>
                  <a:buChar char="•"/>
                </a:pPr>
                <a:r>
                  <a:rPr lang="en-US" sz="2500" dirty="0"/>
                  <a:t>It can be also applied for any tissue type, detector geometry and experimental apparatus, with good accuracy.</a:t>
                </a:r>
              </a:p>
              <a:p>
                <a:pPr marL="604519" lvl="1" indent="-302260">
                  <a:lnSpc>
                    <a:spcPct val="200000"/>
                  </a:lnSpc>
                  <a:buFont typeface="Arial"/>
                  <a:buChar char="•"/>
                </a:pPr>
                <a:r>
                  <a:rPr lang="en-US" sz="2500" dirty="0"/>
                  <a:t>The results of the method are in good agreement with theoretical and experimental results of other investigators.</a:t>
                </a:r>
              </a:p>
              <a:p>
                <a:pPr marL="302259" lvl="1">
                  <a:lnSpc>
                    <a:spcPct val="200000"/>
                  </a:lnSpc>
                </a:pPr>
                <a:endParaRPr lang="en-US" sz="2500" dirty="0"/>
              </a:p>
            </p:txBody>
          </p:sp>
        </mc:Choice>
        <mc:Fallback xmlns="">
          <p:sp>
            <p:nvSpPr>
              <p:cNvPr id="8" name="TextBox 8">
                <a:extLst>
                  <a:ext uri="{FF2B5EF4-FFF2-40B4-BE49-F238E27FC236}">
                    <a16:creationId xmlns:a16="http://schemas.microsoft.com/office/drawing/2014/main" id="{FAF2744F-75BF-64D5-7116-AC76683CBF00}"/>
                  </a:ext>
                </a:extLst>
              </p:cNvPr>
              <p:cNvSpPr txBox="1">
                <a:spLocks noRot="1" noChangeAspect="1" noMove="1" noResize="1" noEditPoints="1" noAdjustHandles="1" noChangeArrowheads="1" noChangeShapeType="1" noTextEdit="1"/>
              </p:cNvSpPr>
              <p:nvPr/>
            </p:nvSpPr>
            <p:spPr>
              <a:xfrm>
                <a:off x="873208" y="1409700"/>
                <a:ext cx="16541583" cy="8740854"/>
              </a:xfrm>
              <a:prstGeom prst="rect">
                <a:avLst/>
              </a:prstGeom>
              <a:blipFill>
                <a:blip r:embed="rId3"/>
                <a:stretch>
                  <a:fillRect t="-2162"/>
                </a:stretch>
              </a:blipFill>
            </p:spPr>
            <p:txBody>
              <a:bodyPr/>
              <a:lstStyle/>
              <a:p>
                <a:r>
                  <a:rPr lang="en-US">
                    <a:noFill/>
                  </a:rPr>
                  <a:t> </a:t>
                </a:r>
              </a:p>
            </p:txBody>
          </p:sp>
        </mc:Fallback>
      </mc:AlternateContent>
    </p:spTree>
    <p:extLst>
      <p:ext uri="{BB962C8B-B14F-4D97-AF65-F5344CB8AC3E}">
        <p14:creationId xmlns:p14="http://schemas.microsoft.com/office/powerpoint/2010/main" val="15343362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AE3F24-CE60-0CA7-1B46-435B966C96AD}"/>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DB095C90-CED9-87A1-95D8-D8D207BFE9AD}"/>
              </a:ext>
            </a:extLst>
          </p:cNvPr>
          <p:cNvSpPr/>
          <p:nvPr/>
        </p:nvSpPr>
        <p:spPr>
          <a:xfrm>
            <a:off x="-6824"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alphaModFix amt="50000"/>
            </a:blip>
            <a:stretch>
              <a:fillRect/>
            </a:stretch>
          </a:blipFill>
          <a:ln cap="sq">
            <a:noFill/>
            <a:prstDash val="solid"/>
            <a:miter/>
          </a:ln>
        </p:spPr>
        <p:txBody>
          <a:bodyPr/>
          <a:lstStyle/>
          <a:p>
            <a:endParaRPr lang="en-US" dirty="0"/>
          </a:p>
        </p:txBody>
      </p:sp>
      <p:sp>
        <p:nvSpPr>
          <p:cNvPr id="3" name="AutoShape 3">
            <a:extLst>
              <a:ext uri="{FF2B5EF4-FFF2-40B4-BE49-F238E27FC236}">
                <a16:creationId xmlns:a16="http://schemas.microsoft.com/office/drawing/2014/main" id="{C591B340-CBED-5D65-FE6F-5408A206695A}"/>
              </a:ext>
            </a:extLst>
          </p:cNvPr>
          <p:cNvSpPr/>
          <p:nvPr/>
        </p:nvSpPr>
        <p:spPr>
          <a:xfrm>
            <a:off x="1166399" y="1028700"/>
            <a:ext cx="687324" cy="0"/>
          </a:xfrm>
          <a:prstGeom prst="line">
            <a:avLst/>
          </a:prstGeom>
          <a:ln w="76200" cap="flat">
            <a:solidFill>
              <a:srgbClr val="000000"/>
            </a:solidFill>
            <a:prstDash val="solid"/>
            <a:headEnd type="none" w="sm" len="sm"/>
            <a:tailEnd type="none" w="sm" len="sm"/>
          </a:ln>
        </p:spPr>
        <p:txBody>
          <a:bodyPr/>
          <a:lstStyle/>
          <a:p>
            <a:endParaRPr lang="en-US" dirty="0"/>
          </a:p>
        </p:txBody>
      </p:sp>
      <mc:AlternateContent xmlns:mc="http://schemas.openxmlformats.org/markup-compatibility/2006" xmlns:a14="http://schemas.microsoft.com/office/drawing/2010/main">
        <mc:Choice Requires="a14">
          <p:sp>
            <p:nvSpPr>
              <p:cNvPr id="8" name="TextBox 8">
                <a:extLst>
                  <a:ext uri="{FF2B5EF4-FFF2-40B4-BE49-F238E27FC236}">
                    <a16:creationId xmlns:a16="http://schemas.microsoft.com/office/drawing/2014/main" id="{E1FE0C6C-6BC6-5066-C402-24633680F6C2}"/>
                  </a:ext>
                </a:extLst>
              </p:cNvPr>
              <p:cNvSpPr txBox="1"/>
              <p:nvPr/>
            </p:nvSpPr>
            <p:spPr>
              <a:xfrm>
                <a:off x="873208" y="1409700"/>
                <a:ext cx="16541583" cy="7796943"/>
              </a:xfrm>
              <a:prstGeom prst="rect">
                <a:avLst/>
              </a:prstGeom>
            </p:spPr>
            <p:txBody>
              <a:bodyPr wrap="square" lIns="0" tIns="0" rIns="0" bIns="0" rtlCol="0" anchor="t">
                <a:spAutoFit/>
              </a:bodyPr>
              <a:lstStyle/>
              <a:p>
                <a:pPr marL="302259" lvl="1">
                  <a:lnSpc>
                    <a:spcPts val="4479"/>
                  </a:lnSpc>
                </a:pPr>
                <a:r>
                  <a:rPr lang="en-US" sz="4000" b="1" dirty="0">
                    <a:solidFill>
                      <a:srgbClr val="000000"/>
                    </a:solidFill>
                    <a:latin typeface="Times New Roman" panose="02020603050405020304" pitchFamily="18" charset="0"/>
                    <a:cs typeface="Times New Roman" panose="02020603050405020304" pitchFamily="18" charset="0"/>
                    <a:sym typeface="Open Sauce"/>
                  </a:rPr>
                  <a:t>Methods</a:t>
                </a:r>
                <a:endParaRPr lang="en-US" sz="2500" dirty="0"/>
              </a:p>
              <a:p>
                <a:pPr marL="604519" lvl="1" indent="-302260">
                  <a:lnSpc>
                    <a:spcPct val="150000"/>
                  </a:lnSpc>
                  <a:buFont typeface="Arial"/>
                  <a:buChar char="•"/>
                </a:pPr>
                <a:r>
                  <a:rPr lang="en-US" sz="2500" dirty="0"/>
                  <a:t>Direct method required  to make the measurement in tissue sample thin enough that single-photon scattering occurs (tissue thickness need to be less than the mean free path length, which is a few micrometer).</a:t>
                </a:r>
              </a:p>
              <a:p>
                <a:pPr marL="604519" lvl="1" indent="-302260">
                  <a:lnSpc>
                    <a:spcPct val="150000"/>
                  </a:lnSpc>
                  <a:buFont typeface="Arial"/>
                  <a:buChar char="•"/>
                </a:pPr>
                <a:r>
                  <a:rPr lang="en-US" sz="2500" dirty="0"/>
                  <a:t>Indirect method measures the reflectance and transmittance in bulk tissue; and used there value along with the sample thickness and light propagation model to determine the microscopic coefficients. </a:t>
                </a:r>
              </a:p>
              <a:p>
                <a:pPr marL="604519" lvl="1" indent="-302260">
                  <a:lnSpc>
                    <a:spcPct val="150000"/>
                  </a:lnSpc>
                  <a:buFont typeface="Arial"/>
                  <a:buChar char="•"/>
                </a:pPr>
                <a:r>
                  <a:rPr lang="en-US" sz="2500" dirty="0"/>
                  <a:t>Performed Monte Carlo simulation in FORTRAN, which simulate the irradiation of a three-dimensional parallel slab of tissue of a given thickness with a collimated light beam. </a:t>
                </a:r>
              </a:p>
              <a:p>
                <a:pPr marL="604519" lvl="1" indent="-302260">
                  <a:lnSpc>
                    <a:spcPct val="150000"/>
                  </a:lnSpc>
                  <a:buFont typeface="Arial"/>
                  <a:buChar char="•"/>
                </a:pPr>
                <a:r>
                  <a:rPr lang="en-US" sz="2500" dirty="0"/>
                  <a:t>Variable-step-size Monte Carlo method was used, in which randomly generally photons are forced either to be scattered or absorbed according to the formulae </a:t>
                </a:r>
                <a14:m>
                  <m:oMath xmlns:m="http://schemas.openxmlformats.org/officeDocument/2006/math">
                    <m:sSub>
                      <m:sSubPr>
                        <m:ctrlPr>
                          <a:rPr lang="en-US" sz="2500" i="1" smtClean="0">
                            <a:latin typeface="Cambria Math" panose="02040503050406030204" pitchFamily="18" charset="0"/>
                          </a:rPr>
                        </m:ctrlPr>
                      </m:sSubPr>
                      <m:e>
                        <m:r>
                          <a:rPr lang="en-US" sz="2500" b="0" i="1" smtClean="0">
                            <a:latin typeface="Cambria Math" panose="02040503050406030204" pitchFamily="18" charset="0"/>
                          </a:rPr>
                          <m:t>𝑆</m:t>
                        </m:r>
                      </m:e>
                      <m:sub>
                        <m:r>
                          <a:rPr lang="en-US" sz="2500" b="0" i="1" smtClean="0">
                            <a:latin typeface="Cambria Math" panose="02040503050406030204" pitchFamily="18" charset="0"/>
                          </a:rPr>
                          <m:t>𝑎𝑏𝑠</m:t>
                        </m:r>
                      </m:sub>
                    </m:sSub>
                    <m:r>
                      <a:rPr lang="en-US" sz="2500" b="0" i="1" smtClean="0">
                        <a:latin typeface="Cambria Math" panose="02040503050406030204" pitchFamily="18" charset="0"/>
                      </a:rPr>
                      <m:t>=</m:t>
                    </m:r>
                    <m:r>
                      <a:rPr lang="en-US" sz="2500" b="0" i="1" smtClean="0">
                        <a:latin typeface="Cambria Math" panose="02040503050406030204" pitchFamily="18" charset="0"/>
                        <a:ea typeface="Cambria Math" panose="02040503050406030204" pitchFamily="18" charset="0"/>
                      </a:rPr>
                      <m:t>−</m:t>
                    </m:r>
                    <m:f>
                      <m:fPr>
                        <m:ctrlPr>
                          <a:rPr lang="en-US" sz="2500" b="0" i="1" smtClean="0">
                            <a:latin typeface="Cambria Math" panose="02040503050406030204" pitchFamily="18" charset="0"/>
                          </a:rPr>
                        </m:ctrlPr>
                      </m:fPr>
                      <m:num>
                        <m:r>
                          <a:rPr lang="en-US" sz="2500" b="0" i="1" smtClean="0">
                            <a:latin typeface="Cambria Math" panose="02040503050406030204" pitchFamily="18" charset="0"/>
                          </a:rPr>
                          <m:t>(</m:t>
                        </m:r>
                        <m:func>
                          <m:funcPr>
                            <m:ctrlPr>
                              <a:rPr lang="en-US" sz="2500" b="0" i="1" smtClean="0">
                                <a:latin typeface="Cambria Math" panose="02040503050406030204" pitchFamily="18" charset="0"/>
                              </a:rPr>
                            </m:ctrlPr>
                          </m:funcPr>
                          <m:fName>
                            <m:r>
                              <m:rPr>
                                <m:sty m:val="p"/>
                              </m:rPr>
                              <a:rPr lang="en-US" sz="2500" b="0" i="0" smtClean="0">
                                <a:latin typeface="Cambria Math" panose="02040503050406030204" pitchFamily="18" charset="0"/>
                              </a:rPr>
                              <m:t>ln</m:t>
                            </m:r>
                          </m:fName>
                          <m:e>
                            <m:r>
                              <a:rPr lang="en-US" sz="2500" b="0" i="1" smtClean="0">
                                <a:latin typeface="Cambria Math" panose="02040503050406030204" pitchFamily="18" charset="0"/>
                              </a:rPr>
                              <m:t>𝑅</m:t>
                            </m:r>
                          </m:e>
                        </m:func>
                        <m:r>
                          <a:rPr lang="en-US" sz="2500" b="0" i="1" smtClean="0">
                            <a:latin typeface="Cambria Math" panose="02040503050406030204" pitchFamily="18" charset="0"/>
                          </a:rPr>
                          <m:t>)</m:t>
                        </m:r>
                      </m:num>
                      <m:den>
                        <m:sSub>
                          <m:sSubPr>
                            <m:ctrlPr>
                              <a:rPr lang="en-US" sz="2500" b="0" i="1" smtClean="0">
                                <a:latin typeface="Cambria Math" panose="02040503050406030204" pitchFamily="18" charset="0"/>
                              </a:rPr>
                            </m:ctrlPr>
                          </m:sSubPr>
                          <m:e>
                            <m:r>
                              <a:rPr lang="en-US" sz="2500" i="1">
                                <a:latin typeface="Cambria Math" panose="02040503050406030204" pitchFamily="18" charset="0"/>
                                <a:ea typeface="Cambria Math" panose="02040503050406030204" pitchFamily="18" charset="0"/>
                              </a:rPr>
                              <m:t>𝜇</m:t>
                            </m:r>
                          </m:e>
                          <m:sub>
                            <m:r>
                              <a:rPr lang="en-US" sz="2500" b="0" i="1" smtClean="0">
                                <a:latin typeface="Cambria Math" panose="02040503050406030204" pitchFamily="18" charset="0"/>
                              </a:rPr>
                              <m:t>𝑎</m:t>
                            </m:r>
                          </m:sub>
                        </m:sSub>
                      </m:den>
                    </m:f>
                  </m:oMath>
                </a14:m>
                <a:r>
                  <a:rPr lang="en-US" sz="2500" dirty="0"/>
                  <a:t> and </a:t>
                </a:r>
                <a14:m>
                  <m:oMath xmlns:m="http://schemas.openxmlformats.org/officeDocument/2006/math">
                    <m:sSub>
                      <m:sSubPr>
                        <m:ctrlPr>
                          <a:rPr lang="en-US" sz="2500" i="1">
                            <a:latin typeface="Cambria Math" panose="02040503050406030204" pitchFamily="18" charset="0"/>
                          </a:rPr>
                        </m:ctrlPr>
                      </m:sSubPr>
                      <m:e>
                        <m:r>
                          <a:rPr lang="en-US" sz="2500" i="1">
                            <a:latin typeface="Cambria Math" panose="02040503050406030204" pitchFamily="18" charset="0"/>
                          </a:rPr>
                          <m:t>𝑆</m:t>
                        </m:r>
                      </m:e>
                      <m:sub>
                        <m:r>
                          <a:rPr lang="en-US" sz="2500" b="0" i="1" smtClean="0">
                            <a:latin typeface="Cambria Math" panose="02040503050406030204" pitchFamily="18" charset="0"/>
                          </a:rPr>
                          <m:t>𝑠𝑐𝑎𝑡𝑡</m:t>
                        </m:r>
                      </m:sub>
                    </m:sSub>
                    <m:r>
                      <a:rPr lang="en-US" sz="2500" i="1">
                        <a:latin typeface="Cambria Math" panose="02040503050406030204" pitchFamily="18" charset="0"/>
                      </a:rPr>
                      <m:t>=</m:t>
                    </m:r>
                    <m:r>
                      <a:rPr lang="en-US" sz="2500" i="1">
                        <a:latin typeface="Cambria Math" panose="02040503050406030204" pitchFamily="18" charset="0"/>
                        <a:ea typeface="Cambria Math" panose="02040503050406030204" pitchFamily="18" charset="0"/>
                      </a:rPr>
                      <m:t>−</m:t>
                    </m:r>
                    <m:f>
                      <m:fPr>
                        <m:ctrlPr>
                          <a:rPr lang="en-US" sz="2500" i="1">
                            <a:latin typeface="Cambria Math" panose="02040503050406030204" pitchFamily="18" charset="0"/>
                          </a:rPr>
                        </m:ctrlPr>
                      </m:fPr>
                      <m:num>
                        <m:d>
                          <m:dPr>
                            <m:ctrlPr>
                              <a:rPr lang="en-US" sz="2500" i="1">
                                <a:latin typeface="Cambria Math" panose="02040503050406030204" pitchFamily="18" charset="0"/>
                              </a:rPr>
                            </m:ctrlPr>
                          </m:dPr>
                          <m:e>
                            <m:func>
                              <m:funcPr>
                                <m:ctrlPr>
                                  <a:rPr lang="en-US" sz="2500" i="1">
                                    <a:latin typeface="Cambria Math" panose="02040503050406030204" pitchFamily="18" charset="0"/>
                                  </a:rPr>
                                </m:ctrlPr>
                              </m:funcPr>
                              <m:fName>
                                <m:r>
                                  <m:rPr>
                                    <m:sty m:val="p"/>
                                  </m:rPr>
                                  <a:rPr lang="en-US" sz="2500">
                                    <a:latin typeface="Cambria Math" panose="02040503050406030204" pitchFamily="18" charset="0"/>
                                  </a:rPr>
                                  <m:t>ln</m:t>
                                </m:r>
                              </m:fName>
                              <m:e>
                                <m:r>
                                  <a:rPr lang="en-US" sz="2500" i="1">
                                    <a:latin typeface="Cambria Math" panose="02040503050406030204" pitchFamily="18" charset="0"/>
                                  </a:rPr>
                                  <m:t>𝑅</m:t>
                                </m:r>
                              </m:e>
                            </m:func>
                          </m:e>
                        </m:d>
                      </m:num>
                      <m:den>
                        <m:sSub>
                          <m:sSubPr>
                            <m:ctrlPr>
                              <a:rPr lang="en-US" sz="2500" i="1" smtClean="0">
                                <a:latin typeface="Cambria Math" panose="02040503050406030204" pitchFamily="18" charset="0"/>
                              </a:rPr>
                            </m:ctrlPr>
                          </m:sSubPr>
                          <m:e>
                            <m:r>
                              <a:rPr lang="en-US" sz="2500" i="1">
                                <a:latin typeface="Cambria Math" panose="02040503050406030204" pitchFamily="18" charset="0"/>
                                <a:ea typeface="Cambria Math" panose="02040503050406030204" pitchFamily="18" charset="0"/>
                              </a:rPr>
                              <m:t>𝜇</m:t>
                            </m:r>
                          </m:e>
                          <m:sub>
                            <m:r>
                              <a:rPr lang="en-US" sz="2500" b="0" i="1" smtClean="0">
                                <a:latin typeface="Cambria Math" panose="02040503050406030204" pitchFamily="18" charset="0"/>
                                <a:ea typeface="Cambria Math" panose="02040503050406030204" pitchFamily="18" charset="0"/>
                              </a:rPr>
                              <m:t>𝑠</m:t>
                            </m:r>
                          </m:sub>
                        </m:sSub>
                      </m:den>
                    </m:f>
                  </m:oMath>
                </a14:m>
                <a:r>
                  <a:rPr lang="en-US" sz="2500" dirty="0"/>
                  <a:t>, where r is a random number [0,1]. If a photon is scattered, a new photon direction is chosen according to the </a:t>
                </a:r>
                <a:r>
                  <a:rPr lang="en-US" sz="2500" dirty="0" err="1"/>
                  <a:t>Henyey</a:t>
                </a:r>
                <a:r>
                  <a:rPr lang="en-US" sz="2500" dirty="0"/>
                  <a:t>-Greenstein phase function. Otherwise, a new photon is generated.</a:t>
                </a:r>
              </a:p>
              <a:p>
                <a:pPr marL="604519" lvl="1" indent="-302260">
                  <a:lnSpc>
                    <a:spcPct val="150000"/>
                  </a:lnSpc>
                  <a:buFont typeface="Arial"/>
                  <a:buChar char="•"/>
                </a:pPr>
                <a:r>
                  <a:rPr lang="en-US" sz="2500" dirty="0"/>
                  <a:t>If the sample consisted of several layers, the photon either crossed the boundary according to the Snell’s law, or if it was internally reflected according to the Fresnel’s law. </a:t>
                </a:r>
              </a:p>
            </p:txBody>
          </p:sp>
        </mc:Choice>
        <mc:Fallback xmlns="">
          <p:sp>
            <p:nvSpPr>
              <p:cNvPr id="8" name="TextBox 8">
                <a:extLst>
                  <a:ext uri="{FF2B5EF4-FFF2-40B4-BE49-F238E27FC236}">
                    <a16:creationId xmlns:a16="http://schemas.microsoft.com/office/drawing/2014/main" id="{E1FE0C6C-6BC6-5066-C402-24633680F6C2}"/>
                  </a:ext>
                </a:extLst>
              </p:cNvPr>
              <p:cNvSpPr txBox="1">
                <a:spLocks noRot="1" noChangeAspect="1" noMove="1" noResize="1" noEditPoints="1" noAdjustHandles="1" noChangeArrowheads="1" noChangeShapeType="1" noTextEdit="1"/>
              </p:cNvSpPr>
              <p:nvPr/>
            </p:nvSpPr>
            <p:spPr>
              <a:xfrm>
                <a:off x="873208" y="1409700"/>
                <a:ext cx="16541583" cy="7796943"/>
              </a:xfrm>
              <a:prstGeom prst="rect">
                <a:avLst/>
              </a:prstGeom>
              <a:blipFill>
                <a:blip r:embed="rId3"/>
                <a:stretch>
                  <a:fillRect t="-2580" r="-1253" b="-1564"/>
                </a:stretch>
              </a:blipFill>
            </p:spPr>
            <p:txBody>
              <a:bodyPr/>
              <a:lstStyle/>
              <a:p>
                <a:r>
                  <a:rPr lang="en-US">
                    <a:noFill/>
                  </a:rPr>
                  <a:t> </a:t>
                </a:r>
              </a:p>
            </p:txBody>
          </p:sp>
        </mc:Fallback>
      </mc:AlternateContent>
    </p:spTree>
    <p:extLst>
      <p:ext uri="{BB962C8B-B14F-4D97-AF65-F5344CB8AC3E}">
        <p14:creationId xmlns:p14="http://schemas.microsoft.com/office/powerpoint/2010/main" val="421221180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C6988E-4D64-F34A-7E12-17876AB2E7B8}"/>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79D3A861-1CE7-28C5-812B-2BA686A73853}"/>
              </a:ext>
            </a:extLst>
          </p:cNvPr>
          <p:cNvSpPr/>
          <p:nvPr/>
        </p:nvSpPr>
        <p:spPr>
          <a:xfrm>
            <a:off x="-6824"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alphaModFix amt="50000"/>
            </a:blip>
            <a:stretch>
              <a:fillRect/>
            </a:stretch>
          </a:blipFill>
          <a:ln cap="sq">
            <a:noFill/>
            <a:prstDash val="solid"/>
            <a:miter/>
          </a:ln>
        </p:spPr>
        <p:txBody>
          <a:bodyPr/>
          <a:lstStyle/>
          <a:p>
            <a:endParaRPr lang="en-US" dirty="0"/>
          </a:p>
        </p:txBody>
      </p:sp>
      <p:sp>
        <p:nvSpPr>
          <p:cNvPr id="3" name="AutoShape 3">
            <a:extLst>
              <a:ext uri="{FF2B5EF4-FFF2-40B4-BE49-F238E27FC236}">
                <a16:creationId xmlns:a16="http://schemas.microsoft.com/office/drawing/2014/main" id="{1D19F837-4779-DC31-1E1D-3428815AE4BD}"/>
              </a:ext>
            </a:extLst>
          </p:cNvPr>
          <p:cNvSpPr/>
          <p:nvPr/>
        </p:nvSpPr>
        <p:spPr>
          <a:xfrm>
            <a:off x="1166399" y="1028700"/>
            <a:ext cx="687324" cy="0"/>
          </a:xfrm>
          <a:prstGeom prst="line">
            <a:avLst/>
          </a:prstGeom>
          <a:ln w="76200" cap="flat">
            <a:solidFill>
              <a:srgbClr val="000000"/>
            </a:solidFill>
            <a:prstDash val="solid"/>
            <a:headEnd type="none" w="sm" len="sm"/>
            <a:tailEnd type="none" w="sm" len="sm"/>
          </a:ln>
        </p:spPr>
        <p:txBody>
          <a:bodyPr/>
          <a:lstStyle/>
          <a:p>
            <a:endParaRPr lang="en-US" dirty="0"/>
          </a:p>
        </p:txBody>
      </p:sp>
      <mc:AlternateContent xmlns:mc="http://schemas.openxmlformats.org/markup-compatibility/2006" xmlns:a14="http://schemas.microsoft.com/office/drawing/2010/main">
        <mc:Choice Requires="a14">
          <p:sp>
            <p:nvSpPr>
              <p:cNvPr id="8" name="TextBox 8">
                <a:extLst>
                  <a:ext uri="{FF2B5EF4-FFF2-40B4-BE49-F238E27FC236}">
                    <a16:creationId xmlns:a16="http://schemas.microsoft.com/office/drawing/2014/main" id="{8A60EC27-10C0-DA27-BD02-5EFB780088AB}"/>
                  </a:ext>
                </a:extLst>
              </p:cNvPr>
              <p:cNvSpPr txBox="1"/>
              <p:nvPr/>
            </p:nvSpPr>
            <p:spPr>
              <a:xfrm>
                <a:off x="873208" y="1409700"/>
                <a:ext cx="16541583" cy="7673254"/>
              </a:xfrm>
              <a:prstGeom prst="rect">
                <a:avLst/>
              </a:prstGeom>
            </p:spPr>
            <p:txBody>
              <a:bodyPr wrap="square" lIns="0" tIns="0" rIns="0" bIns="0" rtlCol="0" anchor="t">
                <a:spAutoFit/>
              </a:bodyPr>
              <a:lstStyle/>
              <a:p>
                <a:pPr marL="302259" lvl="1">
                  <a:lnSpc>
                    <a:spcPts val="4479"/>
                  </a:lnSpc>
                </a:pPr>
                <a:r>
                  <a:rPr lang="en-US" sz="4000" b="1" dirty="0">
                    <a:solidFill>
                      <a:srgbClr val="000000"/>
                    </a:solidFill>
                    <a:latin typeface="Times New Roman" panose="02020603050405020304" pitchFamily="18" charset="0"/>
                    <a:cs typeface="Times New Roman" panose="02020603050405020304" pitchFamily="18" charset="0"/>
                    <a:sym typeface="Open Sauce"/>
                  </a:rPr>
                  <a:t>Assumptions and parameters</a:t>
                </a:r>
                <a:endParaRPr lang="en-US" sz="2500" dirty="0"/>
              </a:p>
              <a:p>
                <a:pPr marL="604519" lvl="1" indent="-302260">
                  <a:lnSpc>
                    <a:spcPct val="150000"/>
                  </a:lnSpc>
                  <a:buFont typeface="Arial"/>
                  <a:buChar char="•"/>
                </a:pPr>
                <a:r>
                  <a:rPr lang="en-US" sz="2500" dirty="0"/>
                  <a:t>100,000 photons are generated for each iteration.</a:t>
                </a:r>
              </a:p>
              <a:p>
                <a:pPr marL="604519" lvl="1" indent="-302260">
                  <a:lnSpc>
                    <a:spcPct val="150000"/>
                  </a:lnSpc>
                  <a:buFont typeface="Arial"/>
                  <a:buChar char="•"/>
                </a:pPr>
                <a:r>
                  <a:rPr lang="en-US" sz="2500" dirty="0"/>
                  <a:t>The tissue slab is assumed to be exposed to the light beam without being compressed with transparent plates. </a:t>
                </a:r>
              </a:p>
              <a:p>
                <a:pPr marL="604519" lvl="1" indent="-302260">
                  <a:lnSpc>
                    <a:spcPct val="150000"/>
                  </a:lnSpc>
                  <a:buFont typeface="Arial"/>
                  <a:buChar char="•"/>
                </a:pPr>
                <a:r>
                  <a:rPr lang="en-US" sz="2500" dirty="0"/>
                  <a:t>Input data are:</a:t>
                </a:r>
              </a:p>
              <a:p>
                <a:pPr marL="1061719" lvl="2" indent="-302260">
                  <a:lnSpc>
                    <a:spcPct val="150000"/>
                  </a:lnSpc>
                  <a:buFont typeface="Arial"/>
                  <a:buChar char="•"/>
                </a:pPr>
                <a:r>
                  <a:rPr lang="en-US" sz="2000" dirty="0"/>
                  <a:t>Beam shape (collimated, diverging, focused beam or point source) -&gt; [used collimated beam]</a:t>
                </a:r>
              </a:p>
              <a:p>
                <a:pPr marL="1061719" lvl="2" indent="-302260">
                  <a:lnSpc>
                    <a:spcPct val="150000"/>
                  </a:lnSpc>
                  <a:buFont typeface="Arial"/>
                  <a:buChar char="•"/>
                </a:pPr>
                <a:r>
                  <a:rPr lang="en-US" sz="2000" dirty="0"/>
                  <a:t>Beam diameter -&gt; [1 cm] </a:t>
                </a:r>
              </a:p>
              <a:p>
                <a:pPr marL="1061719" lvl="2" indent="-302260">
                  <a:lnSpc>
                    <a:spcPct val="150000"/>
                  </a:lnSpc>
                  <a:buFont typeface="Arial"/>
                  <a:buChar char="•"/>
                </a:pPr>
                <a:r>
                  <a:rPr lang="en-US" sz="2000" dirty="0"/>
                  <a:t>The location of entrance point -&gt; [center of the tissue sample]</a:t>
                </a:r>
              </a:p>
              <a:p>
                <a:pPr marL="1061719" lvl="2" indent="-302260">
                  <a:lnSpc>
                    <a:spcPct val="150000"/>
                  </a:lnSpc>
                  <a:buFont typeface="Arial"/>
                  <a:buChar char="•"/>
                </a:pPr>
                <a:r>
                  <a:rPr lang="en-US" sz="2000" dirty="0"/>
                  <a:t>The incident angle -&gt; [normal to the slab]</a:t>
                </a:r>
              </a:p>
              <a:p>
                <a:pPr marL="1061719" lvl="2" indent="-302260">
                  <a:lnSpc>
                    <a:spcPct val="150000"/>
                  </a:lnSpc>
                  <a:buFont typeface="Arial"/>
                  <a:buChar char="•"/>
                </a:pPr>
                <a:r>
                  <a:rPr lang="en-US" sz="2000" dirty="0"/>
                  <a:t>The beam cross-sectional area at the exit (for collimated transmittance only)</a:t>
                </a:r>
              </a:p>
              <a:p>
                <a:pPr marL="1061719" lvl="2" indent="-302260">
                  <a:lnSpc>
                    <a:spcPct val="150000"/>
                  </a:lnSpc>
                  <a:buFont typeface="Arial"/>
                  <a:buChar char="•"/>
                </a:pPr>
                <a:r>
                  <a:rPr lang="en-US" sz="2000" dirty="0"/>
                  <a:t>The tissue thickness -&gt; [1 cm]</a:t>
                </a:r>
              </a:p>
              <a:p>
                <a:pPr marL="1061719" lvl="2" indent="-302260">
                  <a:lnSpc>
                    <a:spcPct val="150000"/>
                  </a:lnSpc>
                  <a:buFont typeface="Arial"/>
                  <a:buChar char="•"/>
                </a:pPr>
                <a:r>
                  <a:rPr lang="en-US" sz="2000" dirty="0"/>
                  <a:t>Optical properties of tissue -&gt; [g = 0.8, n = 1.36 and 1.45, </a:t>
                </a:r>
                <a14:m>
                  <m:oMath xmlns:m="http://schemas.openxmlformats.org/officeDocument/2006/math">
                    <m:sSub>
                      <m:sSubPr>
                        <m:ctrlPr>
                          <a:rPr lang="en-US" sz="2000" i="1">
                            <a:latin typeface="Cambria Math" panose="02040503050406030204" pitchFamily="18" charset="0"/>
                          </a:rPr>
                        </m:ctrlPr>
                      </m:sSubPr>
                      <m:e>
                        <m:r>
                          <a:rPr lang="en-US" sz="2000" i="1">
                            <a:latin typeface="Cambria Math" panose="02040503050406030204" pitchFamily="18" charset="0"/>
                            <a:ea typeface="Cambria Math" panose="02040503050406030204" pitchFamily="18" charset="0"/>
                          </a:rPr>
                          <m:t>𝜇</m:t>
                        </m:r>
                      </m:e>
                      <m:sub>
                        <m:r>
                          <a:rPr lang="en-US" sz="2000" i="1">
                            <a:latin typeface="Cambria Math" panose="02040503050406030204" pitchFamily="18" charset="0"/>
                          </a:rPr>
                          <m:t>𝑎</m:t>
                        </m:r>
                      </m:sub>
                    </m:sSub>
                  </m:oMath>
                </a14:m>
                <a:r>
                  <a:rPr lang="en-US" sz="2000" dirty="0"/>
                  <a:t>= {0.0156:4}</a:t>
                </a:r>
                <a14:m>
                  <m:oMath xmlns:m="http://schemas.openxmlformats.org/officeDocument/2006/math">
                    <m:sSup>
                      <m:sSupPr>
                        <m:ctrlPr>
                          <a:rPr lang="en-US" sz="2000" i="1" smtClean="0">
                            <a:latin typeface="Cambria Math" panose="02040503050406030204" pitchFamily="18" charset="0"/>
                          </a:rPr>
                        </m:ctrlPr>
                      </m:sSupPr>
                      <m:e>
                        <m:r>
                          <a:rPr lang="en-US" sz="2000" b="0" i="1" smtClean="0">
                            <a:latin typeface="Cambria Math" panose="02040503050406030204" pitchFamily="18" charset="0"/>
                          </a:rPr>
                          <m:t>𝑐𝑚</m:t>
                        </m:r>
                      </m:e>
                      <m:sup>
                        <m:r>
                          <a:rPr lang="en-US" sz="2000" b="0" i="1" smtClean="0">
                            <a:latin typeface="Cambria Math" panose="02040503050406030204" pitchFamily="18" charset="0"/>
                          </a:rPr>
                          <m:t>−1</m:t>
                        </m:r>
                      </m:sup>
                    </m:sSup>
                  </m:oMath>
                </a14:m>
                <a:r>
                  <a:rPr lang="en-US" sz="2000" dirty="0"/>
                  <a:t> , </a:t>
                </a:r>
                <a14:m>
                  <m:oMath xmlns:m="http://schemas.openxmlformats.org/officeDocument/2006/math">
                    <m:sSub>
                      <m:sSubPr>
                        <m:ctrlPr>
                          <a:rPr lang="en-US" sz="2000" i="1">
                            <a:latin typeface="Cambria Math" panose="02040503050406030204" pitchFamily="18" charset="0"/>
                          </a:rPr>
                        </m:ctrlPr>
                      </m:sSubPr>
                      <m:e>
                        <m:r>
                          <a:rPr lang="en-US" sz="2000" i="1">
                            <a:latin typeface="Cambria Math" panose="02040503050406030204" pitchFamily="18" charset="0"/>
                            <a:ea typeface="Cambria Math" panose="02040503050406030204" pitchFamily="18" charset="0"/>
                          </a:rPr>
                          <m:t>𝜇</m:t>
                        </m:r>
                      </m:e>
                      <m:sub>
                        <m:r>
                          <a:rPr lang="en-US" sz="2000" b="0" i="1" smtClean="0">
                            <a:latin typeface="Cambria Math" panose="02040503050406030204" pitchFamily="18" charset="0"/>
                            <a:ea typeface="Cambria Math" panose="02040503050406030204" pitchFamily="18" charset="0"/>
                          </a:rPr>
                          <m:t>𝑠</m:t>
                        </m:r>
                      </m:sub>
                    </m:sSub>
                  </m:oMath>
                </a14:m>
                <a:r>
                  <a:rPr lang="en-US" sz="2000" dirty="0"/>
                  <a:t>= {0.5:20}</a:t>
                </a:r>
                <a14:m>
                  <m:oMath xmlns:m="http://schemas.openxmlformats.org/officeDocument/2006/math">
                    <m:sSup>
                      <m:sSupPr>
                        <m:ctrlPr>
                          <a:rPr lang="en-US" sz="2000" i="1">
                            <a:latin typeface="Cambria Math" panose="02040503050406030204" pitchFamily="18" charset="0"/>
                          </a:rPr>
                        </m:ctrlPr>
                      </m:sSupPr>
                      <m:e>
                        <m:r>
                          <a:rPr lang="en-US" sz="2000" i="1">
                            <a:latin typeface="Cambria Math" panose="02040503050406030204" pitchFamily="18" charset="0"/>
                          </a:rPr>
                          <m:t>𝑐𝑚</m:t>
                        </m:r>
                      </m:e>
                      <m:sup>
                        <m:r>
                          <a:rPr lang="en-US" sz="2000" i="1">
                            <a:latin typeface="Cambria Math" panose="02040503050406030204" pitchFamily="18" charset="0"/>
                          </a:rPr>
                          <m:t>−1</m:t>
                        </m:r>
                      </m:sup>
                    </m:sSup>
                  </m:oMath>
                </a14:m>
                <a:r>
                  <a:rPr lang="en-US" sz="2000" dirty="0"/>
                  <a:t>]</a:t>
                </a:r>
              </a:p>
              <a:p>
                <a:pPr marL="1061719" lvl="2" indent="-302260">
                  <a:lnSpc>
                    <a:spcPct val="150000"/>
                  </a:lnSpc>
                  <a:buFont typeface="Arial"/>
                  <a:buChar char="•"/>
                </a:pPr>
                <a:r>
                  <a:rPr lang="en-US" sz="2000" dirty="0"/>
                  <a:t>The surface of the tissue is wide enough, compared to the beam’s cross-section -&gt; [consider infinite]</a:t>
                </a:r>
              </a:p>
              <a:p>
                <a:pPr marL="604519" lvl="1" indent="-302260">
                  <a:lnSpc>
                    <a:spcPct val="150000"/>
                  </a:lnSpc>
                  <a:buFont typeface="Arial"/>
                  <a:buChar char="•"/>
                </a:pPr>
                <a:r>
                  <a:rPr lang="en-US" sz="2500" dirty="0"/>
                  <a:t>Found that there is a difference of 15% in specular reflectance and the difference for diffuse transmittance and total reflectance were less than 4% for two different refractive index. </a:t>
                </a:r>
              </a:p>
              <a:p>
                <a:pPr marL="302259" lvl="1">
                  <a:lnSpc>
                    <a:spcPct val="150000"/>
                  </a:lnSpc>
                </a:pPr>
                <a:endParaRPr lang="en-US" sz="2500" dirty="0"/>
              </a:p>
            </p:txBody>
          </p:sp>
        </mc:Choice>
        <mc:Fallback xmlns="">
          <p:sp>
            <p:nvSpPr>
              <p:cNvPr id="8" name="TextBox 8">
                <a:extLst>
                  <a:ext uri="{FF2B5EF4-FFF2-40B4-BE49-F238E27FC236}">
                    <a16:creationId xmlns:a16="http://schemas.microsoft.com/office/drawing/2014/main" id="{8A60EC27-10C0-DA27-BD02-5EFB780088AB}"/>
                  </a:ext>
                </a:extLst>
              </p:cNvPr>
              <p:cNvSpPr txBox="1">
                <a:spLocks noRot="1" noChangeAspect="1" noMove="1" noResize="1" noEditPoints="1" noAdjustHandles="1" noChangeArrowheads="1" noChangeShapeType="1" noTextEdit="1"/>
              </p:cNvSpPr>
              <p:nvPr/>
            </p:nvSpPr>
            <p:spPr>
              <a:xfrm>
                <a:off x="873208" y="1409700"/>
                <a:ext cx="16541583" cy="7673254"/>
              </a:xfrm>
              <a:prstGeom prst="rect">
                <a:avLst/>
              </a:prstGeom>
              <a:blipFill>
                <a:blip r:embed="rId3"/>
                <a:stretch>
                  <a:fillRect t="-2621"/>
                </a:stretch>
              </a:blipFill>
            </p:spPr>
            <p:txBody>
              <a:bodyPr/>
              <a:lstStyle/>
              <a:p>
                <a:r>
                  <a:rPr lang="en-US">
                    <a:noFill/>
                  </a:rPr>
                  <a:t> </a:t>
                </a:r>
              </a:p>
            </p:txBody>
          </p:sp>
        </mc:Fallback>
      </mc:AlternateContent>
    </p:spTree>
    <p:extLst>
      <p:ext uri="{BB962C8B-B14F-4D97-AF65-F5344CB8AC3E}">
        <p14:creationId xmlns:p14="http://schemas.microsoft.com/office/powerpoint/2010/main" val="100367269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B8DDB0-30B3-C9E5-A975-E10765E609E5}"/>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3D0F623E-2269-022D-872D-E0FD913B5EB4}"/>
              </a:ext>
            </a:extLst>
          </p:cNvPr>
          <p:cNvSpPr/>
          <p:nvPr/>
        </p:nvSpPr>
        <p:spPr>
          <a:xfrm>
            <a:off x="9099" y="-3810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alphaModFix amt="50000"/>
            </a:blip>
            <a:stretch>
              <a:fillRect/>
            </a:stretch>
          </a:blipFill>
          <a:ln cap="sq">
            <a:noFill/>
            <a:prstDash val="solid"/>
            <a:miter/>
          </a:ln>
        </p:spPr>
        <p:txBody>
          <a:bodyPr/>
          <a:lstStyle/>
          <a:p>
            <a:endParaRPr lang="en-US" dirty="0"/>
          </a:p>
        </p:txBody>
      </p:sp>
      <p:sp>
        <p:nvSpPr>
          <p:cNvPr id="3" name="AutoShape 3">
            <a:extLst>
              <a:ext uri="{FF2B5EF4-FFF2-40B4-BE49-F238E27FC236}">
                <a16:creationId xmlns:a16="http://schemas.microsoft.com/office/drawing/2014/main" id="{B6AF7A0F-C49A-24A8-2030-6CBC0A521B12}"/>
              </a:ext>
            </a:extLst>
          </p:cNvPr>
          <p:cNvSpPr/>
          <p:nvPr/>
        </p:nvSpPr>
        <p:spPr>
          <a:xfrm>
            <a:off x="1166399" y="1028700"/>
            <a:ext cx="687324" cy="0"/>
          </a:xfrm>
          <a:prstGeom prst="line">
            <a:avLst/>
          </a:prstGeom>
          <a:ln w="76200" cap="flat">
            <a:solidFill>
              <a:srgbClr val="000000"/>
            </a:solidFill>
            <a:prstDash val="solid"/>
            <a:headEnd type="none" w="sm" len="sm"/>
            <a:tailEnd type="none" w="sm" len="sm"/>
          </a:ln>
        </p:spPr>
        <p:txBody>
          <a:bodyPr/>
          <a:lstStyle/>
          <a:p>
            <a:endParaRPr lang="en-US" dirty="0"/>
          </a:p>
        </p:txBody>
      </p:sp>
      <mc:AlternateContent xmlns:mc="http://schemas.openxmlformats.org/markup-compatibility/2006" xmlns:a14="http://schemas.microsoft.com/office/drawing/2010/main">
        <mc:Choice Requires="a14">
          <p:sp>
            <p:nvSpPr>
              <p:cNvPr id="8" name="TextBox 8">
                <a:extLst>
                  <a:ext uri="{FF2B5EF4-FFF2-40B4-BE49-F238E27FC236}">
                    <a16:creationId xmlns:a16="http://schemas.microsoft.com/office/drawing/2014/main" id="{802955B5-3D1A-FABF-330A-C5CEF54E08C6}"/>
                  </a:ext>
                </a:extLst>
              </p:cNvPr>
              <p:cNvSpPr txBox="1"/>
              <p:nvPr/>
            </p:nvSpPr>
            <p:spPr>
              <a:xfrm>
                <a:off x="873208" y="1409700"/>
                <a:ext cx="16541583" cy="2248693"/>
              </a:xfrm>
              <a:prstGeom prst="rect">
                <a:avLst/>
              </a:prstGeom>
            </p:spPr>
            <p:txBody>
              <a:bodyPr wrap="square" lIns="0" tIns="0" rIns="0" bIns="0" rtlCol="0" anchor="t">
                <a:spAutoFit/>
              </a:bodyPr>
              <a:lstStyle/>
              <a:p>
                <a:pPr marL="302259" lvl="1">
                  <a:lnSpc>
                    <a:spcPts val="4479"/>
                  </a:lnSpc>
                </a:pPr>
                <a:r>
                  <a:rPr lang="en-US" sz="4000" b="1" dirty="0">
                    <a:solidFill>
                      <a:srgbClr val="000000"/>
                    </a:solidFill>
                    <a:latin typeface="Times New Roman" panose="02020603050405020304" pitchFamily="18" charset="0"/>
                    <a:cs typeface="Times New Roman" panose="02020603050405020304" pitchFamily="18" charset="0"/>
                    <a:sym typeface="Open Sauce"/>
                  </a:rPr>
                  <a:t>Results</a:t>
                </a:r>
                <a:endParaRPr lang="en-US" sz="2500" dirty="0"/>
              </a:p>
              <a:p>
                <a:pPr marL="604519" lvl="1" indent="-302260">
                  <a:lnSpc>
                    <a:spcPct val="150000"/>
                  </a:lnSpc>
                  <a:buFont typeface="Arial"/>
                  <a:buChar char="•"/>
                </a:pPr>
                <a:r>
                  <a:rPr lang="en-US" sz="2500" dirty="0"/>
                  <a:t>Diffuse transmittance T, Fresnel or specular reflectance </a:t>
                </a:r>
                <a:r>
                  <a:rPr lang="en-US" sz="2500" i="1" dirty="0"/>
                  <a:t>f, </a:t>
                </a:r>
                <a:r>
                  <a:rPr lang="en-US" sz="2500" dirty="0"/>
                  <a:t>diffuse reflectance </a:t>
                </a:r>
                <a14:m>
                  <m:oMath xmlns:m="http://schemas.openxmlformats.org/officeDocument/2006/math">
                    <m:r>
                      <a:rPr lang="en-US" sz="2500" i="1" smtClean="0">
                        <a:latin typeface="Cambria Math" panose="02040503050406030204" pitchFamily="18" charset="0"/>
                        <a:ea typeface="Cambria Math" panose="02040503050406030204" pitchFamily="18" charset="0"/>
                      </a:rPr>
                      <m:t>𝛾</m:t>
                    </m:r>
                  </m:oMath>
                </a14:m>
                <a:r>
                  <a:rPr lang="en-US" sz="2500" dirty="0"/>
                  <a:t>,total reflectance R, absorption A and collimated transmittance </a:t>
                </a:r>
                <a14:m>
                  <m:oMath xmlns:m="http://schemas.openxmlformats.org/officeDocument/2006/math">
                    <m:sSub>
                      <m:sSubPr>
                        <m:ctrlPr>
                          <a:rPr lang="en-US" sz="2500" i="1">
                            <a:latin typeface="Cambria Math" panose="02040503050406030204" pitchFamily="18" charset="0"/>
                          </a:rPr>
                        </m:ctrlPr>
                      </m:sSubPr>
                      <m:e>
                        <m:r>
                          <a:rPr lang="en-US" sz="2500" b="0" i="1" smtClean="0">
                            <a:latin typeface="Cambria Math" panose="02040503050406030204" pitchFamily="18" charset="0"/>
                          </a:rPr>
                          <m:t>𝑇</m:t>
                        </m:r>
                      </m:e>
                      <m:sub>
                        <m:r>
                          <a:rPr lang="en-US" sz="2500" b="0" i="1" smtClean="0">
                            <a:latin typeface="Cambria Math" panose="02040503050406030204" pitchFamily="18" charset="0"/>
                            <a:ea typeface="Cambria Math" panose="02040503050406030204" pitchFamily="18" charset="0"/>
                          </a:rPr>
                          <m:t>𝐶</m:t>
                        </m:r>
                      </m:sub>
                    </m:sSub>
                  </m:oMath>
                </a14:m>
                <a:r>
                  <a:rPr lang="en-US" sz="2500" dirty="0"/>
                  <a:t>. </a:t>
                </a:r>
              </a:p>
              <a:p>
                <a:pPr marL="604519" lvl="1" indent="-302260">
                  <a:lnSpc>
                    <a:spcPct val="150000"/>
                  </a:lnSpc>
                  <a:buFont typeface="Arial"/>
                  <a:buChar char="•"/>
                </a:pPr>
                <a:r>
                  <a:rPr lang="en-US" sz="2500" dirty="0"/>
                  <a:t>T + </a:t>
                </a:r>
                <a:r>
                  <a:rPr lang="en-US" sz="2500" i="1" dirty="0"/>
                  <a:t>f</a:t>
                </a:r>
                <a:r>
                  <a:rPr lang="en-US" sz="2500" dirty="0"/>
                  <a:t> + </a:t>
                </a:r>
                <a14:m>
                  <m:oMath xmlns:m="http://schemas.openxmlformats.org/officeDocument/2006/math">
                    <m:r>
                      <a:rPr lang="en-US" sz="2500" i="1">
                        <a:latin typeface="Cambria Math" panose="02040503050406030204" pitchFamily="18" charset="0"/>
                        <a:ea typeface="Cambria Math" panose="02040503050406030204" pitchFamily="18" charset="0"/>
                      </a:rPr>
                      <m:t>𝛾</m:t>
                    </m:r>
                  </m:oMath>
                </a14:m>
                <a:r>
                  <a:rPr lang="en-US" sz="2500" dirty="0"/>
                  <a:t>+ A = 1 is used to check the correctness of the algorithm.</a:t>
                </a:r>
              </a:p>
            </p:txBody>
          </p:sp>
        </mc:Choice>
        <mc:Fallback xmlns="">
          <p:sp>
            <p:nvSpPr>
              <p:cNvPr id="8" name="TextBox 8">
                <a:extLst>
                  <a:ext uri="{FF2B5EF4-FFF2-40B4-BE49-F238E27FC236}">
                    <a16:creationId xmlns:a16="http://schemas.microsoft.com/office/drawing/2014/main" id="{802955B5-3D1A-FABF-330A-C5CEF54E08C6}"/>
                  </a:ext>
                </a:extLst>
              </p:cNvPr>
              <p:cNvSpPr txBox="1">
                <a:spLocks noRot="1" noChangeAspect="1" noMove="1" noResize="1" noEditPoints="1" noAdjustHandles="1" noChangeArrowheads="1" noChangeShapeType="1" noTextEdit="1"/>
              </p:cNvSpPr>
              <p:nvPr/>
            </p:nvSpPr>
            <p:spPr>
              <a:xfrm>
                <a:off x="873208" y="1409700"/>
                <a:ext cx="16541583" cy="2248693"/>
              </a:xfrm>
              <a:prstGeom prst="rect">
                <a:avLst/>
              </a:prstGeom>
              <a:blipFill>
                <a:blip r:embed="rId3"/>
                <a:stretch>
                  <a:fillRect t="-8943" b="-7859"/>
                </a:stretch>
              </a:blipFill>
            </p:spPr>
            <p:txBody>
              <a:bodyPr/>
              <a:lstStyle/>
              <a:p>
                <a:r>
                  <a:rPr lang="en-US">
                    <a:noFill/>
                  </a:rPr>
                  <a:t> </a:t>
                </a:r>
              </a:p>
            </p:txBody>
          </p:sp>
        </mc:Fallback>
      </mc:AlternateContent>
      <p:pic>
        <p:nvPicPr>
          <p:cNvPr id="5" name="Picture 4">
            <a:extLst>
              <a:ext uri="{FF2B5EF4-FFF2-40B4-BE49-F238E27FC236}">
                <a16:creationId xmlns:a16="http://schemas.microsoft.com/office/drawing/2014/main" id="{2134B670-E84B-6C7F-EB4D-A93E8826371F}"/>
              </a:ext>
            </a:extLst>
          </p:cNvPr>
          <p:cNvPicPr>
            <a:picLocks noChangeAspect="1"/>
          </p:cNvPicPr>
          <p:nvPr/>
        </p:nvPicPr>
        <p:blipFill>
          <a:blip r:embed="rId4">
            <a:extLst>
              <a:ext uri="{28A0092B-C50C-407E-A947-70E740481C1C}">
                <a14:useLocalDpi xmlns:a14="http://schemas.microsoft.com/office/drawing/2010/main" val="0"/>
              </a:ext>
            </a:extLst>
          </a:blip>
          <a:srcRect r="7415" b="22004"/>
          <a:stretch>
            <a:fillRect/>
          </a:stretch>
        </p:blipFill>
        <p:spPr>
          <a:xfrm>
            <a:off x="3861601" y="3658393"/>
            <a:ext cx="10582995" cy="5676107"/>
          </a:xfrm>
          <a:prstGeom prst="rect">
            <a:avLst/>
          </a:prstGeom>
        </p:spPr>
      </p:pic>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8B05E41E-97DC-F497-29EA-D8455A1649F5}"/>
                  </a:ext>
                </a:extLst>
              </p:cNvPr>
              <p:cNvSpPr txBox="1"/>
              <p:nvPr/>
            </p:nvSpPr>
            <p:spPr>
              <a:xfrm>
                <a:off x="3861601" y="9334500"/>
                <a:ext cx="10582995" cy="923330"/>
              </a:xfrm>
              <a:prstGeom prst="rect">
                <a:avLst/>
              </a:prstGeom>
              <a:noFill/>
            </p:spPr>
            <p:txBody>
              <a:bodyPr wrap="square" rtlCol="0">
                <a:spAutoFit/>
              </a:bodyPr>
              <a:lstStyle/>
              <a:p>
                <a:r>
                  <a:rPr lang="en-US" dirty="0"/>
                  <a:t>Fig, Types of photon path passing through a tissue slab. The paths considered in the Mote Carlo code are the following: diffuse transmittance T(1+2); collimated transmittance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𝑇</m:t>
                        </m:r>
                      </m:e>
                      <m:sub>
                        <m:r>
                          <a:rPr lang="en-US" i="1">
                            <a:latin typeface="Cambria Math" panose="02040503050406030204" pitchFamily="18" charset="0"/>
                            <a:ea typeface="Cambria Math" panose="02040503050406030204" pitchFamily="18" charset="0"/>
                          </a:rPr>
                          <m:t>𝐶</m:t>
                        </m:r>
                      </m:sub>
                    </m:sSub>
                  </m:oMath>
                </a14:m>
                <a:r>
                  <a:rPr lang="en-US" dirty="0"/>
                  <a:t> (2); fraction absorbed A (3); diffuse reflectance </a:t>
                </a:r>
                <a14:m>
                  <m:oMath xmlns:m="http://schemas.openxmlformats.org/officeDocument/2006/math">
                    <m:r>
                      <a:rPr lang="en-US" i="1">
                        <a:latin typeface="Cambria Math" panose="02040503050406030204" pitchFamily="18" charset="0"/>
                        <a:ea typeface="Cambria Math" panose="02040503050406030204" pitchFamily="18" charset="0"/>
                      </a:rPr>
                      <m:t>𝛾</m:t>
                    </m:r>
                  </m:oMath>
                </a14:m>
                <a:r>
                  <a:rPr lang="en-US" dirty="0"/>
                  <a:t>(4);specular (Fresnel) reflectance f (5); total reflectance R (4+5)</a:t>
                </a:r>
              </a:p>
            </p:txBody>
          </p:sp>
        </mc:Choice>
        <mc:Fallback xmlns="">
          <p:sp>
            <p:nvSpPr>
              <p:cNvPr id="6" name="TextBox 5">
                <a:extLst>
                  <a:ext uri="{FF2B5EF4-FFF2-40B4-BE49-F238E27FC236}">
                    <a16:creationId xmlns:a16="http://schemas.microsoft.com/office/drawing/2014/main" id="{8B05E41E-97DC-F497-29EA-D8455A1649F5}"/>
                  </a:ext>
                </a:extLst>
              </p:cNvPr>
              <p:cNvSpPr txBox="1">
                <a:spLocks noRot="1" noChangeAspect="1" noMove="1" noResize="1" noEditPoints="1" noAdjustHandles="1" noChangeArrowheads="1" noChangeShapeType="1" noTextEdit="1"/>
              </p:cNvSpPr>
              <p:nvPr/>
            </p:nvSpPr>
            <p:spPr>
              <a:xfrm>
                <a:off x="3861601" y="9334500"/>
                <a:ext cx="10582995" cy="923330"/>
              </a:xfrm>
              <a:prstGeom prst="rect">
                <a:avLst/>
              </a:prstGeom>
              <a:blipFill>
                <a:blip r:embed="rId5"/>
                <a:stretch>
                  <a:fillRect l="-461" t="-3289" b="-9211"/>
                </a:stretch>
              </a:blipFill>
            </p:spPr>
            <p:txBody>
              <a:bodyPr/>
              <a:lstStyle/>
              <a:p>
                <a:r>
                  <a:rPr lang="en-US">
                    <a:noFill/>
                  </a:rPr>
                  <a:t> </a:t>
                </a:r>
              </a:p>
            </p:txBody>
          </p:sp>
        </mc:Fallback>
      </mc:AlternateContent>
    </p:spTree>
    <p:extLst>
      <p:ext uri="{BB962C8B-B14F-4D97-AF65-F5344CB8AC3E}">
        <p14:creationId xmlns:p14="http://schemas.microsoft.com/office/powerpoint/2010/main" val="115924369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069C2A-27C3-42EA-7DE9-4C48ECC5A344}"/>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2BB802CD-FC9B-0C82-2B6C-E42905A50B2F}"/>
              </a:ext>
            </a:extLst>
          </p:cNvPr>
          <p:cNvSpPr/>
          <p:nvPr/>
        </p:nvSpPr>
        <p:spPr>
          <a:xfrm>
            <a:off x="-1270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alphaModFix amt="50000"/>
            </a:blip>
            <a:stretch>
              <a:fillRect/>
            </a:stretch>
          </a:blipFill>
          <a:ln cap="sq">
            <a:noFill/>
            <a:prstDash val="solid"/>
            <a:miter/>
          </a:ln>
        </p:spPr>
        <p:txBody>
          <a:bodyPr/>
          <a:lstStyle/>
          <a:p>
            <a:endParaRPr lang="en-US" dirty="0"/>
          </a:p>
        </p:txBody>
      </p:sp>
      <p:sp>
        <p:nvSpPr>
          <p:cNvPr id="3" name="AutoShape 3">
            <a:extLst>
              <a:ext uri="{FF2B5EF4-FFF2-40B4-BE49-F238E27FC236}">
                <a16:creationId xmlns:a16="http://schemas.microsoft.com/office/drawing/2014/main" id="{1EB990A6-A174-FF3E-91D9-04A739B7A5C1}"/>
              </a:ext>
            </a:extLst>
          </p:cNvPr>
          <p:cNvSpPr/>
          <p:nvPr/>
        </p:nvSpPr>
        <p:spPr>
          <a:xfrm>
            <a:off x="1166399" y="1028700"/>
            <a:ext cx="687324" cy="0"/>
          </a:xfrm>
          <a:prstGeom prst="line">
            <a:avLst/>
          </a:prstGeom>
          <a:ln w="76200" cap="flat">
            <a:solidFill>
              <a:srgbClr val="000000"/>
            </a:solidFill>
            <a:prstDash val="solid"/>
            <a:headEnd type="none" w="sm" len="sm"/>
            <a:tailEnd type="none" w="sm" len="sm"/>
          </a:ln>
        </p:spPr>
        <p:txBody>
          <a:bodyPr/>
          <a:lstStyle/>
          <a:p>
            <a:endParaRPr lang="en-US" dirty="0"/>
          </a:p>
        </p:txBody>
      </p:sp>
      <p:sp>
        <p:nvSpPr>
          <p:cNvPr id="8" name="TextBox 8">
            <a:extLst>
              <a:ext uri="{FF2B5EF4-FFF2-40B4-BE49-F238E27FC236}">
                <a16:creationId xmlns:a16="http://schemas.microsoft.com/office/drawing/2014/main" id="{51A7E29A-438E-DF1A-A973-4CDA7639C627}"/>
              </a:ext>
            </a:extLst>
          </p:cNvPr>
          <p:cNvSpPr txBox="1"/>
          <p:nvPr/>
        </p:nvSpPr>
        <p:spPr>
          <a:xfrm>
            <a:off x="873209" y="1409700"/>
            <a:ext cx="8270792" cy="5134098"/>
          </a:xfrm>
          <a:prstGeom prst="rect">
            <a:avLst/>
          </a:prstGeom>
        </p:spPr>
        <p:txBody>
          <a:bodyPr wrap="square" lIns="0" tIns="0" rIns="0" bIns="0" rtlCol="0" anchor="t">
            <a:spAutoFit/>
          </a:bodyPr>
          <a:lstStyle/>
          <a:p>
            <a:pPr marL="302259" lvl="1">
              <a:lnSpc>
                <a:spcPts val="4479"/>
              </a:lnSpc>
            </a:pPr>
            <a:r>
              <a:rPr lang="en-US" sz="4000" b="1" dirty="0">
                <a:solidFill>
                  <a:srgbClr val="000000"/>
                </a:solidFill>
                <a:latin typeface="Times New Roman" panose="02020603050405020304" pitchFamily="18" charset="0"/>
                <a:cs typeface="Times New Roman" panose="02020603050405020304" pitchFamily="18" charset="0"/>
                <a:sym typeface="Open Sauce"/>
              </a:rPr>
              <a:t>Results</a:t>
            </a:r>
          </a:p>
          <a:p>
            <a:pPr marL="302259" lvl="1">
              <a:lnSpc>
                <a:spcPts val="4479"/>
              </a:lnSpc>
            </a:pPr>
            <a:endParaRPr lang="en-US" sz="4000" b="1" dirty="0">
              <a:solidFill>
                <a:srgbClr val="000000"/>
              </a:solidFill>
              <a:latin typeface="Times New Roman" panose="02020603050405020304" pitchFamily="18" charset="0"/>
              <a:cs typeface="Times New Roman" panose="02020603050405020304" pitchFamily="18" charset="0"/>
              <a:sym typeface="Open Sauce"/>
            </a:endParaRPr>
          </a:p>
          <a:p>
            <a:pPr marL="302259" lvl="1">
              <a:lnSpc>
                <a:spcPts val="4479"/>
              </a:lnSpc>
            </a:pPr>
            <a:endParaRPr lang="en-US" sz="4000" b="1" dirty="0">
              <a:solidFill>
                <a:srgbClr val="000000"/>
              </a:solidFill>
              <a:latin typeface="Times New Roman" panose="02020603050405020304" pitchFamily="18" charset="0"/>
              <a:cs typeface="Times New Roman" panose="02020603050405020304" pitchFamily="18" charset="0"/>
              <a:sym typeface="Open Sauce"/>
            </a:endParaRPr>
          </a:p>
          <a:p>
            <a:pPr marL="302259" lvl="1">
              <a:lnSpc>
                <a:spcPts val="4479"/>
              </a:lnSpc>
            </a:pPr>
            <a:endParaRPr lang="en-US" sz="4000" b="1" dirty="0">
              <a:solidFill>
                <a:srgbClr val="000000"/>
              </a:solidFill>
              <a:latin typeface="Times New Roman" panose="02020603050405020304" pitchFamily="18" charset="0"/>
              <a:cs typeface="Times New Roman" panose="02020603050405020304" pitchFamily="18" charset="0"/>
              <a:sym typeface="Open Sauce"/>
            </a:endParaRPr>
          </a:p>
          <a:p>
            <a:pPr marL="302259" lvl="1">
              <a:lnSpc>
                <a:spcPts val="4479"/>
              </a:lnSpc>
            </a:pPr>
            <a:endParaRPr lang="en-US" sz="2500" dirty="0"/>
          </a:p>
          <a:p>
            <a:pPr marL="604519" lvl="1" indent="-302260">
              <a:lnSpc>
                <a:spcPct val="150000"/>
              </a:lnSpc>
              <a:buFont typeface="Arial"/>
              <a:buChar char="•"/>
            </a:pPr>
            <a:r>
              <a:rPr lang="en-US" sz="2500" dirty="0"/>
              <a:t>Used 100,000 histories for each run. </a:t>
            </a:r>
          </a:p>
          <a:p>
            <a:pPr marL="604519" lvl="1" indent="-302260">
              <a:lnSpc>
                <a:spcPct val="150000"/>
              </a:lnSpc>
              <a:buFont typeface="Arial"/>
              <a:buChar char="•"/>
            </a:pPr>
            <a:r>
              <a:rPr lang="en-US" sz="2500" dirty="0"/>
              <a:t>The overall reproducibility of all calculated quantities was over 99%.</a:t>
            </a:r>
          </a:p>
          <a:p>
            <a:pPr marL="604519" lvl="1" indent="-302260">
              <a:lnSpc>
                <a:spcPct val="150000"/>
              </a:lnSpc>
              <a:buFont typeface="Arial"/>
              <a:buChar char="•"/>
            </a:pPr>
            <a:r>
              <a:rPr lang="en-US" sz="2500" dirty="0"/>
              <a:t>The following figure shows the plots fitted to the data.</a:t>
            </a:r>
          </a:p>
        </p:txBody>
      </p:sp>
      <p:pic>
        <p:nvPicPr>
          <p:cNvPr id="5" name="Picture 4">
            <a:extLst>
              <a:ext uri="{FF2B5EF4-FFF2-40B4-BE49-F238E27FC236}">
                <a16:creationId xmlns:a16="http://schemas.microsoft.com/office/drawing/2014/main" id="{57112C3B-C6C9-488F-29DF-8E636983B233}"/>
              </a:ext>
            </a:extLst>
          </p:cNvPr>
          <p:cNvPicPr>
            <a:picLocks noChangeAspect="1"/>
          </p:cNvPicPr>
          <p:nvPr/>
        </p:nvPicPr>
        <p:blipFill>
          <a:blip r:embed="rId3">
            <a:extLst>
              <a:ext uri="{28A0092B-C50C-407E-A947-70E740481C1C}">
                <a14:useLocalDpi xmlns:a14="http://schemas.microsoft.com/office/drawing/2010/main" val="0"/>
              </a:ext>
            </a:extLst>
          </a:blip>
          <a:srcRect b="11023"/>
          <a:stretch>
            <a:fillRect/>
          </a:stretch>
        </p:blipFill>
        <p:spPr>
          <a:xfrm>
            <a:off x="9867274" y="1753294"/>
            <a:ext cx="7518786" cy="6780411"/>
          </a:xfrm>
          <a:prstGeom prst="rect">
            <a:avLst/>
          </a:prstGeom>
        </p:spPr>
      </p:pic>
      <mc:AlternateContent xmlns:mc="http://schemas.openxmlformats.org/markup-compatibility/2006">
        <mc:Choice xmlns:a14="http://schemas.microsoft.com/office/drawing/2010/main" Requires="a14">
          <p:sp>
            <p:nvSpPr>
              <p:cNvPr id="4" name="TextBox 3">
                <a:extLst>
                  <a:ext uri="{FF2B5EF4-FFF2-40B4-BE49-F238E27FC236}">
                    <a16:creationId xmlns:a16="http://schemas.microsoft.com/office/drawing/2014/main" id="{1904E50E-68F7-8C71-2D07-03F900B21108}"/>
                  </a:ext>
                </a:extLst>
              </p:cNvPr>
              <p:cNvSpPr txBox="1"/>
              <p:nvPr/>
            </p:nvSpPr>
            <p:spPr>
              <a:xfrm>
                <a:off x="9867274" y="8533705"/>
                <a:ext cx="7518786" cy="923330"/>
              </a:xfrm>
              <a:prstGeom prst="rect">
                <a:avLst/>
              </a:prstGeom>
              <a:noFill/>
            </p:spPr>
            <p:txBody>
              <a:bodyPr wrap="square" rtlCol="0">
                <a:spAutoFit/>
              </a:bodyPr>
              <a:lstStyle/>
              <a:p>
                <a:r>
                  <a:rPr lang="en-US" dirty="0"/>
                  <a:t>Fig. Diffuse transmittance and total reflectance as a function of </a:t>
                </a:r>
                <a14:m>
                  <m:oMath xmlns:m="http://schemas.openxmlformats.org/officeDocument/2006/math">
                    <m:sSubSup>
                      <m:sSubSupPr>
                        <m:ctrlPr>
                          <a:rPr lang="en-US" i="1">
                            <a:latin typeface="Cambria Math" panose="02040503050406030204" pitchFamily="18" charset="0"/>
                          </a:rPr>
                        </m:ctrlPr>
                      </m:sSubSupPr>
                      <m:e>
                        <m:r>
                          <a:rPr lang="en-US" i="1">
                            <a:latin typeface="Cambria Math" panose="02040503050406030204" pitchFamily="18" charset="0"/>
                            <a:ea typeface="Cambria Math" panose="02040503050406030204" pitchFamily="18" charset="0"/>
                          </a:rPr>
                          <m:t>𝜇</m:t>
                        </m:r>
                      </m:e>
                      <m:sub>
                        <m:r>
                          <a:rPr lang="en-US" i="1">
                            <a:latin typeface="Cambria Math" panose="02040503050406030204" pitchFamily="18" charset="0"/>
                          </a:rPr>
                          <m:t>𝑠</m:t>
                        </m:r>
                      </m:sub>
                      <m:sup>
                        <m:r>
                          <a:rPr lang="en-US" i="1">
                            <a:latin typeface="Cambria Math" panose="02040503050406030204" pitchFamily="18" charset="0"/>
                          </a:rPr>
                          <m:t>′</m:t>
                        </m:r>
                      </m:sup>
                    </m:sSubSup>
                  </m:oMath>
                </a14:m>
                <a:r>
                  <a:rPr lang="en-US" dirty="0"/>
                  <a:t> for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ea typeface="Cambria Math" panose="02040503050406030204" pitchFamily="18" charset="0"/>
                          </a:rPr>
                          <m:t>𝜇</m:t>
                        </m:r>
                      </m:e>
                      <m:sub>
                        <m:r>
                          <a:rPr lang="en-US" i="1">
                            <a:latin typeface="Cambria Math" panose="02040503050406030204" pitchFamily="18" charset="0"/>
                          </a:rPr>
                          <m:t>𝑎</m:t>
                        </m:r>
                      </m:sub>
                    </m:sSub>
                  </m:oMath>
                </a14:m>
                <a:r>
                  <a:rPr lang="en-US" dirty="0"/>
                  <a:t>= 0.25 </a:t>
                </a:r>
                <a14:m>
                  <m:oMath xmlns:m="http://schemas.openxmlformats.org/officeDocument/2006/math">
                    <m:sSup>
                      <m:sSupPr>
                        <m:ctrlPr>
                          <a:rPr lang="en-US" i="1">
                            <a:latin typeface="Cambria Math" panose="02040503050406030204" pitchFamily="18" charset="0"/>
                          </a:rPr>
                        </m:ctrlPr>
                      </m:sSupPr>
                      <m:e>
                        <m:r>
                          <a:rPr lang="en-US" b="0" i="1" smtClean="0">
                            <a:latin typeface="Cambria Math" panose="02040503050406030204" pitchFamily="18" charset="0"/>
                          </a:rPr>
                          <m:t>𝑐</m:t>
                        </m:r>
                        <m:r>
                          <a:rPr lang="en-US" i="1">
                            <a:latin typeface="Cambria Math" panose="02040503050406030204" pitchFamily="18" charset="0"/>
                          </a:rPr>
                          <m:t>𝑚</m:t>
                        </m:r>
                      </m:e>
                      <m:sup>
                        <m:r>
                          <a:rPr lang="en-US" i="1">
                            <a:latin typeface="Cambria Math" panose="02040503050406030204" pitchFamily="18" charset="0"/>
                          </a:rPr>
                          <m:t>−1</m:t>
                        </m:r>
                      </m:sup>
                    </m:sSup>
                  </m:oMath>
                </a14:m>
                <a:r>
                  <a:rPr lang="en-US" dirty="0"/>
                  <a:t> and a slab thickness of 1.0 cm. The curves have been fitted to the Monte Carlo results, which are shown as points and crosses. </a:t>
                </a:r>
              </a:p>
            </p:txBody>
          </p:sp>
        </mc:Choice>
        <mc:Fallback>
          <p:sp>
            <p:nvSpPr>
              <p:cNvPr id="4" name="TextBox 3">
                <a:extLst>
                  <a:ext uri="{FF2B5EF4-FFF2-40B4-BE49-F238E27FC236}">
                    <a16:creationId xmlns:a16="http://schemas.microsoft.com/office/drawing/2014/main" id="{1904E50E-68F7-8C71-2D07-03F900B21108}"/>
                  </a:ext>
                </a:extLst>
              </p:cNvPr>
              <p:cNvSpPr txBox="1">
                <a:spLocks noRot="1" noChangeAspect="1" noMove="1" noResize="1" noEditPoints="1" noAdjustHandles="1" noChangeArrowheads="1" noChangeShapeType="1" noTextEdit="1"/>
              </p:cNvSpPr>
              <p:nvPr/>
            </p:nvSpPr>
            <p:spPr>
              <a:xfrm>
                <a:off x="9867274" y="8533705"/>
                <a:ext cx="7518786" cy="923330"/>
              </a:xfrm>
              <a:prstGeom prst="rect">
                <a:avLst/>
              </a:prstGeom>
              <a:blipFill>
                <a:blip r:embed="rId4"/>
                <a:stretch>
                  <a:fillRect l="-730" t="-3974" r="-1135" b="-9934"/>
                </a:stretch>
              </a:blipFill>
            </p:spPr>
            <p:txBody>
              <a:bodyPr/>
              <a:lstStyle/>
              <a:p>
                <a:r>
                  <a:rPr lang="en-US">
                    <a:noFill/>
                  </a:rPr>
                  <a:t> </a:t>
                </a:r>
              </a:p>
            </p:txBody>
          </p:sp>
        </mc:Fallback>
      </mc:AlternateContent>
    </p:spTree>
    <p:extLst>
      <p:ext uri="{BB962C8B-B14F-4D97-AF65-F5344CB8AC3E}">
        <p14:creationId xmlns:p14="http://schemas.microsoft.com/office/powerpoint/2010/main" val="115279133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935E02-970B-CC83-A816-1FAD75E61DFC}"/>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0982CE22-D66F-8600-E9F0-189A68B03CBE}"/>
              </a:ext>
            </a:extLst>
          </p:cNvPr>
          <p:cNvSpPr/>
          <p:nvPr/>
        </p:nvSpPr>
        <p:spPr>
          <a:xfrm>
            <a:off x="0" y="-1163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alphaModFix amt="50000"/>
            </a:blip>
            <a:stretch>
              <a:fillRect/>
            </a:stretch>
          </a:blipFill>
          <a:ln cap="sq">
            <a:noFill/>
            <a:prstDash val="solid"/>
            <a:miter/>
          </a:ln>
        </p:spPr>
        <p:txBody>
          <a:bodyPr/>
          <a:lstStyle/>
          <a:p>
            <a:endParaRPr lang="en-US" dirty="0"/>
          </a:p>
        </p:txBody>
      </p:sp>
      <p:sp>
        <p:nvSpPr>
          <p:cNvPr id="3" name="AutoShape 3">
            <a:extLst>
              <a:ext uri="{FF2B5EF4-FFF2-40B4-BE49-F238E27FC236}">
                <a16:creationId xmlns:a16="http://schemas.microsoft.com/office/drawing/2014/main" id="{F7891802-5ACC-29B4-D639-90419F6BA19C}"/>
              </a:ext>
            </a:extLst>
          </p:cNvPr>
          <p:cNvSpPr/>
          <p:nvPr/>
        </p:nvSpPr>
        <p:spPr>
          <a:xfrm>
            <a:off x="1166399" y="1028700"/>
            <a:ext cx="687324" cy="0"/>
          </a:xfrm>
          <a:prstGeom prst="line">
            <a:avLst/>
          </a:prstGeom>
          <a:ln w="76200" cap="flat">
            <a:solidFill>
              <a:srgbClr val="000000"/>
            </a:solidFill>
            <a:prstDash val="solid"/>
            <a:headEnd type="none" w="sm" len="sm"/>
            <a:tailEnd type="none" w="sm" len="sm"/>
          </a:ln>
        </p:spPr>
        <p:txBody>
          <a:bodyPr/>
          <a:lstStyle/>
          <a:p>
            <a:endParaRPr lang="en-US" dirty="0"/>
          </a:p>
        </p:txBody>
      </p:sp>
      <mc:AlternateContent xmlns:mc="http://schemas.openxmlformats.org/markup-compatibility/2006">
        <mc:Choice xmlns:a14="http://schemas.microsoft.com/office/drawing/2010/main" Requires="a14">
          <p:sp>
            <p:nvSpPr>
              <p:cNvPr id="8" name="TextBox 8">
                <a:extLst>
                  <a:ext uri="{FF2B5EF4-FFF2-40B4-BE49-F238E27FC236}">
                    <a16:creationId xmlns:a16="http://schemas.microsoft.com/office/drawing/2014/main" id="{2A67C286-1C9B-F1BF-402F-70287E6F327C}"/>
                  </a:ext>
                </a:extLst>
              </p:cNvPr>
              <p:cNvSpPr txBox="1"/>
              <p:nvPr/>
            </p:nvSpPr>
            <p:spPr>
              <a:xfrm>
                <a:off x="873208" y="1409700"/>
                <a:ext cx="16541583" cy="1671611"/>
              </a:xfrm>
              <a:prstGeom prst="rect">
                <a:avLst/>
              </a:prstGeom>
            </p:spPr>
            <p:txBody>
              <a:bodyPr wrap="square" lIns="0" tIns="0" rIns="0" bIns="0" rtlCol="0" anchor="t">
                <a:spAutoFit/>
              </a:bodyPr>
              <a:lstStyle/>
              <a:p>
                <a:pPr marL="302259" lvl="1">
                  <a:lnSpc>
                    <a:spcPts val="4479"/>
                  </a:lnSpc>
                </a:pPr>
                <a:r>
                  <a:rPr lang="en-US" sz="4000" b="1" dirty="0">
                    <a:solidFill>
                      <a:srgbClr val="000000"/>
                    </a:solidFill>
                    <a:latin typeface="Times New Roman" panose="02020603050405020304" pitchFamily="18" charset="0"/>
                    <a:cs typeface="Times New Roman" panose="02020603050405020304" pitchFamily="18" charset="0"/>
                    <a:sym typeface="Open Sauce"/>
                  </a:rPr>
                  <a:t>Results</a:t>
                </a:r>
                <a:endParaRPr lang="en-US" sz="2500" dirty="0"/>
              </a:p>
              <a:p>
                <a:pPr marL="604519" lvl="1" indent="-302260">
                  <a:lnSpc>
                    <a:spcPct val="150000"/>
                  </a:lnSpc>
                  <a:buFont typeface="Arial"/>
                  <a:buChar char="•"/>
                </a:pPr>
                <a:r>
                  <a:rPr lang="en-US" sz="2500" dirty="0"/>
                  <a:t>T1,T2,T3,R1,R2,R3 are constants depending on the particular values of </a:t>
                </a:r>
                <a14:m>
                  <m:oMath xmlns:m="http://schemas.openxmlformats.org/officeDocument/2006/math">
                    <m:sSub>
                      <m:sSubPr>
                        <m:ctrlPr>
                          <a:rPr lang="en-US" sz="2500" i="1">
                            <a:latin typeface="Cambria Math" panose="02040503050406030204" pitchFamily="18" charset="0"/>
                          </a:rPr>
                        </m:ctrlPr>
                      </m:sSubPr>
                      <m:e>
                        <m:r>
                          <a:rPr lang="en-US" sz="2500" i="1">
                            <a:latin typeface="Cambria Math" panose="02040503050406030204" pitchFamily="18" charset="0"/>
                            <a:ea typeface="Cambria Math" panose="02040503050406030204" pitchFamily="18" charset="0"/>
                          </a:rPr>
                          <m:t>𝜇</m:t>
                        </m:r>
                      </m:e>
                      <m:sub>
                        <m:r>
                          <a:rPr lang="en-US" sz="2500" i="1">
                            <a:latin typeface="Cambria Math" panose="02040503050406030204" pitchFamily="18" charset="0"/>
                          </a:rPr>
                          <m:t>𝑎</m:t>
                        </m:r>
                      </m:sub>
                    </m:sSub>
                  </m:oMath>
                </a14:m>
                <a:r>
                  <a:rPr lang="en-US" sz="2500" dirty="0"/>
                  <a:t> and tissue thickness.</a:t>
                </a:r>
              </a:p>
              <a:p>
                <a:pPr marL="302259" lvl="1">
                  <a:lnSpc>
                    <a:spcPct val="150000"/>
                  </a:lnSpc>
                </a:pPr>
                <a:endParaRPr lang="en-US" sz="2500" dirty="0"/>
              </a:p>
            </p:txBody>
          </p:sp>
        </mc:Choice>
        <mc:Fallback>
          <p:sp>
            <p:nvSpPr>
              <p:cNvPr id="8" name="TextBox 8">
                <a:extLst>
                  <a:ext uri="{FF2B5EF4-FFF2-40B4-BE49-F238E27FC236}">
                    <a16:creationId xmlns:a16="http://schemas.microsoft.com/office/drawing/2014/main" id="{2A67C286-1C9B-F1BF-402F-70287E6F327C}"/>
                  </a:ext>
                </a:extLst>
              </p:cNvPr>
              <p:cNvSpPr txBox="1">
                <a:spLocks noRot="1" noChangeAspect="1" noMove="1" noResize="1" noEditPoints="1" noAdjustHandles="1" noChangeArrowheads="1" noChangeShapeType="1" noTextEdit="1"/>
              </p:cNvSpPr>
              <p:nvPr/>
            </p:nvSpPr>
            <p:spPr>
              <a:xfrm>
                <a:off x="873208" y="1409700"/>
                <a:ext cx="16541583" cy="1671611"/>
              </a:xfrm>
              <a:prstGeom prst="rect">
                <a:avLst/>
              </a:prstGeom>
              <a:blipFill>
                <a:blip r:embed="rId3"/>
                <a:stretch>
                  <a:fillRect t="-12044"/>
                </a:stretch>
              </a:blipFill>
            </p:spPr>
            <p:txBody>
              <a:bodyPr/>
              <a:lstStyle/>
              <a:p>
                <a:r>
                  <a:rPr lang="en-US">
                    <a:noFill/>
                  </a:rPr>
                  <a:t> </a:t>
                </a:r>
              </a:p>
            </p:txBody>
          </p:sp>
        </mc:Fallback>
      </mc:AlternateContent>
      <p:pic>
        <p:nvPicPr>
          <p:cNvPr id="7" name="Picture 6">
            <a:extLst>
              <a:ext uri="{FF2B5EF4-FFF2-40B4-BE49-F238E27FC236}">
                <a16:creationId xmlns:a16="http://schemas.microsoft.com/office/drawing/2014/main" id="{BE434DE5-53CB-3A83-DCDC-233C83D8BFC8}"/>
              </a:ext>
            </a:extLst>
          </p:cNvPr>
          <p:cNvPicPr>
            <a:picLocks noChangeAspect="1"/>
          </p:cNvPicPr>
          <p:nvPr/>
        </p:nvPicPr>
        <p:blipFill>
          <a:blip r:embed="rId4">
            <a:extLst>
              <a:ext uri="{28A0092B-C50C-407E-A947-70E740481C1C}">
                <a14:useLocalDpi xmlns:a14="http://schemas.microsoft.com/office/drawing/2010/main" val="0"/>
              </a:ext>
            </a:extLst>
          </a:blip>
          <a:srcRect t="20583" r="30853" b="5800"/>
          <a:stretch>
            <a:fillRect/>
          </a:stretch>
        </p:blipFill>
        <p:spPr>
          <a:xfrm>
            <a:off x="1179099" y="2485386"/>
            <a:ext cx="6487451" cy="3167184"/>
          </a:xfrm>
          <a:prstGeom prst="rect">
            <a:avLst/>
          </a:prstGeom>
        </p:spPr>
      </p:pic>
      <p:pic>
        <p:nvPicPr>
          <p:cNvPr id="10" name="Picture 9">
            <a:extLst>
              <a:ext uri="{FF2B5EF4-FFF2-40B4-BE49-F238E27FC236}">
                <a16:creationId xmlns:a16="http://schemas.microsoft.com/office/drawing/2014/main" id="{9E0D3A91-5262-7671-8115-FFCD6A2EC379}"/>
              </a:ext>
            </a:extLst>
          </p:cNvPr>
          <p:cNvPicPr>
            <a:picLocks noChangeAspect="1"/>
          </p:cNvPicPr>
          <p:nvPr/>
        </p:nvPicPr>
        <p:blipFill>
          <a:blip r:embed="rId5">
            <a:extLst>
              <a:ext uri="{28A0092B-C50C-407E-A947-70E740481C1C}">
                <a14:useLocalDpi xmlns:a14="http://schemas.microsoft.com/office/drawing/2010/main" val="0"/>
              </a:ext>
            </a:extLst>
          </a:blip>
          <a:srcRect t="18860" r="26661" b="7251"/>
          <a:stretch>
            <a:fillRect/>
          </a:stretch>
        </p:blipFill>
        <p:spPr>
          <a:xfrm>
            <a:off x="1179454" y="6454969"/>
            <a:ext cx="6500151" cy="3167184"/>
          </a:xfrm>
          <a:prstGeom prst="rect">
            <a:avLst/>
          </a:prstGeom>
        </p:spPr>
      </p:pic>
      <p:pic>
        <p:nvPicPr>
          <p:cNvPr id="12" name="Picture 11">
            <a:extLst>
              <a:ext uri="{FF2B5EF4-FFF2-40B4-BE49-F238E27FC236}">
                <a16:creationId xmlns:a16="http://schemas.microsoft.com/office/drawing/2014/main" id="{77F97F86-6F24-14FE-8CA7-89901F5ACF1B}"/>
              </a:ext>
            </a:extLst>
          </p:cNvPr>
          <p:cNvPicPr>
            <a:picLocks noChangeAspect="1"/>
          </p:cNvPicPr>
          <p:nvPr/>
        </p:nvPicPr>
        <p:blipFill>
          <a:blip r:embed="rId6">
            <a:extLst>
              <a:ext uri="{28A0092B-C50C-407E-A947-70E740481C1C}">
                <a14:useLocalDpi xmlns:a14="http://schemas.microsoft.com/office/drawing/2010/main" val="0"/>
              </a:ext>
            </a:extLst>
          </a:blip>
          <a:srcRect l="15804" t="3876" r="9015" b="8529"/>
          <a:stretch>
            <a:fillRect/>
          </a:stretch>
        </p:blipFill>
        <p:spPr>
          <a:xfrm>
            <a:off x="8527056" y="2504710"/>
            <a:ext cx="4122143" cy="7369510"/>
          </a:xfrm>
          <a:prstGeom prst="rect">
            <a:avLst/>
          </a:prstGeom>
        </p:spPr>
      </p:pic>
      <mc:AlternateContent xmlns:mc="http://schemas.openxmlformats.org/markup-compatibility/2006">
        <mc:Choice xmlns:a14="http://schemas.microsoft.com/office/drawing/2010/main" Requires="a14">
          <p:sp>
            <p:nvSpPr>
              <p:cNvPr id="4" name="TextBox 3">
                <a:extLst>
                  <a:ext uri="{FF2B5EF4-FFF2-40B4-BE49-F238E27FC236}">
                    <a16:creationId xmlns:a16="http://schemas.microsoft.com/office/drawing/2014/main" id="{756C6F67-F3D9-E56C-B1B1-EA9A0250465C}"/>
                  </a:ext>
                </a:extLst>
              </p:cNvPr>
              <p:cNvSpPr txBox="1"/>
              <p:nvPr/>
            </p:nvSpPr>
            <p:spPr>
              <a:xfrm>
                <a:off x="12661899" y="5727800"/>
                <a:ext cx="5208546" cy="923330"/>
              </a:xfrm>
              <a:prstGeom prst="rect">
                <a:avLst/>
              </a:prstGeom>
              <a:noFill/>
            </p:spPr>
            <p:txBody>
              <a:bodyPr wrap="square" rtlCol="0">
                <a:spAutoFit/>
              </a:bodyPr>
              <a:lstStyle/>
              <a:p>
                <a:r>
                  <a:rPr lang="en-US" dirty="0"/>
                  <a:t>Fig. Three-dimensional representation of (a) diffuse transmittance T and (b) total reflectance R as a function of </a:t>
                </a:r>
                <a14:m>
                  <m:oMath xmlns:m="http://schemas.openxmlformats.org/officeDocument/2006/math">
                    <m:sSubSup>
                      <m:sSubSupPr>
                        <m:ctrlPr>
                          <a:rPr lang="en-US" i="1">
                            <a:latin typeface="Cambria Math" panose="02040503050406030204" pitchFamily="18" charset="0"/>
                          </a:rPr>
                        </m:ctrlPr>
                      </m:sSubSupPr>
                      <m:e>
                        <m:r>
                          <a:rPr lang="en-US" i="1">
                            <a:latin typeface="Cambria Math" panose="02040503050406030204" pitchFamily="18" charset="0"/>
                            <a:ea typeface="Cambria Math" panose="02040503050406030204" pitchFamily="18" charset="0"/>
                          </a:rPr>
                          <m:t>𝜇</m:t>
                        </m:r>
                      </m:e>
                      <m:sub>
                        <m:r>
                          <a:rPr lang="en-US" i="1">
                            <a:latin typeface="Cambria Math" panose="02040503050406030204" pitchFamily="18" charset="0"/>
                          </a:rPr>
                          <m:t>𝑠</m:t>
                        </m:r>
                      </m:sub>
                      <m:sup>
                        <m:r>
                          <a:rPr lang="en-US" i="1">
                            <a:latin typeface="Cambria Math" panose="02040503050406030204" pitchFamily="18" charset="0"/>
                          </a:rPr>
                          <m:t>′</m:t>
                        </m:r>
                      </m:sup>
                    </m:sSubSup>
                  </m:oMath>
                </a14:m>
                <a:r>
                  <a:rPr lang="en-US" dirty="0"/>
                  <a:t>. The slab thickness is 1.0 cm. </a:t>
                </a:r>
              </a:p>
            </p:txBody>
          </p:sp>
        </mc:Choice>
        <mc:Fallback>
          <p:sp>
            <p:nvSpPr>
              <p:cNvPr id="4" name="TextBox 3">
                <a:extLst>
                  <a:ext uri="{FF2B5EF4-FFF2-40B4-BE49-F238E27FC236}">
                    <a16:creationId xmlns:a16="http://schemas.microsoft.com/office/drawing/2014/main" id="{756C6F67-F3D9-E56C-B1B1-EA9A0250465C}"/>
                  </a:ext>
                </a:extLst>
              </p:cNvPr>
              <p:cNvSpPr txBox="1">
                <a:spLocks noRot="1" noChangeAspect="1" noMove="1" noResize="1" noEditPoints="1" noAdjustHandles="1" noChangeArrowheads="1" noChangeShapeType="1" noTextEdit="1"/>
              </p:cNvSpPr>
              <p:nvPr/>
            </p:nvSpPr>
            <p:spPr>
              <a:xfrm>
                <a:off x="12661899" y="5727800"/>
                <a:ext cx="5208546" cy="923330"/>
              </a:xfrm>
              <a:prstGeom prst="rect">
                <a:avLst/>
              </a:prstGeom>
              <a:blipFill>
                <a:blip r:embed="rId7"/>
                <a:stretch>
                  <a:fillRect l="-936" t="-3974" b="-9934"/>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6" name="TextBox 5">
                <a:extLst>
                  <a:ext uri="{FF2B5EF4-FFF2-40B4-BE49-F238E27FC236}">
                    <a16:creationId xmlns:a16="http://schemas.microsoft.com/office/drawing/2014/main" id="{48975280-2F74-BEC1-4F9E-C5B43677654C}"/>
                  </a:ext>
                </a:extLst>
              </p:cNvPr>
              <p:cNvSpPr txBox="1"/>
              <p:nvPr/>
            </p:nvSpPr>
            <p:spPr>
              <a:xfrm>
                <a:off x="1179098" y="5652570"/>
                <a:ext cx="6487451" cy="802399"/>
              </a:xfrm>
              <a:prstGeom prst="rect">
                <a:avLst/>
              </a:prstGeom>
              <a:noFill/>
            </p:spPr>
            <p:txBody>
              <a:bodyPr wrap="square">
                <a:spAutoFit/>
              </a:bodyPr>
              <a:lstStyle/>
              <a:p>
                <a:r>
                  <a:rPr lang="en-US" dirty="0"/>
                  <a:t>Table. The fitting of diffuse transmittance to the model </a:t>
                </a:r>
                <a14:m>
                  <m:oMath xmlns:m="http://schemas.openxmlformats.org/officeDocument/2006/math">
                    <m:r>
                      <m:rPr>
                        <m:sty m:val="p"/>
                      </m:rPr>
                      <a:rPr lang="en-US" smtClean="0">
                        <a:latin typeface="Cambria Math" panose="02040503050406030204" pitchFamily="18" charset="0"/>
                      </a:rPr>
                      <m:t>T</m:t>
                    </m:r>
                    <m:r>
                      <a:rPr lang="en-US" b="0" i="0" smtClean="0">
                        <a:latin typeface="Cambria Math" panose="02040503050406030204" pitchFamily="18" charset="0"/>
                      </a:rPr>
                      <m:t>=</m:t>
                    </m:r>
                    <m:f>
                      <m:fPr>
                        <m:ctrlPr>
                          <a:rPr lang="en-US" i="1" smtClean="0">
                            <a:latin typeface="Cambria Math" panose="02040503050406030204" pitchFamily="18" charset="0"/>
                          </a:rPr>
                        </m:ctrlPr>
                      </m:fPr>
                      <m:num>
                        <m:sSub>
                          <m:sSubPr>
                            <m:ctrlPr>
                              <a:rPr lang="en-US" i="1">
                                <a:latin typeface="Cambria Math" panose="02040503050406030204" pitchFamily="18" charset="0"/>
                              </a:rPr>
                            </m:ctrlPr>
                          </m:sSubPr>
                          <m:e>
                            <m:r>
                              <a:rPr lang="en-US" b="0" i="1" smtClean="0">
                                <a:latin typeface="Cambria Math" panose="02040503050406030204" pitchFamily="18" charset="0"/>
                              </a:rPr>
                              <m:t>𝑇</m:t>
                            </m:r>
                          </m:e>
                          <m:sub>
                            <m:r>
                              <a:rPr lang="en-US" b="0" i="1" smtClean="0">
                                <a:latin typeface="Cambria Math" panose="02040503050406030204" pitchFamily="18" charset="0"/>
                                <a:ea typeface="Cambria Math" panose="02040503050406030204" pitchFamily="18" charset="0"/>
                              </a:rPr>
                              <m:t>1</m:t>
                            </m:r>
                          </m:sub>
                        </m:sSub>
                      </m:num>
                      <m:den>
                        <m:sSup>
                          <m:sSupPr>
                            <m:ctrlPr>
                              <a:rPr lang="en-US" i="1" smtClean="0">
                                <a:latin typeface="Cambria Math" panose="02040503050406030204" pitchFamily="18" charset="0"/>
                              </a:rPr>
                            </m:ctrlPr>
                          </m:sSupPr>
                          <m:e>
                            <m:r>
                              <a:rPr lang="en-US" b="0" i="1" smtClean="0">
                                <a:latin typeface="Cambria Math" panose="02040503050406030204" pitchFamily="18" charset="0"/>
                              </a:rPr>
                              <m:t>(</m:t>
                            </m:r>
                            <m:sSubSup>
                              <m:sSubSupPr>
                                <m:ctrlPr>
                                  <a:rPr lang="en-US" i="1">
                                    <a:latin typeface="Cambria Math" panose="02040503050406030204" pitchFamily="18" charset="0"/>
                                  </a:rPr>
                                </m:ctrlPr>
                              </m:sSubSupPr>
                              <m:e>
                                <m:r>
                                  <a:rPr lang="en-US" i="1">
                                    <a:latin typeface="Cambria Math" panose="02040503050406030204" pitchFamily="18" charset="0"/>
                                    <a:ea typeface="Cambria Math" panose="02040503050406030204" pitchFamily="18" charset="0"/>
                                  </a:rPr>
                                  <m:t>𝜇</m:t>
                                </m:r>
                              </m:e>
                              <m:sub>
                                <m:r>
                                  <a:rPr lang="en-US" i="1">
                                    <a:latin typeface="Cambria Math" panose="02040503050406030204" pitchFamily="18" charset="0"/>
                                  </a:rPr>
                                  <m:t>𝑠</m:t>
                                </m:r>
                              </m:sub>
                              <m:sup>
                                <m:r>
                                  <a:rPr lang="en-US" i="1">
                                    <a:latin typeface="Cambria Math" panose="02040503050406030204" pitchFamily="18" charset="0"/>
                                  </a:rPr>
                                  <m:t>′</m:t>
                                </m:r>
                              </m:sup>
                            </m:sSubSup>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b="0" i="1" smtClean="0">
                                    <a:latin typeface="Cambria Math" panose="02040503050406030204" pitchFamily="18" charset="0"/>
                                  </a:rPr>
                                  <m:t>𝑇</m:t>
                                </m:r>
                              </m:e>
                              <m:sub>
                                <m:r>
                                  <a:rPr lang="en-US" b="0" i="1" smtClean="0">
                                    <a:latin typeface="Cambria Math" panose="02040503050406030204" pitchFamily="18" charset="0"/>
                                    <a:ea typeface="Cambria Math" panose="02040503050406030204" pitchFamily="18" charset="0"/>
                                  </a:rPr>
                                  <m:t>2</m:t>
                                </m:r>
                              </m:sub>
                            </m:sSub>
                            <m:r>
                              <a:rPr lang="en-US" b="0" i="1" smtClean="0">
                                <a:latin typeface="Cambria Math" panose="02040503050406030204" pitchFamily="18" charset="0"/>
                              </a:rPr>
                              <m:t>)</m:t>
                            </m:r>
                          </m:e>
                          <m:sup>
                            <m:sSub>
                              <m:sSubPr>
                                <m:ctrlPr>
                                  <a:rPr lang="en-US" i="1">
                                    <a:latin typeface="Cambria Math" panose="02040503050406030204" pitchFamily="18" charset="0"/>
                                  </a:rPr>
                                </m:ctrlPr>
                              </m:sSubPr>
                              <m:e>
                                <m:r>
                                  <a:rPr lang="en-US" b="0" i="1" smtClean="0">
                                    <a:latin typeface="Cambria Math" panose="02040503050406030204" pitchFamily="18" charset="0"/>
                                  </a:rPr>
                                  <m:t>𝑇</m:t>
                                </m:r>
                              </m:e>
                              <m:sub>
                                <m:r>
                                  <a:rPr lang="en-US" b="0" i="1" smtClean="0">
                                    <a:latin typeface="Cambria Math" panose="02040503050406030204" pitchFamily="18" charset="0"/>
                                    <a:ea typeface="Cambria Math" panose="02040503050406030204" pitchFamily="18" charset="0"/>
                                  </a:rPr>
                                  <m:t>3</m:t>
                                </m:r>
                              </m:sub>
                            </m:sSub>
                          </m:sup>
                        </m:sSup>
                      </m:den>
                    </m:f>
                  </m:oMath>
                </a14:m>
                <a:r>
                  <a:rPr lang="en-US" dirty="0"/>
                  <a:t> for a slab thickness of 1.0 cm, and for </a:t>
                </a:r>
                <a14:m>
                  <m:oMath xmlns:m="http://schemas.openxmlformats.org/officeDocument/2006/math">
                    <m:sSubSup>
                      <m:sSubSupPr>
                        <m:ctrlPr>
                          <a:rPr lang="en-US" i="1">
                            <a:latin typeface="Cambria Math" panose="02040503050406030204" pitchFamily="18" charset="0"/>
                          </a:rPr>
                        </m:ctrlPr>
                      </m:sSubSupPr>
                      <m:e>
                        <m:r>
                          <a:rPr lang="en-US" i="1">
                            <a:latin typeface="Cambria Math" panose="02040503050406030204" pitchFamily="18" charset="0"/>
                            <a:ea typeface="Cambria Math" panose="02040503050406030204" pitchFamily="18" charset="0"/>
                          </a:rPr>
                          <m:t>𝜇</m:t>
                        </m:r>
                      </m:e>
                      <m:sub>
                        <m:r>
                          <a:rPr lang="en-US" i="1">
                            <a:latin typeface="Cambria Math" panose="02040503050406030204" pitchFamily="18" charset="0"/>
                          </a:rPr>
                          <m:t>𝑠</m:t>
                        </m:r>
                      </m:sub>
                      <m:sup>
                        <m:r>
                          <a:rPr lang="en-US" i="1">
                            <a:latin typeface="Cambria Math" panose="02040503050406030204" pitchFamily="18" charset="0"/>
                          </a:rPr>
                          <m:t>′</m:t>
                        </m:r>
                      </m:sup>
                    </m:sSubSup>
                  </m:oMath>
                </a14:m>
                <a:r>
                  <a:rPr lang="en-US" dirty="0"/>
                  <a:t> with 0-4 </a:t>
                </a:r>
                <a14:m>
                  <m:oMath xmlns:m="http://schemas.openxmlformats.org/officeDocument/2006/math">
                    <m:sSup>
                      <m:sSupPr>
                        <m:ctrlPr>
                          <a:rPr lang="en-US" i="1">
                            <a:latin typeface="Cambria Math" panose="02040503050406030204" pitchFamily="18" charset="0"/>
                          </a:rPr>
                        </m:ctrlPr>
                      </m:sSupPr>
                      <m:e>
                        <m:r>
                          <a:rPr lang="en-US" i="1">
                            <a:latin typeface="Cambria Math" panose="02040503050406030204" pitchFamily="18" charset="0"/>
                          </a:rPr>
                          <m:t>𝑐</m:t>
                        </m:r>
                        <m:r>
                          <a:rPr lang="en-US" i="1">
                            <a:latin typeface="Cambria Math" panose="02040503050406030204" pitchFamily="18" charset="0"/>
                          </a:rPr>
                          <m:t>𝑚</m:t>
                        </m:r>
                      </m:e>
                      <m:sup>
                        <m:r>
                          <a:rPr lang="en-US" i="1">
                            <a:latin typeface="Cambria Math" panose="02040503050406030204" pitchFamily="18" charset="0"/>
                          </a:rPr>
                          <m:t>−1</m:t>
                        </m:r>
                      </m:sup>
                    </m:sSup>
                  </m:oMath>
                </a14:m>
                <a:r>
                  <a:rPr lang="en-US" dirty="0"/>
                  <a:t>. </a:t>
                </a:r>
              </a:p>
            </p:txBody>
          </p:sp>
        </mc:Choice>
        <mc:Fallback>
          <p:sp>
            <p:nvSpPr>
              <p:cNvPr id="6" name="TextBox 5">
                <a:extLst>
                  <a:ext uri="{FF2B5EF4-FFF2-40B4-BE49-F238E27FC236}">
                    <a16:creationId xmlns:a16="http://schemas.microsoft.com/office/drawing/2014/main" id="{48975280-2F74-BEC1-4F9E-C5B43677654C}"/>
                  </a:ext>
                </a:extLst>
              </p:cNvPr>
              <p:cNvSpPr txBox="1">
                <a:spLocks noRot="1" noChangeAspect="1" noMove="1" noResize="1" noEditPoints="1" noAdjustHandles="1" noChangeArrowheads="1" noChangeShapeType="1" noTextEdit="1"/>
              </p:cNvSpPr>
              <p:nvPr/>
            </p:nvSpPr>
            <p:spPr>
              <a:xfrm>
                <a:off x="1179098" y="5652570"/>
                <a:ext cx="6487451" cy="802399"/>
              </a:xfrm>
              <a:prstGeom prst="rect">
                <a:avLst/>
              </a:prstGeom>
              <a:blipFill>
                <a:blip r:embed="rId8"/>
                <a:stretch>
                  <a:fillRect l="-751" t="-3788" b="-3030"/>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1" name="TextBox 10">
                <a:extLst>
                  <a:ext uri="{FF2B5EF4-FFF2-40B4-BE49-F238E27FC236}">
                    <a16:creationId xmlns:a16="http://schemas.microsoft.com/office/drawing/2014/main" id="{4C1DD9A9-F499-0203-1020-273CFF9934D6}"/>
                  </a:ext>
                </a:extLst>
              </p:cNvPr>
              <p:cNvSpPr txBox="1"/>
              <p:nvPr/>
            </p:nvSpPr>
            <p:spPr>
              <a:xfrm>
                <a:off x="1166399" y="9622153"/>
                <a:ext cx="6487451" cy="705321"/>
              </a:xfrm>
              <a:prstGeom prst="rect">
                <a:avLst/>
              </a:prstGeom>
              <a:noFill/>
            </p:spPr>
            <p:txBody>
              <a:bodyPr wrap="square">
                <a:spAutoFit/>
              </a:bodyPr>
              <a:lstStyle/>
              <a:p>
                <a:r>
                  <a:rPr lang="en-US" dirty="0"/>
                  <a:t>Table. The fitting of total reflectance to the model</a:t>
                </a:r>
                <a14:m>
                  <m:oMath xmlns:m="http://schemas.openxmlformats.org/officeDocument/2006/math">
                    <m:r>
                      <a:rPr lang="en-US" b="0" i="0" dirty="0" smtClean="0">
                        <a:latin typeface="Cambria Math" panose="02040503050406030204" pitchFamily="18" charset="0"/>
                      </a:rPr>
                      <m:t> </m:t>
                    </m:r>
                    <m:r>
                      <m:rPr>
                        <m:sty m:val="p"/>
                      </m:rPr>
                      <a:rPr lang="en-US" dirty="0">
                        <a:latin typeface="Cambria Math" panose="02040503050406030204" pitchFamily="18" charset="0"/>
                      </a:rPr>
                      <m:t>R</m:t>
                    </m:r>
                    <m:r>
                      <a:rPr lang="en-US" b="0" i="0" smtClean="0">
                        <a:latin typeface="Cambria Math" panose="02040503050406030204" pitchFamily="18" charset="0"/>
                      </a:rPr>
                      <m:t>=</m:t>
                    </m:r>
                    <m:sSub>
                      <m:sSubPr>
                        <m:ctrlPr>
                          <a:rPr lang="en-US" i="1">
                            <a:latin typeface="Cambria Math" panose="02040503050406030204" pitchFamily="18" charset="0"/>
                          </a:rPr>
                        </m:ctrlPr>
                      </m:sSubPr>
                      <m:e>
                        <m:r>
                          <a:rPr lang="en-US" b="0" i="1" smtClean="0">
                            <a:latin typeface="Cambria Math" panose="02040503050406030204" pitchFamily="18" charset="0"/>
                          </a:rPr>
                          <m:t>𝑅</m:t>
                        </m:r>
                      </m:e>
                      <m:sub>
                        <m:r>
                          <a:rPr lang="en-US" i="1">
                            <a:latin typeface="Cambria Math" panose="02040503050406030204" pitchFamily="18" charset="0"/>
                            <a:ea typeface="Cambria Math" panose="02040503050406030204" pitchFamily="18" charset="0"/>
                          </a:rPr>
                          <m:t>1</m:t>
                        </m:r>
                      </m:sub>
                    </m:sSub>
                    <m:r>
                      <a:rPr lang="en-US" b="0" i="1" smtClean="0">
                        <a:latin typeface="Cambria Math" panose="02040503050406030204" pitchFamily="18" charset="0"/>
                      </a:rPr>
                      <m:t>+</m:t>
                    </m:r>
                    <m:sSup>
                      <m:sSupPr>
                        <m:ctrlPr>
                          <a:rPr lang="en-US" i="1">
                            <a:latin typeface="Cambria Math" panose="02040503050406030204" pitchFamily="18" charset="0"/>
                          </a:rPr>
                        </m:ctrlPr>
                      </m:sSupPr>
                      <m:e>
                        <m:sSubSup>
                          <m:sSubSupPr>
                            <m:ctrlPr>
                              <a:rPr lang="en-US" i="1">
                                <a:latin typeface="Cambria Math" panose="02040503050406030204" pitchFamily="18" charset="0"/>
                              </a:rPr>
                            </m:ctrlPr>
                          </m:sSubSupPr>
                          <m:e>
                            <m:sSub>
                              <m:sSubPr>
                                <m:ctrlPr>
                                  <a:rPr lang="en-US" i="1">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2</m:t>
                                </m:r>
                              </m:sub>
                            </m:sSub>
                            <m:r>
                              <a:rPr lang="en-US" i="1">
                                <a:latin typeface="Cambria Math" panose="02040503050406030204" pitchFamily="18" charset="0"/>
                                <a:ea typeface="Cambria Math" panose="02040503050406030204" pitchFamily="18" charset="0"/>
                              </a:rPr>
                              <m:t>𝜇</m:t>
                            </m:r>
                          </m:e>
                          <m:sub>
                            <m:r>
                              <a:rPr lang="en-US" i="1">
                                <a:latin typeface="Cambria Math" panose="02040503050406030204" pitchFamily="18" charset="0"/>
                              </a:rPr>
                              <m:t>𝑠</m:t>
                            </m:r>
                          </m:sub>
                          <m:sup>
                            <m:r>
                              <a:rPr lang="en-US" i="1">
                                <a:latin typeface="Cambria Math" panose="02040503050406030204" pitchFamily="18" charset="0"/>
                              </a:rPr>
                              <m:t>′</m:t>
                            </m:r>
                          </m:sup>
                        </m:sSubSup>
                      </m:e>
                      <m:sup>
                        <m:sSub>
                          <m:sSubPr>
                            <m:ctrlPr>
                              <a:rPr lang="en-US" i="1">
                                <a:latin typeface="Cambria Math" panose="02040503050406030204" pitchFamily="18" charset="0"/>
                              </a:rPr>
                            </m:ctrlPr>
                          </m:sSubPr>
                          <m:e>
                            <m:r>
                              <a:rPr lang="en-US" b="0" i="1" smtClean="0">
                                <a:latin typeface="Cambria Math" panose="02040503050406030204" pitchFamily="18" charset="0"/>
                              </a:rPr>
                              <m:t>𝑅</m:t>
                            </m:r>
                          </m:e>
                          <m:sub>
                            <m:r>
                              <a:rPr lang="en-US" i="1">
                                <a:latin typeface="Cambria Math" panose="02040503050406030204" pitchFamily="18" charset="0"/>
                                <a:ea typeface="Cambria Math" panose="02040503050406030204" pitchFamily="18" charset="0"/>
                              </a:rPr>
                              <m:t>3</m:t>
                            </m:r>
                          </m:sub>
                        </m:sSub>
                      </m:sup>
                    </m:sSup>
                  </m:oMath>
                </a14:m>
                <a:r>
                  <a:rPr lang="en-US" dirty="0"/>
                  <a:t>for a slab thickness of 1.0 cm, and for </a:t>
                </a:r>
                <a14:m>
                  <m:oMath xmlns:m="http://schemas.openxmlformats.org/officeDocument/2006/math">
                    <m:sSubSup>
                      <m:sSubSupPr>
                        <m:ctrlPr>
                          <a:rPr lang="en-US" i="1">
                            <a:latin typeface="Cambria Math" panose="02040503050406030204" pitchFamily="18" charset="0"/>
                          </a:rPr>
                        </m:ctrlPr>
                      </m:sSubSupPr>
                      <m:e>
                        <m:r>
                          <a:rPr lang="en-US" i="1">
                            <a:latin typeface="Cambria Math" panose="02040503050406030204" pitchFamily="18" charset="0"/>
                            <a:ea typeface="Cambria Math" panose="02040503050406030204" pitchFamily="18" charset="0"/>
                          </a:rPr>
                          <m:t>𝜇</m:t>
                        </m:r>
                      </m:e>
                      <m:sub>
                        <m:r>
                          <a:rPr lang="en-US" i="1">
                            <a:latin typeface="Cambria Math" panose="02040503050406030204" pitchFamily="18" charset="0"/>
                          </a:rPr>
                          <m:t>𝑠</m:t>
                        </m:r>
                      </m:sub>
                      <m:sup>
                        <m:r>
                          <a:rPr lang="en-US" i="1">
                            <a:latin typeface="Cambria Math" panose="02040503050406030204" pitchFamily="18" charset="0"/>
                          </a:rPr>
                          <m:t>′</m:t>
                        </m:r>
                      </m:sup>
                    </m:sSubSup>
                  </m:oMath>
                </a14:m>
                <a:r>
                  <a:rPr lang="en-US" dirty="0"/>
                  <a:t> with 0-4 </a:t>
                </a:r>
                <a14:m>
                  <m:oMath xmlns:m="http://schemas.openxmlformats.org/officeDocument/2006/math">
                    <m:sSup>
                      <m:sSupPr>
                        <m:ctrlPr>
                          <a:rPr lang="en-US" i="1">
                            <a:latin typeface="Cambria Math" panose="02040503050406030204" pitchFamily="18" charset="0"/>
                          </a:rPr>
                        </m:ctrlPr>
                      </m:sSupPr>
                      <m:e>
                        <m:r>
                          <a:rPr lang="en-US" i="1">
                            <a:latin typeface="Cambria Math" panose="02040503050406030204" pitchFamily="18" charset="0"/>
                          </a:rPr>
                          <m:t>𝑐</m:t>
                        </m:r>
                        <m:r>
                          <a:rPr lang="en-US" i="1">
                            <a:latin typeface="Cambria Math" panose="02040503050406030204" pitchFamily="18" charset="0"/>
                          </a:rPr>
                          <m:t>𝑚</m:t>
                        </m:r>
                      </m:e>
                      <m:sup>
                        <m:r>
                          <a:rPr lang="en-US" i="1">
                            <a:latin typeface="Cambria Math" panose="02040503050406030204" pitchFamily="18" charset="0"/>
                          </a:rPr>
                          <m:t>−1</m:t>
                        </m:r>
                      </m:sup>
                    </m:sSup>
                  </m:oMath>
                </a14:m>
                <a:r>
                  <a:rPr lang="en-US" dirty="0"/>
                  <a:t>. </a:t>
                </a:r>
              </a:p>
            </p:txBody>
          </p:sp>
        </mc:Choice>
        <mc:Fallback>
          <p:sp>
            <p:nvSpPr>
              <p:cNvPr id="11" name="TextBox 10">
                <a:extLst>
                  <a:ext uri="{FF2B5EF4-FFF2-40B4-BE49-F238E27FC236}">
                    <a16:creationId xmlns:a16="http://schemas.microsoft.com/office/drawing/2014/main" id="{4C1DD9A9-F499-0203-1020-273CFF9934D6}"/>
                  </a:ext>
                </a:extLst>
              </p:cNvPr>
              <p:cNvSpPr txBox="1">
                <a:spLocks noRot="1" noChangeAspect="1" noMove="1" noResize="1" noEditPoints="1" noAdjustHandles="1" noChangeArrowheads="1" noChangeShapeType="1" noTextEdit="1"/>
              </p:cNvSpPr>
              <p:nvPr/>
            </p:nvSpPr>
            <p:spPr>
              <a:xfrm>
                <a:off x="1166399" y="9622153"/>
                <a:ext cx="6487451" cy="705321"/>
              </a:xfrm>
              <a:prstGeom prst="rect">
                <a:avLst/>
              </a:prstGeom>
              <a:blipFill>
                <a:blip r:embed="rId9"/>
                <a:stretch>
                  <a:fillRect l="-751" t="-4310" b="-9483"/>
                </a:stretch>
              </a:blipFill>
            </p:spPr>
            <p:txBody>
              <a:bodyPr/>
              <a:lstStyle/>
              <a:p>
                <a:r>
                  <a:rPr lang="en-US">
                    <a:noFill/>
                  </a:rPr>
                  <a:t> </a:t>
                </a:r>
              </a:p>
            </p:txBody>
          </p:sp>
        </mc:Fallback>
      </mc:AlternateContent>
    </p:spTree>
    <p:extLst>
      <p:ext uri="{BB962C8B-B14F-4D97-AF65-F5344CB8AC3E}">
        <p14:creationId xmlns:p14="http://schemas.microsoft.com/office/powerpoint/2010/main" val="219903543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2BB456-4B66-B614-5C90-76FB055AD958}"/>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865035F1-B8AE-02EB-855B-86C118125082}"/>
              </a:ext>
            </a:extLst>
          </p:cNvPr>
          <p:cNvSpPr/>
          <p:nvPr/>
        </p:nvSpPr>
        <p:spPr>
          <a:xfrm>
            <a:off x="-6824"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3">
              <a:alphaModFix amt="50000"/>
            </a:blip>
            <a:stretch>
              <a:fillRect/>
            </a:stretch>
          </a:blipFill>
          <a:ln cap="sq">
            <a:noFill/>
            <a:prstDash val="solid"/>
            <a:miter/>
          </a:ln>
        </p:spPr>
        <p:txBody>
          <a:bodyPr/>
          <a:lstStyle/>
          <a:p>
            <a:endParaRPr lang="en-US" dirty="0"/>
          </a:p>
        </p:txBody>
      </p:sp>
      <p:sp>
        <p:nvSpPr>
          <p:cNvPr id="3" name="AutoShape 3">
            <a:extLst>
              <a:ext uri="{FF2B5EF4-FFF2-40B4-BE49-F238E27FC236}">
                <a16:creationId xmlns:a16="http://schemas.microsoft.com/office/drawing/2014/main" id="{B20C8296-F68A-C1DB-7FCB-7429F6CD19B0}"/>
              </a:ext>
            </a:extLst>
          </p:cNvPr>
          <p:cNvSpPr/>
          <p:nvPr/>
        </p:nvSpPr>
        <p:spPr>
          <a:xfrm>
            <a:off x="1166399" y="1028700"/>
            <a:ext cx="687324" cy="0"/>
          </a:xfrm>
          <a:prstGeom prst="line">
            <a:avLst/>
          </a:prstGeom>
          <a:ln w="76200" cap="flat">
            <a:solidFill>
              <a:srgbClr val="000000"/>
            </a:solidFill>
            <a:prstDash val="solid"/>
            <a:headEnd type="none" w="sm" len="sm"/>
            <a:tailEnd type="none" w="sm" len="sm"/>
          </a:ln>
        </p:spPr>
        <p:txBody>
          <a:bodyPr/>
          <a:lstStyle/>
          <a:p>
            <a:endParaRPr lang="en-US" dirty="0"/>
          </a:p>
        </p:txBody>
      </p:sp>
      <mc:AlternateContent xmlns:mc="http://schemas.openxmlformats.org/markup-compatibility/2006">
        <mc:Choice xmlns:a14="http://schemas.microsoft.com/office/drawing/2010/main" Requires="a14">
          <p:sp>
            <p:nvSpPr>
              <p:cNvPr id="8" name="TextBox 8">
                <a:extLst>
                  <a:ext uri="{FF2B5EF4-FFF2-40B4-BE49-F238E27FC236}">
                    <a16:creationId xmlns:a16="http://schemas.microsoft.com/office/drawing/2014/main" id="{87755292-B98C-CBD6-B47F-858FCDF70E48}"/>
                  </a:ext>
                </a:extLst>
              </p:cNvPr>
              <p:cNvSpPr txBox="1"/>
              <p:nvPr/>
            </p:nvSpPr>
            <p:spPr>
              <a:xfrm>
                <a:off x="873209" y="1409700"/>
                <a:ext cx="8575592" cy="1325556"/>
              </a:xfrm>
              <a:prstGeom prst="rect">
                <a:avLst/>
              </a:prstGeom>
            </p:spPr>
            <p:txBody>
              <a:bodyPr wrap="square" lIns="0" tIns="0" rIns="0" bIns="0" rtlCol="0" anchor="t">
                <a:spAutoFit/>
              </a:bodyPr>
              <a:lstStyle/>
              <a:p>
                <a:pPr marL="302259" lvl="1">
                  <a:lnSpc>
                    <a:spcPts val="4479"/>
                  </a:lnSpc>
                </a:pPr>
                <a:r>
                  <a:rPr lang="en-US" sz="4000" b="1" dirty="0">
                    <a:solidFill>
                      <a:srgbClr val="000000"/>
                    </a:solidFill>
                    <a:latin typeface="Times New Roman" panose="02020603050405020304" pitchFamily="18" charset="0"/>
                    <a:cs typeface="Times New Roman" panose="02020603050405020304" pitchFamily="18" charset="0"/>
                    <a:sym typeface="Open Sauce"/>
                  </a:rPr>
                  <a:t>Results</a:t>
                </a:r>
                <a:endParaRPr lang="en-US" sz="2500" dirty="0"/>
              </a:p>
              <a:p>
                <a:pPr marL="604519" lvl="1" indent="-302260">
                  <a:lnSpc>
                    <a:spcPct val="150000"/>
                  </a:lnSpc>
                  <a:buFont typeface="Arial"/>
                  <a:buChar char="•"/>
                </a:pPr>
                <a14:m>
                  <m:oMath xmlns:m="http://schemas.openxmlformats.org/officeDocument/2006/math">
                    <m:sSub>
                      <m:sSubPr>
                        <m:ctrlPr>
                          <a:rPr lang="en-US" sz="2500" i="1">
                            <a:latin typeface="Cambria Math" panose="02040503050406030204" pitchFamily="18" charset="0"/>
                          </a:rPr>
                        </m:ctrlPr>
                      </m:sSubPr>
                      <m:e>
                        <m:r>
                          <a:rPr lang="en-US" sz="2500" b="0" i="1" smtClean="0">
                            <a:latin typeface="Cambria Math" panose="02040503050406030204" pitchFamily="18" charset="0"/>
                          </a:rPr>
                          <m:t>𝑇</m:t>
                        </m:r>
                      </m:e>
                      <m:sub>
                        <m:r>
                          <a:rPr lang="en-US" sz="2500" b="0" i="1" smtClean="0">
                            <a:latin typeface="Cambria Math" panose="02040503050406030204" pitchFamily="18" charset="0"/>
                            <a:ea typeface="Cambria Math" panose="02040503050406030204" pitchFamily="18" charset="0"/>
                          </a:rPr>
                          <m:t>𝐶</m:t>
                        </m:r>
                      </m:sub>
                    </m:sSub>
                  </m:oMath>
                </a14:m>
                <a:r>
                  <a:rPr lang="en-US" sz="2500" dirty="0"/>
                  <a:t> is measured  from the Experiment and </a:t>
                </a:r>
                <a14:m>
                  <m:oMath xmlns:m="http://schemas.openxmlformats.org/officeDocument/2006/math">
                    <m:r>
                      <a:rPr lang="en-US" sz="2500" b="0" i="1" smtClean="0">
                        <a:latin typeface="Cambria Math" panose="02040503050406030204" pitchFamily="18" charset="0"/>
                      </a:rPr>
                      <m:t>𝐵</m:t>
                    </m:r>
                    <m:r>
                      <a:rPr lang="en-US" sz="2500" b="0" i="1" smtClean="0">
                        <a:latin typeface="Cambria Math" panose="02040503050406030204" pitchFamily="18" charset="0"/>
                      </a:rPr>
                      <m:t>=</m:t>
                    </m:r>
                    <m:f>
                      <m:fPr>
                        <m:ctrlPr>
                          <a:rPr lang="en-US" sz="2500" i="1" smtClean="0">
                            <a:latin typeface="Cambria Math" panose="02040503050406030204" pitchFamily="18" charset="0"/>
                          </a:rPr>
                        </m:ctrlPr>
                      </m:fPr>
                      <m:num>
                        <m:sSub>
                          <m:sSubPr>
                            <m:ctrlPr>
                              <a:rPr lang="en-US" sz="2500" i="1">
                                <a:latin typeface="Cambria Math" panose="02040503050406030204" pitchFamily="18" charset="0"/>
                              </a:rPr>
                            </m:ctrlPr>
                          </m:sSubPr>
                          <m:e>
                            <m:r>
                              <a:rPr lang="en-US" sz="2500" b="0" i="1" smtClean="0">
                                <a:latin typeface="Cambria Math" panose="02040503050406030204" pitchFamily="18" charset="0"/>
                              </a:rPr>
                              <m:t>𝑇</m:t>
                            </m:r>
                          </m:e>
                          <m:sub>
                            <m:r>
                              <a:rPr lang="en-US" sz="2500" b="0" i="1" smtClean="0">
                                <a:latin typeface="Cambria Math" panose="02040503050406030204" pitchFamily="18" charset="0"/>
                                <a:ea typeface="Cambria Math" panose="02040503050406030204" pitchFamily="18" charset="0"/>
                              </a:rPr>
                              <m:t>𝑐</m:t>
                            </m:r>
                          </m:sub>
                        </m:sSub>
                      </m:num>
                      <m:den>
                        <m:r>
                          <a:rPr lang="en-US" sz="2500" b="0" i="1" smtClean="0">
                            <a:latin typeface="Cambria Math" panose="02040503050406030204" pitchFamily="18" charset="0"/>
                          </a:rPr>
                          <m:t>𝑇</m:t>
                        </m:r>
                      </m:den>
                    </m:f>
                  </m:oMath>
                </a14:m>
                <a:r>
                  <a:rPr lang="en-US" sz="2500" dirty="0"/>
                  <a:t> .</a:t>
                </a:r>
              </a:p>
            </p:txBody>
          </p:sp>
        </mc:Choice>
        <mc:Fallback>
          <p:sp>
            <p:nvSpPr>
              <p:cNvPr id="8" name="TextBox 8">
                <a:extLst>
                  <a:ext uri="{FF2B5EF4-FFF2-40B4-BE49-F238E27FC236}">
                    <a16:creationId xmlns:a16="http://schemas.microsoft.com/office/drawing/2014/main" id="{87755292-B98C-CBD6-B47F-858FCDF70E48}"/>
                  </a:ext>
                </a:extLst>
              </p:cNvPr>
              <p:cNvSpPr txBox="1">
                <a:spLocks noRot="1" noChangeAspect="1" noMove="1" noResize="1" noEditPoints="1" noAdjustHandles="1" noChangeArrowheads="1" noChangeShapeType="1" noTextEdit="1"/>
              </p:cNvSpPr>
              <p:nvPr/>
            </p:nvSpPr>
            <p:spPr>
              <a:xfrm>
                <a:off x="873209" y="1409700"/>
                <a:ext cx="8575592" cy="1325556"/>
              </a:xfrm>
              <a:prstGeom prst="rect">
                <a:avLst/>
              </a:prstGeom>
              <a:blipFill>
                <a:blip r:embed="rId4"/>
                <a:stretch>
                  <a:fillRect t="-15138" b="-7798"/>
                </a:stretch>
              </a:blipFill>
            </p:spPr>
            <p:txBody>
              <a:bodyPr/>
              <a:lstStyle/>
              <a:p>
                <a:r>
                  <a:rPr lang="en-US">
                    <a:noFill/>
                  </a:rPr>
                  <a:t> </a:t>
                </a:r>
              </a:p>
            </p:txBody>
          </p:sp>
        </mc:Fallback>
      </mc:AlternateContent>
      <p:pic>
        <p:nvPicPr>
          <p:cNvPr id="5" name="Picture 4">
            <a:extLst>
              <a:ext uri="{FF2B5EF4-FFF2-40B4-BE49-F238E27FC236}">
                <a16:creationId xmlns:a16="http://schemas.microsoft.com/office/drawing/2014/main" id="{ED80236A-C7ED-81FA-8010-06F8AAD415DF}"/>
              </a:ext>
            </a:extLst>
          </p:cNvPr>
          <p:cNvPicPr>
            <a:picLocks noChangeAspect="1"/>
          </p:cNvPicPr>
          <p:nvPr/>
        </p:nvPicPr>
        <p:blipFill>
          <a:blip r:embed="rId5">
            <a:extLst>
              <a:ext uri="{28A0092B-C50C-407E-A947-70E740481C1C}">
                <a14:useLocalDpi xmlns:a14="http://schemas.microsoft.com/office/drawing/2010/main" val="0"/>
              </a:ext>
            </a:extLst>
          </a:blip>
          <a:srcRect b="55036"/>
          <a:stretch>
            <a:fillRect/>
          </a:stretch>
        </p:blipFill>
        <p:spPr>
          <a:xfrm>
            <a:off x="895776" y="2900395"/>
            <a:ext cx="7977601" cy="6000639"/>
          </a:xfrm>
          <a:prstGeom prst="rect">
            <a:avLst/>
          </a:prstGeom>
        </p:spPr>
      </p:pic>
      <mc:AlternateContent xmlns:mc="http://schemas.openxmlformats.org/markup-compatibility/2006">
        <mc:Choice xmlns:a14="http://schemas.microsoft.com/office/drawing/2010/main" Requires="a14">
          <p:sp>
            <p:nvSpPr>
              <p:cNvPr id="4" name="TextBox 3">
                <a:extLst>
                  <a:ext uri="{FF2B5EF4-FFF2-40B4-BE49-F238E27FC236}">
                    <a16:creationId xmlns:a16="http://schemas.microsoft.com/office/drawing/2014/main" id="{94C24594-85FE-7C34-C15C-7B1776863E79}"/>
                  </a:ext>
                </a:extLst>
              </p:cNvPr>
              <p:cNvSpPr txBox="1"/>
              <p:nvPr/>
            </p:nvSpPr>
            <p:spPr>
              <a:xfrm>
                <a:off x="910684" y="8887918"/>
                <a:ext cx="16466632" cy="923330"/>
              </a:xfrm>
              <a:prstGeom prst="rect">
                <a:avLst/>
              </a:prstGeom>
              <a:noFill/>
            </p:spPr>
            <p:txBody>
              <a:bodyPr wrap="square" rtlCol="0">
                <a:spAutoFit/>
              </a:bodyPr>
              <a:lstStyle/>
              <a:p>
                <a:r>
                  <a:rPr lang="en-US" dirty="0"/>
                  <a:t>Fig. B ratio as a function of g with respect to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ea typeface="Cambria Math" panose="02040503050406030204" pitchFamily="18" charset="0"/>
                          </a:rPr>
                          <m:t>𝜇</m:t>
                        </m:r>
                      </m:e>
                      <m:sub>
                        <m:r>
                          <a:rPr lang="en-US" i="1">
                            <a:latin typeface="Cambria Math" panose="02040503050406030204" pitchFamily="18" charset="0"/>
                          </a:rPr>
                          <m:t>𝑎</m:t>
                        </m:r>
                      </m:sub>
                    </m:sSub>
                  </m:oMath>
                </a14:m>
                <a:r>
                  <a:rPr lang="en-US" dirty="0"/>
                  <a:t> and </a:t>
                </a:r>
                <a14:m>
                  <m:oMath xmlns:m="http://schemas.openxmlformats.org/officeDocument/2006/math">
                    <m:sSubSup>
                      <m:sSubSupPr>
                        <m:ctrlPr>
                          <a:rPr lang="en-US" i="1">
                            <a:latin typeface="Cambria Math" panose="02040503050406030204" pitchFamily="18" charset="0"/>
                          </a:rPr>
                        </m:ctrlPr>
                      </m:sSubSupPr>
                      <m:e>
                        <m:r>
                          <a:rPr lang="en-US" i="1">
                            <a:latin typeface="Cambria Math" panose="02040503050406030204" pitchFamily="18" charset="0"/>
                            <a:ea typeface="Cambria Math" panose="02040503050406030204" pitchFamily="18" charset="0"/>
                          </a:rPr>
                          <m:t>𝜇</m:t>
                        </m:r>
                      </m:e>
                      <m:sub>
                        <m:r>
                          <a:rPr lang="en-US" i="1">
                            <a:latin typeface="Cambria Math" panose="02040503050406030204" pitchFamily="18" charset="0"/>
                          </a:rPr>
                          <m:t>𝑠</m:t>
                        </m:r>
                      </m:sub>
                      <m:sup>
                        <m:r>
                          <a:rPr lang="en-US" i="1">
                            <a:latin typeface="Cambria Math" panose="02040503050406030204" pitchFamily="18" charset="0"/>
                          </a:rPr>
                          <m:t>′</m:t>
                        </m:r>
                      </m:sup>
                    </m:sSubSup>
                  </m:oMath>
                </a14:m>
                <a:r>
                  <a:rPr lang="en-US" dirty="0"/>
                  <a:t>. Four similarity curves are presented (a) B for </a:t>
                </a:r>
                <a14:m>
                  <m:oMath xmlns:m="http://schemas.openxmlformats.org/officeDocument/2006/math">
                    <m:sSubSup>
                      <m:sSubSupPr>
                        <m:ctrlPr>
                          <a:rPr lang="en-US" i="1">
                            <a:latin typeface="Cambria Math" panose="02040503050406030204" pitchFamily="18" charset="0"/>
                          </a:rPr>
                        </m:ctrlPr>
                      </m:sSubSupPr>
                      <m:e>
                        <m:r>
                          <a:rPr lang="en-US" i="1">
                            <a:latin typeface="Cambria Math" panose="02040503050406030204" pitchFamily="18" charset="0"/>
                            <a:ea typeface="Cambria Math" panose="02040503050406030204" pitchFamily="18" charset="0"/>
                          </a:rPr>
                          <m:t>𝜇</m:t>
                        </m:r>
                      </m:e>
                      <m:sub>
                        <m:r>
                          <a:rPr lang="en-US" i="1">
                            <a:latin typeface="Cambria Math" panose="02040503050406030204" pitchFamily="18" charset="0"/>
                          </a:rPr>
                          <m:t>𝑠</m:t>
                        </m:r>
                      </m:sub>
                      <m:sup>
                        <m:r>
                          <a:rPr lang="en-US" i="1">
                            <a:latin typeface="Cambria Math" panose="02040503050406030204" pitchFamily="18" charset="0"/>
                          </a:rPr>
                          <m:t>′</m:t>
                        </m:r>
                      </m:sup>
                    </m:sSubSup>
                  </m:oMath>
                </a14:m>
                <a:r>
                  <a:rPr lang="en-US" dirty="0"/>
                  <a:t>= 0.5 </a:t>
                </a:r>
                <a14:m>
                  <m:oMath xmlns:m="http://schemas.openxmlformats.org/officeDocument/2006/math">
                    <m:sSup>
                      <m:sSupPr>
                        <m:ctrlPr>
                          <a:rPr lang="en-US" i="1" smtClean="0">
                            <a:latin typeface="Cambria Math" panose="02040503050406030204" pitchFamily="18" charset="0"/>
                          </a:rPr>
                        </m:ctrlPr>
                      </m:sSupPr>
                      <m:e>
                        <m:r>
                          <a:rPr lang="en-US" b="0" i="1" smtClean="0">
                            <a:latin typeface="Cambria Math" panose="02040503050406030204" pitchFamily="18" charset="0"/>
                          </a:rPr>
                          <m:t>𝑐𝑚</m:t>
                        </m:r>
                      </m:e>
                      <m:sup>
                        <m:r>
                          <a:rPr lang="en-US" b="0" i="1" smtClean="0">
                            <a:latin typeface="Cambria Math" panose="02040503050406030204" pitchFamily="18" charset="0"/>
                          </a:rPr>
                          <m:t>−1</m:t>
                        </m:r>
                      </m:sup>
                    </m:sSup>
                  </m:oMath>
                </a14:m>
                <a:r>
                  <a:rPr lang="en-US" dirty="0"/>
                  <a:t>(upper family) and </a:t>
                </a:r>
                <a14:m>
                  <m:oMath xmlns:m="http://schemas.openxmlformats.org/officeDocument/2006/math">
                    <m:sSubSup>
                      <m:sSubSupPr>
                        <m:ctrlPr>
                          <a:rPr lang="en-US" i="1">
                            <a:latin typeface="Cambria Math" panose="02040503050406030204" pitchFamily="18" charset="0"/>
                          </a:rPr>
                        </m:ctrlPr>
                      </m:sSubSupPr>
                      <m:e>
                        <m:r>
                          <a:rPr lang="en-US" i="1">
                            <a:latin typeface="Cambria Math" panose="02040503050406030204" pitchFamily="18" charset="0"/>
                            <a:ea typeface="Cambria Math" panose="02040503050406030204" pitchFamily="18" charset="0"/>
                          </a:rPr>
                          <m:t>𝜇</m:t>
                        </m:r>
                      </m:e>
                      <m:sub>
                        <m:r>
                          <a:rPr lang="en-US" i="1" smtClean="0">
                            <a:latin typeface="Cambria Math" panose="02040503050406030204" pitchFamily="18" charset="0"/>
                          </a:rPr>
                          <m:t>𝑠</m:t>
                        </m:r>
                      </m:sub>
                      <m:sup>
                        <m:r>
                          <a:rPr lang="en-US" i="1" smtClean="0">
                            <a:latin typeface="Cambria Math" panose="02040503050406030204" pitchFamily="18" charset="0"/>
                          </a:rPr>
                          <m:t>′</m:t>
                        </m:r>
                      </m:sup>
                    </m:sSubSup>
                  </m:oMath>
                </a14:m>
                <a:r>
                  <a:rPr lang="en-US" dirty="0"/>
                  <a:t> = 2 </a:t>
                </a:r>
                <a14:m>
                  <m:oMath xmlns:m="http://schemas.openxmlformats.org/officeDocument/2006/math">
                    <m:sSup>
                      <m:sSupPr>
                        <m:ctrlPr>
                          <a:rPr lang="en-US" i="1">
                            <a:latin typeface="Cambria Math" panose="02040503050406030204" pitchFamily="18" charset="0"/>
                          </a:rPr>
                        </m:ctrlPr>
                      </m:sSupPr>
                      <m:e>
                        <m:r>
                          <a:rPr lang="en-US" i="1">
                            <a:latin typeface="Cambria Math" panose="02040503050406030204" pitchFamily="18" charset="0"/>
                          </a:rPr>
                          <m:t>𝑐𝑚</m:t>
                        </m:r>
                      </m:e>
                      <m:sup>
                        <m:r>
                          <a:rPr lang="en-US" i="1">
                            <a:latin typeface="Cambria Math" panose="02040503050406030204" pitchFamily="18" charset="0"/>
                          </a:rPr>
                          <m:t>−1</m:t>
                        </m:r>
                      </m:sup>
                    </m:sSup>
                  </m:oMath>
                </a14:m>
                <a:r>
                  <a:rPr lang="en-US" dirty="0"/>
                  <a:t>(lower family). (b) B for </a:t>
                </a:r>
                <a14:m>
                  <m:oMath xmlns:m="http://schemas.openxmlformats.org/officeDocument/2006/math">
                    <m:sSubSup>
                      <m:sSubSupPr>
                        <m:ctrlPr>
                          <a:rPr lang="en-US" i="1">
                            <a:latin typeface="Cambria Math" panose="02040503050406030204" pitchFamily="18" charset="0"/>
                          </a:rPr>
                        </m:ctrlPr>
                      </m:sSubSupPr>
                      <m:e>
                        <m:r>
                          <a:rPr lang="en-US" i="1">
                            <a:latin typeface="Cambria Math" panose="02040503050406030204" pitchFamily="18" charset="0"/>
                            <a:ea typeface="Cambria Math" panose="02040503050406030204" pitchFamily="18" charset="0"/>
                          </a:rPr>
                          <m:t>𝜇</m:t>
                        </m:r>
                      </m:e>
                      <m:sub>
                        <m:r>
                          <a:rPr lang="en-US" i="1">
                            <a:latin typeface="Cambria Math" panose="02040503050406030204" pitchFamily="18" charset="0"/>
                          </a:rPr>
                          <m:t>𝑠</m:t>
                        </m:r>
                      </m:sub>
                      <m:sup>
                        <m:r>
                          <a:rPr lang="en-US" i="1">
                            <a:latin typeface="Cambria Math" panose="02040503050406030204" pitchFamily="18" charset="0"/>
                          </a:rPr>
                          <m:t>′</m:t>
                        </m:r>
                      </m:sup>
                    </m:sSubSup>
                  </m:oMath>
                </a14:m>
                <a:r>
                  <a:rPr lang="en-US" dirty="0"/>
                  <a:t>= 1 </a:t>
                </a:r>
                <a14:m>
                  <m:oMath xmlns:m="http://schemas.openxmlformats.org/officeDocument/2006/math">
                    <m:sSup>
                      <m:sSupPr>
                        <m:ctrlPr>
                          <a:rPr lang="en-US" i="1">
                            <a:latin typeface="Cambria Math" panose="02040503050406030204" pitchFamily="18" charset="0"/>
                          </a:rPr>
                        </m:ctrlPr>
                      </m:sSupPr>
                      <m:e>
                        <m:r>
                          <a:rPr lang="en-US" i="1">
                            <a:latin typeface="Cambria Math" panose="02040503050406030204" pitchFamily="18" charset="0"/>
                          </a:rPr>
                          <m:t>𝑐𝑚</m:t>
                        </m:r>
                      </m:e>
                      <m:sup>
                        <m:r>
                          <a:rPr lang="en-US" i="1">
                            <a:latin typeface="Cambria Math" panose="02040503050406030204" pitchFamily="18" charset="0"/>
                          </a:rPr>
                          <m:t>−1</m:t>
                        </m:r>
                      </m:sup>
                    </m:sSup>
                  </m:oMath>
                </a14:m>
                <a:r>
                  <a:rPr lang="en-US" dirty="0"/>
                  <a:t>(upper family) and </a:t>
                </a:r>
                <a14:m>
                  <m:oMath xmlns:m="http://schemas.openxmlformats.org/officeDocument/2006/math">
                    <m:sSubSup>
                      <m:sSubSupPr>
                        <m:ctrlPr>
                          <a:rPr lang="en-US" i="1">
                            <a:latin typeface="Cambria Math" panose="02040503050406030204" pitchFamily="18" charset="0"/>
                          </a:rPr>
                        </m:ctrlPr>
                      </m:sSubSupPr>
                      <m:e>
                        <m:r>
                          <a:rPr lang="en-US" i="1">
                            <a:latin typeface="Cambria Math" panose="02040503050406030204" pitchFamily="18" charset="0"/>
                            <a:ea typeface="Cambria Math" panose="02040503050406030204" pitchFamily="18" charset="0"/>
                          </a:rPr>
                          <m:t>𝜇</m:t>
                        </m:r>
                      </m:e>
                      <m:sub>
                        <m:r>
                          <a:rPr lang="en-US" i="1">
                            <a:latin typeface="Cambria Math" panose="02040503050406030204" pitchFamily="18" charset="0"/>
                          </a:rPr>
                          <m:t>𝑠</m:t>
                        </m:r>
                      </m:sub>
                      <m:sup>
                        <m:r>
                          <a:rPr lang="en-US" i="1">
                            <a:latin typeface="Cambria Math" panose="02040503050406030204" pitchFamily="18" charset="0"/>
                          </a:rPr>
                          <m:t>′</m:t>
                        </m:r>
                      </m:sup>
                    </m:sSubSup>
                  </m:oMath>
                </a14:m>
                <a:r>
                  <a:rPr lang="en-US" dirty="0"/>
                  <a:t> = 4 </a:t>
                </a:r>
                <a14:m>
                  <m:oMath xmlns:m="http://schemas.openxmlformats.org/officeDocument/2006/math">
                    <m:sSup>
                      <m:sSupPr>
                        <m:ctrlPr>
                          <a:rPr lang="en-US" i="1">
                            <a:latin typeface="Cambria Math" panose="02040503050406030204" pitchFamily="18" charset="0"/>
                          </a:rPr>
                        </m:ctrlPr>
                      </m:sSupPr>
                      <m:e>
                        <m:r>
                          <a:rPr lang="en-US" i="1">
                            <a:latin typeface="Cambria Math" panose="02040503050406030204" pitchFamily="18" charset="0"/>
                          </a:rPr>
                          <m:t>𝑐𝑚</m:t>
                        </m:r>
                      </m:e>
                      <m:sup>
                        <m:r>
                          <a:rPr lang="en-US" i="1">
                            <a:latin typeface="Cambria Math" panose="02040503050406030204" pitchFamily="18" charset="0"/>
                          </a:rPr>
                          <m:t>−1</m:t>
                        </m:r>
                      </m:sup>
                    </m:sSup>
                  </m:oMath>
                </a14:m>
                <a:r>
                  <a:rPr lang="en-US" dirty="0"/>
                  <a:t>. All four families have been calculated for the same set of values for </a:t>
                </a:r>
                <a14:m>
                  <m:oMath xmlns:m="http://schemas.openxmlformats.org/officeDocument/2006/math">
                    <m:sSub>
                      <m:sSubPr>
                        <m:ctrlPr>
                          <a:rPr lang="en-US" i="1" smtClean="0">
                            <a:latin typeface="Cambria Math" panose="02040503050406030204" pitchFamily="18" charset="0"/>
                          </a:rPr>
                        </m:ctrlPr>
                      </m:sSubPr>
                      <m:e>
                        <m:r>
                          <a:rPr lang="en-US" i="1">
                            <a:latin typeface="Cambria Math" panose="02040503050406030204" pitchFamily="18" charset="0"/>
                            <a:ea typeface="Cambria Math" panose="02040503050406030204" pitchFamily="18" charset="0"/>
                          </a:rPr>
                          <m:t>𝜇</m:t>
                        </m:r>
                      </m:e>
                      <m:sub>
                        <m:r>
                          <a:rPr lang="en-US" b="0" i="1" smtClean="0">
                            <a:latin typeface="Cambria Math" panose="02040503050406030204" pitchFamily="18" charset="0"/>
                          </a:rPr>
                          <m:t>𝑎</m:t>
                        </m:r>
                      </m:sub>
                    </m:sSub>
                  </m:oMath>
                </a14:m>
                <a:r>
                  <a:rPr lang="en-US" dirty="0"/>
                  <a:t>. That is (form top to bottom)0.015</a:t>
                </a:r>
                <a14:m>
                  <m:oMath xmlns:m="http://schemas.openxmlformats.org/officeDocument/2006/math">
                    <m:sSup>
                      <m:sSupPr>
                        <m:ctrlPr>
                          <a:rPr lang="en-US" i="1">
                            <a:latin typeface="Cambria Math" panose="02040503050406030204" pitchFamily="18" charset="0"/>
                          </a:rPr>
                        </m:ctrlPr>
                      </m:sSupPr>
                      <m:e>
                        <m:r>
                          <a:rPr lang="en-US" i="1">
                            <a:latin typeface="Cambria Math" panose="02040503050406030204" pitchFamily="18" charset="0"/>
                          </a:rPr>
                          <m:t>𝑐𝑚</m:t>
                        </m:r>
                      </m:e>
                      <m:sup>
                        <m:r>
                          <a:rPr lang="en-US" i="1">
                            <a:latin typeface="Cambria Math" panose="02040503050406030204" pitchFamily="18" charset="0"/>
                          </a:rPr>
                          <m:t>−1</m:t>
                        </m:r>
                      </m:sup>
                    </m:sSup>
                  </m:oMath>
                </a14:m>
                <a:r>
                  <a:rPr lang="en-US" dirty="0"/>
                  <a:t>,0.061</a:t>
                </a:r>
                <a14:m>
                  <m:oMath xmlns:m="http://schemas.openxmlformats.org/officeDocument/2006/math">
                    <m:sSup>
                      <m:sSupPr>
                        <m:ctrlPr>
                          <a:rPr lang="en-US" i="1">
                            <a:latin typeface="Cambria Math" panose="02040503050406030204" pitchFamily="18" charset="0"/>
                          </a:rPr>
                        </m:ctrlPr>
                      </m:sSupPr>
                      <m:e>
                        <m:r>
                          <a:rPr lang="en-US" i="1">
                            <a:latin typeface="Cambria Math" panose="02040503050406030204" pitchFamily="18" charset="0"/>
                          </a:rPr>
                          <m:t>𝑐𝑚</m:t>
                        </m:r>
                      </m:e>
                      <m:sup>
                        <m:r>
                          <a:rPr lang="en-US" i="1">
                            <a:latin typeface="Cambria Math" panose="02040503050406030204" pitchFamily="18" charset="0"/>
                          </a:rPr>
                          <m:t>−1</m:t>
                        </m:r>
                      </m:sup>
                    </m:sSup>
                  </m:oMath>
                </a14:m>
                <a:r>
                  <a:rPr lang="en-US" dirty="0"/>
                  <a:t>,0.25</a:t>
                </a:r>
                <a14:m>
                  <m:oMath xmlns:m="http://schemas.openxmlformats.org/officeDocument/2006/math">
                    <m:sSup>
                      <m:sSupPr>
                        <m:ctrlPr>
                          <a:rPr lang="en-US" i="1">
                            <a:latin typeface="Cambria Math" panose="02040503050406030204" pitchFamily="18" charset="0"/>
                          </a:rPr>
                        </m:ctrlPr>
                      </m:sSupPr>
                      <m:e>
                        <m:r>
                          <a:rPr lang="en-US" i="1">
                            <a:latin typeface="Cambria Math" panose="02040503050406030204" pitchFamily="18" charset="0"/>
                          </a:rPr>
                          <m:t>𝑐𝑚</m:t>
                        </m:r>
                      </m:e>
                      <m:sup>
                        <m:r>
                          <a:rPr lang="en-US" i="1">
                            <a:latin typeface="Cambria Math" panose="02040503050406030204" pitchFamily="18" charset="0"/>
                          </a:rPr>
                          <m:t>−1</m:t>
                        </m:r>
                      </m:sup>
                    </m:sSup>
                  </m:oMath>
                </a14:m>
                <a:r>
                  <a:rPr lang="en-US" dirty="0"/>
                  <a:t>and 1 </a:t>
                </a:r>
                <a14:m>
                  <m:oMath xmlns:m="http://schemas.openxmlformats.org/officeDocument/2006/math">
                    <m:sSup>
                      <m:sSupPr>
                        <m:ctrlPr>
                          <a:rPr lang="en-US" i="1">
                            <a:latin typeface="Cambria Math" panose="02040503050406030204" pitchFamily="18" charset="0"/>
                          </a:rPr>
                        </m:ctrlPr>
                      </m:sSupPr>
                      <m:e>
                        <m:r>
                          <a:rPr lang="en-US" i="1">
                            <a:latin typeface="Cambria Math" panose="02040503050406030204" pitchFamily="18" charset="0"/>
                          </a:rPr>
                          <m:t>𝑐𝑚</m:t>
                        </m:r>
                      </m:e>
                      <m:sup>
                        <m:r>
                          <a:rPr lang="en-US" i="1">
                            <a:latin typeface="Cambria Math" panose="02040503050406030204" pitchFamily="18" charset="0"/>
                          </a:rPr>
                          <m:t>−1</m:t>
                        </m:r>
                      </m:sup>
                    </m:sSup>
                  </m:oMath>
                </a14:m>
                <a:r>
                  <a:rPr lang="en-US" dirty="0"/>
                  <a:t>. The slab thickness is 1.0 cm.</a:t>
                </a:r>
              </a:p>
            </p:txBody>
          </p:sp>
        </mc:Choice>
        <mc:Fallback>
          <p:sp>
            <p:nvSpPr>
              <p:cNvPr id="4" name="TextBox 3">
                <a:extLst>
                  <a:ext uri="{FF2B5EF4-FFF2-40B4-BE49-F238E27FC236}">
                    <a16:creationId xmlns:a16="http://schemas.microsoft.com/office/drawing/2014/main" id="{94C24594-85FE-7C34-C15C-7B1776863E79}"/>
                  </a:ext>
                </a:extLst>
              </p:cNvPr>
              <p:cNvSpPr txBox="1">
                <a:spLocks noRot="1" noChangeAspect="1" noMove="1" noResize="1" noEditPoints="1" noAdjustHandles="1" noChangeArrowheads="1" noChangeShapeType="1" noTextEdit="1"/>
              </p:cNvSpPr>
              <p:nvPr/>
            </p:nvSpPr>
            <p:spPr>
              <a:xfrm>
                <a:off x="910684" y="8887918"/>
                <a:ext cx="16466632" cy="923330"/>
              </a:xfrm>
              <a:prstGeom prst="rect">
                <a:avLst/>
              </a:prstGeom>
              <a:blipFill>
                <a:blip r:embed="rId6"/>
                <a:stretch>
                  <a:fillRect l="-296" t="-3974" r="-481" b="-9934"/>
                </a:stretch>
              </a:blipFill>
            </p:spPr>
            <p:txBody>
              <a:bodyPr/>
              <a:lstStyle/>
              <a:p>
                <a:r>
                  <a:rPr lang="en-US">
                    <a:noFill/>
                  </a:rPr>
                  <a:t> </a:t>
                </a:r>
              </a:p>
            </p:txBody>
          </p:sp>
        </mc:Fallback>
      </mc:AlternateContent>
      <p:pic>
        <p:nvPicPr>
          <p:cNvPr id="7" name="Picture 6">
            <a:extLst>
              <a:ext uri="{FF2B5EF4-FFF2-40B4-BE49-F238E27FC236}">
                <a16:creationId xmlns:a16="http://schemas.microsoft.com/office/drawing/2014/main" id="{FDE6B354-71AC-67A9-26ED-2BE64917E3A7}"/>
              </a:ext>
            </a:extLst>
          </p:cNvPr>
          <p:cNvPicPr>
            <a:picLocks noChangeAspect="1"/>
          </p:cNvPicPr>
          <p:nvPr/>
        </p:nvPicPr>
        <p:blipFill>
          <a:blip r:embed="rId5">
            <a:extLst>
              <a:ext uri="{28A0092B-C50C-407E-A947-70E740481C1C}">
                <a14:useLocalDpi xmlns:a14="http://schemas.microsoft.com/office/drawing/2010/main" val="0"/>
              </a:ext>
            </a:extLst>
          </a:blip>
          <a:srcRect t="45088" b="12729"/>
          <a:stretch>
            <a:fillRect/>
          </a:stretch>
        </p:blipFill>
        <p:spPr>
          <a:xfrm>
            <a:off x="8878373" y="2903518"/>
            <a:ext cx="8498943" cy="5997516"/>
          </a:xfrm>
          <a:prstGeom prst="rect">
            <a:avLst/>
          </a:prstGeom>
        </p:spPr>
      </p:pic>
    </p:spTree>
    <p:extLst>
      <p:ext uri="{BB962C8B-B14F-4D97-AF65-F5344CB8AC3E}">
        <p14:creationId xmlns:p14="http://schemas.microsoft.com/office/powerpoint/2010/main" val="245361401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211125-5A10-9EFD-BBF6-8D18DFD9CFD4}"/>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F4C8E8D5-E72C-C8E0-1052-B886249A7135}"/>
              </a:ext>
            </a:extLst>
          </p:cNvPr>
          <p:cNvSpPr/>
          <p:nvPr/>
        </p:nvSpPr>
        <p:spPr>
          <a:xfrm>
            <a:off x="-6824"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3">
              <a:alphaModFix amt="50000"/>
            </a:blip>
            <a:stretch>
              <a:fillRect/>
            </a:stretch>
          </a:blipFill>
          <a:ln cap="sq">
            <a:noFill/>
            <a:prstDash val="solid"/>
            <a:miter/>
          </a:ln>
        </p:spPr>
        <p:txBody>
          <a:bodyPr/>
          <a:lstStyle/>
          <a:p>
            <a:endParaRPr lang="en-US" dirty="0"/>
          </a:p>
        </p:txBody>
      </p:sp>
      <p:sp>
        <p:nvSpPr>
          <p:cNvPr id="3" name="AutoShape 3">
            <a:extLst>
              <a:ext uri="{FF2B5EF4-FFF2-40B4-BE49-F238E27FC236}">
                <a16:creationId xmlns:a16="http://schemas.microsoft.com/office/drawing/2014/main" id="{AE3FC6E8-4317-931C-E720-B946EB728388}"/>
              </a:ext>
            </a:extLst>
          </p:cNvPr>
          <p:cNvSpPr/>
          <p:nvPr/>
        </p:nvSpPr>
        <p:spPr>
          <a:xfrm>
            <a:off x="1166399" y="1028700"/>
            <a:ext cx="687324" cy="0"/>
          </a:xfrm>
          <a:prstGeom prst="line">
            <a:avLst/>
          </a:prstGeom>
          <a:ln w="76200" cap="flat">
            <a:solidFill>
              <a:srgbClr val="000000"/>
            </a:solidFill>
            <a:prstDash val="solid"/>
            <a:headEnd type="none" w="sm" len="sm"/>
            <a:tailEnd type="none" w="sm" len="sm"/>
          </a:ln>
        </p:spPr>
        <p:txBody>
          <a:bodyPr/>
          <a:lstStyle/>
          <a:p>
            <a:endParaRPr lang="en-US" dirty="0"/>
          </a:p>
        </p:txBody>
      </p:sp>
      <mc:AlternateContent xmlns:mc="http://schemas.openxmlformats.org/markup-compatibility/2006">
        <mc:Choice xmlns:a14="http://schemas.microsoft.com/office/drawing/2010/main" Requires="a14">
          <p:sp>
            <p:nvSpPr>
              <p:cNvPr id="8" name="TextBox 8">
                <a:extLst>
                  <a:ext uri="{FF2B5EF4-FFF2-40B4-BE49-F238E27FC236}">
                    <a16:creationId xmlns:a16="http://schemas.microsoft.com/office/drawing/2014/main" id="{E5E0F2ED-909F-791A-0CF0-593156A5B9A0}"/>
                  </a:ext>
                </a:extLst>
              </p:cNvPr>
              <p:cNvSpPr txBox="1"/>
              <p:nvPr/>
            </p:nvSpPr>
            <p:spPr>
              <a:xfrm>
                <a:off x="873208" y="1409700"/>
                <a:ext cx="16541583" cy="1155509"/>
              </a:xfrm>
              <a:prstGeom prst="rect">
                <a:avLst/>
              </a:prstGeom>
            </p:spPr>
            <p:txBody>
              <a:bodyPr wrap="square" lIns="0" tIns="0" rIns="0" bIns="0" rtlCol="0" anchor="t">
                <a:spAutoFit/>
              </a:bodyPr>
              <a:lstStyle/>
              <a:p>
                <a:pPr marL="302259" lvl="1">
                  <a:lnSpc>
                    <a:spcPts val="4479"/>
                  </a:lnSpc>
                </a:pPr>
                <a:r>
                  <a:rPr lang="en-US" sz="4000" b="1" dirty="0">
                    <a:solidFill>
                      <a:srgbClr val="000000"/>
                    </a:solidFill>
                    <a:latin typeface="Times New Roman" panose="02020603050405020304" pitchFamily="18" charset="0"/>
                    <a:cs typeface="Times New Roman" panose="02020603050405020304" pitchFamily="18" charset="0"/>
                    <a:sym typeface="Open Sauce"/>
                  </a:rPr>
                  <a:t>Results</a:t>
                </a:r>
                <a:endParaRPr lang="en-US" sz="2500" dirty="0"/>
              </a:p>
              <a:p>
                <a:pPr marL="604519" lvl="1" indent="-302260">
                  <a:lnSpc>
                    <a:spcPct val="150000"/>
                  </a:lnSpc>
                  <a:buFont typeface="Arial"/>
                  <a:buChar char="•"/>
                </a:pPr>
                <a:r>
                  <a:rPr lang="en-US" sz="2500" dirty="0" err="1"/>
                  <a:t>Isotransmittance</a:t>
                </a:r>
                <a:r>
                  <a:rPr lang="en-US" sz="2500" dirty="0"/>
                  <a:t> and </a:t>
                </a:r>
                <a:r>
                  <a:rPr lang="en-US" sz="2500" dirty="0" err="1"/>
                  <a:t>isoreflectance</a:t>
                </a:r>
                <a:r>
                  <a:rPr lang="en-US" sz="2500" dirty="0"/>
                  <a:t> curves is presented, we can get a unique pairs of </a:t>
                </a:r>
                <a14:m>
                  <m:oMath xmlns:m="http://schemas.openxmlformats.org/officeDocument/2006/math">
                    <m:sSubSup>
                      <m:sSubSupPr>
                        <m:ctrlPr>
                          <a:rPr lang="en-US" sz="2800" i="1">
                            <a:latin typeface="Cambria Math" panose="02040503050406030204" pitchFamily="18" charset="0"/>
                          </a:rPr>
                        </m:ctrlPr>
                      </m:sSubSupPr>
                      <m:e>
                        <m:r>
                          <a:rPr lang="en-US" sz="2800" i="1">
                            <a:latin typeface="Cambria Math" panose="02040503050406030204" pitchFamily="18" charset="0"/>
                            <a:ea typeface="Cambria Math" panose="02040503050406030204" pitchFamily="18" charset="0"/>
                          </a:rPr>
                          <m:t>𝜇</m:t>
                        </m:r>
                      </m:e>
                      <m:sub>
                        <m:r>
                          <a:rPr lang="en-US" sz="2800" i="1">
                            <a:latin typeface="Cambria Math" panose="02040503050406030204" pitchFamily="18" charset="0"/>
                          </a:rPr>
                          <m:t>𝑠</m:t>
                        </m:r>
                      </m:sub>
                      <m:sup>
                        <m:r>
                          <a:rPr lang="en-US" sz="2800" i="1">
                            <a:latin typeface="Cambria Math" panose="02040503050406030204" pitchFamily="18" charset="0"/>
                          </a:rPr>
                          <m:t>′</m:t>
                        </m:r>
                      </m:sup>
                    </m:sSubSup>
                  </m:oMath>
                </a14:m>
                <a:r>
                  <a:rPr lang="en-US" sz="2800" dirty="0"/>
                  <a:t> and </a:t>
                </a:r>
                <a14:m>
                  <m:oMath xmlns:m="http://schemas.openxmlformats.org/officeDocument/2006/math">
                    <m:sSub>
                      <m:sSubPr>
                        <m:ctrlPr>
                          <a:rPr lang="en-US" sz="2800" i="1">
                            <a:latin typeface="Cambria Math" panose="02040503050406030204" pitchFamily="18" charset="0"/>
                          </a:rPr>
                        </m:ctrlPr>
                      </m:sSubPr>
                      <m:e>
                        <m:r>
                          <a:rPr lang="en-US" sz="2800" i="1">
                            <a:latin typeface="Cambria Math" panose="02040503050406030204" pitchFamily="18" charset="0"/>
                            <a:ea typeface="Cambria Math" panose="02040503050406030204" pitchFamily="18" charset="0"/>
                          </a:rPr>
                          <m:t>𝜇</m:t>
                        </m:r>
                      </m:e>
                      <m:sub>
                        <m:r>
                          <a:rPr lang="en-US" sz="2800" i="1">
                            <a:latin typeface="Cambria Math" panose="02040503050406030204" pitchFamily="18" charset="0"/>
                          </a:rPr>
                          <m:t>𝑎</m:t>
                        </m:r>
                      </m:sub>
                    </m:sSub>
                  </m:oMath>
                </a14:m>
                <a:r>
                  <a:rPr lang="en-US" sz="2500" dirty="0"/>
                  <a:t> if R and T are known.</a:t>
                </a:r>
              </a:p>
            </p:txBody>
          </p:sp>
        </mc:Choice>
        <mc:Fallback>
          <p:sp>
            <p:nvSpPr>
              <p:cNvPr id="8" name="TextBox 8">
                <a:extLst>
                  <a:ext uri="{FF2B5EF4-FFF2-40B4-BE49-F238E27FC236}">
                    <a16:creationId xmlns:a16="http://schemas.microsoft.com/office/drawing/2014/main" id="{E5E0F2ED-909F-791A-0CF0-593156A5B9A0}"/>
                  </a:ext>
                </a:extLst>
              </p:cNvPr>
              <p:cNvSpPr txBox="1">
                <a:spLocks noRot="1" noChangeAspect="1" noMove="1" noResize="1" noEditPoints="1" noAdjustHandles="1" noChangeArrowheads="1" noChangeShapeType="1" noTextEdit="1"/>
              </p:cNvSpPr>
              <p:nvPr/>
            </p:nvSpPr>
            <p:spPr>
              <a:xfrm>
                <a:off x="873208" y="1409700"/>
                <a:ext cx="16541583" cy="1155509"/>
              </a:xfrm>
              <a:prstGeom prst="rect">
                <a:avLst/>
              </a:prstGeom>
              <a:blipFill>
                <a:blip r:embed="rId4"/>
                <a:stretch>
                  <a:fillRect t="-17368" b="-18421"/>
                </a:stretch>
              </a:blipFill>
            </p:spPr>
            <p:txBody>
              <a:bodyPr/>
              <a:lstStyle/>
              <a:p>
                <a:r>
                  <a:rPr lang="en-US">
                    <a:noFill/>
                  </a:rPr>
                  <a:t> </a:t>
                </a:r>
              </a:p>
            </p:txBody>
          </p:sp>
        </mc:Fallback>
      </mc:AlternateContent>
      <p:pic>
        <p:nvPicPr>
          <p:cNvPr id="6" name="Picture 5">
            <a:extLst>
              <a:ext uri="{FF2B5EF4-FFF2-40B4-BE49-F238E27FC236}">
                <a16:creationId xmlns:a16="http://schemas.microsoft.com/office/drawing/2014/main" id="{37C4DE4C-4BDD-9EE2-002A-B6270BDF8B76}"/>
              </a:ext>
            </a:extLst>
          </p:cNvPr>
          <p:cNvPicPr>
            <a:picLocks noChangeAspect="1"/>
          </p:cNvPicPr>
          <p:nvPr/>
        </p:nvPicPr>
        <p:blipFill>
          <a:blip r:embed="rId5">
            <a:extLst>
              <a:ext uri="{28A0092B-C50C-407E-A947-70E740481C1C}">
                <a14:useLocalDpi xmlns:a14="http://schemas.microsoft.com/office/drawing/2010/main" val="0"/>
              </a:ext>
            </a:extLst>
          </a:blip>
          <a:srcRect t="4737" r="8019" b="14409"/>
          <a:stretch>
            <a:fillRect/>
          </a:stretch>
        </p:blipFill>
        <p:spPr>
          <a:xfrm>
            <a:off x="10210802" y="2738587"/>
            <a:ext cx="6705600" cy="6346334"/>
          </a:xfrm>
          <a:prstGeom prst="rect">
            <a:avLst/>
          </a:prstGeom>
        </p:spPr>
      </p:pic>
      <p:pic>
        <p:nvPicPr>
          <p:cNvPr id="9" name="Picture 8">
            <a:extLst>
              <a:ext uri="{FF2B5EF4-FFF2-40B4-BE49-F238E27FC236}">
                <a16:creationId xmlns:a16="http://schemas.microsoft.com/office/drawing/2014/main" id="{A238EBA5-ACC5-C793-6A4A-78F920934465}"/>
              </a:ext>
            </a:extLst>
          </p:cNvPr>
          <p:cNvPicPr>
            <a:picLocks noChangeAspect="1"/>
          </p:cNvPicPr>
          <p:nvPr/>
        </p:nvPicPr>
        <p:blipFill>
          <a:blip r:embed="rId6">
            <a:extLst>
              <a:ext uri="{28A0092B-C50C-407E-A947-70E740481C1C}">
                <a14:useLocalDpi xmlns:a14="http://schemas.microsoft.com/office/drawing/2010/main" val="0"/>
              </a:ext>
            </a:extLst>
          </a:blip>
          <a:srcRect b="8250"/>
          <a:stretch>
            <a:fillRect/>
          </a:stretch>
        </p:blipFill>
        <p:spPr>
          <a:xfrm>
            <a:off x="1371600" y="2738587"/>
            <a:ext cx="6705600" cy="6346334"/>
          </a:xfrm>
          <a:prstGeom prst="rect">
            <a:avLst/>
          </a:prstGeom>
        </p:spPr>
      </p:pic>
      <mc:AlternateContent xmlns:mc="http://schemas.openxmlformats.org/markup-compatibility/2006">
        <mc:Choice xmlns:a14="http://schemas.microsoft.com/office/drawing/2010/main" Requires="a14">
          <p:sp>
            <p:nvSpPr>
              <p:cNvPr id="5" name="TextBox 4">
                <a:extLst>
                  <a:ext uri="{FF2B5EF4-FFF2-40B4-BE49-F238E27FC236}">
                    <a16:creationId xmlns:a16="http://schemas.microsoft.com/office/drawing/2014/main" id="{413F0B63-AD30-6760-E28C-5F95205BDB1F}"/>
                  </a:ext>
                </a:extLst>
              </p:cNvPr>
              <p:cNvSpPr txBox="1"/>
              <p:nvPr/>
            </p:nvSpPr>
            <p:spPr>
              <a:xfrm>
                <a:off x="1371601" y="9084921"/>
                <a:ext cx="6705599" cy="923330"/>
              </a:xfrm>
              <a:prstGeom prst="rect">
                <a:avLst/>
              </a:prstGeom>
              <a:noFill/>
            </p:spPr>
            <p:txBody>
              <a:bodyPr wrap="square" rtlCol="0">
                <a:spAutoFit/>
              </a:bodyPr>
              <a:lstStyle/>
              <a:p>
                <a:r>
                  <a:rPr lang="en-US" dirty="0"/>
                  <a:t>Fig. (a) </a:t>
                </a:r>
                <a:r>
                  <a:rPr lang="en-US" dirty="0" err="1"/>
                  <a:t>Isotransmittance</a:t>
                </a:r>
                <a:r>
                  <a:rPr lang="en-US" dirty="0"/>
                  <a:t> and (b) </a:t>
                </a:r>
                <a:r>
                  <a:rPr lang="en-US" dirty="0" err="1"/>
                  <a:t>Isoreflectance</a:t>
                </a:r>
                <a:r>
                  <a:rPr lang="en-US" dirty="0"/>
                  <a:t> curves from the 3-D graphs. Each value of diffuse transmittance, T, and total reflectance, R, correspond to an infinite number of </a:t>
                </a:r>
                <a14:m>
                  <m:oMath xmlns:m="http://schemas.openxmlformats.org/officeDocument/2006/math">
                    <m:sSubSup>
                      <m:sSubSupPr>
                        <m:ctrlPr>
                          <a:rPr lang="en-US" i="1">
                            <a:latin typeface="Cambria Math" panose="02040503050406030204" pitchFamily="18" charset="0"/>
                          </a:rPr>
                        </m:ctrlPr>
                      </m:sSubSupPr>
                      <m:e>
                        <m:r>
                          <a:rPr lang="en-US" i="1">
                            <a:latin typeface="Cambria Math" panose="02040503050406030204" pitchFamily="18" charset="0"/>
                            <a:ea typeface="Cambria Math" panose="02040503050406030204" pitchFamily="18" charset="0"/>
                          </a:rPr>
                          <m:t>𝜇</m:t>
                        </m:r>
                      </m:e>
                      <m:sub>
                        <m:r>
                          <a:rPr lang="en-US" i="1">
                            <a:latin typeface="Cambria Math" panose="02040503050406030204" pitchFamily="18" charset="0"/>
                          </a:rPr>
                          <m:t>𝑠</m:t>
                        </m:r>
                      </m:sub>
                      <m:sup>
                        <m:r>
                          <a:rPr lang="en-US" i="1">
                            <a:latin typeface="Cambria Math" panose="02040503050406030204" pitchFamily="18" charset="0"/>
                          </a:rPr>
                          <m:t>′</m:t>
                        </m:r>
                      </m:sup>
                    </m:sSubSup>
                  </m:oMath>
                </a14:m>
                <a:r>
                  <a:rPr lang="en-US" dirty="0"/>
                  <a:t> and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ea typeface="Cambria Math" panose="02040503050406030204" pitchFamily="18" charset="0"/>
                          </a:rPr>
                          <m:t>𝜇</m:t>
                        </m:r>
                      </m:e>
                      <m:sub>
                        <m:r>
                          <a:rPr lang="en-US" i="1">
                            <a:latin typeface="Cambria Math" panose="02040503050406030204" pitchFamily="18" charset="0"/>
                          </a:rPr>
                          <m:t>𝑎</m:t>
                        </m:r>
                      </m:sub>
                    </m:sSub>
                  </m:oMath>
                </a14:m>
                <a:r>
                  <a:rPr lang="en-US" dirty="0"/>
                  <a:t>pairs.  </a:t>
                </a:r>
              </a:p>
            </p:txBody>
          </p:sp>
        </mc:Choice>
        <mc:Fallback>
          <p:sp>
            <p:nvSpPr>
              <p:cNvPr id="5" name="TextBox 4">
                <a:extLst>
                  <a:ext uri="{FF2B5EF4-FFF2-40B4-BE49-F238E27FC236}">
                    <a16:creationId xmlns:a16="http://schemas.microsoft.com/office/drawing/2014/main" id="{413F0B63-AD30-6760-E28C-5F95205BDB1F}"/>
                  </a:ext>
                </a:extLst>
              </p:cNvPr>
              <p:cNvSpPr txBox="1">
                <a:spLocks noRot="1" noChangeAspect="1" noMove="1" noResize="1" noEditPoints="1" noAdjustHandles="1" noChangeArrowheads="1" noChangeShapeType="1" noTextEdit="1"/>
              </p:cNvSpPr>
              <p:nvPr/>
            </p:nvSpPr>
            <p:spPr>
              <a:xfrm>
                <a:off x="1371601" y="9084921"/>
                <a:ext cx="6705599" cy="923330"/>
              </a:xfrm>
              <a:prstGeom prst="rect">
                <a:avLst/>
              </a:prstGeom>
              <a:blipFill>
                <a:blip r:embed="rId7"/>
                <a:stretch>
                  <a:fillRect l="-727" t="-3289" r="-1273" b="-9211"/>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7" name="TextBox 6">
                <a:extLst>
                  <a:ext uri="{FF2B5EF4-FFF2-40B4-BE49-F238E27FC236}">
                    <a16:creationId xmlns:a16="http://schemas.microsoft.com/office/drawing/2014/main" id="{723E4C2F-91DB-8CFA-0F30-49F29AE119D7}"/>
                  </a:ext>
                </a:extLst>
              </p:cNvPr>
              <p:cNvSpPr txBox="1"/>
              <p:nvPr/>
            </p:nvSpPr>
            <p:spPr>
              <a:xfrm>
                <a:off x="9243787" y="9084921"/>
                <a:ext cx="8639630" cy="923330"/>
              </a:xfrm>
              <a:prstGeom prst="rect">
                <a:avLst/>
              </a:prstGeom>
              <a:noFill/>
            </p:spPr>
            <p:txBody>
              <a:bodyPr wrap="square" rtlCol="0">
                <a:spAutoFit/>
              </a:bodyPr>
              <a:lstStyle/>
              <a:p>
                <a:r>
                  <a:rPr lang="en-US" dirty="0"/>
                  <a:t>Fig. Superimposed </a:t>
                </a:r>
                <a:r>
                  <a:rPr lang="en-US" dirty="0" err="1"/>
                  <a:t>isotransmittance</a:t>
                </a:r>
                <a:r>
                  <a:rPr lang="en-US" dirty="0"/>
                  <a:t> (dashed lines) and </a:t>
                </a:r>
                <a:r>
                  <a:rPr lang="en-US" dirty="0" err="1"/>
                  <a:t>isoreflectances</a:t>
                </a:r>
                <a:r>
                  <a:rPr lang="en-US" dirty="0"/>
                  <a:t> (continuous lines) curves for the figure on the left. Only one pair of </a:t>
                </a:r>
                <a14:m>
                  <m:oMath xmlns:m="http://schemas.openxmlformats.org/officeDocument/2006/math">
                    <m:sSubSup>
                      <m:sSubSupPr>
                        <m:ctrlPr>
                          <a:rPr lang="en-US" i="1">
                            <a:latin typeface="Cambria Math" panose="02040503050406030204" pitchFamily="18" charset="0"/>
                          </a:rPr>
                        </m:ctrlPr>
                      </m:sSubSupPr>
                      <m:e>
                        <m:r>
                          <a:rPr lang="en-US" i="1">
                            <a:latin typeface="Cambria Math" panose="02040503050406030204" pitchFamily="18" charset="0"/>
                            <a:ea typeface="Cambria Math" panose="02040503050406030204" pitchFamily="18" charset="0"/>
                          </a:rPr>
                          <m:t>𝜇</m:t>
                        </m:r>
                      </m:e>
                      <m:sub>
                        <m:r>
                          <a:rPr lang="en-US" i="1">
                            <a:latin typeface="Cambria Math" panose="02040503050406030204" pitchFamily="18" charset="0"/>
                          </a:rPr>
                          <m:t>𝑠</m:t>
                        </m:r>
                      </m:sub>
                      <m:sup>
                        <m:r>
                          <a:rPr lang="en-US" i="1">
                            <a:latin typeface="Cambria Math" panose="02040503050406030204" pitchFamily="18" charset="0"/>
                          </a:rPr>
                          <m:t>′</m:t>
                        </m:r>
                      </m:sup>
                    </m:sSubSup>
                  </m:oMath>
                </a14:m>
                <a:r>
                  <a:rPr lang="en-US" dirty="0"/>
                  <a:t> and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ea typeface="Cambria Math" panose="02040503050406030204" pitchFamily="18" charset="0"/>
                          </a:rPr>
                          <m:t>𝜇</m:t>
                        </m:r>
                      </m:e>
                      <m:sub>
                        <m:r>
                          <a:rPr lang="en-US" i="1">
                            <a:latin typeface="Cambria Math" panose="02040503050406030204" pitchFamily="18" charset="0"/>
                          </a:rPr>
                          <m:t>𝑎</m:t>
                        </m:r>
                      </m:sub>
                    </m:sSub>
                  </m:oMath>
                </a14:m>
                <a:r>
                  <a:rPr lang="en-US" dirty="0"/>
                  <a:t> values corresponds to any given pair of T and R, and it is read out from the intersection of the superimposed graphs. </a:t>
                </a:r>
              </a:p>
            </p:txBody>
          </p:sp>
        </mc:Choice>
        <mc:Fallback>
          <p:sp>
            <p:nvSpPr>
              <p:cNvPr id="7" name="TextBox 6">
                <a:extLst>
                  <a:ext uri="{FF2B5EF4-FFF2-40B4-BE49-F238E27FC236}">
                    <a16:creationId xmlns:a16="http://schemas.microsoft.com/office/drawing/2014/main" id="{723E4C2F-91DB-8CFA-0F30-49F29AE119D7}"/>
                  </a:ext>
                </a:extLst>
              </p:cNvPr>
              <p:cNvSpPr txBox="1">
                <a:spLocks noRot="1" noChangeAspect="1" noMove="1" noResize="1" noEditPoints="1" noAdjustHandles="1" noChangeArrowheads="1" noChangeShapeType="1" noTextEdit="1"/>
              </p:cNvSpPr>
              <p:nvPr/>
            </p:nvSpPr>
            <p:spPr>
              <a:xfrm>
                <a:off x="9243787" y="9084921"/>
                <a:ext cx="8639630" cy="923330"/>
              </a:xfrm>
              <a:prstGeom prst="rect">
                <a:avLst/>
              </a:prstGeom>
              <a:blipFill>
                <a:blip r:embed="rId8"/>
                <a:stretch>
                  <a:fillRect l="-564" t="-3289" b="-9211"/>
                </a:stretch>
              </a:blipFill>
            </p:spPr>
            <p:txBody>
              <a:bodyPr/>
              <a:lstStyle/>
              <a:p>
                <a:r>
                  <a:rPr lang="en-US">
                    <a:noFill/>
                  </a:rPr>
                  <a:t> </a:t>
                </a:r>
              </a:p>
            </p:txBody>
          </p:sp>
        </mc:Fallback>
      </mc:AlternateContent>
    </p:spTree>
    <p:extLst>
      <p:ext uri="{BB962C8B-B14F-4D97-AF65-F5344CB8AC3E}">
        <p14:creationId xmlns:p14="http://schemas.microsoft.com/office/powerpoint/2010/main" val="55446756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7F584C-A251-1DCD-0538-8BAA5DD2ACFA}"/>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E41956DB-A4DF-7C16-A48F-48164AAD8AC2}"/>
              </a:ext>
            </a:extLst>
          </p:cNvPr>
          <p:cNvSpPr/>
          <p:nvPr/>
        </p:nvSpPr>
        <p:spPr>
          <a:xfrm>
            <a:off x="-6824"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alphaModFix amt="50000"/>
            </a:blip>
            <a:stretch>
              <a:fillRect/>
            </a:stretch>
          </a:blipFill>
          <a:ln cap="sq">
            <a:noFill/>
            <a:prstDash val="solid"/>
            <a:miter/>
          </a:ln>
        </p:spPr>
        <p:txBody>
          <a:bodyPr/>
          <a:lstStyle/>
          <a:p>
            <a:endParaRPr lang="en-US" dirty="0"/>
          </a:p>
        </p:txBody>
      </p:sp>
      <p:sp>
        <p:nvSpPr>
          <p:cNvPr id="3" name="AutoShape 3">
            <a:extLst>
              <a:ext uri="{FF2B5EF4-FFF2-40B4-BE49-F238E27FC236}">
                <a16:creationId xmlns:a16="http://schemas.microsoft.com/office/drawing/2014/main" id="{56EBD4C5-C9F7-5E6E-9001-1D7AC7C1FA6E}"/>
              </a:ext>
            </a:extLst>
          </p:cNvPr>
          <p:cNvSpPr/>
          <p:nvPr/>
        </p:nvSpPr>
        <p:spPr>
          <a:xfrm>
            <a:off x="1166399" y="1028700"/>
            <a:ext cx="687324" cy="0"/>
          </a:xfrm>
          <a:prstGeom prst="line">
            <a:avLst/>
          </a:prstGeom>
          <a:ln w="76200" cap="flat">
            <a:solidFill>
              <a:srgbClr val="000000"/>
            </a:solidFill>
            <a:prstDash val="solid"/>
            <a:headEnd type="none" w="sm" len="sm"/>
            <a:tailEnd type="none" w="sm" len="sm"/>
          </a:ln>
        </p:spPr>
        <p:txBody>
          <a:bodyPr/>
          <a:lstStyle/>
          <a:p>
            <a:endParaRPr lang="en-US" dirty="0"/>
          </a:p>
        </p:txBody>
      </p:sp>
      <p:sp>
        <p:nvSpPr>
          <p:cNvPr id="8" name="TextBox 8">
            <a:extLst>
              <a:ext uri="{FF2B5EF4-FFF2-40B4-BE49-F238E27FC236}">
                <a16:creationId xmlns:a16="http://schemas.microsoft.com/office/drawing/2014/main" id="{F4ADC088-FB2B-EF60-2A3D-E3CAB9C29E26}"/>
              </a:ext>
            </a:extLst>
          </p:cNvPr>
          <p:cNvSpPr txBox="1"/>
          <p:nvPr/>
        </p:nvSpPr>
        <p:spPr>
          <a:xfrm>
            <a:off x="873208" y="1409700"/>
            <a:ext cx="16541583" cy="1671611"/>
          </a:xfrm>
          <a:prstGeom prst="rect">
            <a:avLst/>
          </a:prstGeom>
        </p:spPr>
        <p:txBody>
          <a:bodyPr wrap="square" lIns="0" tIns="0" rIns="0" bIns="0" rtlCol="0" anchor="t">
            <a:spAutoFit/>
          </a:bodyPr>
          <a:lstStyle/>
          <a:p>
            <a:pPr marL="302259" lvl="1">
              <a:lnSpc>
                <a:spcPts val="4479"/>
              </a:lnSpc>
            </a:pPr>
            <a:r>
              <a:rPr lang="en-US" sz="4000" b="1" dirty="0">
                <a:solidFill>
                  <a:srgbClr val="000000"/>
                </a:solidFill>
                <a:latin typeface="Times New Roman" panose="02020603050405020304" pitchFamily="18" charset="0"/>
                <a:cs typeface="Times New Roman" panose="02020603050405020304" pitchFamily="18" charset="0"/>
                <a:sym typeface="Open Sauce"/>
              </a:rPr>
              <a:t>Validation</a:t>
            </a:r>
            <a:endParaRPr lang="en-US" sz="2500" dirty="0"/>
          </a:p>
          <a:p>
            <a:pPr marL="604519" lvl="1" indent="-302260">
              <a:lnSpc>
                <a:spcPct val="150000"/>
              </a:lnSpc>
              <a:buFont typeface="Arial"/>
              <a:buChar char="•"/>
            </a:pPr>
            <a:r>
              <a:rPr lang="en-US" sz="2500" dirty="0"/>
              <a:t>Compared with the published literature with the same experimental condition to validate the results and the accuracy of the code.</a:t>
            </a:r>
          </a:p>
        </p:txBody>
      </p:sp>
      <p:pic>
        <p:nvPicPr>
          <p:cNvPr id="5" name="Picture 4">
            <a:extLst>
              <a:ext uri="{FF2B5EF4-FFF2-40B4-BE49-F238E27FC236}">
                <a16:creationId xmlns:a16="http://schemas.microsoft.com/office/drawing/2014/main" id="{8941234A-B5A0-62B7-C86F-D349D5CBF5B2}"/>
              </a:ext>
            </a:extLst>
          </p:cNvPr>
          <p:cNvPicPr>
            <a:picLocks noChangeAspect="1"/>
          </p:cNvPicPr>
          <p:nvPr/>
        </p:nvPicPr>
        <p:blipFill>
          <a:blip r:embed="rId3">
            <a:extLst>
              <a:ext uri="{28A0092B-C50C-407E-A947-70E740481C1C}">
                <a14:useLocalDpi xmlns:a14="http://schemas.microsoft.com/office/drawing/2010/main" val="0"/>
              </a:ext>
            </a:extLst>
          </a:blip>
          <a:srcRect l="2036" r="12398"/>
          <a:stretch>
            <a:fillRect/>
          </a:stretch>
        </p:blipFill>
        <p:spPr>
          <a:xfrm>
            <a:off x="9284790" y="3977804"/>
            <a:ext cx="8130001" cy="4576049"/>
          </a:xfrm>
          <a:prstGeom prst="rect">
            <a:avLst/>
          </a:prstGeom>
        </p:spPr>
      </p:pic>
      <p:pic>
        <p:nvPicPr>
          <p:cNvPr id="10" name="Picture 9">
            <a:extLst>
              <a:ext uri="{FF2B5EF4-FFF2-40B4-BE49-F238E27FC236}">
                <a16:creationId xmlns:a16="http://schemas.microsoft.com/office/drawing/2014/main" id="{068B4F93-CC4D-2847-7A3F-1B9E114A98AA}"/>
              </a:ext>
            </a:extLst>
          </p:cNvPr>
          <p:cNvPicPr>
            <a:picLocks noChangeAspect="1"/>
          </p:cNvPicPr>
          <p:nvPr/>
        </p:nvPicPr>
        <p:blipFill>
          <a:blip r:embed="rId4">
            <a:extLst>
              <a:ext uri="{28A0092B-C50C-407E-A947-70E740481C1C}">
                <a14:useLocalDpi xmlns:a14="http://schemas.microsoft.com/office/drawing/2010/main" val="0"/>
              </a:ext>
            </a:extLst>
          </a:blip>
          <a:srcRect l="4721" t="12003" r="7153" b="2639"/>
          <a:stretch>
            <a:fillRect/>
          </a:stretch>
        </p:blipFill>
        <p:spPr>
          <a:xfrm>
            <a:off x="1166399" y="3081311"/>
            <a:ext cx="7977601" cy="6369035"/>
          </a:xfrm>
          <a:prstGeom prst="rect">
            <a:avLst/>
          </a:prstGeom>
        </p:spPr>
      </p:pic>
      <p:sp>
        <p:nvSpPr>
          <p:cNvPr id="4" name="TextBox 3">
            <a:extLst>
              <a:ext uri="{FF2B5EF4-FFF2-40B4-BE49-F238E27FC236}">
                <a16:creationId xmlns:a16="http://schemas.microsoft.com/office/drawing/2014/main" id="{E256EFD1-1F22-524F-3955-21BA834D305D}"/>
              </a:ext>
            </a:extLst>
          </p:cNvPr>
          <p:cNvSpPr txBox="1"/>
          <p:nvPr/>
        </p:nvSpPr>
        <p:spPr>
          <a:xfrm>
            <a:off x="3581810" y="9450346"/>
            <a:ext cx="3146778" cy="369332"/>
          </a:xfrm>
          <a:prstGeom prst="rect">
            <a:avLst/>
          </a:prstGeom>
          <a:noFill/>
        </p:spPr>
        <p:txBody>
          <a:bodyPr wrap="square" rtlCol="0">
            <a:spAutoFit/>
          </a:bodyPr>
          <a:lstStyle/>
          <a:p>
            <a:r>
              <a:rPr lang="en-US" dirty="0"/>
              <a:t>Table. The accuracy of the code</a:t>
            </a:r>
          </a:p>
        </p:txBody>
      </p:sp>
      <p:sp>
        <p:nvSpPr>
          <p:cNvPr id="6" name="TextBox 5">
            <a:extLst>
              <a:ext uri="{FF2B5EF4-FFF2-40B4-BE49-F238E27FC236}">
                <a16:creationId xmlns:a16="http://schemas.microsoft.com/office/drawing/2014/main" id="{5BB858E9-0B45-5244-D3AE-588FC691F824}"/>
              </a:ext>
            </a:extLst>
          </p:cNvPr>
          <p:cNvSpPr txBox="1"/>
          <p:nvPr/>
        </p:nvSpPr>
        <p:spPr>
          <a:xfrm>
            <a:off x="11776401" y="8534914"/>
            <a:ext cx="3146778" cy="369332"/>
          </a:xfrm>
          <a:prstGeom prst="rect">
            <a:avLst/>
          </a:prstGeom>
          <a:noFill/>
        </p:spPr>
        <p:txBody>
          <a:bodyPr wrap="square" rtlCol="0">
            <a:spAutoFit/>
          </a:bodyPr>
          <a:lstStyle/>
          <a:p>
            <a:r>
              <a:rPr lang="en-US" dirty="0"/>
              <a:t>Table. The validity of the results</a:t>
            </a:r>
          </a:p>
        </p:txBody>
      </p:sp>
    </p:spTree>
    <p:extLst>
      <p:ext uri="{BB962C8B-B14F-4D97-AF65-F5344CB8AC3E}">
        <p14:creationId xmlns:p14="http://schemas.microsoft.com/office/powerpoint/2010/main" val="46692239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75529E-FB22-9EC1-D859-6805A02F7675}"/>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2102744F-1933-AADF-F0BB-6DDD833EF6B2}"/>
              </a:ext>
            </a:extLst>
          </p:cNvPr>
          <p:cNvSpPr/>
          <p:nvPr/>
        </p:nvSpPr>
        <p:spPr>
          <a:xfrm>
            <a:off x="-6824"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alphaModFix amt="50000"/>
            </a:blip>
            <a:stretch>
              <a:fillRect/>
            </a:stretch>
          </a:blipFill>
          <a:ln cap="sq">
            <a:noFill/>
            <a:prstDash val="solid"/>
            <a:miter/>
          </a:ln>
        </p:spPr>
        <p:txBody>
          <a:bodyPr/>
          <a:lstStyle/>
          <a:p>
            <a:endParaRPr lang="en-US" dirty="0"/>
          </a:p>
        </p:txBody>
      </p:sp>
      <p:sp>
        <p:nvSpPr>
          <p:cNvPr id="3" name="AutoShape 3">
            <a:extLst>
              <a:ext uri="{FF2B5EF4-FFF2-40B4-BE49-F238E27FC236}">
                <a16:creationId xmlns:a16="http://schemas.microsoft.com/office/drawing/2014/main" id="{04753D69-58CE-3AB3-CFF4-48CCEA637769}"/>
              </a:ext>
            </a:extLst>
          </p:cNvPr>
          <p:cNvSpPr/>
          <p:nvPr/>
        </p:nvSpPr>
        <p:spPr>
          <a:xfrm>
            <a:off x="1166399" y="1028700"/>
            <a:ext cx="687324" cy="0"/>
          </a:xfrm>
          <a:prstGeom prst="line">
            <a:avLst/>
          </a:prstGeom>
          <a:ln w="76200" cap="flat">
            <a:solidFill>
              <a:srgbClr val="000000"/>
            </a:solidFill>
            <a:prstDash val="solid"/>
            <a:headEnd type="none" w="sm" len="sm"/>
            <a:tailEnd type="none" w="sm" len="sm"/>
          </a:ln>
        </p:spPr>
        <p:txBody>
          <a:bodyPr/>
          <a:lstStyle/>
          <a:p>
            <a:endParaRPr lang="en-US" dirty="0"/>
          </a:p>
        </p:txBody>
      </p:sp>
      <mc:AlternateContent xmlns:mc="http://schemas.openxmlformats.org/markup-compatibility/2006" xmlns:a14="http://schemas.microsoft.com/office/drawing/2010/main">
        <mc:Choice Requires="a14">
          <p:sp>
            <p:nvSpPr>
              <p:cNvPr id="8" name="TextBox 8">
                <a:extLst>
                  <a:ext uri="{FF2B5EF4-FFF2-40B4-BE49-F238E27FC236}">
                    <a16:creationId xmlns:a16="http://schemas.microsoft.com/office/drawing/2014/main" id="{6D0B1BF9-BD08-D0AC-D60B-9B52E97A378C}"/>
                  </a:ext>
                </a:extLst>
              </p:cNvPr>
              <p:cNvSpPr txBox="1"/>
              <p:nvPr/>
            </p:nvSpPr>
            <p:spPr>
              <a:xfrm>
                <a:off x="873208" y="1409700"/>
                <a:ext cx="16541583" cy="7442422"/>
              </a:xfrm>
              <a:prstGeom prst="rect">
                <a:avLst/>
              </a:prstGeom>
            </p:spPr>
            <p:txBody>
              <a:bodyPr wrap="square" lIns="0" tIns="0" rIns="0" bIns="0" rtlCol="0" anchor="t">
                <a:spAutoFit/>
              </a:bodyPr>
              <a:lstStyle/>
              <a:p>
                <a:pPr marL="302259" lvl="1">
                  <a:lnSpc>
                    <a:spcPts val="4479"/>
                  </a:lnSpc>
                </a:pPr>
                <a:r>
                  <a:rPr lang="en-US" sz="4000" b="1" dirty="0">
                    <a:solidFill>
                      <a:srgbClr val="000000"/>
                    </a:solidFill>
                    <a:latin typeface="Times New Roman" panose="02020603050405020304" pitchFamily="18" charset="0"/>
                    <a:cs typeface="Times New Roman" panose="02020603050405020304" pitchFamily="18" charset="0"/>
                    <a:sym typeface="Open Sauce"/>
                  </a:rPr>
                  <a:t>Determination of the optical properties of turbid media from a single Monte Carlo simulation</a:t>
                </a:r>
                <a:endParaRPr lang="en-US" sz="2500" dirty="0"/>
              </a:p>
              <a:p>
                <a:pPr marL="604519" lvl="1" indent="-302260">
                  <a:lnSpc>
                    <a:spcPct val="150000"/>
                  </a:lnSpc>
                  <a:buFont typeface="Arial"/>
                  <a:buChar char="•"/>
                </a:pPr>
                <a:r>
                  <a:rPr lang="en-US" sz="2500" dirty="0"/>
                  <a:t>In this research, the optical properties of ‘semi-infinite’ and ‘infinite’ turbid media was determined by only time-resolved reflectance measurement from a biological medium. </a:t>
                </a:r>
              </a:p>
              <a:p>
                <a:pPr marL="604519" lvl="1" indent="-302260">
                  <a:lnSpc>
                    <a:spcPct val="150000"/>
                  </a:lnSpc>
                  <a:buFont typeface="Arial"/>
                  <a:buChar char="•"/>
                </a:pPr>
                <a:r>
                  <a:rPr lang="en-US" sz="2500" dirty="0"/>
                  <a:t>Used single Monte Carlo simulation to derive the absorption and reduced scattering coefficients if the g, n and </a:t>
                </a:r>
                <a14:m>
                  <m:oMath xmlns:m="http://schemas.openxmlformats.org/officeDocument/2006/math">
                    <m:sSub>
                      <m:sSubPr>
                        <m:ctrlPr>
                          <a:rPr lang="en-US" sz="2500" i="1" smtClean="0">
                            <a:latin typeface="Cambria Math" panose="02040503050406030204" pitchFamily="18" charset="0"/>
                          </a:rPr>
                        </m:ctrlPr>
                      </m:sSubPr>
                      <m:e>
                        <m:r>
                          <a:rPr lang="en-US" sz="2500" i="1" smtClean="0">
                            <a:latin typeface="Cambria Math" panose="02040503050406030204" pitchFamily="18" charset="0"/>
                            <a:ea typeface="Cambria Math" panose="02040503050406030204" pitchFamily="18" charset="0"/>
                          </a:rPr>
                          <m:t>𝜇</m:t>
                        </m:r>
                      </m:e>
                      <m:sub>
                        <m:r>
                          <a:rPr lang="en-US" sz="2500" b="0" i="1" smtClean="0">
                            <a:latin typeface="Cambria Math" panose="02040503050406030204" pitchFamily="18" charset="0"/>
                          </a:rPr>
                          <m:t>𝑠</m:t>
                        </m:r>
                      </m:sub>
                    </m:sSub>
                  </m:oMath>
                </a14:m>
                <a:r>
                  <a:rPr lang="en-US" sz="2500" dirty="0"/>
                  <a:t> are known.</a:t>
                </a:r>
              </a:p>
              <a:p>
                <a:pPr marL="604519" lvl="1" indent="-302260">
                  <a:lnSpc>
                    <a:spcPct val="150000"/>
                  </a:lnSpc>
                  <a:buFont typeface="Arial"/>
                  <a:buChar char="•"/>
                </a:pPr>
                <a:r>
                  <a:rPr lang="en-US" sz="2500" dirty="0"/>
                  <a:t> </a:t>
                </a:r>
                <a14:m>
                  <m:oMath xmlns:m="http://schemas.openxmlformats.org/officeDocument/2006/math">
                    <m:sSub>
                      <m:sSubPr>
                        <m:ctrlPr>
                          <a:rPr lang="en-US" sz="2500" i="1">
                            <a:latin typeface="Cambria Math" panose="02040503050406030204" pitchFamily="18" charset="0"/>
                          </a:rPr>
                        </m:ctrlPr>
                      </m:sSubPr>
                      <m:e>
                        <m:r>
                          <a:rPr lang="en-US" sz="2500" i="1">
                            <a:latin typeface="Cambria Math" panose="02040503050406030204" pitchFamily="18" charset="0"/>
                            <a:ea typeface="Cambria Math" panose="02040503050406030204" pitchFamily="18" charset="0"/>
                          </a:rPr>
                          <m:t>𝜇</m:t>
                        </m:r>
                      </m:e>
                      <m:sub>
                        <m:r>
                          <a:rPr lang="en-US" sz="2500" b="0" i="1" smtClean="0">
                            <a:latin typeface="Cambria Math" panose="02040503050406030204" pitchFamily="18" charset="0"/>
                            <a:ea typeface="Cambria Math" panose="02040503050406030204" pitchFamily="18" charset="0"/>
                          </a:rPr>
                          <m:t>𝑎</m:t>
                        </m:r>
                      </m:sub>
                    </m:sSub>
                  </m:oMath>
                </a14:m>
                <a:r>
                  <a:rPr lang="en-US" sz="2500" dirty="0"/>
                  <a:t> can be calculated from Beer’s Law.</a:t>
                </a:r>
              </a:p>
              <a:p>
                <a:pPr marL="604519" lvl="1" indent="-302260">
                  <a:lnSpc>
                    <a:spcPct val="150000"/>
                  </a:lnSpc>
                  <a:buFont typeface="Arial"/>
                  <a:buChar char="•"/>
                </a:pPr>
                <a:r>
                  <a:rPr lang="en-US" sz="2500" dirty="0"/>
                  <a:t> The results showed that the errors in the deduced absorption and reduced scattering coefficients are smaller than 1% and 2% respectively. </a:t>
                </a:r>
              </a:p>
              <a:p>
                <a:pPr marL="604519" lvl="1" indent="-302260">
                  <a:lnSpc>
                    <a:spcPct val="150000"/>
                  </a:lnSpc>
                  <a:buFont typeface="Arial"/>
                  <a:buChar char="•"/>
                </a:pPr>
                <a:r>
                  <a:rPr lang="en-US" sz="2500" dirty="0"/>
                  <a:t>It is faster than traditional Monte Carlo method and this method can be used for both time-resolved and steady state problems.</a:t>
                </a:r>
              </a:p>
              <a:p>
                <a:pPr marL="604519" lvl="1" indent="-302260">
                  <a:lnSpc>
                    <a:spcPct val="150000"/>
                  </a:lnSpc>
                  <a:buFont typeface="Arial"/>
                  <a:buChar char="•"/>
                </a:pPr>
                <a:r>
                  <a:rPr lang="en-US" sz="2500" dirty="0"/>
                  <a:t>The demerits of this method is that the error for absorption coefficient is within 3% and the error for scattering coefficient is over 10% if the distance from the light to the slab is less that 10 mm. </a:t>
                </a:r>
              </a:p>
            </p:txBody>
          </p:sp>
        </mc:Choice>
        <mc:Fallback xmlns="">
          <p:sp>
            <p:nvSpPr>
              <p:cNvPr id="8" name="TextBox 8">
                <a:extLst>
                  <a:ext uri="{FF2B5EF4-FFF2-40B4-BE49-F238E27FC236}">
                    <a16:creationId xmlns:a16="http://schemas.microsoft.com/office/drawing/2014/main" id="{6D0B1BF9-BD08-D0AC-D60B-9B52E97A378C}"/>
                  </a:ext>
                </a:extLst>
              </p:cNvPr>
              <p:cNvSpPr txBox="1">
                <a:spLocks noRot="1" noChangeAspect="1" noMove="1" noResize="1" noEditPoints="1" noAdjustHandles="1" noChangeArrowheads="1" noChangeShapeType="1" noTextEdit="1"/>
              </p:cNvSpPr>
              <p:nvPr/>
            </p:nvSpPr>
            <p:spPr>
              <a:xfrm>
                <a:off x="873208" y="1409700"/>
                <a:ext cx="16541583" cy="7442422"/>
              </a:xfrm>
              <a:prstGeom prst="rect">
                <a:avLst/>
              </a:prstGeom>
              <a:blipFill>
                <a:blip r:embed="rId3"/>
                <a:stretch>
                  <a:fillRect t="-2539" r="-184" b="-1638"/>
                </a:stretch>
              </a:blipFill>
            </p:spPr>
            <p:txBody>
              <a:bodyPr/>
              <a:lstStyle/>
              <a:p>
                <a:r>
                  <a:rPr lang="en-US">
                    <a:noFill/>
                  </a:rPr>
                  <a:t> </a:t>
                </a:r>
              </a:p>
            </p:txBody>
          </p:sp>
        </mc:Fallback>
      </mc:AlternateContent>
    </p:spTree>
    <p:extLst>
      <p:ext uri="{BB962C8B-B14F-4D97-AF65-F5344CB8AC3E}">
        <p14:creationId xmlns:p14="http://schemas.microsoft.com/office/powerpoint/2010/main" val="341052389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378A95-9404-B3E5-1F96-BF9E753984DD}"/>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63756139-673E-A6E4-1953-F59C88A9156F}"/>
              </a:ext>
            </a:extLst>
          </p:cNvPr>
          <p:cNvSpPr/>
          <p:nvPr/>
        </p:nvSpPr>
        <p:spPr>
          <a:xfrm>
            <a:off x="-6824"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alphaModFix amt="50000"/>
            </a:blip>
            <a:stretch>
              <a:fillRect/>
            </a:stretch>
          </a:blipFill>
          <a:ln cap="sq">
            <a:noFill/>
            <a:prstDash val="solid"/>
            <a:miter/>
          </a:ln>
        </p:spPr>
        <p:txBody>
          <a:bodyPr/>
          <a:lstStyle/>
          <a:p>
            <a:endParaRPr lang="en-US" dirty="0"/>
          </a:p>
        </p:txBody>
      </p:sp>
      <p:sp>
        <p:nvSpPr>
          <p:cNvPr id="3" name="AutoShape 3">
            <a:extLst>
              <a:ext uri="{FF2B5EF4-FFF2-40B4-BE49-F238E27FC236}">
                <a16:creationId xmlns:a16="http://schemas.microsoft.com/office/drawing/2014/main" id="{F146514A-95B0-596F-6663-DC6950E21280}"/>
              </a:ext>
            </a:extLst>
          </p:cNvPr>
          <p:cNvSpPr/>
          <p:nvPr/>
        </p:nvSpPr>
        <p:spPr>
          <a:xfrm>
            <a:off x="1166399" y="1028700"/>
            <a:ext cx="687324" cy="0"/>
          </a:xfrm>
          <a:prstGeom prst="line">
            <a:avLst/>
          </a:prstGeom>
          <a:ln w="76200" cap="flat">
            <a:solidFill>
              <a:srgbClr val="000000"/>
            </a:solidFill>
            <a:prstDash val="solid"/>
            <a:headEnd type="none" w="sm" len="sm"/>
            <a:tailEnd type="none" w="sm" len="sm"/>
          </a:ln>
        </p:spPr>
        <p:txBody>
          <a:bodyPr/>
          <a:lstStyle/>
          <a:p>
            <a:endParaRPr lang="en-US" dirty="0"/>
          </a:p>
        </p:txBody>
      </p:sp>
      <p:sp>
        <p:nvSpPr>
          <p:cNvPr id="8" name="TextBox 8">
            <a:extLst>
              <a:ext uri="{FF2B5EF4-FFF2-40B4-BE49-F238E27FC236}">
                <a16:creationId xmlns:a16="http://schemas.microsoft.com/office/drawing/2014/main" id="{18DF8CE3-AD00-3894-0EB6-DED8074FDC2B}"/>
              </a:ext>
            </a:extLst>
          </p:cNvPr>
          <p:cNvSpPr txBox="1"/>
          <p:nvPr/>
        </p:nvSpPr>
        <p:spPr>
          <a:xfrm>
            <a:off x="873208" y="1409700"/>
            <a:ext cx="16541583" cy="9981579"/>
          </a:xfrm>
          <a:prstGeom prst="rect">
            <a:avLst/>
          </a:prstGeom>
        </p:spPr>
        <p:txBody>
          <a:bodyPr wrap="square" lIns="0" tIns="0" rIns="0" bIns="0" rtlCol="0" anchor="t">
            <a:spAutoFit/>
          </a:bodyPr>
          <a:lstStyle/>
          <a:p>
            <a:pPr marL="302259" lvl="1">
              <a:lnSpc>
                <a:spcPts val="4479"/>
              </a:lnSpc>
            </a:pPr>
            <a:r>
              <a:rPr lang="en-US" sz="4000" b="1" dirty="0">
                <a:solidFill>
                  <a:srgbClr val="000000"/>
                </a:solidFill>
                <a:latin typeface="Times New Roman" panose="02020603050405020304" pitchFamily="18" charset="0"/>
                <a:cs typeface="Times New Roman" panose="02020603050405020304" pitchFamily="18" charset="0"/>
                <a:sym typeface="Open Sauce"/>
              </a:rPr>
              <a:t>Methods</a:t>
            </a:r>
            <a:endParaRPr lang="en-US" sz="2500" dirty="0"/>
          </a:p>
          <a:p>
            <a:pPr marL="604519" lvl="1" indent="-302260">
              <a:lnSpc>
                <a:spcPct val="150000"/>
              </a:lnSpc>
              <a:buFont typeface="Arial"/>
              <a:buChar char="•"/>
            </a:pPr>
            <a:r>
              <a:rPr lang="en-US" sz="2500" dirty="0"/>
              <a:t>A point source with an infinitely small pulse was used, and the length of the photon path was computed to obtain the travel time through the turbid medium. </a:t>
            </a:r>
          </a:p>
          <a:p>
            <a:pPr marL="604519" lvl="1" indent="-302260">
              <a:lnSpc>
                <a:spcPct val="150000"/>
              </a:lnSpc>
              <a:buFont typeface="Arial"/>
              <a:buChar char="•"/>
            </a:pPr>
            <a:r>
              <a:rPr lang="en-US" sz="2500" dirty="0"/>
              <a:t>Convolution was applied to calculate the reflectance for arbitrary sources as the </a:t>
            </a:r>
            <a:r>
              <a:rPr lang="en-US" sz="2500" dirty="0" err="1"/>
              <a:t>Henyey</a:t>
            </a:r>
            <a:r>
              <a:rPr lang="en-US" sz="2500" dirty="0"/>
              <a:t>-Greenstein phase function was used. </a:t>
            </a:r>
          </a:p>
          <a:p>
            <a:pPr marL="604519" lvl="1" indent="-302260">
              <a:lnSpc>
                <a:spcPct val="150000"/>
              </a:lnSpc>
              <a:buFont typeface="Arial"/>
              <a:buChar char="•"/>
            </a:pPr>
            <a:r>
              <a:rPr lang="en-US" sz="2500" dirty="0"/>
              <a:t>Simulated the slab with 30 m thickness which considered semi-infinite. </a:t>
            </a:r>
          </a:p>
          <a:p>
            <a:pPr marL="604519" lvl="1" indent="-302260">
              <a:lnSpc>
                <a:spcPct val="150000"/>
              </a:lnSpc>
              <a:buFont typeface="Arial"/>
              <a:buChar char="•"/>
            </a:pPr>
            <a:r>
              <a:rPr lang="en-US" sz="2500" dirty="0"/>
              <a:t>Refractive index, n is about1.4 for all soft tissue.</a:t>
            </a:r>
          </a:p>
          <a:p>
            <a:pPr marL="604519" lvl="1" indent="-302260">
              <a:lnSpc>
                <a:spcPct val="150000"/>
              </a:lnSpc>
              <a:buFont typeface="Arial"/>
              <a:buChar char="•"/>
            </a:pPr>
            <a:r>
              <a:rPr lang="en-US" sz="2500" dirty="0"/>
              <a:t>Different anisotropy factors do not significantly influence the time-resolved reflectance if g is closed to 1. g = 0.8 is used.</a:t>
            </a:r>
          </a:p>
          <a:p>
            <a:pPr marL="604519" lvl="1" indent="-302260">
              <a:lnSpc>
                <a:spcPct val="150000"/>
              </a:lnSpc>
              <a:buFont typeface="Arial"/>
              <a:buChar char="•"/>
            </a:pPr>
            <a:r>
              <a:rPr lang="en-US" sz="2500" dirty="0"/>
              <a:t>Similarity relationship was used to reduced more unknown optical parameters.</a:t>
            </a:r>
          </a:p>
          <a:p>
            <a:pPr marL="604519" lvl="1" indent="-302260">
              <a:lnSpc>
                <a:spcPct val="150000"/>
              </a:lnSpc>
              <a:buFont typeface="Arial"/>
              <a:buChar char="•"/>
            </a:pPr>
            <a:r>
              <a:rPr lang="en-US" sz="2800" dirty="0"/>
              <a:t>It is important that the desired quantities for other optical coefficients and refractive index does not change when the anisotropy factor is the same</a:t>
            </a:r>
            <a:r>
              <a:rPr lang="en-US" sz="3200" dirty="0"/>
              <a:t>.</a:t>
            </a:r>
          </a:p>
          <a:p>
            <a:pPr marL="604519" lvl="1" indent="-302260">
              <a:lnSpc>
                <a:spcPct val="150000"/>
              </a:lnSpc>
              <a:buFont typeface="Arial"/>
              <a:buChar char="•"/>
            </a:pPr>
            <a:endParaRPr lang="en-US" sz="2500" dirty="0"/>
          </a:p>
          <a:p>
            <a:pPr marL="604519" lvl="1" indent="-302260">
              <a:lnSpc>
                <a:spcPct val="150000"/>
              </a:lnSpc>
              <a:buFont typeface="Arial"/>
              <a:buChar char="•"/>
            </a:pPr>
            <a:endParaRPr lang="en-US" sz="2500" dirty="0"/>
          </a:p>
          <a:p>
            <a:pPr marL="604519" lvl="1" indent="-302260">
              <a:lnSpc>
                <a:spcPct val="150000"/>
              </a:lnSpc>
              <a:buFont typeface="Arial"/>
              <a:buChar char="•"/>
            </a:pPr>
            <a:endParaRPr lang="en-US" sz="2500" dirty="0"/>
          </a:p>
          <a:p>
            <a:pPr marL="604519" lvl="1" indent="-302260">
              <a:lnSpc>
                <a:spcPct val="150000"/>
              </a:lnSpc>
              <a:buFont typeface="Arial"/>
              <a:buChar char="•"/>
            </a:pPr>
            <a:endParaRPr lang="en-US" sz="2500" dirty="0"/>
          </a:p>
          <a:p>
            <a:pPr marL="604519" lvl="1" indent="-302260">
              <a:lnSpc>
                <a:spcPct val="150000"/>
              </a:lnSpc>
              <a:buFont typeface="Arial"/>
              <a:buChar char="•"/>
            </a:pPr>
            <a:endParaRPr lang="en-US" sz="2500" dirty="0"/>
          </a:p>
          <a:p>
            <a:pPr marL="604519" lvl="1" indent="-302260">
              <a:lnSpc>
                <a:spcPct val="150000"/>
              </a:lnSpc>
              <a:buFont typeface="Arial"/>
              <a:buChar char="•"/>
            </a:pPr>
            <a:endParaRPr lang="en-US" sz="2500" dirty="0"/>
          </a:p>
        </p:txBody>
      </p:sp>
    </p:spTree>
    <p:extLst>
      <p:ext uri="{BB962C8B-B14F-4D97-AF65-F5344CB8AC3E}">
        <p14:creationId xmlns:p14="http://schemas.microsoft.com/office/powerpoint/2010/main" val="290558201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C45042-B90E-7E16-4FB5-E0EB457E73F3}"/>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BB73D7CA-ED6C-137E-BC72-EDC86EEABDC0}"/>
              </a:ext>
            </a:extLst>
          </p:cNvPr>
          <p:cNvSpPr/>
          <p:nvPr/>
        </p:nvSpPr>
        <p:spPr>
          <a:xfrm>
            <a:off x="19050" y="1905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alphaModFix amt="50000"/>
            </a:blip>
            <a:stretch>
              <a:fillRect/>
            </a:stretch>
          </a:blipFill>
          <a:ln cap="sq">
            <a:noFill/>
            <a:prstDash val="solid"/>
            <a:miter/>
          </a:ln>
        </p:spPr>
        <p:txBody>
          <a:bodyPr/>
          <a:lstStyle/>
          <a:p>
            <a:endParaRPr lang="en-US" dirty="0"/>
          </a:p>
        </p:txBody>
      </p:sp>
      <p:sp>
        <p:nvSpPr>
          <p:cNvPr id="3" name="AutoShape 3">
            <a:extLst>
              <a:ext uri="{FF2B5EF4-FFF2-40B4-BE49-F238E27FC236}">
                <a16:creationId xmlns:a16="http://schemas.microsoft.com/office/drawing/2014/main" id="{53014768-E678-B405-132A-67BE5EEF798B}"/>
              </a:ext>
            </a:extLst>
          </p:cNvPr>
          <p:cNvSpPr/>
          <p:nvPr/>
        </p:nvSpPr>
        <p:spPr>
          <a:xfrm>
            <a:off x="1166399" y="1028700"/>
            <a:ext cx="687324" cy="0"/>
          </a:xfrm>
          <a:prstGeom prst="line">
            <a:avLst/>
          </a:prstGeom>
          <a:ln w="76200" cap="flat">
            <a:solidFill>
              <a:srgbClr val="000000"/>
            </a:solidFill>
            <a:prstDash val="solid"/>
            <a:headEnd type="none" w="sm" len="sm"/>
            <a:tailEnd type="none" w="sm" len="sm"/>
          </a:ln>
        </p:spPr>
        <p:txBody>
          <a:bodyPr/>
          <a:lstStyle/>
          <a:p>
            <a:endParaRPr lang="en-US" dirty="0"/>
          </a:p>
        </p:txBody>
      </p:sp>
      <mc:AlternateContent xmlns:mc="http://schemas.openxmlformats.org/markup-compatibility/2006">
        <mc:Choice xmlns:a14="http://schemas.microsoft.com/office/drawing/2010/main" Requires="a14">
          <p:sp>
            <p:nvSpPr>
              <p:cNvPr id="8" name="TextBox 8">
                <a:extLst>
                  <a:ext uri="{FF2B5EF4-FFF2-40B4-BE49-F238E27FC236}">
                    <a16:creationId xmlns:a16="http://schemas.microsoft.com/office/drawing/2014/main" id="{B897FB90-989C-2DCA-2244-DA118B28C3C2}"/>
                  </a:ext>
                </a:extLst>
              </p:cNvPr>
              <p:cNvSpPr txBox="1"/>
              <p:nvPr/>
            </p:nvSpPr>
            <p:spPr>
              <a:xfrm>
                <a:off x="873209" y="1409700"/>
                <a:ext cx="8270792" cy="6934591"/>
              </a:xfrm>
              <a:prstGeom prst="rect">
                <a:avLst/>
              </a:prstGeom>
            </p:spPr>
            <p:txBody>
              <a:bodyPr wrap="square" lIns="0" tIns="0" rIns="0" bIns="0" rtlCol="0" anchor="t">
                <a:spAutoFit/>
              </a:bodyPr>
              <a:lstStyle/>
              <a:p>
                <a:pPr marL="302259" lvl="1">
                  <a:lnSpc>
                    <a:spcPts val="4479"/>
                  </a:lnSpc>
                </a:pPr>
                <a:r>
                  <a:rPr lang="en-US" sz="4000" b="1" dirty="0">
                    <a:solidFill>
                      <a:srgbClr val="000000"/>
                    </a:solidFill>
                    <a:latin typeface="Times New Roman" panose="02020603050405020304" pitchFamily="18" charset="0"/>
                    <a:cs typeface="Times New Roman" panose="02020603050405020304" pitchFamily="18" charset="0"/>
                    <a:sym typeface="Open Sauce"/>
                  </a:rPr>
                  <a:t>Similarity Relation </a:t>
                </a:r>
                <a:endParaRPr lang="en-US" sz="2500" dirty="0"/>
              </a:p>
              <a:p>
                <a:pPr marL="604519" lvl="1" indent="-302260">
                  <a:lnSpc>
                    <a:spcPct val="150000"/>
                  </a:lnSpc>
                  <a:buFont typeface="Arial"/>
                  <a:buChar char="•"/>
                </a:pPr>
                <a:r>
                  <a:rPr lang="en-US" sz="2500" dirty="0"/>
                  <a:t>This relation states that different combinations of anisotropy factor and scattering coefficient can produce similar optical behavior, such as diffuse reflectance. </a:t>
                </a:r>
              </a:p>
              <a:p>
                <a:pPr marL="604519" lvl="1" indent="-302260">
                  <a:lnSpc>
                    <a:spcPct val="150000"/>
                  </a:lnSpc>
                  <a:buFont typeface="Arial"/>
                  <a:buChar char="•"/>
                </a:pPr>
                <a:r>
                  <a:rPr lang="en-US" sz="2500" dirty="0"/>
                  <a:t>The conservation of reduced scattering coefficient is used.</a:t>
                </a:r>
              </a:p>
              <a:p>
                <a:pPr marL="302259" lvl="1">
                  <a:lnSpc>
                    <a:spcPct val="150000"/>
                  </a:lnSpc>
                </a:pPr>
                <a14:m>
                  <m:oMathPara xmlns:m="http://schemas.openxmlformats.org/officeDocument/2006/math">
                    <m:oMathParaPr>
                      <m:jc m:val="centerGroup"/>
                    </m:oMathParaPr>
                    <m:oMath xmlns:m="http://schemas.openxmlformats.org/officeDocument/2006/math">
                      <m:sSubSup>
                        <m:sSubSupPr>
                          <m:ctrlPr>
                            <a:rPr lang="en-US" sz="2800" i="1">
                              <a:latin typeface="Cambria Math" panose="02040503050406030204" pitchFamily="18" charset="0"/>
                            </a:rPr>
                          </m:ctrlPr>
                        </m:sSubSupPr>
                        <m:e>
                          <m:r>
                            <a:rPr lang="en-US" sz="2800" i="1">
                              <a:latin typeface="Cambria Math" panose="02040503050406030204" pitchFamily="18" charset="0"/>
                              <a:ea typeface="Cambria Math" panose="02040503050406030204" pitchFamily="18" charset="0"/>
                            </a:rPr>
                            <m:t>𝜇</m:t>
                          </m:r>
                        </m:e>
                        <m:sub>
                          <m:r>
                            <a:rPr lang="en-US" sz="2800" i="1">
                              <a:latin typeface="Cambria Math" panose="02040503050406030204" pitchFamily="18" charset="0"/>
                            </a:rPr>
                            <m:t>𝑠</m:t>
                          </m:r>
                        </m:sub>
                        <m:sup>
                          <m:r>
                            <a:rPr lang="en-US" sz="2800" i="1">
                              <a:latin typeface="Cambria Math" panose="02040503050406030204" pitchFamily="18" charset="0"/>
                            </a:rPr>
                            <m:t>′</m:t>
                          </m:r>
                        </m:sup>
                      </m:sSubSup>
                      <m:r>
                        <a:rPr lang="en-US" sz="2800" b="0" i="1" smtClean="0">
                          <a:latin typeface="Cambria Math" panose="02040503050406030204" pitchFamily="18" charset="0"/>
                        </a:rPr>
                        <m:t>=</m:t>
                      </m:r>
                      <m:sSub>
                        <m:sSubPr>
                          <m:ctrlPr>
                            <a:rPr lang="en-US" sz="2800" i="1">
                              <a:latin typeface="Cambria Math" panose="02040503050406030204" pitchFamily="18" charset="0"/>
                            </a:rPr>
                          </m:ctrlPr>
                        </m:sSubPr>
                        <m:e>
                          <m:r>
                            <a:rPr lang="en-US" sz="2800" i="1">
                              <a:latin typeface="Cambria Math" panose="02040503050406030204" pitchFamily="18" charset="0"/>
                              <a:ea typeface="Cambria Math" panose="02040503050406030204" pitchFamily="18" charset="0"/>
                            </a:rPr>
                            <m:t>𝜇</m:t>
                          </m:r>
                        </m:e>
                        <m:sub>
                          <m:r>
                            <a:rPr lang="en-US" sz="2800" b="0" i="1" smtClean="0">
                              <a:latin typeface="Cambria Math" panose="02040503050406030204" pitchFamily="18" charset="0"/>
                              <a:ea typeface="Cambria Math" panose="02040503050406030204" pitchFamily="18" charset="0"/>
                            </a:rPr>
                            <m:t>𝑠</m:t>
                          </m:r>
                        </m:sub>
                      </m:sSub>
                      <m:r>
                        <a:rPr lang="en-US" sz="2800" b="0" i="1" smtClean="0">
                          <a:latin typeface="Cambria Math" panose="02040503050406030204" pitchFamily="18" charset="0"/>
                        </a:rPr>
                        <m:t>(1−</m:t>
                      </m:r>
                      <m:r>
                        <a:rPr lang="en-US" sz="2800" b="0" i="1" smtClean="0">
                          <a:latin typeface="Cambria Math" panose="02040503050406030204" pitchFamily="18" charset="0"/>
                        </a:rPr>
                        <m:t>𝑔</m:t>
                      </m:r>
                      <m:r>
                        <a:rPr lang="en-US" sz="2800" b="0" i="1" smtClean="0">
                          <a:latin typeface="Cambria Math" panose="02040503050406030204" pitchFamily="18" charset="0"/>
                        </a:rPr>
                        <m:t>) </m:t>
                      </m:r>
                    </m:oMath>
                  </m:oMathPara>
                </a14:m>
                <a:endParaRPr lang="en-US" sz="2800" dirty="0"/>
              </a:p>
              <a:p>
                <a:pPr marL="604519" lvl="1" indent="-302260">
                  <a:lnSpc>
                    <a:spcPct val="150000"/>
                  </a:lnSpc>
                  <a:buFont typeface="Arial"/>
                  <a:buChar char="•"/>
                </a:pPr>
                <a:r>
                  <a:rPr lang="en-US" sz="2500" dirty="0"/>
                  <a:t>The results showed that simple similarity relation is valid when g is over 0.8.</a:t>
                </a:r>
              </a:p>
              <a:p>
                <a:pPr marL="604519" lvl="1" indent="-302260">
                  <a:lnSpc>
                    <a:spcPct val="150000"/>
                  </a:lnSpc>
                  <a:buFont typeface="Arial"/>
                  <a:buChar char="•"/>
                </a:pPr>
                <a:r>
                  <a:rPr lang="en-US" sz="2500" dirty="0"/>
                  <a:t>Simulations are performed at g = 0.8 as it is biological tissue g is greater than 0.8 and computational efficiency is better at lower g value.</a:t>
                </a:r>
              </a:p>
              <a:p>
                <a:pPr marL="604519" lvl="1" indent="-302260">
                  <a:lnSpc>
                    <a:spcPct val="150000"/>
                  </a:lnSpc>
                  <a:buFont typeface="Arial"/>
                  <a:buChar char="•"/>
                </a:pPr>
                <a:endParaRPr lang="en-US" sz="2500" dirty="0"/>
              </a:p>
            </p:txBody>
          </p:sp>
        </mc:Choice>
        <mc:Fallback>
          <p:sp>
            <p:nvSpPr>
              <p:cNvPr id="8" name="TextBox 8">
                <a:extLst>
                  <a:ext uri="{FF2B5EF4-FFF2-40B4-BE49-F238E27FC236}">
                    <a16:creationId xmlns:a16="http://schemas.microsoft.com/office/drawing/2014/main" id="{B897FB90-989C-2DCA-2244-DA118B28C3C2}"/>
                  </a:ext>
                </a:extLst>
              </p:cNvPr>
              <p:cNvSpPr txBox="1">
                <a:spLocks noRot="1" noChangeAspect="1" noMove="1" noResize="1" noEditPoints="1" noAdjustHandles="1" noChangeArrowheads="1" noChangeShapeType="1" noTextEdit="1"/>
              </p:cNvSpPr>
              <p:nvPr/>
            </p:nvSpPr>
            <p:spPr>
              <a:xfrm>
                <a:off x="873209" y="1409700"/>
                <a:ext cx="8270792" cy="6934591"/>
              </a:xfrm>
              <a:prstGeom prst="rect">
                <a:avLst/>
              </a:prstGeom>
              <a:blipFill>
                <a:blip r:embed="rId3"/>
                <a:stretch>
                  <a:fillRect t="-2900" r="-737"/>
                </a:stretch>
              </a:blipFill>
            </p:spPr>
            <p:txBody>
              <a:bodyPr/>
              <a:lstStyle/>
              <a:p>
                <a:r>
                  <a:rPr lang="en-US">
                    <a:noFill/>
                  </a:rPr>
                  <a:t> </a:t>
                </a:r>
              </a:p>
            </p:txBody>
          </p:sp>
        </mc:Fallback>
      </mc:AlternateContent>
      <p:pic>
        <p:nvPicPr>
          <p:cNvPr id="7" name="Picture 6">
            <a:extLst>
              <a:ext uri="{FF2B5EF4-FFF2-40B4-BE49-F238E27FC236}">
                <a16:creationId xmlns:a16="http://schemas.microsoft.com/office/drawing/2014/main" id="{86100BFD-989E-A4E3-626D-AE42DE2B97B4}"/>
              </a:ext>
            </a:extLst>
          </p:cNvPr>
          <p:cNvPicPr>
            <a:picLocks noChangeAspect="1"/>
          </p:cNvPicPr>
          <p:nvPr/>
        </p:nvPicPr>
        <p:blipFill>
          <a:blip r:embed="rId4">
            <a:extLst>
              <a:ext uri="{28A0092B-C50C-407E-A947-70E740481C1C}">
                <a14:useLocalDpi xmlns:a14="http://schemas.microsoft.com/office/drawing/2010/main" val="0"/>
              </a:ext>
            </a:extLst>
          </a:blip>
          <a:srcRect l="4636" r="11144" b="15697"/>
          <a:stretch>
            <a:fillRect/>
          </a:stretch>
        </p:blipFill>
        <p:spPr>
          <a:xfrm>
            <a:off x="9296400" y="1409700"/>
            <a:ext cx="8305801" cy="6019800"/>
          </a:xfrm>
          <a:prstGeom prst="rect">
            <a:avLst/>
          </a:prstGeom>
        </p:spPr>
      </p:pic>
      <mc:AlternateContent xmlns:mc="http://schemas.openxmlformats.org/markup-compatibility/2006">
        <mc:Choice xmlns:a14="http://schemas.microsoft.com/office/drawing/2010/main" Requires="a14">
          <p:sp>
            <p:nvSpPr>
              <p:cNvPr id="9" name="TextBox 8">
                <a:extLst>
                  <a:ext uri="{FF2B5EF4-FFF2-40B4-BE49-F238E27FC236}">
                    <a16:creationId xmlns:a16="http://schemas.microsoft.com/office/drawing/2014/main" id="{6FFAD4B0-0F80-5FA1-AEC9-E09D41FEF1F1}"/>
                  </a:ext>
                </a:extLst>
              </p:cNvPr>
              <p:cNvSpPr txBox="1"/>
              <p:nvPr/>
            </p:nvSpPr>
            <p:spPr>
              <a:xfrm>
                <a:off x="9296399" y="7429500"/>
                <a:ext cx="8305801" cy="1200329"/>
              </a:xfrm>
              <a:prstGeom prst="rect">
                <a:avLst/>
              </a:prstGeom>
              <a:noFill/>
            </p:spPr>
            <p:txBody>
              <a:bodyPr wrap="square" rtlCol="0">
                <a:spAutoFit/>
              </a:bodyPr>
              <a:lstStyle/>
              <a:p>
                <a:r>
                  <a:rPr lang="en-US" dirty="0"/>
                  <a:t>Fig. Time-resolved diffuse reflectance for different anisotropy factors, g = 0 (long dashed curve), g = 0.5 (dashed), g = 0.8 (circles) and g = 0.9 (solid), at distances p = 2.25, 3.25 and 4.75 mm. The other optical properties are of </a:t>
                </a:r>
                <a14:m>
                  <m:oMath xmlns:m="http://schemas.openxmlformats.org/officeDocument/2006/math">
                    <m:sSubSup>
                      <m:sSubSupPr>
                        <m:ctrlPr>
                          <a:rPr lang="en-US" i="1">
                            <a:latin typeface="Cambria Math" panose="02040503050406030204" pitchFamily="18" charset="0"/>
                          </a:rPr>
                        </m:ctrlPr>
                      </m:sSubSupPr>
                      <m:e>
                        <m:r>
                          <a:rPr lang="en-US" i="1">
                            <a:latin typeface="Cambria Math" panose="02040503050406030204" pitchFamily="18" charset="0"/>
                            <a:ea typeface="Cambria Math" panose="02040503050406030204" pitchFamily="18" charset="0"/>
                          </a:rPr>
                          <m:t>𝜇</m:t>
                        </m:r>
                      </m:e>
                      <m:sub>
                        <m:r>
                          <a:rPr lang="en-US" i="1">
                            <a:latin typeface="Cambria Math" panose="02040503050406030204" pitchFamily="18" charset="0"/>
                          </a:rPr>
                          <m:t>𝑠</m:t>
                        </m:r>
                      </m:sub>
                      <m:sup>
                        <m:r>
                          <a:rPr lang="en-US" i="1">
                            <a:latin typeface="Cambria Math" panose="02040503050406030204" pitchFamily="18" charset="0"/>
                          </a:rPr>
                          <m:t>′</m:t>
                        </m:r>
                      </m:sup>
                    </m:sSubSup>
                  </m:oMath>
                </a14:m>
                <a:r>
                  <a:rPr lang="en-US" dirty="0"/>
                  <a:t> = 1 </a:t>
                </a:r>
                <a14:m>
                  <m:oMath xmlns:m="http://schemas.openxmlformats.org/officeDocument/2006/math">
                    <m:sSup>
                      <m:sSupPr>
                        <m:ctrlPr>
                          <a:rPr lang="en-US" i="1">
                            <a:latin typeface="Cambria Math" panose="02040503050406030204" pitchFamily="18" charset="0"/>
                          </a:rPr>
                        </m:ctrlPr>
                      </m:sSupPr>
                      <m:e>
                        <m:r>
                          <a:rPr lang="en-US" i="1">
                            <a:latin typeface="Cambria Math" panose="02040503050406030204" pitchFamily="18" charset="0"/>
                          </a:rPr>
                          <m:t>𝑚𝑚</m:t>
                        </m:r>
                      </m:e>
                      <m:sup>
                        <m:r>
                          <a:rPr lang="en-US" i="1">
                            <a:latin typeface="Cambria Math" panose="02040503050406030204" pitchFamily="18" charset="0"/>
                          </a:rPr>
                          <m:t>−1</m:t>
                        </m:r>
                      </m:sup>
                    </m:sSup>
                  </m:oMath>
                </a14:m>
                <a:r>
                  <a:rPr lang="en-US" dirty="0"/>
                  <a:t>  for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ea typeface="Cambria Math" panose="02040503050406030204" pitchFamily="18" charset="0"/>
                          </a:rPr>
                          <m:t>𝜇</m:t>
                        </m:r>
                      </m:e>
                      <m:sub>
                        <m:r>
                          <a:rPr lang="en-US" i="1">
                            <a:latin typeface="Cambria Math" panose="02040503050406030204" pitchFamily="18" charset="0"/>
                          </a:rPr>
                          <m:t>𝑎</m:t>
                        </m:r>
                      </m:sub>
                    </m:sSub>
                  </m:oMath>
                </a14:m>
                <a:r>
                  <a:rPr lang="en-US" dirty="0"/>
                  <a:t>= 0 </a:t>
                </a:r>
                <a14:m>
                  <m:oMath xmlns:m="http://schemas.openxmlformats.org/officeDocument/2006/math">
                    <m:sSup>
                      <m:sSupPr>
                        <m:ctrlPr>
                          <a:rPr lang="en-US" i="1">
                            <a:latin typeface="Cambria Math" panose="02040503050406030204" pitchFamily="18" charset="0"/>
                          </a:rPr>
                        </m:ctrlPr>
                      </m:sSupPr>
                      <m:e>
                        <m:r>
                          <a:rPr lang="en-US" b="0" i="1" smtClean="0">
                            <a:latin typeface="Cambria Math" panose="02040503050406030204" pitchFamily="18" charset="0"/>
                          </a:rPr>
                          <m:t>𝑐</m:t>
                        </m:r>
                        <m:r>
                          <a:rPr lang="en-US" i="1">
                            <a:latin typeface="Cambria Math" panose="02040503050406030204" pitchFamily="18" charset="0"/>
                          </a:rPr>
                          <m:t>𝑚</m:t>
                        </m:r>
                      </m:e>
                      <m:sup>
                        <m:r>
                          <a:rPr lang="en-US" i="1">
                            <a:latin typeface="Cambria Math" panose="02040503050406030204" pitchFamily="18" charset="0"/>
                          </a:rPr>
                          <m:t>−1</m:t>
                        </m:r>
                      </m:sup>
                    </m:sSup>
                  </m:oMath>
                </a14:m>
                <a:r>
                  <a:rPr lang="en-US" dirty="0"/>
                  <a:t> and n = 1.4.</a:t>
                </a:r>
              </a:p>
            </p:txBody>
          </p:sp>
        </mc:Choice>
        <mc:Fallback>
          <p:sp>
            <p:nvSpPr>
              <p:cNvPr id="9" name="TextBox 8">
                <a:extLst>
                  <a:ext uri="{FF2B5EF4-FFF2-40B4-BE49-F238E27FC236}">
                    <a16:creationId xmlns:a16="http://schemas.microsoft.com/office/drawing/2014/main" id="{6FFAD4B0-0F80-5FA1-AEC9-E09D41FEF1F1}"/>
                  </a:ext>
                </a:extLst>
              </p:cNvPr>
              <p:cNvSpPr txBox="1">
                <a:spLocks noRot="1" noChangeAspect="1" noMove="1" noResize="1" noEditPoints="1" noAdjustHandles="1" noChangeArrowheads="1" noChangeShapeType="1" noTextEdit="1"/>
              </p:cNvSpPr>
              <p:nvPr/>
            </p:nvSpPr>
            <p:spPr>
              <a:xfrm>
                <a:off x="9296399" y="7429500"/>
                <a:ext cx="8305801" cy="1200329"/>
              </a:xfrm>
              <a:prstGeom prst="rect">
                <a:avLst/>
              </a:prstGeom>
              <a:blipFill>
                <a:blip r:embed="rId5"/>
                <a:stretch>
                  <a:fillRect l="-587" t="-3046" b="-7107"/>
                </a:stretch>
              </a:blipFill>
            </p:spPr>
            <p:txBody>
              <a:bodyPr/>
              <a:lstStyle/>
              <a:p>
                <a:r>
                  <a:rPr lang="en-US">
                    <a:noFill/>
                  </a:rPr>
                  <a:t> </a:t>
                </a:r>
              </a:p>
            </p:txBody>
          </p:sp>
        </mc:Fallback>
      </mc:AlternateContent>
    </p:spTree>
    <p:extLst>
      <p:ext uri="{BB962C8B-B14F-4D97-AF65-F5344CB8AC3E}">
        <p14:creationId xmlns:p14="http://schemas.microsoft.com/office/powerpoint/2010/main" val="351796899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E31DA6-F159-02CB-4BA8-55F3E0E91710}"/>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B76879FC-6982-8205-5CE3-0F6A6DD93438}"/>
              </a:ext>
            </a:extLst>
          </p:cNvPr>
          <p:cNvSpPr/>
          <p:nvPr/>
        </p:nvSpPr>
        <p:spPr>
          <a:xfrm>
            <a:off x="-6824"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alphaModFix amt="50000"/>
            </a:blip>
            <a:stretch>
              <a:fillRect/>
            </a:stretch>
          </a:blipFill>
          <a:ln cap="sq">
            <a:noFill/>
            <a:prstDash val="solid"/>
            <a:miter/>
          </a:ln>
        </p:spPr>
        <p:txBody>
          <a:bodyPr/>
          <a:lstStyle/>
          <a:p>
            <a:endParaRPr lang="en-US" dirty="0"/>
          </a:p>
        </p:txBody>
      </p:sp>
      <p:sp>
        <p:nvSpPr>
          <p:cNvPr id="3" name="AutoShape 3">
            <a:extLst>
              <a:ext uri="{FF2B5EF4-FFF2-40B4-BE49-F238E27FC236}">
                <a16:creationId xmlns:a16="http://schemas.microsoft.com/office/drawing/2014/main" id="{E6D2CC83-C305-EDF4-5CEC-7BD542EF0D4B}"/>
              </a:ext>
            </a:extLst>
          </p:cNvPr>
          <p:cNvSpPr/>
          <p:nvPr/>
        </p:nvSpPr>
        <p:spPr>
          <a:xfrm>
            <a:off x="1166399" y="1028700"/>
            <a:ext cx="687324" cy="0"/>
          </a:xfrm>
          <a:prstGeom prst="line">
            <a:avLst/>
          </a:prstGeom>
          <a:ln w="76200" cap="flat">
            <a:solidFill>
              <a:srgbClr val="000000"/>
            </a:solidFill>
            <a:prstDash val="solid"/>
            <a:headEnd type="none" w="sm" len="sm"/>
            <a:tailEnd type="none" w="sm" len="sm"/>
          </a:ln>
        </p:spPr>
        <p:txBody>
          <a:bodyPr/>
          <a:lstStyle/>
          <a:p>
            <a:endParaRPr lang="en-US" dirty="0"/>
          </a:p>
        </p:txBody>
      </p:sp>
      <mc:AlternateContent xmlns:mc="http://schemas.openxmlformats.org/markup-compatibility/2006" xmlns:a14="http://schemas.microsoft.com/office/drawing/2010/main">
        <mc:Choice Requires="a14">
          <p:sp>
            <p:nvSpPr>
              <p:cNvPr id="8" name="TextBox 8">
                <a:extLst>
                  <a:ext uri="{FF2B5EF4-FFF2-40B4-BE49-F238E27FC236}">
                    <a16:creationId xmlns:a16="http://schemas.microsoft.com/office/drawing/2014/main" id="{1F46EC16-3680-E29E-F511-1FBF31B23D55}"/>
                  </a:ext>
                </a:extLst>
              </p:cNvPr>
              <p:cNvSpPr txBox="1"/>
              <p:nvPr/>
            </p:nvSpPr>
            <p:spPr>
              <a:xfrm>
                <a:off x="873208" y="1409700"/>
                <a:ext cx="8269269" cy="10402078"/>
              </a:xfrm>
              <a:prstGeom prst="rect">
                <a:avLst/>
              </a:prstGeom>
            </p:spPr>
            <p:txBody>
              <a:bodyPr wrap="square" lIns="0" tIns="0" rIns="0" bIns="0" rtlCol="0" anchor="t">
                <a:spAutoFit/>
              </a:bodyPr>
              <a:lstStyle/>
              <a:p>
                <a:pPr marL="302259" lvl="1">
                  <a:lnSpc>
                    <a:spcPts val="4479"/>
                  </a:lnSpc>
                </a:pPr>
                <a:r>
                  <a:rPr lang="en-US" sz="4000" b="1" dirty="0">
                    <a:solidFill>
                      <a:srgbClr val="000000"/>
                    </a:solidFill>
                    <a:latin typeface="Times New Roman" panose="02020603050405020304" pitchFamily="18" charset="0"/>
                    <a:cs typeface="Times New Roman" panose="02020603050405020304" pitchFamily="18" charset="0"/>
                    <a:sym typeface="Open Sauce"/>
                  </a:rPr>
                  <a:t>Results</a:t>
                </a:r>
                <a:endParaRPr lang="en-US" sz="2500" dirty="0"/>
              </a:p>
              <a:p>
                <a:pPr marL="604519" lvl="1" indent="-302260">
                  <a:lnSpc>
                    <a:spcPct val="150000"/>
                  </a:lnSpc>
                  <a:buFont typeface="Arial"/>
                  <a:buChar char="•"/>
                </a:pPr>
                <a:r>
                  <a:rPr lang="en-US" sz="2500" dirty="0"/>
                  <a:t>The time-resolved reflectance is measured at a certain distance, p, at different time-values R(</a:t>
                </a:r>
                <a14:m>
                  <m:oMath xmlns:m="http://schemas.openxmlformats.org/officeDocument/2006/math">
                    <m:sSub>
                      <m:sSubPr>
                        <m:ctrlPr>
                          <a:rPr lang="en-US" sz="2500" i="1" smtClean="0">
                            <a:latin typeface="Cambria Math" panose="02040503050406030204" pitchFamily="18" charset="0"/>
                          </a:rPr>
                        </m:ctrlPr>
                      </m:sSubPr>
                      <m:e>
                        <m:r>
                          <a:rPr lang="en-US" sz="2500" b="0" i="1" smtClean="0">
                            <a:latin typeface="Cambria Math" panose="02040503050406030204" pitchFamily="18" charset="0"/>
                          </a:rPr>
                          <m:t>𝑡</m:t>
                        </m:r>
                      </m:e>
                      <m:sub>
                        <m:r>
                          <a:rPr lang="en-US" sz="2500" b="0" i="1" smtClean="0">
                            <a:latin typeface="Cambria Math" panose="02040503050406030204" pitchFamily="18" charset="0"/>
                          </a:rPr>
                          <m:t>𝑖</m:t>
                        </m:r>
                      </m:sub>
                    </m:sSub>
                  </m:oMath>
                </a14:m>
                <a:r>
                  <a:rPr lang="en-US" sz="2500" dirty="0"/>
                  <a:t>).</a:t>
                </a:r>
              </a:p>
              <a:p>
                <a:pPr marL="604519" lvl="1" indent="-302260">
                  <a:lnSpc>
                    <a:spcPct val="150000"/>
                  </a:lnSpc>
                  <a:buFont typeface="Arial"/>
                  <a:buChar char="•"/>
                </a:pPr>
                <a:r>
                  <a:rPr lang="en-US" sz="2500" dirty="0"/>
                  <a:t>Interpolation of reflectance data produced by Monte Carlo simulation is done to evaluate the reflectance at these times for each iteration of non-linear regression. </a:t>
                </a:r>
              </a:p>
              <a:p>
                <a:pPr marL="604519" lvl="1" indent="-302260">
                  <a:lnSpc>
                    <a:spcPct val="150000"/>
                  </a:lnSpc>
                  <a:buFont typeface="Arial"/>
                  <a:buChar char="•"/>
                </a:pPr>
                <a:r>
                  <a:rPr lang="en-US" sz="2500" dirty="0"/>
                  <a:t>For interpolation, used the arbitrary function to approximate the R(t) curves of the Monte Carlo simulation which provided good fit to the logarithm of the time-resolved reflectance of all p values. </a:t>
                </a:r>
              </a:p>
              <a:p>
                <a:pPr marL="302259" lvl="1">
                  <a:lnSpc>
                    <a:spcPct val="150000"/>
                  </a:lnSpc>
                </a:pPr>
                <a14:m>
                  <m:oMathPara xmlns:m="http://schemas.openxmlformats.org/officeDocument/2006/math">
                    <m:oMathParaPr>
                      <m:jc m:val="centerGroup"/>
                    </m:oMathParaPr>
                    <m:oMath xmlns:m="http://schemas.openxmlformats.org/officeDocument/2006/math">
                      <m:func>
                        <m:funcPr>
                          <m:ctrlPr>
                            <a:rPr lang="en-US" sz="2500" b="0" i="1" smtClean="0">
                              <a:latin typeface="Cambria Math" panose="02040503050406030204" pitchFamily="18" charset="0"/>
                            </a:rPr>
                          </m:ctrlPr>
                        </m:funcPr>
                        <m:fName>
                          <m:r>
                            <m:rPr>
                              <m:sty m:val="p"/>
                            </m:rPr>
                            <a:rPr lang="en-US" sz="2500" b="0" i="0" smtClean="0">
                              <a:latin typeface="Cambria Math" panose="02040503050406030204" pitchFamily="18" charset="0"/>
                            </a:rPr>
                            <m:t>ln</m:t>
                          </m:r>
                        </m:fName>
                        <m:e>
                          <m:d>
                            <m:dPr>
                              <m:ctrlPr>
                                <a:rPr lang="en-US" sz="2500" b="0" i="1" smtClean="0">
                                  <a:latin typeface="Cambria Math" panose="02040503050406030204" pitchFamily="18" charset="0"/>
                                </a:rPr>
                              </m:ctrlPr>
                            </m:dPr>
                            <m:e>
                              <m:r>
                                <a:rPr lang="en-US" sz="2500" b="0" i="1" smtClean="0">
                                  <a:latin typeface="Cambria Math" panose="02040503050406030204" pitchFamily="18" charset="0"/>
                                </a:rPr>
                                <m:t>𝑅</m:t>
                              </m:r>
                              <m:d>
                                <m:dPr>
                                  <m:ctrlPr>
                                    <a:rPr lang="en-US" sz="2500" b="0" i="1" smtClean="0">
                                      <a:latin typeface="Cambria Math" panose="02040503050406030204" pitchFamily="18" charset="0"/>
                                    </a:rPr>
                                  </m:ctrlPr>
                                </m:dPr>
                                <m:e>
                                  <m:r>
                                    <a:rPr lang="en-US" sz="2500" b="0" i="1" smtClean="0">
                                      <a:latin typeface="Cambria Math" panose="02040503050406030204" pitchFamily="18" charset="0"/>
                                    </a:rPr>
                                    <m:t>𝑡</m:t>
                                  </m:r>
                                </m:e>
                              </m:d>
                            </m:e>
                          </m:d>
                        </m:e>
                      </m:func>
                      <m:r>
                        <a:rPr lang="en-US" sz="2500" b="0" i="1" smtClean="0">
                          <a:latin typeface="Cambria Math" panose="02040503050406030204" pitchFamily="18" charset="0"/>
                        </a:rPr>
                        <m:t>=</m:t>
                      </m:r>
                      <m:sSub>
                        <m:sSubPr>
                          <m:ctrlPr>
                            <a:rPr lang="en-US" sz="2500" b="0" i="1" smtClean="0">
                              <a:latin typeface="Cambria Math" panose="02040503050406030204" pitchFamily="18" charset="0"/>
                            </a:rPr>
                          </m:ctrlPr>
                        </m:sSubPr>
                        <m:e>
                          <m:r>
                            <a:rPr lang="en-US" sz="2500" b="0" i="1" smtClean="0">
                              <a:latin typeface="Cambria Math" panose="02040503050406030204" pitchFamily="18" charset="0"/>
                            </a:rPr>
                            <m:t>𝑐</m:t>
                          </m:r>
                        </m:e>
                        <m:sub>
                          <m:r>
                            <a:rPr lang="en-US" sz="2500" b="0" i="1" smtClean="0">
                              <a:latin typeface="Cambria Math" panose="02040503050406030204" pitchFamily="18" charset="0"/>
                            </a:rPr>
                            <m:t>0</m:t>
                          </m:r>
                        </m:sub>
                      </m:sSub>
                      <m:r>
                        <a:rPr lang="en-US" sz="2500" b="0" i="1" smtClean="0">
                          <a:latin typeface="Cambria Math" panose="02040503050406030204" pitchFamily="18" charset="0"/>
                        </a:rPr>
                        <m:t>+</m:t>
                      </m:r>
                      <m:sSub>
                        <m:sSubPr>
                          <m:ctrlPr>
                            <a:rPr lang="en-US" sz="2500" i="1">
                              <a:latin typeface="Cambria Math" panose="02040503050406030204" pitchFamily="18" charset="0"/>
                            </a:rPr>
                          </m:ctrlPr>
                        </m:sSubPr>
                        <m:e>
                          <m:r>
                            <a:rPr lang="en-US" sz="2500" i="1">
                              <a:latin typeface="Cambria Math" panose="02040503050406030204" pitchFamily="18" charset="0"/>
                            </a:rPr>
                            <m:t>𝑐</m:t>
                          </m:r>
                        </m:e>
                        <m:sub>
                          <m:r>
                            <a:rPr lang="en-US" sz="2500" b="0" i="1" smtClean="0">
                              <a:latin typeface="Cambria Math" panose="02040503050406030204" pitchFamily="18" charset="0"/>
                            </a:rPr>
                            <m:t>1</m:t>
                          </m:r>
                        </m:sub>
                      </m:sSub>
                      <m:r>
                        <m:rPr>
                          <m:sty m:val="p"/>
                        </m:rPr>
                        <a:rPr lang="en-US" sz="2500" b="0" i="0" smtClean="0">
                          <a:latin typeface="Cambria Math" panose="02040503050406030204" pitchFamily="18" charset="0"/>
                        </a:rPr>
                        <m:t>ln</m:t>
                      </m:r>
                      <m:r>
                        <a:rPr lang="en-US" sz="2500" b="0" i="1" smtClean="0">
                          <a:latin typeface="Cambria Math" panose="02040503050406030204" pitchFamily="18" charset="0"/>
                        </a:rPr>
                        <m:t>⁡</m:t>
                      </m:r>
                      <m:r>
                        <a:rPr lang="en-US" sz="2500" b="0" i="1" smtClean="0">
                          <a:latin typeface="Cambria Math" panose="02040503050406030204" pitchFamily="18" charset="0"/>
                        </a:rPr>
                        <m:t>𝑡</m:t>
                      </m:r>
                      <m:r>
                        <a:rPr lang="en-US" sz="2500" b="0" i="1" smtClean="0">
                          <a:latin typeface="Cambria Math" panose="02040503050406030204" pitchFamily="18" charset="0"/>
                        </a:rPr>
                        <m:t>+</m:t>
                      </m:r>
                      <m:sSub>
                        <m:sSubPr>
                          <m:ctrlPr>
                            <a:rPr lang="en-US" sz="2500" i="1">
                              <a:latin typeface="Cambria Math" panose="02040503050406030204" pitchFamily="18" charset="0"/>
                            </a:rPr>
                          </m:ctrlPr>
                        </m:sSubPr>
                        <m:e>
                          <m:r>
                            <a:rPr lang="en-US" sz="2500" i="1">
                              <a:latin typeface="Cambria Math" panose="02040503050406030204" pitchFamily="18" charset="0"/>
                            </a:rPr>
                            <m:t>𝑐</m:t>
                          </m:r>
                        </m:e>
                        <m:sub>
                          <m:r>
                            <a:rPr lang="en-US" sz="2500" b="0" i="1" smtClean="0">
                              <a:latin typeface="Cambria Math" panose="02040503050406030204" pitchFamily="18" charset="0"/>
                            </a:rPr>
                            <m:t>2</m:t>
                          </m:r>
                        </m:sub>
                      </m:sSub>
                      <m:sSup>
                        <m:sSupPr>
                          <m:ctrlPr>
                            <a:rPr lang="en-US" sz="2500" i="1" smtClean="0">
                              <a:latin typeface="Cambria Math" panose="02040503050406030204" pitchFamily="18" charset="0"/>
                            </a:rPr>
                          </m:ctrlPr>
                        </m:sSupPr>
                        <m:e>
                          <m:r>
                            <a:rPr lang="en-US" sz="2500" b="0" i="1" smtClean="0">
                              <a:latin typeface="Cambria Math" panose="02040503050406030204" pitchFamily="18" charset="0"/>
                            </a:rPr>
                            <m:t>(</m:t>
                          </m:r>
                          <m:r>
                            <a:rPr lang="en-US" sz="2500" b="0" i="1" smtClean="0">
                              <a:latin typeface="Cambria Math" panose="02040503050406030204" pitchFamily="18" charset="0"/>
                            </a:rPr>
                            <m:t>𝑙𝑛𝑡</m:t>
                          </m:r>
                          <m:r>
                            <a:rPr lang="en-US" sz="2500" b="0" i="1" smtClean="0">
                              <a:latin typeface="Cambria Math" panose="02040503050406030204" pitchFamily="18" charset="0"/>
                            </a:rPr>
                            <m:t>)</m:t>
                          </m:r>
                        </m:e>
                        <m:sup>
                          <m:r>
                            <a:rPr lang="en-US" sz="2500" b="0" i="1" smtClean="0">
                              <a:latin typeface="Cambria Math" panose="02040503050406030204" pitchFamily="18" charset="0"/>
                            </a:rPr>
                            <m:t>2</m:t>
                          </m:r>
                        </m:sup>
                      </m:sSup>
                      <m:r>
                        <a:rPr lang="en-US" sz="2500" b="0" i="1" smtClean="0">
                          <a:latin typeface="Cambria Math" panose="02040503050406030204" pitchFamily="18" charset="0"/>
                        </a:rPr>
                        <m:t>+…+</m:t>
                      </m:r>
                      <m:sSub>
                        <m:sSubPr>
                          <m:ctrlPr>
                            <a:rPr lang="en-US" sz="2500" i="1">
                              <a:latin typeface="Cambria Math" panose="02040503050406030204" pitchFamily="18" charset="0"/>
                            </a:rPr>
                          </m:ctrlPr>
                        </m:sSubPr>
                        <m:e>
                          <m:r>
                            <a:rPr lang="en-US" sz="2500" i="1">
                              <a:latin typeface="Cambria Math" panose="02040503050406030204" pitchFamily="18" charset="0"/>
                            </a:rPr>
                            <m:t>𝑐</m:t>
                          </m:r>
                        </m:e>
                        <m:sub>
                          <m:r>
                            <a:rPr lang="en-US" sz="2500" b="0" i="1" smtClean="0">
                              <a:latin typeface="Cambria Math" panose="02040503050406030204" pitchFamily="18" charset="0"/>
                            </a:rPr>
                            <m:t>1</m:t>
                          </m:r>
                          <m:r>
                            <a:rPr lang="en-US" sz="2500" i="1">
                              <a:latin typeface="Cambria Math" panose="02040503050406030204" pitchFamily="18" charset="0"/>
                            </a:rPr>
                            <m:t>0</m:t>
                          </m:r>
                        </m:sub>
                      </m:sSub>
                      <m:sSup>
                        <m:sSupPr>
                          <m:ctrlPr>
                            <a:rPr lang="en-US" sz="2500" i="1">
                              <a:latin typeface="Cambria Math" panose="02040503050406030204" pitchFamily="18" charset="0"/>
                            </a:rPr>
                          </m:ctrlPr>
                        </m:sSupPr>
                        <m:e>
                          <m:r>
                            <a:rPr lang="en-US" sz="2500" i="1">
                              <a:latin typeface="Cambria Math" panose="02040503050406030204" pitchFamily="18" charset="0"/>
                            </a:rPr>
                            <m:t>(</m:t>
                          </m:r>
                          <m:r>
                            <a:rPr lang="en-US" sz="2500" i="1">
                              <a:latin typeface="Cambria Math" panose="02040503050406030204" pitchFamily="18" charset="0"/>
                            </a:rPr>
                            <m:t>𝑙𝑛𝑡</m:t>
                          </m:r>
                          <m:r>
                            <a:rPr lang="en-US" sz="2500" i="1">
                              <a:latin typeface="Cambria Math" panose="02040503050406030204" pitchFamily="18" charset="0"/>
                            </a:rPr>
                            <m:t>)</m:t>
                          </m:r>
                        </m:e>
                        <m:sup>
                          <m:r>
                            <a:rPr lang="en-US" sz="2500" b="0" i="1" smtClean="0">
                              <a:latin typeface="Cambria Math" panose="02040503050406030204" pitchFamily="18" charset="0"/>
                            </a:rPr>
                            <m:t>10</m:t>
                          </m:r>
                        </m:sup>
                      </m:sSup>
                    </m:oMath>
                  </m:oMathPara>
                </a14:m>
                <a:endParaRPr lang="en-US" sz="2500" dirty="0"/>
              </a:p>
              <a:p>
                <a:pPr marL="604519" lvl="1" indent="-302260">
                  <a:lnSpc>
                    <a:spcPct val="150000"/>
                  </a:lnSpc>
                  <a:buFont typeface="Arial"/>
                  <a:buChar char="•"/>
                </a:pPr>
                <a:r>
                  <a:rPr lang="en-US" sz="2500" dirty="0"/>
                  <a:t>Created all R(t) curves for the intermediate distances by fitting ln(R()</a:t>
                </a:r>
              </a:p>
              <a:p>
                <a:pPr marL="604519" lvl="1" indent="-302260">
                  <a:lnSpc>
                    <a:spcPct val="150000"/>
                  </a:lnSpc>
                  <a:buFont typeface="Arial"/>
                  <a:buChar char="•"/>
                </a:pPr>
                <a:endParaRPr lang="en-US" sz="2500" dirty="0"/>
              </a:p>
              <a:p>
                <a:pPr marL="604519" lvl="1" indent="-302260">
                  <a:lnSpc>
                    <a:spcPct val="150000"/>
                  </a:lnSpc>
                  <a:buFont typeface="Arial"/>
                  <a:buChar char="•"/>
                </a:pPr>
                <a:endParaRPr lang="en-US" sz="2500" dirty="0"/>
              </a:p>
              <a:p>
                <a:pPr marL="604519" lvl="1" indent="-302260">
                  <a:lnSpc>
                    <a:spcPct val="150000"/>
                  </a:lnSpc>
                  <a:buFont typeface="Arial"/>
                  <a:buChar char="•"/>
                </a:pPr>
                <a:endParaRPr lang="en-US" sz="2500" dirty="0"/>
              </a:p>
              <a:p>
                <a:pPr marL="604519" lvl="1" indent="-302260">
                  <a:lnSpc>
                    <a:spcPct val="150000"/>
                  </a:lnSpc>
                  <a:buFont typeface="Arial"/>
                  <a:buChar char="•"/>
                </a:pPr>
                <a:endParaRPr lang="en-US" sz="2500" dirty="0"/>
              </a:p>
              <a:p>
                <a:pPr marL="604519" lvl="1" indent="-302260">
                  <a:lnSpc>
                    <a:spcPct val="150000"/>
                  </a:lnSpc>
                  <a:buFont typeface="Arial"/>
                  <a:buChar char="•"/>
                </a:pPr>
                <a:endParaRPr lang="en-US" sz="2500" dirty="0"/>
              </a:p>
            </p:txBody>
          </p:sp>
        </mc:Choice>
        <mc:Fallback xmlns="">
          <p:sp>
            <p:nvSpPr>
              <p:cNvPr id="8" name="TextBox 8">
                <a:extLst>
                  <a:ext uri="{FF2B5EF4-FFF2-40B4-BE49-F238E27FC236}">
                    <a16:creationId xmlns:a16="http://schemas.microsoft.com/office/drawing/2014/main" id="{1F46EC16-3680-E29E-F511-1FBF31B23D55}"/>
                  </a:ext>
                </a:extLst>
              </p:cNvPr>
              <p:cNvSpPr txBox="1">
                <a:spLocks noRot="1" noChangeAspect="1" noMove="1" noResize="1" noEditPoints="1" noAdjustHandles="1" noChangeArrowheads="1" noChangeShapeType="1" noTextEdit="1"/>
              </p:cNvSpPr>
              <p:nvPr/>
            </p:nvSpPr>
            <p:spPr>
              <a:xfrm>
                <a:off x="873208" y="1409700"/>
                <a:ext cx="8269269" cy="10402078"/>
              </a:xfrm>
              <a:prstGeom prst="rect">
                <a:avLst/>
              </a:prstGeom>
              <a:blipFill>
                <a:blip r:embed="rId3"/>
                <a:stretch>
                  <a:fillRect t="-1933" r="-1695"/>
                </a:stretch>
              </a:blipFill>
            </p:spPr>
            <p:txBody>
              <a:bodyPr/>
              <a:lstStyle/>
              <a:p>
                <a:r>
                  <a:rPr lang="en-US">
                    <a:noFill/>
                  </a:rPr>
                  <a:t> </a:t>
                </a:r>
              </a:p>
            </p:txBody>
          </p:sp>
        </mc:Fallback>
      </mc:AlternateContent>
      <p:pic>
        <p:nvPicPr>
          <p:cNvPr id="5" name="Picture 4">
            <a:extLst>
              <a:ext uri="{FF2B5EF4-FFF2-40B4-BE49-F238E27FC236}">
                <a16:creationId xmlns:a16="http://schemas.microsoft.com/office/drawing/2014/main" id="{BBA17E13-6324-E104-D3CC-456B415DF692}"/>
              </a:ext>
            </a:extLst>
          </p:cNvPr>
          <p:cNvPicPr>
            <a:picLocks noChangeAspect="1"/>
          </p:cNvPicPr>
          <p:nvPr/>
        </p:nvPicPr>
        <p:blipFill>
          <a:blip r:embed="rId4">
            <a:extLst>
              <a:ext uri="{28A0092B-C50C-407E-A947-70E740481C1C}">
                <a14:useLocalDpi xmlns:a14="http://schemas.microsoft.com/office/drawing/2010/main" val="0"/>
              </a:ext>
            </a:extLst>
          </a:blip>
          <a:srcRect r="7322" b="15842"/>
          <a:stretch>
            <a:fillRect/>
          </a:stretch>
        </p:blipFill>
        <p:spPr>
          <a:xfrm>
            <a:off x="9829799" y="2171700"/>
            <a:ext cx="8173065" cy="5334000"/>
          </a:xfrm>
          <a:prstGeom prst="rect">
            <a:avLst/>
          </a:prstGeom>
        </p:spPr>
      </p:pic>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06511398-7877-4222-0782-637BE928D49F}"/>
                  </a:ext>
                </a:extLst>
              </p:cNvPr>
              <p:cNvSpPr txBox="1"/>
              <p:nvPr/>
            </p:nvSpPr>
            <p:spPr>
              <a:xfrm>
                <a:off x="9829800" y="7522159"/>
                <a:ext cx="8173064" cy="646331"/>
              </a:xfrm>
              <a:prstGeom prst="rect">
                <a:avLst/>
              </a:prstGeom>
              <a:noFill/>
            </p:spPr>
            <p:txBody>
              <a:bodyPr wrap="square" rtlCol="0">
                <a:spAutoFit/>
              </a:bodyPr>
              <a:lstStyle/>
              <a:p>
                <a:r>
                  <a:rPr lang="en-US" dirty="0"/>
                  <a:t>Fig, Regression (solid curve) to a Monte Carlo simulation (circles). The parameters of the simulation are </a:t>
                </a:r>
                <a14:m>
                  <m:oMath xmlns:m="http://schemas.openxmlformats.org/officeDocument/2006/math">
                    <m:sSubSup>
                      <m:sSubSupPr>
                        <m:ctrlPr>
                          <a:rPr lang="en-US" i="1" smtClean="0">
                            <a:latin typeface="Cambria Math" panose="02040503050406030204" pitchFamily="18" charset="0"/>
                          </a:rPr>
                        </m:ctrlPr>
                      </m:sSubSupPr>
                      <m:e>
                        <m:r>
                          <a:rPr lang="en-US" i="1" smtClean="0">
                            <a:latin typeface="Cambria Math" panose="02040503050406030204" pitchFamily="18" charset="0"/>
                            <a:ea typeface="Cambria Math" panose="02040503050406030204" pitchFamily="18" charset="0"/>
                          </a:rPr>
                          <m:t>𝜇</m:t>
                        </m:r>
                      </m:e>
                      <m:sub>
                        <m:r>
                          <a:rPr lang="en-US" b="0" i="1" smtClean="0">
                            <a:latin typeface="Cambria Math" panose="02040503050406030204" pitchFamily="18" charset="0"/>
                          </a:rPr>
                          <m:t>𝑠</m:t>
                        </m:r>
                      </m:sub>
                      <m:sup>
                        <m:r>
                          <a:rPr lang="en-US" b="0" i="1" smtClean="0">
                            <a:latin typeface="Cambria Math" panose="02040503050406030204" pitchFamily="18" charset="0"/>
                          </a:rPr>
                          <m:t>′</m:t>
                        </m:r>
                      </m:sup>
                    </m:sSubSup>
                  </m:oMath>
                </a14:m>
                <a:r>
                  <a:rPr lang="en-US" dirty="0"/>
                  <a:t> = 1 </a:t>
                </a:r>
                <a14:m>
                  <m:oMath xmlns:m="http://schemas.openxmlformats.org/officeDocument/2006/math">
                    <m:sSup>
                      <m:sSupPr>
                        <m:ctrlPr>
                          <a:rPr lang="en-US" i="1">
                            <a:latin typeface="Cambria Math" panose="02040503050406030204" pitchFamily="18" charset="0"/>
                          </a:rPr>
                        </m:ctrlPr>
                      </m:sSupPr>
                      <m:e>
                        <m:r>
                          <a:rPr lang="en-US" b="0" i="1" smtClean="0">
                            <a:latin typeface="Cambria Math" panose="02040503050406030204" pitchFamily="18" charset="0"/>
                          </a:rPr>
                          <m:t>𝑚𝑚</m:t>
                        </m:r>
                      </m:e>
                      <m:sup>
                        <m:r>
                          <a:rPr lang="en-US" b="0" i="1" smtClean="0">
                            <a:latin typeface="Cambria Math" panose="02040503050406030204" pitchFamily="18" charset="0"/>
                          </a:rPr>
                          <m:t>−1</m:t>
                        </m:r>
                      </m:sup>
                    </m:sSup>
                  </m:oMath>
                </a14:m>
                <a:r>
                  <a:rPr lang="en-US" dirty="0"/>
                  <a:t> , </a:t>
                </a:r>
                <a14:m>
                  <m:oMath xmlns:m="http://schemas.openxmlformats.org/officeDocument/2006/math">
                    <m:sSub>
                      <m:sSubPr>
                        <m:ctrlPr>
                          <a:rPr lang="en-US" i="1" smtClean="0">
                            <a:latin typeface="Cambria Math" panose="02040503050406030204" pitchFamily="18" charset="0"/>
                          </a:rPr>
                        </m:ctrlPr>
                      </m:sSubPr>
                      <m:e>
                        <m:r>
                          <a:rPr lang="en-US" i="1" smtClean="0">
                            <a:latin typeface="Cambria Math" panose="02040503050406030204" pitchFamily="18" charset="0"/>
                            <a:ea typeface="Cambria Math" panose="02040503050406030204" pitchFamily="18" charset="0"/>
                          </a:rPr>
                          <m:t>𝜇</m:t>
                        </m:r>
                      </m:e>
                      <m:sub>
                        <m:r>
                          <a:rPr lang="en-US" b="0" i="1" smtClean="0">
                            <a:latin typeface="Cambria Math" panose="02040503050406030204" pitchFamily="18" charset="0"/>
                          </a:rPr>
                          <m:t>𝑎</m:t>
                        </m:r>
                      </m:sub>
                    </m:sSub>
                  </m:oMath>
                </a14:m>
                <a:r>
                  <a:rPr lang="en-US" dirty="0"/>
                  <a:t>= 0 </a:t>
                </a:r>
                <a14:m>
                  <m:oMath xmlns:m="http://schemas.openxmlformats.org/officeDocument/2006/math">
                    <m:sSup>
                      <m:sSupPr>
                        <m:ctrlPr>
                          <a:rPr lang="en-US" i="1">
                            <a:latin typeface="Cambria Math" panose="02040503050406030204" pitchFamily="18" charset="0"/>
                          </a:rPr>
                        </m:ctrlPr>
                      </m:sSupPr>
                      <m:e>
                        <m:r>
                          <a:rPr lang="en-US" b="0" i="1" smtClean="0">
                            <a:latin typeface="Cambria Math" panose="02040503050406030204" pitchFamily="18" charset="0"/>
                          </a:rPr>
                          <m:t>𝑚𝑚</m:t>
                        </m:r>
                      </m:e>
                      <m:sup>
                        <m:r>
                          <a:rPr lang="en-US" b="0" i="1" smtClean="0">
                            <a:latin typeface="Cambria Math" panose="02040503050406030204" pitchFamily="18" charset="0"/>
                          </a:rPr>
                          <m:t>−1</m:t>
                        </m:r>
                      </m:sup>
                    </m:sSup>
                  </m:oMath>
                </a14:m>
                <a:r>
                  <a:rPr lang="en-US" dirty="0"/>
                  <a:t>, n = 1.4, g = 0.8 and p = 9.75 mm.  </a:t>
                </a:r>
              </a:p>
            </p:txBody>
          </p:sp>
        </mc:Choice>
        <mc:Fallback xmlns="">
          <p:sp>
            <p:nvSpPr>
              <p:cNvPr id="9" name="TextBox 8">
                <a:extLst>
                  <a:ext uri="{FF2B5EF4-FFF2-40B4-BE49-F238E27FC236}">
                    <a16:creationId xmlns:a16="http://schemas.microsoft.com/office/drawing/2014/main" id="{06511398-7877-4222-0782-637BE928D49F}"/>
                  </a:ext>
                </a:extLst>
              </p:cNvPr>
              <p:cNvSpPr txBox="1">
                <a:spLocks noRot="1" noChangeAspect="1" noMove="1" noResize="1" noEditPoints="1" noAdjustHandles="1" noChangeArrowheads="1" noChangeShapeType="1" noTextEdit="1"/>
              </p:cNvSpPr>
              <p:nvPr/>
            </p:nvSpPr>
            <p:spPr>
              <a:xfrm>
                <a:off x="9829800" y="7522159"/>
                <a:ext cx="8173064" cy="646331"/>
              </a:xfrm>
              <a:prstGeom prst="rect">
                <a:avLst/>
              </a:prstGeom>
              <a:blipFill>
                <a:blip r:embed="rId5"/>
                <a:stretch>
                  <a:fillRect l="-672" t="-5660" b="-14151"/>
                </a:stretch>
              </a:blipFill>
            </p:spPr>
            <p:txBody>
              <a:bodyPr/>
              <a:lstStyle/>
              <a:p>
                <a:r>
                  <a:rPr lang="en-US">
                    <a:noFill/>
                  </a:rPr>
                  <a:t> </a:t>
                </a:r>
              </a:p>
            </p:txBody>
          </p:sp>
        </mc:Fallback>
      </mc:AlternateContent>
    </p:spTree>
    <p:extLst>
      <p:ext uri="{BB962C8B-B14F-4D97-AF65-F5344CB8AC3E}">
        <p14:creationId xmlns:p14="http://schemas.microsoft.com/office/powerpoint/2010/main" val="55144206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F396ED-0108-DE41-3205-F2975927007A}"/>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29181765-38D1-7157-D982-CE6B7A4BCCC4}"/>
              </a:ext>
            </a:extLst>
          </p:cNvPr>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3">
              <a:alphaModFix amt="50000"/>
            </a:blip>
            <a:stretch>
              <a:fillRect/>
            </a:stretch>
          </a:blipFill>
          <a:ln cap="sq">
            <a:noFill/>
            <a:prstDash val="solid"/>
            <a:miter/>
          </a:ln>
        </p:spPr>
        <p:txBody>
          <a:bodyPr/>
          <a:lstStyle/>
          <a:p>
            <a:endParaRPr lang="en-US" dirty="0"/>
          </a:p>
        </p:txBody>
      </p:sp>
      <p:sp>
        <p:nvSpPr>
          <p:cNvPr id="3" name="AutoShape 3">
            <a:extLst>
              <a:ext uri="{FF2B5EF4-FFF2-40B4-BE49-F238E27FC236}">
                <a16:creationId xmlns:a16="http://schemas.microsoft.com/office/drawing/2014/main" id="{D683B2D3-7AEA-AAB8-B9BC-055E7F307669}"/>
              </a:ext>
            </a:extLst>
          </p:cNvPr>
          <p:cNvSpPr/>
          <p:nvPr/>
        </p:nvSpPr>
        <p:spPr>
          <a:xfrm>
            <a:off x="1166399" y="1028700"/>
            <a:ext cx="687324" cy="0"/>
          </a:xfrm>
          <a:prstGeom prst="line">
            <a:avLst/>
          </a:prstGeom>
          <a:ln w="76200" cap="flat">
            <a:solidFill>
              <a:srgbClr val="000000"/>
            </a:solidFill>
            <a:prstDash val="solid"/>
            <a:headEnd type="none" w="sm" len="sm"/>
            <a:tailEnd type="none" w="sm" len="sm"/>
          </a:ln>
        </p:spPr>
        <p:txBody>
          <a:bodyPr/>
          <a:lstStyle/>
          <a:p>
            <a:endParaRPr lang="en-US" dirty="0"/>
          </a:p>
        </p:txBody>
      </p:sp>
      <mc:AlternateContent xmlns:mc="http://schemas.openxmlformats.org/markup-compatibility/2006" xmlns:a14="http://schemas.microsoft.com/office/drawing/2010/main">
        <mc:Choice Requires="a14">
          <p:sp>
            <p:nvSpPr>
              <p:cNvPr id="8" name="TextBox 8">
                <a:extLst>
                  <a:ext uri="{FF2B5EF4-FFF2-40B4-BE49-F238E27FC236}">
                    <a16:creationId xmlns:a16="http://schemas.microsoft.com/office/drawing/2014/main" id="{BE927E1B-A312-B667-E842-961C7E8006E1}"/>
                  </a:ext>
                </a:extLst>
              </p:cNvPr>
              <p:cNvSpPr txBox="1"/>
              <p:nvPr/>
            </p:nvSpPr>
            <p:spPr>
              <a:xfrm>
                <a:off x="873208" y="1409700"/>
                <a:ext cx="16541583" cy="4557017"/>
              </a:xfrm>
              <a:prstGeom prst="rect">
                <a:avLst/>
              </a:prstGeom>
            </p:spPr>
            <p:txBody>
              <a:bodyPr wrap="square" lIns="0" tIns="0" rIns="0" bIns="0" rtlCol="0" anchor="t">
                <a:spAutoFit/>
              </a:bodyPr>
              <a:lstStyle/>
              <a:p>
                <a:pPr marL="302259" lvl="1">
                  <a:lnSpc>
                    <a:spcPts val="4479"/>
                  </a:lnSpc>
                </a:pPr>
                <a:r>
                  <a:rPr lang="en-US" sz="4000" b="1" dirty="0">
                    <a:solidFill>
                      <a:srgbClr val="000000"/>
                    </a:solidFill>
                    <a:latin typeface="Times New Roman" panose="02020603050405020304" pitchFamily="18" charset="0"/>
                    <a:cs typeface="Times New Roman" panose="02020603050405020304" pitchFamily="18" charset="0"/>
                    <a:sym typeface="Open Sauce"/>
                  </a:rPr>
                  <a:t>Results</a:t>
                </a:r>
                <a:endParaRPr lang="en-US" sz="2500" dirty="0"/>
              </a:p>
              <a:p>
                <a:pPr marL="604519" lvl="1" indent="-302260">
                  <a:lnSpc>
                    <a:spcPct val="150000"/>
                  </a:lnSpc>
                  <a:buFont typeface="Arial"/>
                  <a:buChar char="•"/>
                </a:pPr>
                <a:r>
                  <a:rPr lang="en-US" sz="2500" dirty="0"/>
                  <a:t>From the range of t = 1.24 </a:t>
                </a:r>
                <a:r>
                  <a:rPr lang="en-US" sz="2500" dirty="0" err="1"/>
                  <a:t>ps</a:t>
                </a:r>
                <a:r>
                  <a:rPr lang="en-US" sz="2500" dirty="0"/>
                  <a:t> and t = 73.75 </a:t>
                </a:r>
                <a:r>
                  <a:rPr lang="en-US" sz="2500" dirty="0" err="1"/>
                  <a:t>ps</a:t>
                </a:r>
                <a:r>
                  <a:rPr lang="en-US" sz="2500" dirty="0"/>
                  <a:t>, the R(t) curves has been created for intermediate distances by fitting ln(</a:t>
                </a:r>
                <a14:m>
                  <m:oMath xmlns:m="http://schemas.openxmlformats.org/officeDocument/2006/math">
                    <m:sSub>
                      <m:sSubPr>
                        <m:ctrlPr>
                          <a:rPr lang="en-US" sz="2500" i="1" smtClean="0">
                            <a:latin typeface="Cambria Math" panose="02040503050406030204" pitchFamily="18" charset="0"/>
                          </a:rPr>
                        </m:ctrlPr>
                      </m:sSubPr>
                      <m:e>
                        <m:r>
                          <a:rPr lang="en-US" sz="2500" b="0" i="1" smtClean="0">
                            <a:latin typeface="Cambria Math" panose="02040503050406030204" pitchFamily="18" charset="0"/>
                          </a:rPr>
                          <m:t>𝑅</m:t>
                        </m:r>
                      </m:e>
                      <m:sub>
                        <m:r>
                          <a:rPr lang="en-US" sz="2500" b="0" i="1" smtClean="0">
                            <a:latin typeface="Cambria Math" panose="02040503050406030204" pitchFamily="18" charset="0"/>
                          </a:rPr>
                          <m:t>𝑟</m:t>
                        </m:r>
                      </m:sub>
                    </m:sSub>
                  </m:oMath>
                </a14:m>
                <a:r>
                  <a:rPr lang="en-US" sz="2500" dirty="0"/>
                  <a:t>(</a:t>
                </a:r>
                <a14:m>
                  <m:oMath xmlns:m="http://schemas.openxmlformats.org/officeDocument/2006/math">
                    <m:sSub>
                      <m:sSubPr>
                        <m:ctrlPr>
                          <a:rPr lang="en-US" sz="2500" i="1">
                            <a:latin typeface="Cambria Math" panose="02040503050406030204" pitchFamily="18" charset="0"/>
                          </a:rPr>
                        </m:ctrlPr>
                      </m:sSubPr>
                      <m:e>
                        <m:r>
                          <a:rPr lang="en-US" sz="2500" b="0" i="1" smtClean="0">
                            <a:latin typeface="Cambria Math" panose="02040503050406030204" pitchFamily="18" charset="0"/>
                          </a:rPr>
                          <m:t>𝑝</m:t>
                        </m:r>
                      </m:e>
                      <m:sub>
                        <m:r>
                          <a:rPr lang="en-US" sz="2500" b="0" i="1" smtClean="0">
                            <a:latin typeface="Cambria Math" panose="02040503050406030204" pitchFamily="18" charset="0"/>
                          </a:rPr>
                          <m:t>𝑖</m:t>
                        </m:r>
                      </m:sub>
                    </m:sSub>
                    <m:r>
                      <a:rPr lang="en-US" sz="2500" b="0" i="1" smtClean="0">
                        <a:latin typeface="Cambria Math" panose="02040503050406030204" pitchFamily="18" charset="0"/>
                      </a:rPr>
                      <m:t>,</m:t>
                    </m:r>
                    <m:sSub>
                      <m:sSubPr>
                        <m:ctrlPr>
                          <a:rPr lang="en-US" sz="2500" i="1">
                            <a:latin typeface="Cambria Math" panose="02040503050406030204" pitchFamily="18" charset="0"/>
                          </a:rPr>
                        </m:ctrlPr>
                      </m:sSubPr>
                      <m:e>
                        <m:r>
                          <a:rPr lang="en-US" sz="2500" b="0" i="1" smtClean="0">
                            <a:latin typeface="Cambria Math" panose="02040503050406030204" pitchFamily="18" charset="0"/>
                          </a:rPr>
                          <m:t>𝑡</m:t>
                        </m:r>
                      </m:e>
                      <m:sub>
                        <m:r>
                          <a:rPr lang="en-US" sz="2500" b="0" i="1" smtClean="0">
                            <a:latin typeface="Cambria Math" panose="02040503050406030204" pitchFamily="18" charset="0"/>
                          </a:rPr>
                          <m:t>𝑖</m:t>
                        </m:r>
                      </m:sub>
                    </m:sSub>
                  </m:oMath>
                </a14:m>
                <a:r>
                  <a:rPr lang="en-US" sz="2500" dirty="0"/>
                  <a:t>)). </a:t>
                </a:r>
              </a:p>
              <a:p>
                <a:pPr marL="604519" lvl="1" indent="-302260">
                  <a:lnSpc>
                    <a:spcPct val="150000"/>
                  </a:lnSpc>
                  <a:buFont typeface="Arial"/>
                  <a:buChar char="•"/>
                </a:pPr>
                <a:endParaRPr lang="en-US" sz="2500" dirty="0"/>
              </a:p>
              <a:p>
                <a:pPr marL="604519" lvl="1" indent="-302260">
                  <a:lnSpc>
                    <a:spcPct val="150000"/>
                  </a:lnSpc>
                  <a:buFont typeface="Arial"/>
                  <a:buChar char="•"/>
                </a:pPr>
                <a:endParaRPr lang="en-US" sz="2500" dirty="0"/>
              </a:p>
              <a:p>
                <a:pPr marL="604519" lvl="1" indent="-302260">
                  <a:lnSpc>
                    <a:spcPct val="150000"/>
                  </a:lnSpc>
                  <a:buFont typeface="Arial"/>
                  <a:buChar char="•"/>
                </a:pPr>
                <a:endParaRPr lang="en-US" sz="2500" dirty="0"/>
              </a:p>
              <a:p>
                <a:pPr marL="604519" lvl="1" indent="-302260">
                  <a:lnSpc>
                    <a:spcPct val="150000"/>
                  </a:lnSpc>
                  <a:buFont typeface="Arial"/>
                  <a:buChar char="•"/>
                </a:pPr>
                <a:endParaRPr lang="en-US" sz="2500" dirty="0"/>
              </a:p>
              <a:p>
                <a:pPr marL="604519" lvl="1" indent="-302260">
                  <a:lnSpc>
                    <a:spcPct val="150000"/>
                  </a:lnSpc>
                  <a:buFont typeface="Arial"/>
                  <a:buChar char="•"/>
                </a:pPr>
                <a:endParaRPr lang="en-US" sz="2500" dirty="0"/>
              </a:p>
            </p:txBody>
          </p:sp>
        </mc:Choice>
        <mc:Fallback xmlns="">
          <p:sp>
            <p:nvSpPr>
              <p:cNvPr id="8" name="TextBox 8">
                <a:extLst>
                  <a:ext uri="{FF2B5EF4-FFF2-40B4-BE49-F238E27FC236}">
                    <a16:creationId xmlns:a16="http://schemas.microsoft.com/office/drawing/2014/main" id="{BE927E1B-A312-B667-E842-961C7E8006E1}"/>
                  </a:ext>
                </a:extLst>
              </p:cNvPr>
              <p:cNvSpPr txBox="1">
                <a:spLocks noRot="1" noChangeAspect="1" noMove="1" noResize="1" noEditPoints="1" noAdjustHandles="1" noChangeArrowheads="1" noChangeShapeType="1" noTextEdit="1"/>
              </p:cNvSpPr>
              <p:nvPr/>
            </p:nvSpPr>
            <p:spPr>
              <a:xfrm>
                <a:off x="873208" y="1409700"/>
                <a:ext cx="16541583" cy="4557017"/>
              </a:xfrm>
              <a:prstGeom prst="rect">
                <a:avLst/>
              </a:prstGeom>
              <a:blipFill>
                <a:blip r:embed="rId4"/>
                <a:stretch>
                  <a:fillRect t="-4412"/>
                </a:stretch>
              </a:blipFill>
            </p:spPr>
            <p:txBody>
              <a:bodyPr/>
              <a:lstStyle/>
              <a:p>
                <a:r>
                  <a:rPr lang="en-US">
                    <a:noFill/>
                  </a:rPr>
                  <a:t> </a:t>
                </a:r>
              </a:p>
            </p:txBody>
          </p:sp>
        </mc:Fallback>
      </mc:AlternateContent>
      <p:pic>
        <p:nvPicPr>
          <p:cNvPr id="10" name="Picture 9">
            <a:extLst>
              <a:ext uri="{FF2B5EF4-FFF2-40B4-BE49-F238E27FC236}">
                <a16:creationId xmlns:a16="http://schemas.microsoft.com/office/drawing/2014/main" id="{03C1FBEC-E1BC-4488-88F6-59F6AAA0E0FD}"/>
              </a:ext>
            </a:extLst>
          </p:cNvPr>
          <p:cNvPicPr>
            <a:picLocks noChangeAspect="1"/>
          </p:cNvPicPr>
          <p:nvPr/>
        </p:nvPicPr>
        <p:blipFill>
          <a:blip r:embed="rId5">
            <a:extLst>
              <a:ext uri="{28A0092B-C50C-407E-A947-70E740481C1C}">
                <a14:useLocalDpi xmlns:a14="http://schemas.microsoft.com/office/drawing/2010/main" val="0"/>
              </a:ext>
            </a:extLst>
          </a:blip>
          <a:srcRect l="7072" r="8477" b="17827"/>
          <a:stretch>
            <a:fillRect/>
          </a:stretch>
        </p:blipFill>
        <p:spPr>
          <a:xfrm>
            <a:off x="5057466" y="3078586"/>
            <a:ext cx="8173065" cy="5943600"/>
          </a:xfrm>
          <a:prstGeom prst="rect">
            <a:avLst/>
          </a:prstGeom>
        </p:spPr>
      </p:pic>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B20F0689-CDC0-D0CC-3573-6AD5AAAA2145}"/>
                  </a:ext>
                </a:extLst>
              </p:cNvPr>
              <p:cNvSpPr txBox="1"/>
              <p:nvPr/>
            </p:nvSpPr>
            <p:spPr>
              <a:xfrm>
                <a:off x="3848097" y="9034886"/>
                <a:ext cx="10591802" cy="923330"/>
              </a:xfrm>
              <a:prstGeom prst="rect">
                <a:avLst/>
              </a:prstGeom>
              <a:noFill/>
            </p:spPr>
            <p:txBody>
              <a:bodyPr wrap="square" rtlCol="0">
                <a:spAutoFit/>
              </a:bodyPr>
              <a:lstStyle/>
              <a:p>
                <a:r>
                  <a:rPr lang="en-US" dirty="0"/>
                  <a:t>Fig. A sample of the 157 fitted time-resolved reflectance curves. The parameters of the Monte Carlo simulations are </a:t>
                </a:r>
                <a14:m>
                  <m:oMath xmlns:m="http://schemas.openxmlformats.org/officeDocument/2006/math">
                    <m:sSubSup>
                      <m:sSubSupPr>
                        <m:ctrlPr>
                          <a:rPr lang="en-US" i="1">
                            <a:latin typeface="Cambria Math" panose="02040503050406030204" pitchFamily="18" charset="0"/>
                          </a:rPr>
                        </m:ctrlPr>
                      </m:sSubSupPr>
                      <m:e>
                        <m:r>
                          <a:rPr lang="en-US" i="1">
                            <a:latin typeface="Cambria Math" panose="02040503050406030204" pitchFamily="18" charset="0"/>
                            <a:ea typeface="Cambria Math" panose="02040503050406030204" pitchFamily="18" charset="0"/>
                          </a:rPr>
                          <m:t>𝜇</m:t>
                        </m:r>
                      </m:e>
                      <m:sub>
                        <m:r>
                          <a:rPr lang="en-US" i="1">
                            <a:latin typeface="Cambria Math" panose="02040503050406030204" pitchFamily="18" charset="0"/>
                          </a:rPr>
                          <m:t>𝑠</m:t>
                        </m:r>
                      </m:sub>
                      <m:sup>
                        <m:r>
                          <a:rPr lang="en-US" i="1">
                            <a:latin typeface="Cambria Math" panose="02040503050406030204" pitchFamily="18" charset="0"/>
                          </a:rPr>
                          <m:t>′</m:t>
                        </m:r>
                      </m:sup>
                    </m:sSubSup>
                  </m:oMath>
                </a14:m>
                <a:r>
                  <a:rPr lang="en-US" dirty="0"/>
                  <a:t> = 1.0 </a:t>
                </a:r>
                <a14:m>
                  <m:oMath xmlns:m="http://schemas.openxmlformats.org/officeDocument/2006/math">
                    <m:sSup>
                      <m:sSupPr>
                        <m:ctrlPr>
                          <a:rPr lang="en-US" i="1">
                            <a:latin typeface="Cambria Math" panose="02040503050406030204" pitchFamily="18" charset="0"/>
                          </a:rPr>
                        </m:ctrlPr>
                      </m:sSupPr>
                      <m:e>
                        <m:r>
                          <a:rPr lang="en-US" i="1">
                            <a:latin typeface="Cambria Math" panose="02040503050406030204" pitchFamily="18" charset="0"/>
                          </a:rPr>
                          <m:t>𝑚𝑚</m:t>
                        </m:r>
                      </m:e>
                      <m:sup>
                        <m:r>
                          <a:rPr lang="en-US" i="1">
                            <a:latin typeface="Cambria Math" panose="02040503050406030204" pitchFamily="18" charset="0"/>
                          </a:rPr>
                          <m:t>−1</m:t>
                        </m:r>
                      </m:sup>
                    </m:sSup>
                  </m:oMath>
                </a14:m>
                <a:r>
                  <a:rPr lang="en-US" dirty="0"/>
                  <a:t> ,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ea typeface="Cambria Math" panose="02040503050406030204" pitchFamily="18" charset="0"/>
                          </a:rPr>
                          <m:t>𝜇</m:t>
                        </m:r>
                      </m:e>
                      <m:sub>
                        <m:r>
                          <a:rPr lang="en-US" i="1">
                            <a:latin typeface="Cambria Math" panose="02040503050406030204" pitchFamily="18" charset="0"/>
                          </a:rPr>
                          <m:t>𝑎</m:t>
                        </m:r>
                      </m:sub>
                    </m:sSub>
                  </m:oMath>
                </a14:m>
                <a:r>
                  <a:rPr lang="en-US" dirty="0"/>
                  <a:t>= 0 </a:t>
                </a:r>
                <a14:m>
                  <m:oMath xmlns:m="http://schemas.openxmlformats.org/officeDocument/2006/math">
                    <m:sSup>
                      <m:sSupPr>
                        <m:ctrlPr>
                          <a:rPr lang="en-US" i="1">
                            <a:latin typeface="Cambria Math" panose="02040503050406030204" pitchFamily="18" charset="0"/>
                          </a:rPr>
                        </m:ctrlPr>
                      </m:sSupPr>
                      <m:e>
                        <m:r>
                          <a:rPr lang="en-US" i="1">
                            <a:latin typeface="Cambria Math" panose="02040503050406030204" pitchFamily="18" charset="0"/>
                          </a:rPr>
                          <m:t>𝑚𝑚</m:t>
                        </m:r>
                      </m:e>
                      <m:sup>
                        <m:r>
                          <a:rPr lang="en-US" i="1">
                            <a:latin typeface="Cambria Math" panose="02040503050406030204" pitchFamily="18" charset="0"/>
                          </a:rPr>
                          <m:t>−1</m:t>
                        </m:r>
                      </m:sup>
                    </m:sSup>
                  </m:oMath>
                </a14:m>
                <a:r>
                  <a:rPr lang="en-US" dirty="0"/>
                  <a:t>, g = 0.8, n = 1.4 and 1&lt;p&lt;1.25 mm; the top curve is for p = 1 mm, the bottom curve is for p = 12.5 mm, and the other curves have been calculated for intervals of 0.125 mm. </a:t>
                </a:r>
              </a:p>
            </p:txBody>
          </p:sp>
        </mc:Choice>
        <mc:Fallback xmlns="">
          <p:sp>
            <p:nvSpPr>
              <p:cNvPr id="11" name="TextBox 10">
                <a:extLst>
                  <a:ext uri="{FF2B5EF4-FFF2-40B4-BE49-F238E27FC236}">
                    <a16:creationId xmlns:a16="http://schemas.microsoft.com/office/drawing/2014/main" id="{B20F0689-CDC0-D0CC-3573-6AD5AAAA2145}"/>
                  </a:ext>
                </a:extLst>
              </p:cNvPr>
              <p:cNvSpPr txBox="1">
                <a:spLocks noRot="1" noChangeAspect="1" noMove="1" noResize="1" noEditPoints="1" noAdjustHandles="1" noChangeArrowheads="1" noChangeShapeType="1" noTextEdit="1"/>
              </p:cNvSpPr>
              <p:nvPr/>
            </p:nvSpPr>
            <p:spPr>
              <a:xfrm>
                <a:off x="3848097" y="9034886"/>
                <a:ext cx="10591802" cy="923330"/>
              </a:xfrm>
              <a:prstGeom prst="rect">
                <a:avLst/>
              </a:prstGeom>
              <a:blipFill>
                <a:blip r:embed="rId6"/>
                <a:stretch>
                  <a:fillRect l="-460" t="-3289" r="-633" b="-9211"/>
                </a:stretch>
              </a:blipFill>
            </p:spPr>
            <p:txBody>
              <a:bodyPr/>
              <a:lstStyle/>
              <a:p>
                <a:r>
                  <a:rPr lang="en-US">
                    <a:noFill/>
                  </a:rPr>
                  <a:t> </a:t>
                </a:r>
              </a:p>
            </p:txBody>
          </p:sp>
        </mc:Fallback>
      </mc:AlternateContent>
    </p:spTree>
    <p:extLst>
      <p:ext uri="{BB962C8B-B14F-4D97-AF65-F5344CB8AC3E}">
        <p14:creationId xmlns:p14="http://schemas.microsoft.com/office/powerpoint/2010/main" val="326456936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alphaModFix amt="50000"/>
            </a:blip>
            <a:stretch>
              <a:fillRect/>
            </a:stretch>
          </a:blipFill>
        </p:spPr>
        <p:txBody>
          <a:bodyPr/>
          <a:lstStyle/>
          <a:p>
            <a:endParaRPr lang="en-US"/>
          </a:p>
        </p:txBody>
      </p:sp>
      <p:sp>
        <p:nvSpPr>
          <p:cNvPr id="3" name="TextBox 3"/>
          <p:cNvSpPr txBox="1"/>
          <p:nvPr/>
        </p:nvSpPr>
        <p:spPr>
          <a:xfrm>
            <a:off x="4485814" y="2762204"/>
            <a:ext cx="9316373" cy="2453640"/>
          </a:xfrm>
          <a:prstGeom prst="rect">
            <a:avLst/>
          </a:prstGeom>
        </p:spPr>
        <p:txBody>
          <a:bodyPr lIns="0" tIns="0" rIns="0" bIns="0" rtlCol="0" anchor="t">
            <a:spAutoFit/>
          </a:bodyPr>
          <a:lstStyle/>
          <a:p>
            <a:pPr algn="ctr">
              <a:lnSpc>
                <a:spcPts val="20160"/>
              </a:lnSpc>
            </a:pPr>
            <a:r>
              <a:rPr lang="en-US" sz="14400">
                <a:solidFill>
                  <a:srgbClr val="000000"/>
                </a:solidFill>
                <a:latin typeface="DM Serif Display"/>
                <a:ea typeface="DM Serif Display"/>
                <a:cs typeface="DM Serif Display"/>
                <a:sym typeface="DM Serif Display"/>
              </a:rPr>
              <a:t>The End</a:t>
            </a:r>
          </a:p>
        </p:txBody>
      </p:sp>
      <p:sp>
        <p:nvSpPr>
          <p:cNvPr id="4" name="TextBox 4"/>
          <p:cNvSpPr txBox="1"/>
          <p:nvPr/>
        </p:nvSpPr>
        <p:spPr>
          <a:xfrm>
            <a:off x="4180543" y="5328331"/>
            <a:ext cx="9926914" cy="405765"/>
          </a:xfrm>
          <a:prstGeom prst="rect">
            <a:avLst/>
          </a:prstGeom>
        </p:spPr>
        <p:txBody>
          <a:bodyPr lIns="0" tIns="0" rIns="0" bIns="0" rtlCol="0" anchor="t">
            <a:spAutoFit/>
          </a:bodyPr>
          <a:lstStyle/>
          <a:p>
            <a:pPr algn="ctr">
              <a:lnSpc>
                <a:spcPts val="3359"/>
              </a:lnSpc>
              <a:spcBef>
                <a:spcPct val="0"/>
              </a:spcBef>
            </a:pPr>
            <a:r>
              <a:rPr lang="en-US" sz="2400" spc="240">
                <a:solidFill>
                  <a:srgbClr val="000000"/>
                </a:solidFill>
                <a:latin typeface="Open Sauce"/>
                <a:ea typeface="Open Sauce"/>
                <a:cs typeface="Open Sauce"/>
                <a:sym typeface="Open Sauce"/>
              </a:rPr>
              <a:t>THANK YOU FOR LISTENING</a:t>
            </a:r>
          </a:p>
        </p:txBody>
      </p:sp>
      <p:sp>
        <p:nvSpPr>
          <p:cNvPr id="5" name="TextBox 5"/>
          <p:cNvSpPr txBox="1"/>
          <p:nvPr/>
        </p:nvSpPr>
        <p:spPr>
          <a:xfrm>
            <a:off x="7671329" y="8480425"/>
            <a:ext cx="2945342" cy="553165"/>
          </a:xfrm>
          <a:prstGeom prst="rect">
            <a:avLst/>
          </a:prstGeom>
        </p:spPr>
        <p:txBody>
          <a:bodyPr lIns="0" tIns="0" rIns="0" bIns="0" rtlCol="0" anchor="t">
            <a:spAutoFit/>
          </a:bodyPr>
          <a:lstStyle/>
          <a:p>
            <a:pPr algn="ctr">
              <a:lnSpc>
                <a:spcPts val="4480"/>
              </a:lnSpc>
              <a:spcBef>
                <a:spcPct val="0"/>
              </a:spcBef>
            </a:pPr>
            <a:r>
              <a:rPr lang="en-US" sz="3200" dirty="0">
                <a:solidFill>
                  <a:srgbClr val="000000">
                    <a:alpha val="49804"/>
                  </a:srgbClr>
                </a:solidFill>
                <a:latin typeface="DM Serif Display"/>
                <a:ea typeface="DM Serif Display"/>
                <a:cs typeface="DM Serif Display"/>
                <a:sym typeface="DM Serif Display"/>
              </a:rPr>
              <a:t>Thu Ta Zaw</a:t>
            </a:r>
          </a:p>
        </p:txBody>
      </p:sp>
      <p:sp>
        <p:nvSpPr>
          <p:cNvPr id="6" name="TextBox 6"/>
          <p:cNvSpPr txBox="1"/>
          <p:nvPr/>
        </p:nvSpPr>
        <p:spPr>
          <a:xfrm>
            <a:off x="7418762" y="9142095"/>
            <a:ext cx="3450476" cy="258725"/>
          </a:xfrm>
          <a:prstGeom prst="rect">
            <a:avLst/>
          </a:prstGeom>
        </p:spPr>
        <p:txBody>
          <a:bodyPr lIns="0" tIns="0" rIns="0" bIns="0" rtlCol="0" anchor="t">
            <a:spAutoFit/>
          </a:bodyPr>
          <a:lstStyle/>
          <a:p>
            <a:pPr lvl="0" algn="ctr">
              <a:lnSpc>
                <a:spcPts val="2239"/>
              </a:lnSpc>
              <a:spcBef>
                <a:spcPct val="0"/>
              </a:spcBef>
            </a:pPr>
            <a:r>
              <a:rPr lang="en-US" sz="1599" spc="159" dirty="0">
                <a:solidFill>
                  <a:srgbClr val="000000">
                    <a:alpha val="49804"/>
                  </a:srgbClr>
                </a:solidFill>
                <a:latin typeface="Open Sauce"/>
                <a:ea typeface="Open Sauce"/>
                <a:cs typeface="Open Sauce"/>
                <a:sym typeface="Open Sauce"/>
              </a:rPr>
              <a:t>2415121095</a:t>
            </a:r>
            <a:endParaRPr lang="en-US" sz="1599" u="none" strike="noStrike" spc="159" dirty="0">
              <a:solidFill>
                <a:srgbClr val="000000">
                  <a:alpha val="49804"/>
                </a:srgbClr>
              </a:solidFill>
              <a:latin typeface="Open Sauce"/>
              <a:ea typeface="Open Sauce"/>
              <a:cs typeface="Open Sauce"/>
              <a:sym typeface="Open Sauce"/>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3987</TotalTime>
  <Words>3165</Words>
  <Application>Microsoft Office PowerPoint</Application>
  <PresentationFormat>Custom</PresentationFormat>
  <Paragraphs>234</Paragraphs>
  <Slides>34</Slides>
  <Notes>9</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34</vt:i4>
      </vt:variant>
    </vt:vector>
  </HeadingPairs>
  <TitlesOfParts>
    <vt:vector size="42" baseType="lpstr">
      <vt:lpstr>Calibri</vt:lpstr>
      <vt:lpstr>Open Sauce</vt:lpstr>
      <vt:lpstr>Aptos</vt:lpstr>
      <vt:lpstr>Cambria Math</vt:lpstr>
      <vt:lpstr>Arial</vt:lpstr>
      <vt:lpstr>Times New Roman</vt:lpstr>
      <vt:lpstr>DM Serif Display</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Black and White Simple Minimalist Pitch Deck Marketing Presentation</dc:title>
  <dc:creator>LUCUS</dc:creator>
  <cp:lastModifiedBy>THU TA ZAW</cp:lastModifiedBy>
  <cp:revision>528</cp:revision>
  <dcterms:created xsi:type="dcterms:W3CDTF">2006-08-16T00:00:00Z</dcterms:created>
  <dcterms:modified xsi:type="dcterms:W3CDTF">2026-01-19T03:33:32Z</dcterms:modified>
  <dc:identifier>DAG0bfrM1o8</dc:identifier>
</cp:coreProperties>
</file>