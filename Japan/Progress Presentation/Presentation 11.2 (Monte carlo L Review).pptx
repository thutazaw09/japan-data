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854" r:id="rId3"/>
    <p:sldId id="860" r:id="rId4"/>
    <p:sldId id="861" r:id="rId5"/>
    <p:sldId id="862" r:id="rId6"/>
    <p:sldId id="864" r:id="rId7"/>
    <p:sldId id="863" r:id="rId8"/>
    <p:sldId id="865" r:id="rId9"/>
    <p:sldId id="866" r:id="rId10"/>
    <p:sldId id="867" r:id="rId11"/>
    <p:sldId id="868" r:id="rId12"/>
    <p:sldId id="869" r:id="rId13"/>
    <p:sldId id="870" r:id="rId14"/>
    <p:sldId id="874" r:id="rId15"/>
    <p:sldId id="875" r:id="rId16"/>
    <p:sldId id="876" r:id="rId17"/>
    <p:sldId id="873" r:id="rId18"/>
    <p:sldId id="878" r:id="rId19"/>
    <p:sldId id="877" r:id="rId20"/>
    <p:sldId id="267" r:id="rId21"/>
  </p:sldIdLst>
  <p:sldSz cx="18288000" cy="10287000"/>
  <p:notesSz cx="6858000" cy="9144000"/>
  <p:embeddedFontLst>
    <p:embeddedFont>
      <p:font typeface="Cambria Math" panose="02040503050406030204" pitchFamily="18" charset="0"/>
      <p:regular r:id="rId23"/>
    </p:embeddedFont>
    <p:embeddedFont>
      <p:font typeface="DM Serif Display" pitchFamily="2" charset="0"/>
      <p:regular r:id="rId24"/>
      <p:italic r:id="rId25"/>
    </p:embeddedFont>
    <p:embeddedFont>
      <p:font typeface="Open Sauce"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8" autoAdjust="0"/>
    <p:restoredTop sz="92668" autoAdjust="0"/>
  </p:normalViewPr>
  <p:slideViewPr>
    <p:cSldViewPr>
      <p:cViewPr>
        <p:scale>
          <a:sx n="50" d="100"/>
          <a:sy n="50" d="100"/>
        </p:scale>
        <p:origin x="2280" y="7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2EF82B-E016-44BD-B0C4-D5A3DF34FAF9}"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A7D310-3A65-477A-971E-8091E55376EC}" type="slidenum">
              <a:rPr lang="en-US" smtClean="0"/>
              <a:t>‹#›</a:t>
            </a:fld>
            <a:endParaRPr lang="en-US"/>
          </a:p>
        </p:txBody>
      </p:sp>
    </p:spTree>
    <p:extLst>
      <p:ext uri="{BB962C8B-B14F-4D97-AF65-F5344CB8AC3E}">
        <p14:creationId xmlns:p14="http://schemas.microsoft.com/office/powerpoint/2010/main" val="299359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a:latin typeface="Cambria Math" panose="02040503050406030204" pitchFamily="18" charset="0"/>
                            </a:rPr>
                            <m:t>𝑟</m:t>
                          </m:r>
                        </m:e>
                        <m:sub>
                          <m:r>
                            <a:rPr lang="en-US" sz="1200" b="0" i="1">
                              <a:latin typeface="Cambria Math" panose="02040503050406030204" pitchFamily="18" charset="0"/>
                            </a:rPr>
                            <m:t>𝑠𝑡𝑑</m:t>
                          </m:r>
                        </m:sub>
                      </m:sSub>
                    </m:oMath>
                  </m:oMathPara>
                </a14:m>
                <a:endParaRPr lang="en-US" dirty="0"/>
              </a:p>
            </p:txBody>
          </p:sp>
        </mc:Choice>
        <mc:Fallback xmlns="">
          <p:sp>
            <p:nvSpPr>
              <p:cNvPr id="3" name="Notes Placeholder 2"/>
              <p:cNvSpPr>
                <a:spLocks noGrp="1"/>
              </p:cNvSpPr>
              <p:nvPr>
                <p:ph type="body" idx="1"/>
              </p:nvPr>
            </p:nvSpPr>
            <p:spPr/>
            <p:txBody>
              <a:bodyPr/>
              <a:lstStyle/>
              <a:p>
                <a:r>
                  <a:rPr lang="en-US" sz="1200" b="0" i="0">
                    <a:latin typeface="Cambria Math" panose="02040503050406030204" pitchFamily="18" charset="0"/>
                  </a:rPr>
                  <a:t>𝑟_𝑠𝑡𝑑</a:t>
                </a:r>
                <a:endParaRPr lang="en-US" dirty="0"/>
              </a:p>
            </p:txBody>
          </p:sp>
        </mc:Fallback>
      </mc:AlternateContent>
      <p:sp>
        <p:nvSpPr>
          <p:cNvPr id="4" name="Slide Number Placeholder 3"/>
          <p:cNvSpPr>
            <a:spLocks noGrp="1"/>
          </p:cNvSpPr>
          <p:nvPr>
            <p:ph type="sldNum" sz="quarter" idx="5"/>
          </p:nvPr>
        </p:nvSpPr>
        <p:spPr/>
        <p:txBody>
          <a:bodyPr/>
          <a:lstStyle/>
          <a:p>
            <a:fld id="{7CA7D310-3A65-477A-971E-8091E55376EC}" type="slidenum">
              <a:rPr lang="en-US" smtClean="0"/>
              <a:t>5</a:t>
            </a:fld>
            <a:endParaRPr lang="en-US"/>
          </a:p>
        </p:txBody>
      </p:sp>
    </p:spTree>
    <p:extLst>
      <p:ext uri="{BB962C8B-B14F-4D97-AF65-F5344CB8AC3E}">
        <p14:creationId xmlns:p14="http://schemas.microsoft.com/office/powerpoint/2010/main" val="1483390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3D97-E6C1-62F7-579A-CB9A0A8B3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FE47E-C316-2B81-EF80-DCB7205AD52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BBB68C4-7374-0E02-32C4-8EB7584EDAE5}"/>
                  </a:ext>
                </a:extLst>
              </p:cNvPr>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a:latin typeface="Cambria Math" panose="02040503050406030204" pitchFamily="18" charset="0"/>
                            </a:rPr>
                            <m:t>𝑟</m:t>
                          </m:r>
                        </m:e>
                        <m:sub>
                          <m:r>
                            <a:rPr lang="en-US" sz="1200" b="0" i="1">
                              <a:latin typeface="Cambria Math" panose="02040503050406030204" pitchFamily="18" charset="0"/>
                            </a:rPr>
                            <m:t>𝑠𝑡𝑑</m:t>
                          </m:r>
                        </m:sub>
                      </m:sSub>
                    </m:oMath>
                  </m:oMathPara>
                </a14:m>
                <a:endParaRPr lang="en-US" dirty="0"/>
              </a:p>
            </p:txBody>
          </p:sp>
        </mc:Choice>
        <mc:Fallback xmlns="">
          <p:sp>
            <p:nvSpPr>
              <p:cNvPr id="3" name="Notes Placeholder 2">
                <a:extLst>
                  <a:ext uri="{FF2B5EF4-FFF2-40B4-BE49-F238E27FC236}">
                    <a16:creationId xmlns:a16="http://schemas.microsoft.com/office/drawing/2014/main" id="{4BBB68C4-7374-0E02-32C4-8EB7584EDAE5}"/>
                  </a:ext>
                </a:extLst>
              </p:cNvPr>
              <p:cNvSpPr>
                <a:spLocks noGrp="1"/>
              </p:cNvSpPr>
              <p:nvPr>
                <p:ph type="body" idx="1"/>
              </p:nvPr>
            </p:nvSpPr>
            <p:spPr/>
            <p:txBody>
              <a:bodyPr/>
              <a:lstStyle/>
              <a:p>
                <a:r>
                  <a:rPr lang="en-US" sz="1200" b="0" i="0">
                    <a:latin typeface="Cambria Math" panose="02040503050406030204" pitchFamily="18" charset="0"/>
                  </a:rPr>
                  <a:t>𝑟_𝑠𝑡𝑑</a:t>
                </a:r>
                <a:endParaRPr lang="en-US" dirty="0"/>
              </a:p>
            </p:txBody>
          </p:sp>
        </mc:Fallback>
      </mc:AlternateContent>
      <p:sp>
        <p:nvSpPr>
          <p:cNvPr id="4" name="Slide Number Placeholder 3">
            <a:extLst>
              <a:ext uri="{FF2B5EF4-FFF2-40B4-BE49-F238E27FC236}">
                <a16:creationId xmlns:a16="http://schemas.microsoft.com/office/drawing/2014/main" id="{6A366876-2583-A53A-0423-ED1E56409439}"/>
              </a:ext>
            </a:extLst>
          </p:cNvPr>
          <p:cNvSpPr>
            <a:spLocks noGrp="1"/>
          </p:cNvSpPr>
          <p:nvPr>
            <p:ph type="sldNum" sz="quarter" idx="5"/>
          </p:nvPr>
        </p:nvSpPr>
        <p:spPr/>
        <p:txBody>
          <a:bodyPr/>
          <a:lstStyle/>
          <a:p>
            <a:fld id="{7CA7D310-3A65-477A-971E-8091E55376EC}" type="slidenum">
              <a:rPr lang="en-US" smtClean="0"/>
              <a:t>7</a:t>
            </a:fld>
            <a:endParaRPr lang="en-US"/>
          </a:p>
        </p:txBody>
      </p:sp>
    </p:spTree>
    <p:extLst>
      <p:ext uri="{BB962C8B-B14F-4D97-AF65-F5344CB8AC3E}">
        <p14:creationId xmlns:p14="http://schemas.microsoft.com/office/powerpoint/2010/main" val="629201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7D9A8-2131-11B5-15E5-83F2D4F6C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36D4C-2F0B-6F35-DAAC-5BC6ABCE238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8786E2B-D487-EAC8-E1D8-2CB5C8946638}"/>
                  </a:ext>
                </a:extLst>
              </p:cNvPr>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a:latin typeface="Cambria Math" panose="02040503050406030204" pitchFamily="18" charset="0"/>
                            </a:rPr>
                            <m:t>𝑟</m:t>
                          </m:r>
                        </m:e>
                        <m:sub>
                          <m:r>
                            <a:rPr lang="en-US" sz="1200" b="0" i="1">
                              <a:latin typeface="Cambria Math" panose="02040503050406030204" pitchFamily="18" charset="0"/>
                            </a:rPr>
                            <m:t>𝑠𝑡𝑑</m:t>
                          </m:r>
                        </m:sub>
                      </m:sSub>
                    </m:oMath>
                  </m:oMathPara>
                </a14:m>
                <a:endParaRPr lang="en-US" dirty="0"/>
              </a:p>
            </p:txBody>
          </p:sp>
        </mc:Choice>
        <mc:Fallback xmlns="">
          <p:sp>
            <p:nvSpPr>
              <p:cNvPr id="3" name="Notes Placeholder 2">
                <a:extLst>
                  <a:ext uri="{FF2B5EF4-FFF2-40B4-BE49-F238E27FC236}">
                    <a16:creationId xmlns:a16="http://schemas.microsoft.com/office/drawing/2014/main" id="{B8786E2B-D487-EAC8-E1D8-2CB5C8946638}"/>
                  </a:ext>
                </a:extLst>
              </p:cNvPr>
              <p:cNvSpPr>
                <a:spLocks noGrp="1"/>
              </p:cNvSpPr>
              <p:nvPr>
                <p:ph type="body" idx="1"/>
              </p:nvPr>
            </p:nvSpPr>
            <p:spPr/>
            <p:txBody>
              <a:bodyPr/>
              <a:lstStyle/>
              <a:p>
                <a:r>
                  <a:rPr lang="en-US" sz="1200" b="0" i="0">
                    <a:latin typeface="Cambria Math" panose="02040503050406030204" pitchFamily="18" charset="0"/>
                  </a:rPr>
                  <a:t>𝑟_𝑠𝑡𝑑</a:t>
                </a:r>
                <a:endParaRPr lang="en-US" dirty="0"/>
              </a:p>
            </p:txBody>
          </p:sp>
        </mc:Fallback>
      </mc:AlternateContent>
      <p:sp>
        <p:nvSpPr>
          <p:cNvPr id="4" name="Slide Number Placeholder 3">
            <a:extLst>
              <a:ext uri="{FF2B5EF4-FFF2-40B4-BE49-F238E27FC236}">
                <a16:creationId xmlns:a16="http://schemas.microsoft.com/office/drawing/2014/main" id="{D585FCF4-643A-5981-BBA3-630FCAD03E6A}"/>
              </a:ext>
            </a:extLst>
          </p:cNvPr>
          <p:cNvSpPr>
            <a:spLocks noGrp="1"/>
          </p:cNvSpPr>
          <p:nvPr>
            <p:ph type="sldNum" sz="quarter" idx="5"/>
          </p:nvPr>
        </p:nvSpPr>
        <p:spPr/>
        <p:txBody>
          <a:bodyPr/>
          <a:lstStyle/>
          <a:p>
            <a:fld id="{7CA7D310-3A65-477A-971E-8091E55376EC}" type="slidenum">
              <a:rPr lang="en-US" smtClean="0"/>
              <a:t>9</a:t>
            </a:fld>
            <a:endParaRPr lang="en-US"/>
          </a:p>
        </p:txBody>
      </p:sp>
    </p:spTree>
    <p:extLst>
      <p:ext uri="{BB962C8B-B14F-4D97-AF65-F5344CB8AC3E}">
        <p14:creationId xmlns:p14="http://schemas.microsoft.com/office/powerpoint/2010/main" val="3688103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Powell’s method don’t require the input function derivative. </a:t>
            </a:r>
          </a:p>
        </p:txBody>
      </p:sp>
      <p:sp>
        <p:nvSpPr>
          <p:cNvPr id="4" name="Slide Number Placeholder 3"/>
          <p:cNvSpPr>
            <a:spLocks noGrp="1"/>
          </p:cNvSpPr>
          <p:nvPr>
            <p:ph type="sldNum" sz="quarter" idx="5"/>
          </p:nvPr>
        </p:nvSpPr>
        <p:spPr/>
        <p:txBody>
          <a:bodyPr/>
          <a:lstStyle/>
          <a:p>
            <a:fld id="{7CA7D310-3A65-477A-971E-8091E55376EC}" type="slidenum">
              <a:rPr lang="en-US" smtClean="0"/>
              <a:t>17</a:t>
            </a:fld>
            <a:endParaRPr lang="en-US"/>
          </a:p>
        </p:txBody>
      </p:sp>
    </p:spTree>
    <p:extLst>
      <p:ext uri="{BB962C8B-B14F-4D97-AF65-F5344CB8AC3E}">
        <p14:creationId xmlns:p14="http://schemas.microsoft.com/office/powerpoint/2010/main" val="3474389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8A8B6-085B-1635-88D5-43D77F1BF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644AD-E421-5C83-FD16-89C93C081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4ED78-CEB8-9A31-539F-3B00BD8F9441}"/>
              </a:ext>
            </a:extLst>
          </p:cNvPr>
          <p:cNvSpPr>
            <a:spLocks noGrp="1"/>
          </p:cNvSpPr>
          <p:nvPr>
            <p:ph type="body" idx="1"/>
          </p:nvPr>
        </p:nvSpPr>
        <p:spPr/>
        <p:txBody>
          <a:bodyPr/>
          <a:lstStyle/>
          <a:p>
            <a:r>
              <a:rPr lang="en-US" dirty="0"/>
              <a:t>Powell’s method don’t require the input function derivative. </a:t>
            </a:r>
          </a:p>
        </p:txBody>
      </p:sp>
      <p:sp>
        <p:nvSpPr>
          <p:cNvPr id="4" name="Slide Number Placeholder 3">
            <a:extLst>
              <a:ext uri="{FF2B5EF4-FFF2-40B4-BE49-F238E27FC236}">
                <a16:creationId xmlns:a16="http://schemas.microsoft.com/office/drawing/2014/main" id="{B1B6DE0C-B092-428A-97C7-BC1AD66A342C}"/>
              </a:ext>
            </a:extLst>
          </p:cNvPr>
          <p:cNvSpPr>
            <a:spLocks noGrp="1"/>
          </p:cNvSpPr>
          <p:nvPr>
            <p:ph type="sldNum" sz="quarter" idx="5"/>
          </p:nvPr>
        </p:nvSpPr>
        <p:spPr/>
        <p:txBody>
          <a:bodyPr/>
          <a:lstStyle/>
          <a:p>
            <a:fld id="{7CA7D310-3A65-477A-971E-8091E55376EC}" type="slidenum">
              <a:rPr lang="en-US" smtClean="0"/>
              <a:t>18</a:t>
            </a:fld>
            <a:endParaRPr lang="en-US"/>
          </a:p>
        </p:txBody>
      </p:sp>
    </p:spTree>
    <p:extLst>
      <p:ext uri="{BB962C8B-B14F-4D97-AF65-F5344CB8AC3E}">
        <p14:creationId xmlns:p14="http://schemas.microsoft.com/office/powerpoint/2010/main" val="4014202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B7AA5-450A-F7D4-C815-F3012A427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BA879-490B-0051-B3CD-729A0A490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DE282-D379-BAEE-9B4C-580FC156C425}"/>
              </a:ext>
            </a:extLst>
          </p:cNvPr>
          <p:cNvSpPr>
            <a:spLocks noGrp="1"/>
          </p:cNvSpPr>
          <p:nvPr>
            <p:ph type="body" idx="1"/>
          </p:nvPr>
        </p:nvSpPr>
        <p:spPr/>
        <p:txBody>
          <a:bodyPr/>
          <a:lstStyle/>
          <a:p>
            <a:r>
              <a:rPr lang="en-US" dirty="0"/>
              <a:t>Powell’s method don’t require the input function derivative. </a:t>
            </a:r>
          </a:p>
        </p:txBody>
      </p:sp>
      <p:sp>
        <p:nvSpPr>
          <p:cNvPr id="4" name="Slide Number Placeholder 3">
            <a:extLst>
              <a:ext uri="{FF2B5EF4-FFF2-40B4-BE49-F238E27FC236}">
                <a16:creationId xmlns:a16="http://schemas.microsoft.com/office/drawing/2014/main" id="{09BB9FB9-529C-4763-1321-5F182DAF7720}"/>
              </a:ext>
            </a:extLst>
          </p:cNvPr>
          <p:cNvSpPr>
            <a:spLocks noGrp="1"/>
          </p:cNvSpPr>
          <p:nvPr>
            <p:ph type="sldNum" sz="quarter" idx="5"/>
          </p:nvPr>
        </p:nvSpPr>
        <p:spPr/>
        <p:txBody>
          <a:bodyPr/>
          <a:lstStyle/>
          <a:p>
            <a:fld id="{7CA7D310-3A65-477A-971E-8091E55376EC}" type="slidenum">
              <a:rPr lang="en-US" smtClean="0"/>
              <a:t>19</a:t>
            </a:fld>
            <a:endParaRPr lang="en-US"/>
          </a:p>
        </p:txBody>
      </p:sp>
    </p:spTree>
    <p:extLst>
      <p:ext uri="{BB962C8B-B14F-4D97-AF65-F5344CB8AC3E}">
        <p14:creationId xmlns:p14="http://schemas.microsoft.com/office/powerpoint/2010/main" val="717869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dirty="0"/>
          </a:p>
        </p:txBody>
      </p:sp>
      <p:sp>
        <p:nvSpPr>
          <p:cNvPr id="3" name="TextBox 3"/>
          <p:cNvSpPr txBox="1"/>
          <p:nvPr/>
        </p:nvSpPr>
        <p:spPr>
          <a:xfrm>
            <a:off x="2613987" y="2765510"/>
            <a:ext cx="13060024" cy="2394053"/>
          </a:xfrm>
          <a:prstGeom prst="rect">
            <a:avLst/>
          </a:prstGeom>
        </p:spPr>
        <p:txBody>
          <a:bodyPr wrap="square" lIns="0" tIns="0" rIns="0" bIns="0" rtlCol="0" anchor="t">
            <a:spAutoFit/>
          </a:bodyPr>
          <a:lstStyle/>
          <a:p>
            <a:pPr algn="ctr">
              <a:lnSpc>
                <a:spcPts val="20160"/>
              </a:lnSpc>
            </a:pPr>
            <a:r>
              <a:rPr lang="en-US" sz="12000" dirty="0">
                <a:solidFill>
                  <a:srgbClr val="000000"/>
                </a:solidFill>
                <a:latin typeface="DM Serif Display"/>
                <a:ea typeface="DM Serif Display"/>
                <a:cs typeface="DM Serif Display"/>
                <a:sym typeface="DM Serif Display"/>
              </a:rPr>
              <a:t>Presentation XI</a:t>
            </a:r>
          </a:p>
        </p:txBody>
      </p:sp>
      <p:sp>
        <p:nvSpPr>
          <p:cNvPr id="5" name="TextBox 5"/>
          <p:cNvSpPr txBox="1"/>
          <p:nvPr/>
        </p:nvSpPr>
        <p:spPr>
          <a:xfrm>
            <a:off x="7671329" y="8480425"/>
            <a:ext cx="2945342" cy="553165"/>
          </a:xfrm>
          <a:prstGeom prst="rect">
            <a:avLst/>
          </a:prstGeom>
        </p:spPr>
        <p:txBody>
          <a:bodyPr lIns="0" tIns="0" rIns="0" bIns="0" rtlCol="0" anchor="t">
            <a:spAutoFit/>
          </a:bodyPr>
          <a:lstStyle/>
          <a:p>
            <a:pPr algn="ctr">
              <a:lnSpc>
                <a:spcPts val="4480"/>
              </a:lnSpc>
              <a:spcBef>
                <a:spcPct val="0"/>
              </a:spcBef>
            </a:pPr>
            <a:r>
              <a:rPr lang="en-US" sz="3200" dirty="0">
                <a:solidFill>
                  <a:srgbClr val="000000">
                    <a:alpha val="49804"/>
                  </a:srgbClr>
                </a:solidFill>
                <a:latin typeface="DM Serif Display"/>
                <a:ea typeface="DM Serif Display"/>
                <a:cs typeface="DM Serif Display"/>
                <a:sym typeface="DM Serif Display"/>
              </a:rPr>
              <a:t>Thu Ta Zaw</a:t>
            </a:r>
          </a:p>
        </p:txBody>
      </p:sp>
      <p:sp>
        <p:nvSpPr>
          <p:cNvPr id="6" name="TextBox 6"/>
          <p:cNvSpPr txBox="1"/>
          <p:nvPr/>
        </p:nvSpPr>
        <p:spPr>
          <a:xfrm>
            <a:off x="7418762" y="9142095"/>
            <a:ext cx="3450476" cy="258725"/>
          </a:xfrm>
          <a:prstGeom prst="rect">
            <a:avLst/>
          </a:prstGeom>
        </p:spPr>
        <p:txBody>
          <a:bodyPr lIns="0" tIns="0" rIns="0" bIns="0" rtlCol="0" anchor="t">
            <a:spAutoFit/>
          </a:bodyPr>
          <a:lstStyle/>
          <a:p>
            <a:pPr marL="0" lvl="0" indent="0" algn="ctr">
              <a:lnSpc>
                <a:spcPts val="2239"/>
              </a:lnSpc>
              <a:spcBef>
                <a:spcPct val="0"/>
              </a:spcBef>
            </a:pPr>
            <a:r>
              <a:rPr lang="en-US" sz="1599" u="none" strike="noStrike" spc="159" dirty="0">
                <a:solidFill>
                  <a:srgbClr val="000000">
                    <a:alpha val="49804"/>
                  </a:srgbClr>
                </a:solidFill>
                <a:latin typeface="Open Sauce"/>
                <a:ea typeface="Open Sauce"/>
                <a:cs typeface="Open Sauce"/>
                <a:sym typeface="Open Sauce"/>
              </a:rPr>
              <a:t>2415121095</a:t>
            </a:r>
          </a:p>
        </p:txBody>
      </p:sp>
      <p:sp>
        <p:nvSpPr>
          <p:cNvPr id="7" name="TextBox 8">
            <a:extLst>
              <a:ext uri="{FF2B5EF4-FFF2-40B4-BE49-F238E27FC236}">
                <a16:creationId xmlns:a16="http://schemas.microsoft.com/office/drawing/2014/main" id="{7B244B4F-61ED-CD64-3F42-BB24EA8E2BD6}"/>
              </a:ext>
            </a:extLst>
          </p:cNvPr>
          <p:cNvSpPr txBox="1"/>
          <p:nvPr/>
        </p:nvSpPr>
        <p:spPr>
          <a:xfrm>
            <a:off x="6648724" y="4871022"/>
            <a:ext cx="4990550" cy="577081"/>
          </a:xfrm>
          <a:prstGeom prst="rect">
            <a:avLst/>
          </a:prstGeom>
        </p:spPr>
        <p:txBody>
          <a:bodyPr wrap="square" lIns="0" tIns="0" rIns="0" bIns="0" rtlCol="0" anchor="t">
            <a:spAutoFit/>
          </a:bodyPr>
          <a:lstStyle/>
          <a:p>
            <a:pPr marL="302259" lvl="1" algn="l">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grpSp>
        <p:nvGrpSpPr>
          <p:cNvPr id="4" name="Group 3">
            <a:extLst>
              <a:ext uri="{FF2B5EF4-FFF2-40B4-BE49-F238E27FC236}">
                <a16:creationId xmlns:a16="http://schemas.microsoft.com/office/drawing/2014/main" id="{ABCF42FA-AD96-6718-B5FF-6A0BFF7AD7F8}"/>
              </a:ext>
            </a:extLst>
          </p:cNvPr>
          <p:cNvGrpSpPr/>
          <p:nvPr/>
        </p:nvGrpSpPr>
        <p:grpSpPr>
          <a:xfrm>
            <a:off x="13826319" y="0"/>
            <a:ext cx="4461681" cy="2019300"/>
            <a:chOff x="10985984" y="47827"/>
            <a:chExt cx="1034194" cy="467116"/>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A069B459-3DF4-5F50-9704-697C705997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ivision of Health Sciences Graduate School of Medical Sciences, Kanazawa  University">
              <a:extLst>
                <a:ext uri="{FF2B5EF4-FFF2-40B4-BE49-F238E27FC236}">
                  <a16:creationId xmlns:a16="http://schemas.microsoft.com/office/drawing/2014/main" id="{5554D7E3-09F1-F888-8561-58B8ED11C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4A59-E510-D3CE-EEDC-BAF687066C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F69A78-7C48-B4A8-387C-4A83B1653B2F}"/>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1B8D32E8-879F-FF77-5F6B-BB5553F71369}"/>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87F14995-EBF8-E012-9950-1F72926DF528}"/>
              </a:ext>
            </a:extLst>
          </p:cNvPr>
          <p:cNvSpPr txBox="1"/>
          <p:nvPr/>
        </p:nvSpPr>
        <p:spPr>
          <a:xfrm>
            <a:off x="755816" y="2628122"/>
            <a:ext cx="16541583" cy="6624891"/>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 </a:t>
            </a:r>
            <a:endParaRPr lang="en-US" sz="2500" b="1" dirty="0"/>
          </a:p>
          <a:p>
            <a:pPr marL="604519" lvl="1" indent="-302260">
              <a:lnSpc>
                <a:spcPct val="200000"/>
              </a:lnSpc>
              <a:buFont typeface="Arial"/>
              <a:buChar char="•"/>
            </a:pPr>
            <a:r>
              <a:rPr lang="en-US" sz="2500" dirty="0"/>
              <a:t>Monte Carlo simulation is used for simulating light transport in biological tissue.</a:t>
            </a:r>
          </a:p>
          <a:p>
            <a:pPr marL="604519" lvl="1" indent="-302260">
              <a:lnSpc>
                <a:spcPct val="200000"/>
              </a:lnSpc>
              <a:buFont typeface="Arial"/>
              <a:buChar char="•"/>
            </a:pPr>
            <a:r>
              <a:rPr lang="en-US" sz="2500" dirty="0"/>
              <a:t>Integrating spheres make experimental measurements of the reflectance and transmittance of a sample.</a:t>
            </a:r>
          </a:p>
          <a:p>
            <a:pPr marL="604519" lvl="1" indent="-302260">
              <a:lnSpc>
                <a:spcPct val="200000"/>
              </a:lnSpc>
              <a:buFont typeface="Arial"/>
              <a:buChar char="•"/>
            </a:pPr>
            <a:r>
              <a:rPr lang="en-US" sz="2500" dirty="0"/>
              <a:t>In this research, the Integrating Sphere Monte Carlo (ISMC), which is the extension of Monte Carlo Photon transport methods to simulate the propagation of photons in Integrating Sphere is presented.</a:t>
            </a:r>
          </a:p>
          <a:p>
            <a:pPr marL="604519" lvl="1" indent="-302260">
              <a:lnSpc>
                <a:spcPct val="200000"/>
              </a:lnSpc>
              <a:buFont typeface="Arial"/>
              <a:buChar char="•"/>
            </a:pPr>
            <a:r>
              <a:rPr lang="en-US" sz="2500" dirty="0"/>
              <a:t>Validated with previous work on Monte Carlo photon transport, and experimental measurements of a synthetic tissue phantom validate this method.</a:t>
            </a:r>
          </a:p>
          <a:p>
            <a:pPr marL="604519" lvl="1" indent="-302260">
              <a:lnSpc>
                <a:spcPct val="200000"/>
              </a:lnSpc>
              <a:buFont typeface="Arial"/>
              <a:buChar char="•"/>
            </a:pPr>
            <a:r>
              <a:rPr lang="en-US" sz="2500" dirty="0"/>
              <a:t>Presented tow approach lookup table method and multivariable minimization method to back-calculate the optical properties of samples.</a:t>
            </a:r>
          </a:p>
        </p:txBody>
      </p:sp>
      <p:sp>
        <p:nvSpPr>
          <p:cNvPr id="4" name="TextBox 8">
            <a:extLst>
              <a:ext uri="{FF2B5EF4-FFF2-40B4-BE49-F238E27FC236}">
                <a16:creationId xmlns:a16="http://schemas.microsoft.com/office/drawing/2014/main" id="{054FA952-5108-6FE4-18F4-46D0E93CE8DD}"/>
              </a:ext>
            </a:extLst>
          </p:cNvPr>
          <p:cNvSpPr txBox="1"/>
          <p:nvPr/>
        </p:nvSpPr>
        <p:spPr>
          <a:xfrm>
            <a:off x="755816" y="1251330"/>
            <a:ext cx="15549299" cy="1154162"/>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Prediction of tissue optical properties using the Monte Carlo modeling of photon transport in turbid media and integrating sphere</a:t>
            </a:r>
          </a:p>
        </p:txBody>
      </p:sp>
    </p:spTree>
    <p:extLst>
      <p:ext uri="{BB962C8B-B14F-4D97-AF65-F5344CB8AC3E}">
        <p14:creationId xmlns:p14="http://schemas.microsoft.com/office/powerpoint/2010/main" val="3479518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DE5F2-6CAF-44A3-5718-93946483BE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B272F20-70BA-349D-3C22-DB1314D8ACF7}"/>
              </a:ext>
            </a:extLst>
          </p:cNvPr>
          <p:cNvSpPr/>
          <p:nvPr/>
        </p:nvSpPr>
        <p:spPr>
          <a:xfrm>
            <a:off x="0" y="2205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24F1036A-E337-51F6-0F97-7F529267F136}"/>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79BA6975-857B-FBA3-D3AA-9D2EAA8ECB7A}"/>
              </a:ext>
            </a:extLst>
          </p:cNvPr>
          <p:cNvSpPr txBox="1"/>
          <p:nvPr/>
        </p:nvSpPr>
        <p:spPr>
          <a:xfrm>
            <a:off x="755816" y="2628122"/>
            <a:ext cx="16541583" cy="6047809"/>
          </a:xfrm>
          <a:prstGeom prst="rect">
            <a:avLst/>
          </a:prstGeom>
        </p:spPr>
        <p:txBody>
          <a:bodyPr wrap="square" lIns="0" tIns="0" rIns="0" bIns="0" rtlCol="0" anchor="t">
            <a:spAutoFit/>
          </a:bodyPr>
          <a:lstStyle/>
          <a:p>
            <a:pPr marL="604519" lvl="1" indent="-302260">
              <a:lnSpc>
                <a:spcPct val="200000"/>
              </a:lnSpc>
              <a:buFont typeface="Arial"/>
              <a:buChar char="•"/>
            </a:pPr>
            <a:r>
              <a:rPr lang="en-US" sz="2500" dirty="0"/>
              <a:t>Solved problem of standard Monte Carlo (MC) models ignore integrating sphere geometry. </a:t>
            </a:r>
          </a:p>
          <a:p>
            <a:pPr marL="604519" lvl="1" indent="-302260">
              <a:lnSpc>
                <a:spcPct val="200000"/>
              </a:lnSpc>
              <a:buFont typeface="Arial"/>
              <a:buChar char="•"/>
            </a:pPr>
            <a:r>
              <a:rPr lang="en-US" sz="2500" dirty="0"/>
              <a:t>Integrating spheres cause photon re-incidence and sphere-to-sphere crosstalk, which can lead to inaccurate inverse solution with error over &gt;20%.</a:t>
            </a:r>
          </a:p>
          <a:p>
            <a:pPr marL="604519" lvl="1" indent="-302260">
              <a:lnSpc>
                <a:spcPct val="200000"/>
              </a:lnSpc>
              <a:buFont typeface="Arial"/>
              <a:buChar char="•"/>
            </a:pPr>
            <a:r>
              <a:rPr lang="en-US" sz="2500" dirty="0"/>
              <a:t>ISMC models photon interactions with integrating spheres and accounts for photon re-incidence and dual-sphere crosstalk.</a:t>
            </a:r>
          </a:p>
          <a:p>
            <a:pPr marL="604519" lvl="1" indent="-302260">
              <a:lnSpc>
                <a:spcPct val="200000"/>
              </a:lnSpc>
              <a:buFont typeface="Arial"/>
              <a:buChar char="•"/>
            </a:pPr>
            <a:r>
              <a:rPr lang="en-US" sz="2500" dirty="0"/>
              <a:t>It is computationally efficient and avoids full ray-tracing inside spheres and only requires only one simulation per illumination. </a:t>
            </a:r>
          </a:p>
          <a:p>
            <a:pPr marL="604519" lvl="1" indent="-302260">
              <a:lnSpc>
                <a:spcPct val="200000"/>
              </a:lnSpc>
              <a:buFont typeface="Arial"/>
              <a:buChar char="•"/>
            </a:pPr>
            <a:r>
              <a:rPr lang="en-US" sz="2500" dirty="0"/>
              <a:t>Supports both single and dual sphere configurations. </a:t>
            </a:r>
          </a:p>
          <a:p>
            <a:pPr marL="604519" lvl="1" indent="-302260">
              <a:lnSpc>
                <a:spcPct val="200000"/>
              </a:lnSpc>
              <a:buFont typeface="Arial"/>
              <a:buChar char="•"/>
            </a:pPr>
            <a:r>
              <a:rPr lang="en-US" sz="2500" dirty="0"/>
              <a:t>Experimental and simulation uncertainties are propagated through both methods. </a:t>
            </a:r>
            <a:endParaRPr lang="en-US" sz="2500" dirty="0">
              <a:highlight>
                <a:srgbClr val="FFFF00"/>
              </a:highlight>
            </a:endParaRPr>
          </a:p>
        </p:txBody>
      </p:sp>
      <p:sp>
        <p:nvSpPr>
          <p:cNvPr id="4" name="TextBox 8">
            <a:extLst>
              <a:ext uri="{FF2B5EF4-FFF2-40B4-BE49-F238E27FC236}">
                <a16:creationId xmlns:a16="http://schemas.microsoft.com/office/drawing/2014/main" id="{5DBE742C-B643-C969-BBB4-A16EB04FC5DF}"/>
              </a:ext>
            </a:extLst>
          </p:cNvPr>
          <p:cNvSpPr txBox="1"/>
          <p:nvPr/>
        </p:nvSpPr>
        <p:spPr>
          <a:xfrm>
            <a:off x="755816" y="1251330"/>
            <a:ext cx="15549299" cy="1154162"/>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Prediction of tissue optical properties using the Monte Carlo modeling of photon transport in turbid media and integrating sphere</a:t>
            </a:r>
          </a:p>
        </p:txBody>
      </p:sp>
    </p:spTree>
    <p:extLst>
      <p:ext uri="{BB962C8B-B14F-4D97-AF65-F5344CB8AC3E}">
        <p14:creationId xmlns:p14="http://schemas.microsoft.com/office/powerpoint/2010/main" val="1491509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8B0BB-B3FE-3616-79A4-48D9371B54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AB69CFA-49BB-0793-A5BD-F596C7605DCD}"/>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95C48AF8-12D4-A649-11F4-C4B437FF6D41}"/>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AD090B51-EE07-B3F8-47EF-1EA8621FB416}"/>
                  </a:ext>
                </a:extLst>
              </p:cNvPr>
              <p:cNvSpPr txBox="1"/>
              <p:nvPr/>
            </p:nvSpPr>
            <p:spPr>
              <a:xfrm>
                <a:off x="873208" y="1562100"/>
                <a:ext cx="16541583" cy="7419211"/>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Integrating Sphere measurement (Reflectance)</a:t>
                </a:r>
                <a:endParaRPr lang="en-US" sz="2500" b="1" dirty="0"/>
              </a:p>
              <a:p>
                <a:pPr marL="604519" lvl="1" indent="-302260">
                  <a:lnSpc>
                    <a:spcPct val="200000"/>
                  </a:lnSpc>
                  <a:buFont typeface="Arial"/>
                  <a:buChar char="•"/>
                </a:pPr>
                <a:r>
                  <a:rPr lang="en-US" sz="2500" dirty="0"/>
                  <a:t>Integrating sphere measurements determine two important values: the measured reflectance,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𝑀</m:t>
                        </m:r>
                      </m:e>
                      <m:sub>
                        <m:r>
                          <a:rPr lang="en-US" sz="2500" i="1">
                            <a:latin typeface="Cambria Math" panose="02040503050406030204" pitchFamily="18" charset="0"/>
                          </a:rPr>
                          <m:t>𝑅</m:t>
                        </m:r>
                      </m:sub>
                    </m:sSub>
                  </m:oMath>
                </a14:m>
                <a:r>
                  <a:rPr lang="en-US" sz="2500" dirty="0"/>
                  <a:t> and the Measured transmittance,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𝑀</m:t>
                        </m:r>
                      </m:e>
                      <m:sub>
                        <m:r>
                          <a:rPr lang="en-US" sz="2500" b="0" i="1" smtClean="0">
                            <a:latin typeface="Cambria Math" panose="02040503050406030204" pitchFamily="18" charset="0"/>
                          </a:rPr>
                          <m:t>𝑇</m:t>
                        </m:r>
                      </m:sub>
                    </m:sSub>
                  </m:oMath>
                </a14:m>
                <a:r>
                  <a:rPr lang="en-US" sz="2500" dirty="0"/>
                  <a:t> . </a:t>
                </a:r>
                <a:endParaRPr lang="en-US" sz="2500" dirty="0">
                  <a:highlight>
                    <a:srgbClr val="FFFF00"/>
                  </a:highlight>
                </a:endParaRPr>
              </a:p>
              <a:p>
                <a:pPr marL="604519" lvl="1" indent="-302260">
                  <a:lnSpc>
                    <a:spcPct val="200000"/>
                  </a:lnSpc>
                  <a:buFont typeface="Arial"/>
                  <a:buChar char="•"/>
                </a:pPr>
                <a:r>
                  <a:rPr lang="en-US" sz="2500" dirty="0"/>
                  <a:t>Calculating </a:t>
                </a:r>
                <a14:m>
                  <m:oMath xmlns:m="http://schemas.openxmlformats.org/officeDocument/2006/math">
                    <m:sSub>
                      <m:sSubPr>
                        <m:ctrlPr>
                          <a:rPr lang="en-US" sz="2500" i="1" smtClean="0">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rPr>
                          <m:t>𝑅</m:t>
                        </m:r>
                      </m:sub>
                    </m:sSub>
                  </m:oMath>
                </a14:m>
                <a:r>
                  <a:rPr lang="en-US" sz="2500" dirty="0"/>
                  <a:t> requires one value and three measurements: </a:t>
                </a:r>
              </a:p>
              <a:p>
                <a:pPr marL="1976119" lvl="4"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b="0" i="1" smtClean="0">
                            <a:latin typeface="Cambria Math" panose="02040503050406030204" pitchFamily="18" charset="0"/>
                          </a:rPr>
                          <m:t>𝑟</m:t>
                        </m:r>
                      </m:e>
                      <m:sub>
                        <m:r>
                          <a:rPr lang="en-US" sz="2500" b="0" i="1" smtClean="0">
                            <a:latin typeface="Cambria Math" panose="02040503050406030204" pitchFamily="18" charset="0"/>
                          </a:rPr>
                          <m:t>𝑠𝑡𝑑</m:t>
                        </m:r>
                      </m:sub>
                    </m:sSub>
                  </m:oMath>
                </a14:m>
                <a:r>
                  <a:rPr lang="en-US" sz="2500" dirty="0"/>
                  <a:t> : the reflectance of a reflectance standard.</a:t>
                </a:r>
              </a:p>
              <a:p>
                <a:pPr marL="1976119" lvl="4" indent="-302260">
                  <a:lnSpc>
                    <a:spcPct val="200000"/>
                  </a:lnSpc>
                  <a:buFont typeface="Arial"/>
                  <a:buChar char="•"/>
                </a:pPr>
                <a:r>
                  <a:rPr lang="en-US" sz="2500" dirty="0"/>
                  <a:t>R(</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𝑟</m:t>
                        </m:r>
                      </m:e>
                      <m:sub>
                        <m:r>
                          <a:rPr lang="en-US" sz="2500" i="1">
                            <a:latin typeface="Cambria Math" panose="02040503050406030204" pitchFamily="18" charset="0"/>
                          </a:rPr>
                          <m:t>𝑠𝑡𝑑</m:t>
                        </m:r>
                      </m:sub>
                    </m:sSub>
                  </m:oMath>
                </a14:m>
                <a:r>
                  <a:rPr lang="en-US" sz="2500" dirty="0"/>
                  <a:t> ,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𝑟</m:t>
                        </m:r>
                      </m:e>
                      <m:sub>
                        <m:r>
                          <a:rPr lang="en-US" sz="2500" i="1">
                            <a:latin typeface="Cambria Math" panose="02040503050406030204" pitchFamily="18" charset="0"/>
                          </a:rPr>
                          <m:t>𝑠𝑡𝑑</m:t>
                        </m:r>
                      </m:sub>
                    </m:sSub>
                  </m:oMath>
                </a14:m>
                <a:r>
                  <a:rPr lang="en-US" sz="2500" dirty="0"/>
                  <a:t>) : the measured reflected power of the reflectance standard.</a:t>
                </a:r>
              </a:p>
              <a:p>
                <a:pPr marL="1976119" lvl="4" indent="-302260">
                  <a:lnSpc>
                    <a:spcPct val="200000"/>
                  </a:lnSpc>
                  <a:buFont typeface="Arial"/>
                  <a:buChar char="•"/>
                </a:pPr>
                <a:r>
                  <a:rPr lang="en-US" sz="2500" dirty="0"/>
                  <a:t>R(</a:t>
                </a:r>
                <a14:m>
                  <m:oMath xmlns:m="http://schemas.openxmlformats.org/officeDocument/2006/math">
                    <m:sSubSup>
                      <m:sSubSupPr>
                        <m:ctrlPr>
                          <a:rPr lang="en-US" sz="2500" i="1" smtClean="0">
                            <a:latin typeface="Cambria Math" panose="02040503050406030204" pitchFamily="18" charset="0"/>
                          </a:rPr>
                        </m:ctrlPr>
                      </m:sSubSupPr>
                      <m:e>
                        <m:r>
                          <a:rPr lang="en-US" sz="2500" b="0" i="1" smtClean="0">
                            <a:latin typeface="Cambria Math" panose="02040503050406030204" pitchFamily="18" charset="0"/>
                          </a:rPr>
                          <m:t>𝑟</m:t>
                        </m:r>
                      </m:e>
                      <m:sub>
                        <m:r>
                          <a:rPr lang="en-US" sz="2500" b="0" i="1" smtClean="0">
                            <a:latin typeface="Cambria Math" panose="02040503050406030204" pitchFamily="18" charset="0"/>
                          </a:rPr>
                          <m:t>𝑠</m:t>
                        </m:r>
                      </m:sub>
                      <m:sup>
                        <m:r>
                          <a:rPr lang="en-US" sz="2500" b="0" i="1" smtClean="0">
                            <a:latin typeface="Cambria Math" panose="02040503050406030204" pitchFamily="18" charset="0"/>
                          </a:rPr>
                          <m:t>𝑑𝑖𝑟𝑒𝑐𝑡</m:t>
                        </m:r>
                      </m:sup>
                    </m:sSubSup>
                  </m:oMath>
                </a14:m>
                <a:r>
                  <a:rPr lang="en-US" sz="2500" dirty="0"/>
                  <a:t>,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𝑟</m:t>
                        </m:r>
                      </m:e>
                      <m:sub>
                        <m:r>
                          <a:rPr lang="en-US" sz="2500" i="1">
                            <a:latin typeface="Cambria Math" panose="02040503050406030204" pitchFamily="18" charset="0"/>
                          </a:rPr>
                          <m:t>𝑠𝑡𝑑</m:t>
                        </m:r>
                      </m:sub>
                    </m:sSub>
                  </m:oMath>
                </a14:m>
                <a:r>
                  <a:rPr lang="en-US" sz="2500" dirty="0"/>
                  <a:t>) : the measured reflected power of the sample. </a:t>
                </a:r>
              </a:p>
              <a:p>
                <a:pPr marL="1976119" lvl="4" indent="-302260">
                  <a:lnSpc>
                    <a:spcPct val="200000"/>
                  </a:lnSpc>
                  <a:buFont typeface="Arial"/>
                  <a:buChar char="•"/>
                </a:pPr>
                <a:r>
                  <a:rPr lang="en-US" sz="2500" dirty="0"/>
                  <a:t>R(0,0) : the measured reflected power of the empty integrating sphere.</a:t>
                </a:r>
              </a:p>
              <a:p>
                <a:pPr marL="604519" lvl="1"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𝑟</m:t>
                        </m:r>
                      </m:e>
                      <m:sub>
                        <m:r>
                          <a:rPr lang="en-US" sz="2500" i="1">
                            <a:latin typeface="Cambria Math" panose="02040503050406030204" pitchFamily="18" charset="0"/>
                          </a:rPr>
                          <m:t>𝑠𝑡𝑑</m:t>
                        </m:r>
                      </m:sub>
                    </m:sSub>
                  </m:oMath>
                </a14:m>
                <a:r>
                  <a:rPr lang="en-US" sz="2500" dirty="0"/>
                  <a:t> , is provided by the manufacture of the standard. (mostly used the one with the slightly higher reflectance).</a:t>
                </a:r>
              </a:p>
              <a:p>
                <a:pPr marL="604519" lvl="1" indent="-302260">
                  <a:lnSpc>
                    <a:spcPct val="200000"/>
                  </a:lnSpc>
                  <a:buFont typeface="Arial"/>
                  <a:buChar char="•"/>
                </a:pPr>
                <a:r>
                  <a:rPr lang="en-US" sz="2500" dirty="0"/>
                  <a:t>R(0,0) is not identically 0,due to diffraction and laser is not perfectly collimated beam, and thus some light may still reflect.</a:t>
                </a:r>
              </a:p>
            </p:txBody>
          </p:sp>
        </mc:Choice>
        <mc:Fallback xmlns="">
          <p:sp>
            <p:nvSpPr>
              <p:cNvPr id="8" name="TextBox 8">
                <a:extLst>
                  <a:ext uri="{FF2B5EF4-FFF2-40B4-BE49-F238E27FC236}">
                    <a16:creationId xmlns:a16="http://schemas.microsoft.com/office/drawing/2014/main" id="{AD090B51-EE07-B3F8-47EF-1EA8621FB416}"/>
                  </a:ext>
                </a:extLst>
              </p:cNvPr>
              <p:cNvSpPr txBox="1">
                <a:spLocks noRot="1" noChangeAspect="1" noMove="1" noResize="1" noEditPoints="1" noAdjustHandles="1" noChangeArrowheads="1" noChangeShapeType="1" noTextEdit="1"/>
              </p:cNvSpPr>
              <p:nvPr/>
            </p:nvSpPr>
            <p:spPr>
              <a:xfrm>
                <a:off x="873208" y="1562100"/>
                <a:ext cx="16541583" cy="7419211"/>
              </a:xfrm>
              <a:prstGeom prst="rect">
                <a:avLst/>
              </a:prstGeom>
              <a:blipFill>
                <a:blip r:embed="rId3"/>
                <a:stretch>
                  <a:fillRect t="-2712" b="-1726"/>
                </a:stretch>
              </a:blipFill>
            </p:spPr>
            <p:txBody>
              <a:bodyPr/>
              <a:lstStyle/>
              <a:p>
                <a:r>
                  <a:rPr lang="en-US">
                    <a:noFill/>
                  </a:rPr>
                  <a:t> </a:t>
                </a:r>
              </a:p>
            </p:txBody>
          </p:sp>
        </mc:Fallback>
      </mc:AlternateContent>
    </p:spTree>
    <p:extLst>
      <p:ext uri="{BB962C8B-B14F-4D97-AF65-F5344CB8AC3E}">
        <p14:creationId xmlns:p14="http://schemas.microsoft.com/office/powerpoint/2010/main" val="2729737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0B6B-003E-D4F8-C1DD-5BBA7516D59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EAA9B8F-F683-AAE0-63D6-65A6C5D270BB}"/>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E6D7ECFD-63D3-A77A-E946-ED8A0A498912}"/>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D6B9741F-DF57-0AF8-B386-2AA31F1E4825}"/>
                  </a:ext>
                </a:extLst>
              </p:cNvPr>
              <p:cNvSpPr txBox="1"/>
              <p:nvPr/>
            </p:nvSpPr>
            <p:spPr>
              <a:xfrm>
                <a:off x="866384" y="1333500"/>
                <a:ext cx="16541583" cy="1731243"/>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Integrating Sphere measurement (Reflectance)</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302259" lvl="1">
                  <a:lnSpc>
                    <a:spcPts val="4479"/>
                  </a:lnSpc>
                </a:pPr>
                <a14:m>
                  <m:oMathPara xmlns:m="http://schemas.openxmlformats.org/officeDocument/2006/math">
                    <m:oMathParaPr>
                      <m:jc m:val="centerGroup"/>
                    </m:oMathParaPr>
                    <m:oMath xmlns:m="http://schemas.openxmlformats.org/officeDocument/2006/math">
                      <m:sSub>
                        <m:sSubPr>
                          <m:ctrlPr>
                            <a:rPr lang="en-US" sz="2500" i="1">
                              <a:latin typeface="Cambria Math" panose="02040503050406030204" pitchFamily="18" charset="0"/>
                            </a:rPr>
                          </m:ctrlPr>
                        </m:sSubPr>
                        <m:e>
                          <m:sSub>
                            <m:sSubPr>
                              <m:ctrlPr>
                                <a:rPr lang="en-US" sz="2500" i="1">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rPr>
                                <m:t>𝑅</m:t>
                              </m:r>
                            </m:sub>
                          </m:sSub>
                          <m:r>
                            <a:rPr lang="en-US" sz="2500" b="0" i="1" smtClean="0">
                              <a:latin typeface="Cambria Math" panose="02040503050406030204" pitchFamily="18" charset="0"/>
                            </a:rPr>
                            <m:t>=</m:t>
                          </m:r>
                          <m:r>
                            <a:rPr lang="en-US" sz="2500" i="1">
                              <a:latin typeface="Cambria Math" panose="02040503050406030204" pitchFamily="18" charset="0"/>
                            </a:rPr>
                            <m:t>𝑟</m:t>
                          </m:r>
                        </m:e>
                        <m:sub>
                          <m:r>
                            <a:rPr lang="en-US" sz="2500" i="1">
                              <a:latin typeface="Cambria Math" panose="02040503050406030204" pitchFamily="18" charset="0"/>
                            </a:rPr>
                            <m:t>𝑠𝑡𝑑</m:t>
                          </m:r>
                        </m:sub>
                      </m:sSub>
                      <m:f>
                        <m:fPr>
                          <m:ctrlPr>
                            <a:rPr lang="en-US" sz="2500" i="1" smtClean="0">
                              <a:latin typeface="Cambria Math" panose="02040503050406030204" pitchFamily="18" charset="0"/>
                            </a:rPr>
                          </m:ctrlPr>
                        </m:fPr>
                        <m:num>
                          <m:r>
                            <m:rPr>
                              <m:nor/>
                            </m:rPr>
                            <a:rPr lang="en-US" sz="2500" dirty="0"/>
                            <m:t>R</m:t>
                          </m:r>
                          <m:r>
                            <m:rPr>
                              <m:nor/>
                            </m:rPr>
                            <a:rPr lang="en-US" sz="2500" dirty="0"/>
                            <m:t>(</m:t>
                          </m:r>
                          <m:sSubSup>
                            <m:sSubSupPr>
                              <m:ctrlPr>
                                <a:rPr lang="en-US" sz="2500" i="1">
                                  <a:latin typeface="Cambria Math" panose="02040503050406030204" pitchFamily="18" charset="0"/>
                                </a:rPr>
                              </m:ctrlPr>
                            </m:sSubSupPr>
                            <m:e>
                              <m:r>
                                <a:rPr lang="en-US" sz="2500" b="0" i="1">
                                  <a:latin typeface="Cambria Math" panose="02040503050406030204" pitchFamily="18" charset="0"/>
                                </a:rPr>
                                <m:t>𝑟</m:t>
                              </m:r>
                            </m:e>
                            <m:sub>
                              <m:r>
                                <a:rPr lang="en-US" sz="2500" b="0" i="1">
                                  <a:latin typeface="Cambria Math" panose="02040503050406030204" pitchFamily="18" charset="0"/>
                                </a:rPr>
                                <m:t>𝑠</m:t>
                              </m:r>
                            </m:sub>
                            <m:sup>
                              <m:r>
                                <a:rPr lang="en-US" sz="2500" b="0" i="1">
                                  <a:latin typeface="Cambria Math" panose="02040503050406030204" pitchFamily="18" charset="0"/>
                                </a:rPr>
                                <m:t>𝑑𝑖𝑟𝑒𝑐𝑡</m:t>
                              </m:r>
                            </m:sup>
                          </m:sSubSup>
                          <m:r>
                            <m:rPr>
                              <m:nor/>
                            </m:rPr>
                            <a:rPr lang="en-US" sz="2500" dirty="0"/>
                            <m:t>, </m:t>
                          </m:r>
                          <m:sSub>
                            <m:sSubPr>
                              <m:ctrlPr>
                                <a:rPr lang="en-US" sz="2500" i="1">
                                  <a:latin typeface="Cambria Math" panose="02040503050406030204" pitchFamily="18" charset="0"/>
                                </a:rPr>
                              </m:ctrlPr>
                            </m:sSubPr>
                            <m:e>
                              <m:r>
                                <a:rPr lang="en-US" sz="2500" b="0" i="1">
                                  <a:latin typeface="Cambria Math" panose="02040503050406030204" pitchFamily="18" charset="0"/>
                                </a:rPr>
                                <m:t>𝑟</m:t>
                              </m:r>
                            </m:e>
                            <m:sub>
                              <m:r>
                                <a:rPr lang="en-US" sz="2500" b="0" i="1">
                                  <a:latin typeface="Cambria Math" panose="02040503050406030204" pitchFamily="18" charset="0"/>
                                </a:rPr>
                                <m:t>𝑠𝑡𝑑</m:t>
                              </m:r>
                            </m:sub>
                          </m:sSub>
                          <m:r>
                            <m:rPr>
                              <m:nor/>
                            </m:rPr>
                            <a:rPr lang="en-US" sz="2500" dirty="0"/>
                            <m:t>)</m:t>
                          </m:r>
                          <m:r>
                            <m:rPr>
                              <m:nor/>
                            </m:rPr>
                            <a:rPr lang="en-US" sz="2500" i="0" dirty="0" smtClean="0"/>
                            <m:t> − </m:t>
                          </m:r>
                          <m:r>
                            <m:rPr>
                              <m:nor/>
                            </m:rPr>
                            <a:rPr lang="en-US" sz="2500" i="0" dirty="0" smtClean="0"/>
                            <m:t>R</m:t>
                          </m:r>
                          <m:r>
                            <m:rPr>
                              <m:nor/>
                            </m:rPr>
                            <a:rPr lang="en-US" sz="2500" i="0" dirty="0" smtClean="0"/>
                            <m:t>(0,0)</m:t>
                          </m:r>
                        </m:num>
                        <m:den>
                          <m:r>
                            <m:rPr>
                              <m:nor/>
                            </m:rPr>
                            <a:rPr lang="en-US" sz="2500" dirty="0"/>
                            <m:t>R</m:t>
                          </m:r>
                          <m:r>
                            <m:rPr>
                              <m:nor/>
                            </m:rPr>
                            <a:rPr lang="en-US" sz="2500" b="0" i="0" dirty="0" smtClean="0"/>
                            <m:t>(</m:t>
                          </m:r>
                          <m:sSub>
                            <m:sSubPr>
                              <m:ctrlPr>
                                <a:rPr lang="en-US" sz="2500" i="1">
                                  <a:latin typeface="Cambria Math" panose="02040503050406030204" pitchFamily="18" charset="0"/>
                                </a:rPr>
                              </m:ctrlPr>
                            </m:sSubPr>
                            <m:e>
                              <m:r>
                                <a:rPr lang="en-US" sz="2500" i="1">
                                  <a:latin typeface="Cambria Math" panose="02040503050406030204" pitchFamily="18" charset="0"/>
                                </a:rPr>
                                <m:t>𝑟</m:t>
                              </m:r>
                            </m:e>
                            <m:sub>
                              <m:r>
                                <a:rPr lang="en-US" sz="2500" i="1">
                                  <a:latin typeface="Cambria Math" panose="02040503050406030204" pitchFamily="18" charset="0"/>
                                </a:rPr>
                                <m:t>𝑠𝑡𝑑</m:t>
                              </m:r>
                            </m:sub>
                          </m:sSub>
                          <m:r>
                            <m:rPr>
                              <m:nor/>
                            </m:rPr>
                            <a:rPr lang="en-US" sz="2500" dirty="0"/>
                            <m:t>, </m:t>
                          </m:r>
                          <m:sSub>
                            <m:sSubPr>
                              <m:ctrlPr>
                                <a:rPr lang="en-US" sz="2500" i="1">
                                  <a:latin typeface="Cambria Math" panose="02040503050406030204" pitchFamily="18" charset="0"/>
                                </a:rPr>
                              </m:ctrlPr>
                            </m:sSubPr>
                            <m:e>
                              <m:r>
                                <a:rPr lang="en-US" sz="2500" b="0" i="1">
                                  <a:latin typeface="Cambria Math" panose="02040503050406030204" pitchFamily="18" charset="0"/>
                                </a:rPr>
                                <m:t>𝑟</m:t>
                              </m:r>
                            </m:e>
                            <m:sub>
                              <m:r>
                                <a:rPr lang="en-US" sz="2500" b="0" i="1">
                                  <a:latin typeface="Cambria Math" panose="02040503050406030204" pitchFamily="18" charset="0"/>
                                </a:rPr>
                                <m:t>𝑠𝑡𝑑</m:t>
                              </m:r>
                            </m:sub>
                          </m:sSub>
                          <m:r>
                            <m:rPr>
                              <m:nor/>
                            </m:rPr>
                            <a:rPr lang="en-US" sz="2500" dirty="0"/>
                            <m:t>)</m:t>
                          </m:r>
                          <m:r>
                            <m:rPr>
                              <m:nor/>
                            </m:rPr>
                            <a:rPr lang="en-US" sz="2500" i="0" dirty="0" smtClean="0"/>
                            <m:t> − </m:t>
                          </m:r>
                          <m:r>
                            <m:rPr>
                              <m:nor/>
                            </m:rPr>
                            <a:rPr lang="en-US" sz="2500" i="0" dirty="0" smtClean="0"/>
                            <m:t>R</m:t>
                          </m:r>
                          <m:r>
                            <a:rPr lang="en-US" sz="2500" b="0" i="1" dirty="0" smtClean="0">
                              <a:latin typeface="Cambria Math" panose="02040503050406030204" pitchFamily="18" charset="0"/>
                            </a:rPr>
                            <m:t>(0,0)</m:t>
                          </m:r>
                        </m:den>
                      </m:f>
                    </m:oMath>
                  </m:oMathPara>
                </a14:m>
                <a:endParaRPr lang="en-US" sz="2500" dirty="0"/>
              </a:p>
            </p:txBody>
          </p:sp>
        </mc:Choice>
        <mc:Fallback xmlns="">
          <p:sp>
            <p:nvSpPr>
              <p:cNvPr id="8" name="TextBox 8">
                <a:extLst>
                  <a:ext uri="{FF2B5EF4-FFF2-40B4-BE49-F238E27FC236}">
                    <a16:creationId xmlns:a16="http://schemas.microsoft.com/office/drawing/2014/main" id="{D6B9741F-DF57-0AF8-B386-2AA31F1E4825}"/>
                  </a:ext>
                </a:extLst>
              </p:cNvPr>
              <p:cNvSpPr txBox="1">
                <a:spLocks noRot="1" noChangeAspect="1" noMove="1" noResize="1" noEditPoints="1" noAdjustHandles="1" noChangeArrowheads="1" noChangeShapeType="1" noTextEdit="1"/>
              </p:cNvSpPr>
              <p:nvPr/>
            </p:nvSpPr>
            <p:spPr>
              <a:xfrm>
                <a:off x="866384" y="1333500"/>
                <a:ext cx="16541583" cy="1731243"/>
              </a:xfrm>
              <a:prstGeom prst="rect">
                <a:avLst/>
              </a:prstGeom>
              <a:blipFill>
                <a:blip r:embed="rId4"/>
                <a:stretch>
                  <a:fillRect t="-11268" b="-11268"/>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E9CEA9A-5DA4-F549-BD58-3FD0ED8C9988}"/>
              </a:ext>
            </a:extLst>
          </p:cNvPr>
          <p:cNvPicPr>
            <a:picLocks noChangeAspect="1"/>
          </p:cNvPicPr>
          <p:nvPr/>
        </p:nvPicPr>
        <p:blipFill>
          <a:blip r:embed="rId5"/>
          <a:stretch>
            <a:fillRect/>
          </a:stretch>
        </p:blipFill>
        <p:spPr>
          <a:xfrm>
            <a:off x="1421323" y="3543300"/>
            <a:ext cx="15445354" cy="485849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8634053-4BAC-CA7A-0C5B-FF947C89933D}"/>
                  </a:ext>
                </a:extLst>
              </p:cNvPr>
              <p:cNvSpPr txBox="1"/>
              <p:nvPr/>
            </p:nvSpPr>
            <p:spPr>
              <a:xfrm>
                <a:off x="4731289" y="8695689"/>
                <a:ext cx="8811771" cy="369332"/>
              </a:xfrm>
              <a:prstGeom prst="rect">
                <a:avLst/>
              </a:prstGeom>
              <a:noFill/>
            </p:spPr>
            <p:txBody>
              <a:bodyPr wrap="none" rtlCol="0">
                <a:spAutoFit/>
              </a:bodyPr>
              <a:lstStyle/>
              <a:p>
                <a:r>
                  <a:rPr lang="en-US" dirty="0"/>
                  <a:t>Fig. Configurations necessary to make the measurements required for the calculation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𝑅</m:t>
                        </m:r>
                      </m:sub>
                    </m:sSub>
                  </m:oMath>
                </a14:m>
                <a:r>
                  <a:rPr lang="en-US" dirty="0"/>
                  <a:t> </a:t>
                </a:r>
              </a:p>
            </p:txBody>
          </p:sp>
        </mc:Choice>
        <mc:Fallback xmlns="">
          <p:sp>
            <p:nvSpPr>
              <p:cNvPr id="7" name="TextBox 6">
                <a:extLst>
                  <a:ext uri="{FF2B5EF4-FFF2-40B4-BE49-F238E27FC236}">
                    <a16:creationId xmlns:a16="http://schemas.microsoft.com/office/drawing/2014/main" id="{D8634053-4BAC-CA7A-0C5B-FF947C89933D}"/>
                  </a:ext>
                </a:extLst>
              </p:cNvPr>
              <p:cNvSpPr txBox="1">
                <a:spLocks noRot="1" noChangeAspect="1" noMove="1" noResize="1" noEditPoints="1" noAdjustHandles="1" noChangeArrowheads="1" noChangeShapeType="1" noTextEdit="1"/>
              </p:cNvSpPr>
              <p:nvPr/>
            </p:nvSpPr>
            <p:spPr>
              <a:xfrm>
                <a:off x="4731289" y="8695689"/>
                <a:ext cx="8811771" cy="369332"/>
              </a:xfrm>
              <a:prstGeom prst="rect">
                <a:avLst/>
              </a:prstGeom>
              <a:blipFill>
                <a:blip r:embed="rId6"/>
                <a:stretch>
                  <a:fillRect l="-553"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1308681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F0CE5-79A5-15E4-2121-212989F731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050C459-4B37-A9F3-0918-49D8DB7B4EC9}"/>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07BCB3B9-ED0B-37E8-3D51-8301A71D07A0}"/>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B89B54EB-5B95-0224-7667-177C310F7DB4}"/>
                  </a:ext>
                </a:extLst>
              </p:cNvPr>
              <p:cNvSpPr txBox="1"/>
              <p:nvPr/>
            </p:nvSpPr>
            <p:spPr>
              <a:xfrm>
                <a:off x="873208" y="1485900"/>
                <a:ext cx="16541583" cy="6649769"/>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Integrating Sphere measurement (Transmittance) </a:t>
                </a:r>
                <a:endParaRPr lang="en-US" sz="2500" dirty="0">
                  <a:highlight>
                    <a:srgbClr val="FFFF00"/>
                  </a:highlight>
                </a:endParaRPr>
              </a:p>
              <a:p>
                <a:pPr marL="604519" lvl="1" indent="-302260">
                  <a:lnSpc>
                    <a:spcPct val="200000"/>
                  </a:lnSpc>
                  <a:buFont typeface="Arial"/>
                  <a:buChar char="•"/>
                </a:pPr>
                <a:r>
                  <a:rPr lang="en-US" sz="2500" dirty="0"/>
                  <a:t>Calculating </a:t>
                </a:r>
                <a14:m>
                  <m:oMath xmlns:m="http://schemas.openxmlformats.org/officeDocument/2006/math">
                    <m:sSub>
                      <m:sSubPr>
                        <m:ctrlPr>
                          <a:rPr lang="en-US" sz="2500" i="1" smtClean="0">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rPr>
                          <m:t>𝑇</m:t>
                        </m:r>
                      </m:sub>
                    </m:sSub>
                  </m:oMath>
                </a14:m>
                <a:r>
                  <a:rPr lang="en-US" sz="2500" dirty="0"/>
                  <a:t> requires the following measurements: </a:t>
                </a:r>
              </a:p>
              <a:p>
                <a:pPr marL="1976119" lvl="4"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b="0" i="1" smtClean="0">
                            <a:latin typeface="Cambria Math" panose="02040503050406030204" pitchFamily="18" charset="0"/>
                          </a:rPr>
                          <m:t>𝑇</m:t>
                        </m:r>
                      </m:e>
                      <m:sub>
                        <m:r>
                          <a:rPr lang="en-US" sz="2500" b="0" i="1" smtClean="0">
                            <a:latin typeface="Cambria Math" panose="02040503050406030204" pitchFamily="18" charset="0"/>
                          </a:rPr>
                          <m:t>𝑑𝑎𝑟𝑘</m:t>
                        </m:r>
                      </m:sub>
                    </m:sSub>
                  </m:oMath>
                </a14:m>
                <a:r>
                  <a:rPr lang="en-US" sz="2500" dirty="0"/>
                  <a:t> : the measured transmitted power with the laser blocked or turned off.</a:t>
                </a:r>
              </a:p>
              <a:p>
                <a:pPr marL="1976119" lvl="4" indent="-302260">
                  <a:lnSpc>
                    <a:spcPct val="200000"/>
                  </a:lnSpc>
                  <a:buFont typeface="Arial"/>
                  <a:buChar char="•"/>
                </a:pPr>
                <a:r>
                  <a:rPr lang="en-US" sz="2500" dirty="0"/>
                  <a:t>T(</a:t>
                </a:r>
                <a14:m>
                  <m:oMath xmlns:m="http://schemas.openxmlformats.org/officeDocument/2006/math">
                    <m:sSubSup>
                      <m:sSubSupPr>
                        <m:ctrlPr>
                          <a:rPr lang="en-US" sz="2500" i="1" smtClean="0">
                            <a:latin typeface="Cambria Math" panose="02040503050406030204" pitchFamily="18" charset="0"/>
                          </a:rPr>
                        </m:ctrlPr>
                      </m:sSubSupPr>
                      <m:e>
                        <m:r>
                          <a:rPr lang="en-US" sz="2500" b="0" i="1" smtClean="0">
                            <a:latin typeface="Cambria Math" panose="02040503050406030204" pitchFamily="18" charset="0"/>
                          </a:rPr>
                          <m:t>𝑟</m:t>
                        </m:r>
                      </m:e>
                      <m:sub>
                        <m:r>
                          <a:rPr lang="en-US" sz="2500" b="0" i="1" smtClean="0">
                            <a:latin typeface="Cambria Math" panose="02040503050406030204" pitchFamily="18" charset="0"/>
                          </a:rPr>
                          <m:t>𝑠</m:t>
                        </m:r>
                      </m:sub>
                      <m:sup>
                        <m:r>
                          <a:rPr lang="en-US" sz="2500" b="0" i="1" smtClean="0">
                            <a:latin typeface="Cambria Math" panose="02040503050406030204" pitchFamily="18" charset="0"/>
                          </a:rPr>
                          <m:t>𝑑𝑖𝑟𝑒𝑐𝑡</m:t>
                        </m:r>
                      </m:sup>
                    </m:sSubSup>
                  </m:oMath>
                </a14:m>
                <a:r>
                  <a:rPr lang="en-US" sz="2500" dirty="0"/>
                  <a:t>,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𝑟</m:t>
                        </m:r>
                      </m:e>
                      <m:sub>
                        <m:r>
                          <a:rPr lang="en-US" sz="2500" i="1">
                            <a:latin typeface="Cambria Math" panose="02040503050406030204" pitchFamily="18" charset="0"/>
                          </a:rPr>
                          <m:t>𝑠</m:t>
                        </m:r>
                      </m:sub>
                    </m:sSub>
                  </m:oMath>
                </a14:m>
                <a:r>
                  <a:rPr lang="en-US" sz="2500" dirty="0"/>
                  <a:t>) : the measured transmitted power of the sample. </a:t>
                </a:r>
              </a:p>
              <a:p>
                <a:pPr marL="1976119" lvl="4" indent="-302260">
                  <a:lnSpc>
                    <a:spcPct val="200000"/>
                  </a:lnSpc>
                  <a:buFont typeface="Arial"/>
                  <a:buChar char="•"/>
                </a:pPr>
                <a:r>
                  <a:rPr lang="en-US" sz="2500" dirty="0"/>
                  <a:t>T(0,0) : the measured transmitted power of the empty integrating sphere.</a:t>
                </a:r>
              </a:p>
              <a:p>
                <a:pPr marL="604519" lvl="1"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𝑇</m:t>
                        </m:r>
                      </m:e>
                      <m:sub>
                        <m:r>
                          <a:rPr lang="en-US" sz="2500" i="1">
                            <a:latin typeface="Cambria Math" panose="02040503050406030204" pitchFamily="18" charset="0"/>
                          </a:rPr>
                          <m:t>𝑑𝑎𝑟𝑘</m:t>
                        </m:r>
                      </m:sub>
                    </m:sSub>
                  </m:oMath>
                </a14:m>
                <a:r>
                  <a:rPr lang="en-US" sz="2500" dirty="0"/>
                  <a:t> is not necessarily 0 since the detector in the sphere is not perfect and will likely measure some background even when in darkness. </a:t>
                </a:r>
              </a:p>
              <a:p>
                <a:pPr marL="302259" lvl="1">
                  <a:lnSpc>
                    <a:spcPct val="200000"/>
                  </a:lnSpc>
                </a:pPr>
                <a:endParaRPr lang="en-US" sz="2500" dirty="0"/>
              </a:p>
              <a:p>
                <a:pPr marL="604519" lvl="1" indent="-302260">
                  <a:lnSpc>
                    <a:spcPct val="200000"/>
                  </a:lnSpc>
                  <a:buFont typeface="Arial"/>
                  <a:buChar char="•"/>
                </a:pPr>
                <a:endParaRPr lang="en-US" sz="2500" dirty="0"/>
              </a:p>
            </p:txBody>
          </p:sp>
        </mc:Choice>
        <mc:Fallback xmlns="">
          <p:sp>
            <p:nvSpPr>
              <p:cNvPr id="8" name="TextBox 8">
                <a:extLst>
                  <a:ext uri="{FF2B5EF4-FFF2-40B4-BE49-F238E27FC236}">
                    <a16:creationId xmlns:a16="http://schemas.microsoft.com/office/drawing/2014/main" id="{B89B54EB-5B95-0224-7667-177C310F7DB4}"/>
                  </a:ext>
                </a:extLst>
              </p:cNvPr>
              <p:cNvSpPr txBox="1">
                <a:spLocks noRot="1" noChangeAspect="1" noMove="1" noResize="1" noEditPoints="1" noAdjustHandles="1" noChangeArrowheads="1" noChangeShapeType="1" noTextEdit="1"/>
              </p:cNvSpPr>
              <p:nvPr/>
            </p:nvSpPr>
            <p:spPr>
              <a:xfrm>
                <a:off x="873208" y="1485900"/>
                <a:ext cx="16541583" cy="6649769"/>
              </a:xfrm>
              <a:prstGeom prst="rect">
                <a:avLst/>
              </a:prstGeom>
              <a:blipFill>
                <a:blip r:embed="rId3"/>
                <a:stretch>
                  <a:fillRect t="-3116"/>
                </a:stretch>
              </a:blipFill>
            </p:spPr>
            <p:txBody>
              <a:bodyPr/>
              <a:lstStyle/>
              <a:p>
                <a:r>
                  <a:rPr lang="en-US">
                    <a:noFill/>
                  </a:rPr>
                  <a:t> </a:t>
                </a:r>
              </a:p>
            </p:txBody>
          </p:sp>
        </mc:Fallback>
      </mc:AlternateContent>
    </p:spTree>
    <p:extLst>
      <p:ext uri="{BB962C8B-B14F-4D97-AF65-F5344CB8AC3E}">
        <p14:creationId xmlns:p14="http://schemas.microsoft.com/office/powerpoint/2010/main" val="2079167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CC848-3B91-D0CC-E6A0-0177AFA25D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AB513A-85DF-ADAE-A5AD-97E90B56157E}"/>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695A7C43-D673-D991-E53A-E94A1820DA4F}"/>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C535A55E-C118-61A3-90F2-D16BF04BE736}"/>
                  </a:ext>
                </a:extLst>
              </p:cNvPr>
              <p:cNvSpPr txBox="1"/>
              <p:nvPr/>
            </p:nvSpPr>
            <p:spPr>
              <a:xfrm>
                <a:off x="873208" y="1191779"/>
                <a:ext cx="16541583" cy="1731243"/>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Integrating Sphere measurement (Transmittance) </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302259" lvl="1">
                  <a:lnSpc>
                    <a:spcPts val="4479"/>
                  </a:lnSpc>
                </a:pPr>
                <a14:m>
                  <m:oMathPara xmlns:m="http://schemas.openxmlformats.org/officeDocument/2006/math">
                    <m:oMathParaPr>
                      <m:jc m:val="centerGroup"/>
                    </m:oMathParaPr>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𝑀</m:t>
                          </m:r>
                        </m:e>
                        <m:sub>
                          <m:r>
                            <a:rPr lang="en-US" sz="2500" i="1">
                              <a:latin typeface="Cambria Math" panose="02040503050406030204" pitchFamily="18" charset="0"/>
                            </a:rPr>
                            <m:t>𝑇</m:t>
                          </m:r>
                        </m:sub>
                      </m:sSub>
                      <m:r>
                        <a:rPr lang="en-US" sz="2500" b="0" i="1" smtClean="0">
                          <a:latin typeface="Cambria Math" panose="02040503050406030204" pitchFamily="18" charset="0"/>
                        </a:rPr>
                        <m:t>=</m:t>
                      </m:r>
                      <m:f>
                        <m:fPr>
                          <m:ctrlPr>
                            <a:rPr lang="en-US" sz="2500" i="1" smtClean="0">
                              <a:latin typeface="Cambria Math" panose="02040503050406030204" pitchFamily="18" charset="0"/>
                            </a:rPr>
                          </m:ctrlPr>
                        </m:fPr>
                        <m:num>
                          <m:r>
                            <m:rPr>
                              <m:nor/>
                            </m:rPr>
                            <a:rPr lang="en-US" sz="2500" b="0" i="0" smtClean="0">
                              <a:latin typeface="Cambria Math" panose="02040503050406030204" pitchFamily="18" charset="0"/>
                            </a:rPr>
                            <m:t>T</m:t>
                          </m:r>
                          <m:r>
                            <m:rPr>
                              <m:nor/>
                            </m:rPr>
                            <a:rPr lang="en-US" sz="2500" dirty="0"/>
                            <m:t>(</m:t>
                          </m:r>
                          <m:sSubSup>
                            <m:sSubSupPr>
                              <m:ctrlPr>
                                <a:rPr lang="en-US" sz="2500" i="1">
                                  <a:latin typeface="Cambria Math" panose="02040503050406030204" pitchFamily="18" charset="0"/>
                                </a:rPr>
                              </m:ctrlPr>
                            </m:sSubSupPr>
                            <m:e>
                              <m:r>
                                <a:rPr lang="en-US" sz="2500" b="0" i="1">
                                  <a:latin typeface="Cambria Math" panose="02040503050406030204" pitchFamily="18" charset="0"/>
                                </a:rPr>
                                <m:t>𝑟</m:t>
                              </m:r>
                            </m:e>
                            <m:sub>
                              <m:r>
                                <a:rPr lang="en-US" sz="2500" b="0" i="1">
                                  <a:latin typeface="Cambria Math" panose="02040503050406030204" pitchFamily="18" charset="0"/>
                                </a:rPr>
                                <m:t>𝑠</m:t>
                              </m:r>
                            </m:sub>
                            <m:sup>
                              <m:r>
                                <a:rPr lang="en-US" sz="2500" b="0" i="1">
                                  <a:latin typeface="Cambria Math" panose="02040503050406030204" pitchFamily="18" charset="0"/>
                                </a:rPr>
                                <m:t>𝑑𝑖𝑟𝑒𝑐𝑡</m:t>
                              </m:r>
                            </m:sup>
                          </m:sSubSup>
                          <m:r>
                            <m:rPr>
                              <m:nor/>
                            </m:rPr>
                            <a:rPr lang="en-US" sz="2500" dirty="0"/>
                            <m:t>, </m:t>
                          </m:r>
                          <m:sSub>
                            <m:sSubPr>
                              <m:ctrlPr>
                                <a:rPr lang="en-US" sz="2500" i="1">
                                  <a:latin typeface="Cambria Math" panose="02040503050406030204" pitchFamily="18" charset="0"/>
                                </a:rPr>
                              </m:ctrlPr>
                            </m:sSubPr>
                            <m:e>
                              <m:r>
                                <a:rPr lang="en-US" sz="2500" b="0" i="1">
                                  <a:latin typeface="Cambria Math" panose="02040503050406030204" pitchFamily="18" charset="0"/>
                                </a:rPr>
                                <m:t>𝑟</m:t>
                              </m:r>
                            </m:e>
                            <m:sub>
                              <m:r>
                                <a:rPr lang="en-US" sz="2500" b="0" i="1">
                                  <a:latin typeface="Cambria Math" panose="02040503050406030204" pitchFamily="18" charset="0"/>
                                </a:rPr>
                                <m:t>𝑠</m:t>
                              </m:r>
                            </m:sub>
                          </m:sSub>
                          <m:r>
                            <m:rPr>
                              <m:nor/>
                            </m:rPr>
                            <a:rPr lang="en-US" sz="2500" dirty="0"/>
                            <m:t>)</m:t>
                          </m:r>
                          <m:r>
                            <m:rPr>
                              <m:nor/>
                            </m:rPr>
                            <a:rPr lang="en-US" sz="2500" i="0" dirty="0" smtClean="0"/>
                            <m:t> −</m:t>
                          </m:r>
                          <m:sSub>
                            <m:sSubPr>
                              <m:ctrlPr>
                                <a:rPr lang="en-US" sz="2500" i="1">
                                  <a:latin typeface="Cambria Math" panose="02040503050406030204" pitchFamily="18" charset="0"/>
                                </a:rPr>
                              </m:ctrlPr>
                            </m:sSubPr>
                            <m:e>
                              <m:r>
                                <a:rPr lang="en-US" sz="2500" b="0" i="1" smtClean="0">
                                  <a:latin typeface="Cambria Math" panose="02040503050406030204" pitchFamily="18" charset="0"/>
                                </a:rPr>
                                <m:t> </m:t>
                              </m:r>
                              <m:r>
                                <a:rPr lang="en-US" sz="2500" b="0" i="1" smtClean="0">
                                  <a:latin typeface="Cambria Math" panose="02040503050406030204" pitchFamily="18" charset="0"/>
                                </a:rPr>
                                <m:t>𝑇</m:t>
                              </m:r>
                            </m:e>
                            <m:sub>
                              <m:r>
                                <a:rPr lang="en-US" sz="2500" b="0" i="1" smtClean="0">
                                  <a:latin typeface="Cambria Math" panose="02040503050406030204" pitchFamily="18" charset="0"/>
                                </a:rPr>
                                <m:t>𝑑𝑎𝑟𝑘</m:t>
                              </m:r>
                            </m:sub>
                          </m:sSub>
                        </m:num>
                        <m:den>
                          <m:r>
                            <m:rPr>
                              <m:nor/>
                            </m:rPr>
                            <a:rPr lang="en-US" sz="2500" b="0" i="0" smtClean="0">
                              <a:latin typeface="Cambria Math" panose="02040503050406030204" pitchFamily="18" charset="0"/>
                            </a:rPr>
                            <m:t>T</m:t>
                          </m:r>
                          <m:r>
                            <m:rPr>
                              <m:nor/>
                            </m:rPr>
                            <a:rPr lang="en-US" sz="2500" b="0" i="0" dirty="0" smtClean="0"/>
                            <m:t>(0</m:t>
                          </m:r>
                          <m:r>
                            <m:rPr>
                              <m:nor/>
                            </m:rPr>
                            <a:rPr lang="en-US" sz="2500" dirty="0"/>
                            <m:t>,</m:t>
                          </m:r>
                          <m:r>
                            <m:rPr>
                              <m:nor/>
                            </m:rPr>
                            <a:rPr lang="en-US" sz="2500" b="0" i="0" dirty="0" smtClean="0"/>
                            <m:t>0</m:t>
                          </m:r>
                          <m:r>
                            <m:rPr>
                              <m:nor/>
                            </m:rPr>
                            <a:rPr lang="en-US" sz="2500" dirty="0"/>
                            <m:t>)</m:t>
                          </m:r>
                          <m:r>
                            <m:rPr>
                              <m:nor/>
                            </m:rPr>
                            <a:rPr lang="en-US" sz="2500" i="0" dirty="0" smtClean="0"/>
                            <m:t> −</m:t>
                          </m:r>
                          <m:r>
                            <m:rPr>
                              <m:nor/>
                            </m:rPr>
                            <a:rPr lang="en-US" sz="2500" b="0" i="0" dirty="0" smtClean="0"/>
                            <m:t> </m:t>
                          </m:r>
                          <m:sSub>
                            <m:sSubPr>
                              <m:ctrlPr>
                                <a:rPr lang="en-US" sz="2500" i="1">
                                  <a:latin typeface="Cambria Math" panose="02040503050406030204" pitchFamily="18" charset="0"/>
                                </a:rPr>
                              </m:ctrlPr>
                            </m:sSubPr>
                            <m:e>
                              <m:r>
                                <a:rPr lang="en-US" sz="2500" b="0" i="1" smtClean="0">
                                  <a:latin typeface="Cambria Math" panose="02040503050406030204" pitchFamily="18" charset="0"/>
                                </a:rPr>
                                <m:t>𝑇</m:t>
                              </m:r>
                            </m:e>
                            <m:sub>
                              <m:r>
                                <a:rPr lang="en-US" sz="2500" b="0" i="1" smtClean="0">
                                  <a:latin typeface="Cambria Math" panose="02040503050406030204" pitchFamily="18" charset="0"/>
                                </a:rPr>
                                <m:t>𝑑𝑎𝑟𝑘</m:t>
                              </m:r>
                            </m:sub>
                          </m:sSub>
                        </m:den>
                      </m:f>
                    </m:oMath>
                  </m:oMathPara>
                </a14:m>
                <a:endParaRPr lang="en-US" sz="2500" dirty="0"/>
              </a:p>
            </p:txBody>
          </p:sp>
        </mc:Choice>
        <mc:Fallback xmlns="">
          <p:sp>
            <p:nvSpPr>
              <p:cNvPr id="8" name="TextBox 8">
                <a:extLst>
                  <a:ext uri="{FF2B5EF4-FFF2-40B4-BE49-F238E27FC236}">
                    <a16:creationId xmlns:a16="http://schemas.microsoft.com/office/drawing/2014/main" id="{C535A55E-C118-61A3-90F2-D16BF04BE736}"/>
                  </a:ext>
                </a:extLst>
              </p:cNvPr>
              <p:cNvSpPr txBox="1">
                <a:spLocks noRot="1" noChangeAspect="1" noMove="1" noResize="1" noEditPoints="1" noAdjustHandles="1" noChangeArrowheads="1" noChangeShapeType="1" noTextEdit="1"/>
              </p:cNvSpPr>
              <p:nvPr/>
            </p:nvSpPr>
            <p:spPr>
              <a:xfrm>
                <a:off x="873208" y="1191779"/>
                <a:ext cx="16541583" cy="1731243"/>
              </a:xfrm>
              <a:prstGeom prst="rect">
                <a:avLst/>
              </a:prstGeom>
              <a:blipFill>
                <a:blip r:embed="rId4"/>
                <a:stretch>
                  <a:fillRect t="-11307" b="-109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A68F02E-5DD9-532C-CDDC-5A6237543DDD}"/>
                  </a:ext>
                </a:extLst>
              </p:cNvPr>
              <p:cNvSpPr txBox="1"/>
              <p:nvPr/>
            </p:nvSpPr>
            <p:spPr>
              <a:xfrm>
                <a:off x="4731290" y="8488957"/>
                <a:ext cx="8811771" cy="369332"/>
              </a:xfrm>
              <a:prstGeom prst="rect">
                <a:avLst/>
              </a:prstGeom>
              <a:noFill/>
            </p:spPr>
            <p:txBody>
              <a:bodyPr wrap="none" rtlCol="0">
                <a:spAutoFit/>
              </a:bodyPr>
              <a:lstStyle/>
              <a:p>
                <a:r>
                  <a:rPr lang="en-US" dirty="0"/>
                  <a:t>Fig. Configurations necessary to make the measurements required for the calculation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𝑇</m:t>
                        </m:r>
                      </m:sub>
                    </m:sSub>
                  </m:oMath>
                </a14:m>
                <a:r>
                  <a:rPr lang="en-US" dirty="0"/>
                  <a:t> </a:t>
                </a:r>
              </a:p>
            </p:txBody>
          </p:sp>
        </mc:Choice>
        <mc:Fallback xmlns="">
          <p:sp>
            <p:nvSpPr>
              <p:cNvPr id="7" name="TextBox 6">
                <a:extLst>
                  <a:ext uri="{FF2B5EF4-FFF2-40B4-BE49-F238E27FC236}">
                    <a16:creationId xmlns:a16="http://schemas.microsoft.com/office/drawing/2014/main" id="{BA68F02E-5DD9-532C-CDDC-5A6237543DDD}"/>
                  </a:ext>
                </a:extLst>
              </p:cNvPr>
              <p:cNvSpPr txBox="1">
                <a:spLocks noRot="1" noChangeAspect="1" noMove="1" noResize="1" noEditPoints="1" noAdjustHandles="1" noChangeArrowheads="1" noChangeShapeType="1" noTextEdit="1"/>
              </p:cNvSpPr>
              <p:nvPr/>
            </p:nvSpPr>
            <p:spPr>
              <a:xfrm>
                <a:off x="4731290" y="8488957"/>
                <a:ext cx="8811771" cy="369332"/>
              </a:xfrm>
              <a:prstGeom prst="rect">
                <a:avLst/>
              </a:prstGeom>
              <a:blipFill>
                <a:blip r:embed="rId5"/>
                <a:stretch>
                  <a:fillRect l="-553" t="-10000" b="-2666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8B559662-ABA5-2A22-FC6F-6F59C5E2B1D6}"/>
              </a:ext>
            </a:extLst>
          </p:cNvPr>
          <p:cNvPicPr>
            <a:picLocks noChangeAspect="1"/>
          </p:cNvPicPr>
          <p:nvPr/>
        </p:nvPicPr>
        <p:blipFill>
          <a:blip r:embed="rId6"/>
          <a:stretch>
            <a:fillRect/>
          </a:stretch>
        </p:blipFill>
        <p:spPr>
          <a:xfrm>
            <a:off x="1115139" y="3467100"/>
            <a:ext cx="16044074" cy="4851523"/>
          </a:xfrm>
          <a:prstGeom prst="rect">
            <a:avLst/>
          </a:prstGeom>
        </p:spPr>
      </p:pic>
    </p:spTree>
    <p:extLst>
      <p:ext uri="{BB962C8B-B14F-4D97-AF65-F5344CB8AC3E}">
        <p14:creationId xmlns:p14="http://schemas.microsoft.com/office/powerpoint/2010/main" val="2731529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9AD5E-21EE-B218-1C14-BD3E596964D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4B64BB-43B7-8C5C-4CFC-0A2E6DB6C736}"/>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57E9882E-DD64-14DB-B133-DB4F0ECAF4A3}"/>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00F6E17F-7CCB-997F-9B15-B113D2604EB0}"/>
                  </a:ext>
                </a:extLst>
              </p:cNvPr>
              <p:cNvSpPr txBox="1"/>
              <p:nvPr/>
            </p:nvSpPr>
            <p:spPr>
              <a:xfrm>
                <a:off x="866384" y="1409700"/>
                <a:ext cx="16541583" cy="6624891"/>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Integrating Sphere measurement (Regular or </a:t>
                </a:r>
                <a:r>
                  <a:rPr lang="en-US" sz="4000" b="1" dirty="0" err="1">
                    <a:solidFill>
                      <a:srgbClr val="000000"/>
                    </a:solidFill>
                    <a:latin typeface="Times New Roman" panose="02020603050405020304" pitchFamily="18" charset="0"/>
                    <a:cs typeface="Times New Roman" panose="02020603050405020304" pitchFamily="18" charset="0"/>
                    <a:sym typeface="Open Sauce"/>
                  </a:rPr>
                  <a:t>unscattered</a:t>
                </a:r>
                <a:r>
                  <a:rPr lang="en-US" sz="4000" b="1" dirty="0">
                    <a:solidFill>
                      <a:srgbClr val="000000"/>
                    </a:solidFill>
                    <a:latin typeface="Times New Roman" panose="02020603050405020304" pitchFamily="18" charset="0"/>
                    <a:cs typeface="Times New Roman" panose="02020603050405020304" pitchFamily="18" charset="0"/>
                    <a:sym typeface="Open Sauce"/>
                  </a:rPr>
                  <a:t> transmittance) </a:t>
                </a:r>
                <a:endParaRPr lang="en-US" sz="2500" dirty="0">
                  <a:highlight>
                    <a:srgbClr val="FFFF00"/>
                  </a:highlight>
                </a:endParaRPr>
              </a:p>
              <a:p>
                <a:pPr marL="604519" lvl="1" indent="-302260">
                  <a:lnSpc>
                    <a:spcPct val="200000"/>
                  </a:lnSpc>
                  <a:buFont typeface="Arial"/>
                  <a:buChar char="•"/>
                </a:pPr>
                <a:r>
                  <a:rPr lang="en-US" sz="2500" dirty="0"/>
                  <a:t>Calculating </a:t>
                </a:r>
                <a14:m>
                  <m:oMath xmlns:m="http://schemas.openxmlformats.org/officeDocument/2006/math">
                    <m:sSub>
                      <m:sSubPr>
                        <m:ctrlPr>
                          <a:rPr lang="en-US" sz="2500" i="1" smtClean="0">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rPr>
                          <m:t>𝑈</m:t>
                        </m:r>
                      </m:sub>
                    </m:sSub>
                  </m:oMath>
                </a14:m>
                <a:r>
                  <a:rPr lang="en-US" sz="2500" dirty="0"/>
                  <a:t> requires the following measurements: </a:t>
                </a:r>
              </a:p>
              <a:p>
                <a:pPr marL="1976119" lvl="4"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b="0" i="1" smtClean="0">
                            <a:latin typeface="Cambria Math" panose="02040503050406030204" pitchFamily="18" charset="0"/>
                          </a:rPr>
                          <m:t>𝑈</m:t>
                        </m:r>
                      </m:e>
                      <m:sub>
                        <m:r>
                          <a:rPr lang="en-US" sz="2500" b="0" i="1" smtClean="0">
                            <a:latin typeface="Cambria Math" panose="02040503050406030204" pitchFamily="18" charset="0"/>
                          </a:rPr>
                          <m:t>𝑠</m:t>
                        </m:r>
                      </m:sub>
                    </m:sSub>
                  </m:oMath>
                </a14:m>
                <a:r>
                  <a:rPr lang="en-US" sz="2500" dirty="0"/>
                  <a:t> : the measured regular transmitted power of the sample.</a:t>
                </a:r>
              </a:p>
              <a:p>
                <a:pPr marL="1976119" lvl="4"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𝑈</m:t>
                        </m:r>
                      </m:e>
                      <m:sub>
                        <m:r>
                          <a:rPr lang="en-US" sz="2500" b="0" i="1" smtClean="0">
                            <a:latin typeface="Cambria Math" panose="02040503050406030204" pitchFamily="18" charset="0"/>
                          </a:rPr>
                          <m:t>0</m:t>
                        </m:r>
                      </m:sub>
                    </m:sSub>
                  </m:oMath>
                </a14:m>
                <a:r>
                  <a:rPr lang="en-US" sz="2500" dirty="0"/>
                  <a:t> : the measured transmitted power with the aperture closed. </a:t>
                </a:r>
              </a:p>
              <a:p>
                <a:pPr marL="1976119" lvl="4"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𝑈</m:t>
                        </m:r>
                      </m:e>
                      <m:sub>
                        <m:r>
                          <a:rPr lang="en-US" sz="2500" b="0" i="1" smtClean="0">
                            <a:latin typeface="Cambria Math" panose="02040503050406030204" pitchFamily="18" charset="0"/>
                          </a:rPr>
                          <m:t>100</m:t>
                        </m:r>
                      </m:sub>
                    </m:sSub>
                  </m:oMath>
                </a14:m>
                <a:r>
                  <a:rPr lang="en-US" sz="2500" dirty="0"/>
                  <a:t> : the measured regular transmitted power of the unabated laser.</a:t>
                </a:r>
              </a:p>
              <a:p>
                <a:pPr marL="604519" lvl="1" indent="-302260">
                  <a:lnSpc>
                    <a:spcPct val="200000"/>
                  </a:lnSpc>
                  <a:buFont typeface="Arial"/>
                  <a:buChar char="•"/>
                </a:pPr>
                <a14:m>
                  <m:oMath xmlns:m="http://schemas.openxmlformats.org/officeDocument/2006/math">
                    <m:sSub>
                      <m:sSubPr>
                        <m:ctrlPr>
                          <a:rPr lang="en-US" sz="2500" i="1">
                            <a:latin typeface="Cambria Math" panose="02040503050406030204" pitchFamily="18" charset="0"/>
                          </a:rPr>
                        </m:ctrlPr>
                      </m:sSubPr>
                      <m:e>
                        <m:r>
                          <a:rPr lang="en-US" sz="2500" b="0" i="1" smtClean="0">
                            <a:latin typeface="Cambria Math" panose="02040503050406030204" pitchFamily="18" charset="0"/>
                          </a:rPr>
                          <m:t>𝑈</m:t>
                        </m:r>
                      </m:e>
                      <m:sub>
                        <m:r>
                          <a:rPr lang="en-US" sz="2500" b="0" i="1" smtClean="0">
                            <a:latin typeface="Cambria Math" panose="02040503050406030204" pitchFamily="18" charset="0"/>
                          </a:rPr>
                          <m:t>0</m:t>
                        </m:r>
                      </m:sub>
                    </m:sSub>
                  </m:oMath>
                </a14:m>
                <a:r>
                  <a:rPr lang="en-US" sz="2500" dirty="0"/>
                  <a:t> is not always 0 because of external lighting and noise from the detector itself.</a:t>
                </a:r>
              </a:p>
              <a:p>
                <a:pPr marL="604519" lvl="1" indent="-302260">
                  <a:lnSpc>
                    <a:spcPct val="200000"/>
                  </a:lnSpc>
                  <a:buFont typeface="Arial"/>
                  <a:buChar char="•"/>
                </a:pPr>
                <a:r>
                  <a:rPr lang="en-US" sz="2500" dirty="0"/>
                  <a:t>In practice, Mu is difficult to determine accurately due to the massive difference in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𝑈</m:t>
                        </m:r>
                      </m:e>
                      <m:sub>
                        <m:r>
                          <a:rPr lang="en-US" sz="2500" i="1">
                            <a:latin typeface="Cambria Math" panose="02040503050406030204" pitchFamily="18" charset="0"/>
                          </a:rPr>
                          <m:t>100</m:t>
                        </m:r>
                      </m:sub>
                    </m:sSub>
                  </m:oMath>
                </a14:m>
                <a:r>
                  <a:rPr lang="en-US" sz="2500" dirty="0"/>
                  <a:t> and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𝑈</m:t>
                        </m:r>
                      </m:e>
                      <m:sub>
                        <m:r>
                          <a:rPr lang="en-US" sz="2500" b="0" i="1" smtClean="0">
                            <a:latin typeface="Cambria Math" panose="02040503050406030204" pitchFamily="18" charset="0"/>
                          </a:rPr>
                          <m:t>0</m:t>
                        </m:r>
                      </m:sub>
                    </m:sSub>
                    <m:r>
                      <a:rPr lang="en-US" sz="2500" b="0" i="1" smtClean="0">
                        <a:latin typeface="Cambria Math" panose="02040503050406030204" pitchFamily="18" charset="0"/>
                      </a:rPr>
                      <m:t>.</m:t>
                    </m:r>
                  </m:oMath>
                </a14:m>
                <a:r>
                  <a:rPr lang="en-US" sz="2500" dirty="0"/>
                  <a:t> </a:t>
                </a:r>
              </a:p>
              <a:p>
                <a:pPr marL="302259" lvl="1">
                  <a:lnSpc>
                    <a:spcPct val="200000"/>
                  </a:lnSpc>
                </a:pPr>
                <a:endParaRPr lang="en-US" sz="2500" dirty="0"/>
              </a:p>
              <a:p>
                <a:pPr marL="604519" lvl="1" indent="-302260">
                  <a:lnSpc>
                    <a:spcPct val="200000"/>
                  </a:lnSpc>
                  <a:buFont typeface="Arial"/>
                  <a:buChar char="•"/>
                </a:pPr>
                <a:endParaRPr lang="en-US" sz="2500" dirty="0"/>
              </a:p>
            </p:txBody>
          </p:sp>
        </mc:Choice>
        <mc:Fallback xmlns="">
          <p:sp>
            <p:nvSpPr>
              <p:cNvPr id="8" name="TextBox 8">
                <a:extLst>
                  <a:ext uri="{FF2B5EF4-FFF2-40B4-BE49-F238E27FC236}">
                    <a16:creationId xmlns:a16="http://schemas.microsoft.com/office/drawing/2014/main" id="{00F6E17F-7CCB-997F-9B15-B113D2604EB0}"/>
                  </a:ext>
                </a:extLst>
              </p:cNvPr>
              <p:cNvSpPr txBox="1">
                <a:spLocks noRot="1" noChangeAspect="1" noMove="1" noResize="1" noEditPoints="1" noAdjustHandles="1" noChangeArrowheads="1" noChangeShapeType="1" noTextEdit="1"/>
              </p:cNvSpPr>
              <p:nvPr/>
            </p:nvSpPr>
            <p:spPr>
              <a:xfrm>
                <a:off x="866384" y="1409700"/>
                <a:ext cx="16541583" cy="6624891"/>
              </a:xfrm>
              <a:prstGeom prst="rect">
                <a:avLst/>
              </a:prstGeom>
              <a:blipFill>
                <a:blip r:embed="rId3"/>
                <a:stretch>
                  <a:fillRect t="-3036"/>
                </a:stretch>
              </a:blipFill>
            </p:spPr>
            <p:txBody>
              <a:bodyPr/>
              <a:lstStyle/>
              <a:p>
                <a:r>
                  <a:rPr lang="en-US">
                    <a:noFill/>
                  </a:rPr>
                  <a:t> </a:t>
                </a:r>
              </a:p>
            </p:txBody>
          </p:sp>
        </mc:Fallback>
      </mc:AlternateContent>
    </p:spTree>
    <p:extLst>
      <p:ext uri="{BB962C8B-B14F-4D97-AF65-F5344CB8AC3E}">
        <p14:creationId xmlns:p14="http://schemas.microsoft.com/office/powerpoint/2010/main" val="252168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02F50-5EA0-6166-3BD5-BEA0EA3063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8857E4B-E3A4-6A24-0359-4EA2758AB5A6}"/>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F733EE07-388D-D199-27FE-AC21C1A8C318}"/>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6FCAEF45-4073-39CD-06D3-E1753553A3A8}"/>
                  </a:ext>
                </a:extLst>
              </p:cNvPr>
              <p:cNvSpPr txBox="1"/>
              <p:nvPr/>
            </p:nvSpPr>
            <p:spPr>
              <a:xfrm>
                <a:off x="866384" y="1471912"/>
                <a:ext cx="16541583" cy="1731243"/>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Integrating Sphere measurement (Transmittance) </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302259" lvl="1">
                  <a:lnSpc>
                    <a:spcPts val="4479"/>
                  </a:lnSpc>
                </a:pPr>
                <a14:m>
                  <m:oMathPara xmlns:m="http://schemas.openxmlformats.org/officeDocument/2006/math">
                    <m:oMathParaPr>
                      <m:jc m:val="centerGroup"/>
                    </m:oMathParaPr>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𝑀</m:t>
                          </m:r>
                        </m:e>
                        <m:sub>
                          <m:r>
                            <a:rPr lang="en-US" sz="2500" b="0" i="1" smtClean="0">
                              <a:latin typeface="Cambria Math" panose="02040503050406030204" pitchFamily="18" charset="0"/>
                            </a:rPr>
                            <m:t>𝑈</m:t>
                          </m:r>
                        </m:sub>
                      </m:sSub>
                      <m:r>
                        <a:rPr lang="en-US" sz="2500" b="0" i="1" smtClean="0">
                          <a:latin typeface="Cambria Math" panose="02040503050406030204" pitchFamily="18" charset="0"/>
                        </a:rPr>
                        <m:t>=</m:t>
                      </m:r>
                      <m:f>
                        <m:fPr>
                          <m:ctrlPr>
                            <a:rPr lang="en-US" sz="2500" i="1" smtClean="0">
                              <a:latin typeface="Cambria Math" panose="02040503050406030204" pitchFamily="18" charset="0"/>
                            </a:rPr>
                          </m:ctrlPr>
                        </m:fPr>
                        <m:num>
                          <m:sSub>
                            <m:sSubPr>
                              <m:ctrlPr>
                                <a:rPr lang="en-US" sz="2500" i="1">
                                  <a:latin typeface="Cambria Math" panose="02040503050406030204" pitchFamily="18" charset="0"/>
                                </a:rPr>
                              </m:ctrlPr>
                            </m:sSubPr>
                            <m:e>
                              <m:r>
                                <a:rPr lang="en-US" sz="2500" i="1">
                                  <a:latin typeface="Cambria Math" panose="02040503050406030204" pitchFamily="18" charset="0"/>
                                </a:rPr>
                                <m:t> </m:t>
                              </m:r>
                              <m:r>
                                <a:rPr lang="en-US" sz="2500" i="1">
                                  <a:latin typeface="Cambria Math" panose="02040503050406030204" pitchFamily="18" charset="0"/>
                                </a:rPr>
                                <m:t>𝑈</m:t>
                              </m:r>
                            </m:e>
                            <m:sub>
                              <m:r>
                                <a:rPr lang="en-US" sz="2500" b="0" i="1" smtClean="0">
                                  <a:latin typeface="Cambria Math" panose="02040503050406030204" pitchFamily="18" charset="0"/>
                                </a:rPr>
                                <m:t>𝑠</m:t>
                              </m:r>
                              <m:r>
                                <a:rPr lang="en-US" sz="2500" b="0" i="1" smtClean="0">
                                  <a:latin typeface="Cambria Math" panose="02040503050406030204" pitchFamily="18" charset="0"/>
                                </a:rPr>
                                <m:t> </m:t>
                              </m:r>
                            </m:sub>
                          </m:sSub>
                          <m:r>
                            <m:rPr>
                              <m:nor/>
                            </m:rPr>
                            <a:rPr lang="en-US" sz="2500" i="0" dirty="0" smtClean="0"/>
                            <m:t>−</m:t>
                          </m:r>
                          <m:sSub>
                            <m:sSubPr>
                              <m:ctrlPr>
                                <a:rPr lang="en-US" sz="2500" i="1">
                                  <a:latin typeface="Cambria Math" panose="02040503050406030204" pitchFamily="18" charset="0"/>
                                </a:rPr>
                              </m:ctrlPr>
                            </m:sSubPr>
                            <m:e>
                              <m:r>
                                <a:rPr lang="en-US" sz="2500" b="0" i="1" smtClean="0">
                                  <a:latin typeface="Cambria Math" panose="02040503050406030204" pitchFamily="18" charset="0"/>
                                </a:rPr>
                                <m:t> </m:t>
                              </m:r>
                              <m:r>
                                <a:rPr lang="en-US" sz="2500" b="0" i="1" smtClean="0">
                                  <a:latin typeface="Cambria Math" panose="02040503050406030204" pitchFamily="18" charset="0"/>
                                </a:rPr>
                                <m:t>𝑈</m:t>
                              </m:r>
                            </m:e>
                            <m:sub>
                              <m:r>
                                <a:rPr lang="en-US" sz="2500" b="0" i="1" smtClean="0">
                                  <a:latin typeface="Cambria Math" panose="02040503050406030204" pitchFamily="18" charset="0"/>
                                </a:rPr>
                                <m:t>0</m:t>
                              </m:r>
                            </m:sub>
                          </m:sSub>
                        </m:num>
                        <m:den>
                          <m:sSub>
                            <m:sSubPr>
                              <m:ctrlPr>
                                <a:rPr lang="en-US" sz="2500" i="1">
                                  <a:latin typeface="Cambria Math" panose="02040503050406030204" pitchFamily="18" charset="0"/>
                                </a:rPr>
                              </m:ctrlPr>
                            </m:sSubPr>
                            <m:e>
                              <m:r>
                                <a:rPr lang="en-US" sz="2500" i="1">
                                  <a:latin typeface="Cambria Math" panose="02040503050406030204" pitchFamily="18" charset="0"/>
                                </a:rPr>
                                <m:t> </m:t>
                              </m:r>
                              <m:r>
                                <a:rPr lang="en-US" sz="2500" i="1">
                                  <a:latin typeface="Cambria Math" panose="02040503050406030204" pitchFamily="18" charset="0"/>
                                </a:rPr>
                                <m:t>𝑈</m:t>
                              </m:r>
                            </m:e>
                            <m:sub>
                              <m:r>
                                <a:rPr lang="en-US" sz="2500" b="0" i="1" smtClean="0">
                                  <a:latin typeface="Cambria Math" panose="02040503050406030204" pitchFamily="18" charset="0"/>
                                </a:rPr>
                                <m:t>100</m:t>
                              </m:r>
                            </m:sub>
                          </m:sSub>
                          <m:r>
                            <m:rPr>
                              <m:nor/>
                            </m:rPr>
                            <a:rPr lang="en-US" sz="2500" b="0" i="0" smtClean="0">
                              <a:latin typeface="Cambria Math" panose="02040503050406030204" pitchFamily="18" charset="0"/>
                            </a:rPr>
                            <m:t> −</m:t>
                          </m:r>
                          <m:sSub>
                            <m:sSubPr>
                              <m:ctrlPr>
                                <a:rPr lang="en-US" sz="2500" i="1">
                                  <a:latin typeface="Cambria Math" panose="02040503050406030204" pitchFamily="18" charset="0"/>
                                </a:rPr>
                              </m:ctrlPr>
                            </m:sSubPr>
                            <m:e>
                              <m:r>
                                <a:rPr lang="en-US" sz="2500" i="1">
                                  <a:latin typeface="Cambria Math" panose="02040503050406030204" pitchFamily="18" charset="0"/>
                                </a:rPr>
                                <m:t> </m:t>
                              </m:r>
                              <m:r>
                                <a:rPr lang="en-US" sz="2500" i="1">
                                  <a:latin typeface="Cambria Math" panose="02040503050406030204" pitchFamily="18" charset="0"/>
                                </a:rPr>
                                <m:t>𝑈</m:t>
                              </m:r>
                            </m:e>
                            <m:sub>
                              <m:r>
                                <a:rPr lang="en-US" sz="2500" i="1">
                                  <a:latin typeface="Cambria Math" panose="02040503050406030204" pitchFamily="18" charset="0"/>
                                </a:rPr>
                                <m:t>0</m:t>
                              </m:r>
                            </m:sub>
                          </m:sSub>
                        </m:den>
                      </m:f>
                    </m:oMath>
                  </m:oMathPara>
                </a14:m>
                <a:endParaRPr lang="en-US" sz="2500" dirty="0"/>
              </a:p>
            </p:txBody>
          </p:sp>
        </mc:Choice>
        <mc:Fallback xmlns="">
          <p:sp>
            <p:nvSpPr>
              <p:cNvPr id="8" name="TextBox 8">
                <a:extLst>
                  <a:ext uri="{FF2B5EF4-FFF2-40B4-BE49-F238E27FC236}">
                    <a16:creationId xmlns:a16="http://schemas.microsoft.com/office/drawing/2014/main" id="{6FCAEF45-4073-39CD-06D3-E1753553A3A8}"/>
                  </a:ext>
                </a:extLst>
              </p:cNvPr>
              <p:cNvSpPr txBox="1">
                <a:spLocks noRot="1" noChangeAspect="1" noMove="1" noResize="1" noEditPoints="1" noAdjustHandles="1" noChangeArrowheads="1" noChangeShapeType="1" noTextEdit="1"/>
              </p:cNvSpPr>
              <p:nvPr/>
            </p:nvSpPr>
            <p:spPr>
              <a:xfrm>
                <a:off x="866384" y="1471912"/>
                <a:ext cx="16541583" cy="1731243"/>
              </a:xfrm>
              <a:prstGeom prst="rect">
                <a:avLst/>
              </a:prstGeom>
              <a:blipFill>
                <a:blip r:embed="rId4"/>
                <a:stretch>
                  <a:fillRect t="-10915" b="-66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446627-3694-3AD0-1069-921E8CB8E92A}"/>
                  </a:ext>
                </a:extLst>
              </p:cNvPr>
              <p:cNvSpPr txBox="1"/>
              <p:nvPr/>
            </p:nvSpPr>
            <p:spPr>
              <a:xfrm>
                <a:off x="4731289" y="8596153"/>
                <a:ext cx="8811771" cy="369332"/>
              </a:xfrm>
              <a:prstGeom prst="rect">
                <a:avLst/>
              </a:prstGeom>
              <a:noFill/>
            </p:spPr>
            <p:txBody>
              <a:bodyPr wrap="none" rtlCol="0">
                <a:spAutoFit/>
              </a:bodyPr>
              <a:lstStyle/>
              <a:p>
                <a:r>
                  <a:rPr lang="en-US" dirty="0"/>
                  <a:t>Fig. Configurations necessary to make the measurements required for the calculation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𝑈</m:t>
                        </m:r>
                      </m:sub>
                    </m:sSub>
                  </m:oMath>
                </a14:m>
                <a:r>
                  <a:rPr lang="en-US" dirty="0"/>
                  <a:t> </a:t>
                </a:r>
              </a:p>
            </p:txBody>
          </p:sp>
        </mc:Choice>
        <mc:Fallback xmlns="">
          <p:sp>
            <p:nvSpPr>
              <p:cNvPr id="7" name="TextBox 6">
                <a:extLst>
                  <a:ext uri="{FF2B5EF4-FFF2-40B4-BE49-F238E27FC236}">
                    <a16:creationId xmlns:a16="http://schemas.microsoft.com/office/drawing/2014/main" id="{5E446627-3694-3AD0-1069-921E8CB8E92A}"/>
                  </a:ext>
                </a:extLst>
              </p:cNvPr>
              <p:cNvSpPr txBox="1">
                <a:spLocks noRot="1" noChangeAspect="1" noMove="1" noResize="1" noEditPoints="1" noAdjustHandles="1" noChangeArrowheads="1" noChangeShapeType="1" noTextEdit="1"/>
              </p:cNvSpPr>
              <p:nvPr/>
            </p:nvSpPr>
            <p:spPr>
              <a:xfrm>
                <a:off x="4731289" y="8596153"/>
                <a:ext cx="8811771" cy="369332"/>
              </a:xfrm>
              <a:prstGeom prst="rect">
                <a:avLst/>
              </a:prstGeom>
              <a:blipFill>
                <a:blip r:embed="rId5"/>
                <a:stretch>
                  <a:fillRect l="-553" t="-8197" b="-2459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6670717-DEE5-2B2B-64D1-6E536C867405}"/>
              </a:ext>
            </a:extLst>
          </p:cNvPr>
          <p:cNvPicPr>
            <a:picLocks noChangeAspect="1"/>
          </p:cNvPicPr>
          <p:nvPr/>
        </p:nvPicPr>
        <p:blipFill>
          <a:blip r:embed="rId6"/>
          <a:stretch>
            <a:fillRect/>
          </a:stretch>
        </p:blipFill>
        <p:spPr>
          <a:xfrm>
            <a:off x="1733417" y="3771900"/>
            <a:ext cx="14807516" cy="4624840"/>
          </a:xfrm>
          <a:prstGeom prst="rect">
            <a:avLst/>
          </a:prstGeom>
        </p:spPr>
      </p:pic>
    </p:spTree>
    <p:extLst>
      <p:ext uri="{BB962C8B-B14F-4D97-AF65-F5344CB8AC3E}">
        <p14:creationId xmlns:p14="http://schemas.microsoft.com/office/powerpoint/2010/main" val="3664588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17FA-0DC4-1421-8B3B-1C593365B71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373026C-23AE-714E-D433-E66E773C4AEF}"/>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EB224D95-6794-0E31-C71E-10CF1F712FE2}"/>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CA5DC404-0092-71B2-3BD0-FA45B083C30B}"/>
                  </a:ext>
                </a:extLst>
              </p:cNvPr>
              <p:cNvSpPr txBox="1"/>
              <p:nvPr/>
            </p:nvSpPr>
            <p:spPr>
              <a:xfrm>
                <a:off x="762000" y="1638300"/>
                <a:ext cx="16541583" cy="8239435"/>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Integrating Sphere measurement (Regular or </a:t>
                </a:r>
                <a:r>
                  <a:rPr lang="en-US" sz="4000" b="1" dirty="0" err="1">
                    <a:solidFill>
                      <a:srgbClr val="000000"/>
                    </a:solidFill>
                    <a:latin typeface="Times New Roman" panose="02020603050405020304" pitchFamily="18" charset="0"/>
                    <a:cs typeface="Times New Roman" panose="02020603050405020304" pitchFamily="18" charset="0"/>
                    <a:sym typeface="Open Sauce"/>
                  </a:rPr>
                  <a:t>unscattered</a:t>
                </a:r>
                <a:r>
                  <a:rPr lang="en-US" sz="4000" b="1" dirty="0">
                    <a:solidFill>
                      <a:srgbClr val="000000"/>
                    </a:solidFill>
                    <a:latin typeface="Times New Roman" panose="02020603050405020304" pitchFamily="18" charset="0"/>
                    <a:cs typeface="Times New Roman" panose="02020603050405020304" pitchFamily="18" charset="0"/>
                    <a:sym typeface="Open Sauce"/>
                  </a:rPr>
                  <a:t> transmittance) </a:t>
                </a:r>
                <a:endParaRPr lang="en-US" sz="2500" dirty="0">
                  <a:highlight>
                    <a:srgbClr val="FFFF00"/>
                  </a:highlight>
                </a:endParaRPr>
              </a:p>
              <a:p>
                <a:pPr marL="604519" lvl="1" indent="-302260">
                  <a:lnSpc>
                    <a:spcPct val="200000"/>
                  </a:lnSpc>
                  <a:buFont typeface="Arial"/>
                  <a:buChar char="•"/>
                </a:pPr>
                <a:r>
                  <a:rPr lang="en-US" sz="2500" dirty="0"/>
                  <a:t>The additional required values are:</a:t>
                </a:r>
              </a:p>
              <a:p>
                <a:pPr marL="1518919" lvl="3" indent="-302260">
                  <a:lnSpc>
                    <a:spcPct val="200000"/>
                  </a:lnSpc>
                  <a:buFont typeface="Arial"/>
                  <a:buChar char="•"/>
                </a:pPr>
                <a:r>
                  <a:rPr lang="en-US" sz="2500" dirty="0"/>
                  <a:t>The inner wall reflectance</a:t>
                </a:r>
              </a:p>
              <a:p>
                <a:pPr marL="1518919" lvl="3" indent="-302260">
                  <a:lnSpc>
                    <a:spcPct val="200000"/>
                  </a:lnSpc>
                  <a:buFont typeface="Arial"/>
                  <a:buChar char="•"/>
                </a:pPr>
                <a:r>
                  <a:rPr lang="en-US" sz="2500" dirty="0"/>
                  <a:t>Diameter of the sphere</a:t>
                </a:r>
              </a:p>
              <a:p>
                <a:pPr marL="1518919" lvl="3" indent="-302260">
                  <a:lnSpc>
                    <a:spcPct val="200000"/>
                  </a:lnSpc>
                  <a:buFont typeface="Arial"/>
                  <a:buChar char="•"/>
                </a:pPr>
                <a:r>
                  <a:rPr lang="en-US" sz="2500" dirty="0"/>
                  <a:t>Diameter of each port. </a:t>
                </a:r>
              </a:p>
              <a:p>
                <a:pPr marL="1518919" lvl="3" indent="-302260">
                  <a:lnSpc>
                    <a:spcPct val="200000"/>
                  </a:lnSpc>
                  <a:buFont typeface="Arial"/>
                  <a:buChar char="•"/>
                </a:pPr>
                <a:r>
                  <a:rPr lang="en-US" sz="2500" dirty="0"/>
                  <a:t>Maximum permissible polar angle measured from the central axis of the incident laser which will be use as a threshold for regular transmittance. </a:t>
                </a:r>
              </a:p>
              <a:p>
                <a:pPr marL="604519" lvl="1" indent="-302260">
                  <a:lnSpc>
                    <a:spcPct val="200000"/>
                  </a:lnSpc>
                  <a:buFont typeface="Arial"/>
                  <a:buChar char="•"/>
                </a:pPr>
                <a:r>
                  <a:rPr lang="en-US" sz="2500" dirty="0"/>
                  <a:t>The maximum permissible polar angle is </a:t>
                </a:r>
                <a14:m>
                  <m:oMath xmlns:m="http://schemas.openxmlformats.org/officeDocument/2006/math">
                    <m:sSub>
                      <m:sSubPr>
                        <m:ctrlPr>
                          <a:rPr lang="en-US" sz="2500" i="1">
                            <a:latin typeface="Cambria Math" panose="02040503050406030204" pitchFamily="18" charset="0"/>
                          </a:rPr>
                        </m:ctrlPr>
                      </m:sSubPr>
                      <m:e>
                        <m:r>
                          <a:rPr lang="en-US" sz="2500" i="1" smtClean="0">
                            <a:latin typeface="Cambria Math" panose="02040503050406030204" pitchFamily="18" charset="0"/>
                            <a:ea typeface="Cambria Math" panose="02040503050406030204" pitchFamily="18" charset="0"/>
                          </a:rPr>
                          <m:t>𝜃</m:t>
                        </m:r>
                      </m:e>
                      <m:sub>
                        <m:r>
                          <a:rPr lang="en-US" sz="2500" b="0" i="1" smtClean="0">
                            <a:latin typeface="Cambria Math" panose="02040503050406030204" pitchFamily="18" charset="0"/>
                          </a:rPr>
                          <m:t>𝑈</m:t>
                        </m:r>
                      </m:sub>
                    </m:sSub>
                    <m:r>
                      <a:rPr lang="en-US" sz="2500" i="1">
                        <a:latin typeface="Cambria Math" panose="02040503050406030204" pitchFamily="18" charset="0"/>
                      </a:rPr>
                      <m:t> </m:t>
                    </m:r>
                  </m:oMath>
                </a14:m>
                <a:r>
                  <a:rPr lang="en-US" sz="2500" dirty="0"/>
                  <a:t>and it is calculated from the aperture diameter, A, and the distance of the aperture from the sample, </a:t>
                </a:r>
                <a:r>
                  <a:rPr lang="en-US" sz="2500" i="1" dirty="0"/>
                  <a:t>l</a:t>
                </a:r>
                <a:r>
                  <a:rPr lang="en-US" sz="2500" dirty="0"/>
                  <a:t>. </a:t>
                </a:r>
              </a:p>
              <a:p>
                <a:pPr marL="302259" lvl="1">
                  <a:lnSpc>
                    <a:spcPct val="200000"/>
                  </a:lnSpc>
                </a:pPr>
                <a14:m>
                  <m:oMathPara xmlns:m="http://schemas.openxmlformats.org/officeDocument/2006/math">
                    <m:oMathParaPr>
                      <m:jc m:val="centerGroup"/>
                    </m:oMathParaPr>
                    <m:oMath xmlns:m="http://schemas.openxmlformats.org/officeDocument/2006/math">
                      <m:sSub>
                        <m:sSubPr>
                          <m:ctrlPr>
                            <a:rPr lang="en-US" sz="2500" i="1" smtClean="0">
                              <a:latin typeface="Cambria Math" panose="02040503050406030204" pitchFamily="18" charset="0"/>
                            </a:rPr>
                          </m:ctrlPr>
                        </m:sSubPr>
                        <m:e>
                          <m:r>
                            <a:rPr lang="en-US" sz="2500" i="1">
                              <a:latin typeface="Cambria Math" panose="02040503050406030204" pitchFamily="18" charset="0"/>
                              <a:ea typeface="Cambria Math" panose="02040503050406030204" pitchFamily="18" charset="0"/>
                            </a:rPr>
                            <m:t>𝜃</m:t>
                          </m:r>
                        </m:e>
                        <m:sub>
                          <m:r>
                            <a:rPr lang="en-US" sz="2500" b="0" i="1" smtClean="0">
                              <a:latin typeface="Cambria Math" panose="02040503050406030204" pitchFamily="18" charset="0"/>
                            </a:rPr>
                            <m:t>𝑈</m:t>
                          </m:r>
                        </m:sub>
                      </m:sSub>
                      <m:r>
                        <a:rPr lang="en-US" sz="2500" b="0" i="1" smtClean="0">
                          <a:latin typeface="Cambria Math" panose="02040503050406030204" pitchFamily="18" charset="0"/>
                        </a:rPr>
                        <m:t>=</m:t>
                      </m:r>
                      <m:sSup>
                        <m:sSupPr>
                          <m:ctrlPr>
                            <a:rPr lang="en-US" sz="2500" b="0" i="1" smtClean="0">
                              <a:latin typeface="Cambria Math" panose="02040503050406030204" pitchFamily="18" charset="0"/>
                            </a:rPr>
                          </m:ctrlPr>
                        </m:sSupPr>
                        <m:e>
                          <m:r>
                            <a:rPr lang="en-US" sz="2500" b="0" i="1" smtClean="0">
                              <a:latin typeface="Cambria Math" panose="02040503050406030204" pitchFamily="18" charset="0"/>
                            </a:rPr>
                            <m:t>𝑡𝑎𝑛</m:t>
                          </m:r>
                        </m:e>
                        <m:sup>
                          <m:r>
                            <a:rPr lang="en-US" sz="2500" b="0" i="1" smtClean="0">
                              <a:latin typeface="Cambria Math" panose="02040503050406030204" pitchFamily="18" charset="0"/>
                            </a:rPr>
                            <m:t>−1</m:t>
                          </m:r>
                        </m:sup>
                      </m:sSup>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𝐴</m:t>
                          </m:r>
                        </m:num>
                        <m:den>
                          <m:r>
                            <a:rPr lang="en-US" sz="2500" b="0" i="1" smtClean="0">
                              <a:latin typeface="Cambria Math" panose="02040503050406030204" pitchFamily="18" charset="0"/>
                            </a:rPr>
                            <m:t>2</m:t>
                          </m:r>
                          <m:r>
                            <a:rPr lang="en-US" sz="2500" b="0" i="1" smtClean="0">
                              <a:latin typeface="Cambria Math" panose="02040503050406030204" pitchFamily="18" charset="0"/>
                            </a:rPr>
                            <m:t>𝑙</m:t>
                          </m:r>
                        </m:den>
                      </m:f>
                    </m:oMath>
                  </m:oMathPara>
                </a14:m>
                <a:endParaRPr lang="en-US" sz="2500" dirty="0"/>
              </a:p>
            </p:txBody>
          </p:sp>
        </mc:Choice>
        <mc:Fallback xmlns="">
          <p:sp>
            <p:nvSpPr>
              <p:cNvPr id="8" name="TextBox 8">
                <a:extLst>
                  <a:ext uri="{FF2B5EF4-FFF2-40B4-BE49-F238E27FC236}">
                    <a16:creationId xmlns:a16="http://schemas.microsoft.com/office/drawing/2014/main" id="{CA5DC404-0092-71B2-3BD0-FA45B083C30B}"/>
                  </a:ext>
                </a:extLst>
              </p:cNvPr>
              <p:cNvSpPr txBox="1">
                <a:spLocks noRot="1" noChangeAspect="1" noMove="1" noResize="1" noEditPoints="1" noAdjustHandles="1" noChangeArrowheads="1" noChangeShapeType="1" noTextEdit="1"/>
              </p:cNvSpPr>
              <p:nvPr/>
            </p:nvSpPr>
            <p:spPr>
              <a:xfrm>
                <a:off x="762000" y="1638300"/>
                <a:ext cx="16541583" cy="8239435"/>
              </a:xfrm>
              <a:prstGeom prst="rect">
                <a:avLst/>
              </a:prstGeom>
              <a:blipFill>
                <a:blip r:embed="rId3"/>
                <a:stretch>
                  <a:fillRect t="-2517"/>
                </a:stretch>
              </a:blipFill>
            </p:spPr>
            <p:txBody>
              <a:bodyPr/>
              <a:lstStyle/>
              <a:p>
                <a:r>
                  <a:rPr lang="en-US">
                    <a:noFill/>
                  </a:rPr>
                  <a:t> </a:t>
                </a:r>
              </a:p>
            </p:txBody>
          </p:sp>
        </mc:Fallback>
      </mc:AlternateContent>
    </p:spTree>
    <p:extLst>
      <p:ext uri="{BB962C8B-B14F-4D97-AF65-F5344CB8AC3E}">
        <p14:creationId xmlns:p14="http://schemas.microsoft.com/office/powerpoint/2010/main" val="871339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491CF-2338-4189-4467-354F4F8376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2BF256-349D-13C3-B704-091BF1905E03}"/>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2A86B94C-74DD-5D92-84A6-1F3C8B1ACE80}"/>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0AFAF887-4798-BF41-223E-6258E4CB8644}"/>
              </a:ext>
            </a:extLst>
          </p:cNvPr>
          <p:cNvSpPr txBox="1"/>
          <p:nvPr/>
        </p:nvSpPr>
        <p:spPr>
          <a:xfrm>
            <a:off x="873208" y="1104900"/>
            <a:ext cx="16541583" cy="8163773"/>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Methods</a:t>
            </a:r>
            <a:endParaRPr lang="en-US" sz="2500" dirty="0"/>
          </a:p>
          <a:p>
            <a:pPr marL="604519" lvl="1" indent="-302260">
              <a:lnSpc>
                <a:spcPct val="200000"/>
              </a:lnSpc>
              <a:buFont typeface="Arial"/>
              <a:buChar char="•"/>
            </a:pPr>
            <a:r>
              <a:rPr lang="en-US" sz="2500" dirty="0"/>
              <a:t>Extends the standard Monte Carlo photon transport to include integrating sphere.</a:t>
            </a:r>
          </a:p>
          <a:p>
            <a:pPr marL="1976119" lvl="4" indent="-302260">
              <a:lnSpc>
                <a:spcPct val="200000"/>
              </a:lnSpc>
              <a:buFont typeface="Arial"/>
              <a:buChar char="•"/>
            </a:pPr>
            <a:r>
              <a:rPr lang="en-US" sz="2500" dirty="0"/>
              <a:t>Tracks photons after exiting the sample:</a:t>
            </a:r>
          </a:p>
          <a:p>
            <a:pPr marL="1976119" lvl="4" indent="-302260">
              <a:lnSpc>
                <a:spcPct val="200000"/>
              </a:lnSpc>
              <a:buFont typeface="Arial"/>
              <a:buChar char="•"/>
            </a:pPr>
            <a:r>
              <a:rPr lang="en-US" sz="2500" dirty="0"/>
              <a:t>Photons escape through ports </a:t>
            </a:r>
          </a:p>
          <a:p>
            <a:pPr marL="1976119" lvl="4" indent="-302260">
              <a:lnSpc>
                <a:spcPct val="200000"/>
              </a:lnSpc>
              <a:buFont typeface="Arial"/>
              <a:buChar char="•"/>
            </a:pPr>
            <a:r>
              <a:rPr lang="en-US" sz="2500" dirty="0"/>
              <a:t>Detection of photons at the detector</a:t>
            </a:r>
          </a:p>
          <a:p>
            <a:pPr marL="1976119" lvl="4" indent="-302260">
              <a:lnSpc>
                <a:spcPct val="200000"/>
              </a:lnSpc>
              <a:buFont typeface="Arial"/>
              <a:buChar char="•"/>
            </a:pPr>
            <a:r>
              <a:rPr lang="en-US" sz="2500" dirty="0"/>
              <a:t>Absorption of photons by the sphere wall</a:t>
            </a:r>
          </a:p>
          <a:p>
            <a:pPr marL="1976119" lvl="4" indent="-302260">
              <a:lnSpc>
                <a:spcPct val="200000"/>
              </a:lnSpc>
              <a:buFont typeface="Arial"/>
              <a:buChar char="•"/>
            </a:pPr>
            <a:r>
              <a:rPr lang="en-US" sz="2500" dirty="0"/>
              <a:t>Photons re-incidence on sample</a:t>
            </a:r>
          </a:p>
          <a:p>
            <a:pPr marL="604519" lvl="1" indent="-302260">
              <a:lnSpc>
                <a:spcPct val="200000"/>
              </a:lnSpc>
              <a:buFont typeface="Arial"/>
              <a:buChar char="•"/>
            </a:pPr>
            <a:r>
              <a:rPr lang="en-US" sz="2500" dirty="0"/>
              <a:t>Uses analytical probability for photon re-incidence (no ray tracing)</a:t>
            </a:r>
          </a:p>
          <a:p>
            <a:pPr marL="604519" lvl="1" indent="-302260">
              <a:lnSpc>
                <a:spcPct val="200000"/>
              </a:lnSpc>
              <a:buFont typeface="Arial"/>
              <a:buChar char="•"/>
            </a:pPr>
            <a:r>
              <a:rPr lang="en-US" sz="2500" dirty="0"/>
              <a:t>Integrating sphere is modeled using the wall reflectance, ports fractional areas and detector fractional areas.</a:t>
            </a:r>
          </a:p>
          <a:p>
            <a:pPr marL="604519" lvl="1" indent="-302260">
              <a:lnSpc>
                <a:spcPct val="200000"/>
              </a:lnSpc>
              <a:buFont typeface="Arial"/>
              <a:buChar char="•"/>
            </a:pPr>
            <a:r>
              <a:rPr lang="en-US" sz="2500" dirty="0"/>
              <a:t>Accounts for sphere-to-sphere crosstalk which enables using for both single and double integrating sphere.</a:t>
            </a:r>
          </a:p>
          <a:p>
            <a:pPr marL="604519" lvl="1" indent="-302260">
              <a:lnSpc>
                <a:spcPct val="200000"/>
              </a:lnSpc>
              <a:buFont typeface="Arial"/>
              <a:buChar char="•"/>
            </a:pPr>
            <a:r>
              <a:rPr lang="en-US" sz="2500" dirty="0"/>
              <a:t>Uses Monte Carlo statistics to estimate simulation uncertainty. </a:t>
            </a:r>
          </a:p>
        </p:txBody>
      </p:sp>
    </p:spTree>
    <p:extLst>
      <p:ext uri="{BB962C8B-B14F-4D97-AF65-F5344CB8AC3E}">
        <p14:creationId xmlns:p14="http://schemas.microsoft.com/office/powerpoint/2010/main" val="1385047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DCCCB-18E2-38FC-E639-CC41EF1DED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BC1A0A-08F9-1438-D9FA-5012B5876DEC}"/>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9B1494A5-6815-B5F7-851A-E27B84044C4D}"/>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0766BB56-7C57-E224-9007-667DF758D859}"/>
              </a:ext>
            </a:extLst>
          </p:cNvPr>
          <p:cNvSpPr txBox="1"/>
          <p:nvPr/>
        </p:nvSpPr>
        <p:spPr>
          <a:xfrm>
            <a:off x="873208" y="1409700"/>
            <a:ext cx="16541583" cy="6624891"/>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Assumptions and modifications</a:t>
            </a:r>
            <a:endParaRPr lang="en-US" sz="2500" dirty="0"/>
          </a:p>
          <a:p>
            <a:pPr marL="604519" lvl="1" indent="-302260">
              <a:lnSpc>
                <a:spcPct val="200000"/>
              </a:lnSpc>
              <a:buFont typeface="Arial"/>
              <a:buChar char="•"/>
            </a:pPr>
            <a:r>
              <a:rPr lang="en-US" sz="2500" dirty="0"/>
              <a:t>Surface roughness effects is ignored as in common MC simulations sample is placed between the glass slides.</a:t>
            </a:r>
          </a:p>
          <a:p>
            <a:pPr marL="604519" lvl="1" indent="-302260">
              <a:lnSpc>
                <a:spcPct val="200000"/>
              </a:lnSpc>
              <a:buFont typeface="Arial"/>
              <a:buChar char="•"/>
            </a:pPr>
            <a:r>
              <a:rPr lang="en-US" sz="2500" dirty="0"/>
              <a:t>Baffle is assumed to be large enough to block the photons to directly enters the detector paths and small enough not to block the photons to escapes though the source port.</a:t>
            </a:r>
          </a:p>
          <a:p>
            <a:pPr marL="604519" lvl="1" indent="-302260">
              <a:lnSpc>
                <a:spcPct val="200000"/>
              </a:lnSpc>
              <a:buFont typeface="Arial"/>
              <a:buChar char="•"/>
            </a:pPr>
            <a:r>
              <a:rPr lang="en-US" sz="2500" dirty="0"/>
              <a:t>Baffle is treated as sphere wall and sphere walls is assumed ideal Lambertian.</a:t>
            </a:r>
          </a:p>
          <a:p>
            <a:pPr marL="604519" lvl="1" indent="-302260">
              <a:lnSpc>
                <a:spcPct val="200000"/>
              </a:lnSpc>
              <a:buFont typeface="Arial"/>
              <a:buChar char="•"/>
            </a:pPr>
            <a:r>
              <a:rPr lang="en-US" sz="2500" dirty="0"/>
              <a:t>Photons are assumed to exit and re-enter sample at port center, which could cause over estimation of R and T.</a:t>
            </a:r>
          </a:p>
          <a:p>
            <a:pPr marL="604519" lvl="1" indent="-302260">
              <a:lnSpc>
                <a:spcPct val="200000"/>
              </a:lnSpc>
              <a:buFont typeface="Arial"/>
              <a:buChar char="•"/>
            </a:pPr>
            <a:r>
              <a:rPr lang="en-US" sz="2500" dirty="0"/>
              <a:t>Sample is assumed infinite laterally and side losses are ignored which could overestimate the absorption coefficient. </a:t>
            </a:r>
          </a:p>
          <a:p>
            <a:pPr marL="604519" lvl="1" indent="-302260">
              <a:lnSpc>
                <a:spcPct val="200000"/>
              </a:lnSpc>
              <a:buFont typeface="Arial"/>
              <a:buChar char="•"/>
            </a:pPr>
            <a:r>
              <a:rPr lang="en-US" sz="2500" dirty="0"/>
              <a:t>For the unbaffled sphere, the photons that directly enter into the detector  counted immediately as R or T.</a:t>
            </a:r>
          </a:p>
          <a:p>
            <a:pPr marL="604519" lvl="1" indent="-302260">
              <a:lnSpc>
                <a:spcPct val="200000"/>
              </a:lnSpc>
              <a:buFont typeface="Arial"/>
              <a:buChar char="•"/>
            </a:pPr>
            <a:r>
              <a:rPr lang="en-US" sz="2500" dirty="0"/>
              <a:t>No charge to re-incidence equations.  </a:t>
            </a:r>
          </a:p>
        </p:txBody>
      </p:sp>
    </p:spTree>
    <p:extLst>
      <p:ext uri="{BB962C8B-B14F-4D97-AF65-F5344CB8AC3E}">
        <p14:creationId xmlns:p14="http://schemas.microsoft.com/office/powerpoint/2010/main" val="2396011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DED3B-BCA4-5B85-2294-389118B15B4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238398E-8899-C2AA-7828-DC261D5EF92E}"/>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5942BFE9-DC21-9F05-CDB5-2C96880A2A94}"/>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EC8DA597-5E1C-A255-2BAF-2697D276D7E6}"/>
              </a:ext>
            </a:extLst>
          </p:cNvPr>
          <p:cNvSpPr txBox="1"/>
          <p:nvPr/>
        </p:nvSpPr>
        <p:spPr>
          <a:xfrm>
            <a:off x="873208" y="1491326"/>
            <a:ext cx="16541583" cy="3547125"/>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Verification</a:t>
            </a:r>
            <a:endParaRPr lang="en-US" sz="2500" dirty="0"/>
          </a:p>
          <a:p>
            <a:pPr marL="302259" lvl="1">
              <a:lnSpc>
                <a:spcPct val="200000"/>
              </a:lnSpc>
            </a:pPr>
            <a:r>
              <a:rPr lang="en-US" sz="2500" b="1" dirty="0"/>
              <a:t>Verification with previous work on Monte Carlo simulation without sphere</a:t>
            </a:r>
          </a:p>
          <a:p>
            <a:pPr marL="604519" lvl="1" indent="-302260">
              <a:lnSpc>
                <a:spcPct val="200000"/>
              </a:lnSpc>
              <a:buFont typeface="Arial"/>
              <a:buChar char="•"/>
            </a:pPr>
            <a:r>
              <a:rPr lang="en-US" sz="2500" dirty="0"/>
              <a:t>Has Excellent agreement when comparing with the established MC codes for Total reflectance, total transmittance for the index-matched boundary condition.</a:t>
            </a:r>
          </a:p>
          <a:p>
            <a:pPr marL="604519" lvl="1" indent="-302260">
              <a:lnSpc>
                <a:spcPct val="200000"/>
              </a:lnSpc>
              <a:buFont typeface="Arial"/>
              <a:buChar char="•"/>
            </a:pPr>
            <a:endParaRPr lang="en-US" sz="2500" dirty="0"/>
          </a:p>
        </p:txBody>
      </p:sp>
      <p:sp>
        <p:nvSpPr>
          <p:cNvPr id="4" name="TextBox 3">
            <a:extLst>
              <a:ext uri="{FF2B5EF4-FFF2-40B4-BE49-F238E27FC236}">
                <a16:creationId xmlns:a16="http://schemas.microsoft.com/office/drawing/2014/main" id="{638B4CDE-50E7-BE5D-F207-A77A0360ED00}"/>
              </a:ext>
            </a:extLst>
          </p:cNvPr>
          <p:cNvSpPr txBox="1"/>
          <p:nvPr/>
        </p:nvSpPr>
        <p:spPr>
          <a:xfrm>
            <a:off x="5492198" y="8496300"/>
            <a:ext cx="7303602" cy="369332"/>
          </a:xfrm>
          <a:prstGeom prst="rect">
            <a:avLst/>
          </a:prstGeom>
          <a:noFill/>
        </p:spPr>
        <p:txBody>
          <a:bodyPr wrap="none" rtlCol="0">
            <a:spAutoFit/>
          </a:bodyPr>
          <a:lstStyle/>
          <a:p>
            <a:r>
              <a:rPr lang="en-US" dirty="0"/>
              <a:t>Table 1. Verification for a sample with a refractive-index-matched boundary </a:t>
            </a:r>
          </a:p>
        </p:txBody>
      </p:sp>
      <p:pic>
        <p:nvPicPr>
          <p:cNvPr id="9" name="Picture 8">
            <a:extLst>
              <a:ext uri="{FF2B5EF4-FFF2-40B4-BE49-F238E27FC236}">
                <a16:creationId xmlns:a16="http://schemas.microsoft.com/office/drawing/2014/main" id="{0935413C-89D5-47F4-A212-F58649500427}"/>
              </a:ext>
            </a:extLst>
          </p:cNvPr>
          <p:cNvPicPr>
            <a:picLocks noChangeAspect="1"/>
          </p:cNvPicPr>
          <p:nvPr/>
        </p:nvPicPr>
        <p:blipFill>
          <a:blip r:embed="rId3">
            <a:extLst>
              <a:ext uri="{28A0092B-C50C-407E-A947-70E740481C1C}">
                <a14:useLocalDpi xmlns:a14="http://schemas.microsoft.com/office/drawing/2010/main" val="0"/>
              </a:ext>
            </a:extLst>
          </a:blip>
          <a:srcRect t="10095"/>
          <a:stretch>
            <a:fillRect/>
          </a:stretch>
        </p:blipFill>
        <p:spPr>
          <a:xfrm>
            <a:off x="1193288" y="4533900"/>
            <a:ext cx="15901422" cy="3885304"/>
          </a:xfrm>
          <a:prstGeom prst="rect">
            <a:avLst/>
          </a:prstGeom>
        </p:spPr>
      </p:pic>
    </p:spTree>
    <p:extLst>
      <p:ext uri="{BB962C8B-B14F-4D97-AF65-F5344CB8AC3E}">
        <p14:creationId xmlns:p14="http://schemas.microsoft.com/office/powerpoint/2010/main" val="1348511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9D90-7F9B-16E2-C5D9-4BA7046CC6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24CBC3-983B-5053-3A0E-F942D7D698CD}"/>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076985D1-75CD-0831-8E03-55EBF83FBB05}"/>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6FF13614-2497-E592-06D2-3AE50C6CD0D3}"/>
              </a:ext>
            </a:extLst>
          </p:cNvPr>
          <p:cNvSpPr txBox="1"/>
          <p:nvPr/>
        </p:nvSpPr>
        <p:spPr>
          <a:xfrm>
            <a:off x="873208" y="1491326"/>
            <a:ext cx="16541583" cy="2777683"/>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Verification</a:t>
            </a:r>
            <a:endParaRPr lang="en-US" sz="2500" dirty="0"/>
          </a:p>
          <a:p>
            <a:pPr marL="302259" lvl="1">
              <a:lnSpc>
                <a:spcPct val="200000"/>
              </a:lnSpc>
            </a:pPr>
            <a:r>
              <a:rPr lang="en-US" sz="2500" b="1" dirty="0"/>
              <a:t>Verification with previous work on Monte Carlo simulation without sphere</a:t>
            </a:r>
          </a:p>
          <a:p>
            <a:pPr marL="645159" lvl="1" indent="-342900">
              <a:lnSpc>
                <a:spcPct val="200000"/>
              </a:lnSpc>
              <a:buFont typeface="Arial" panose="020B0604020202020204" pitchFamily="34" charset="0"/>
              <a:buChar char="•"/>
            </a:pPr>
            <a:r>
              <a:rPr lang="en-US" sz="2500" dirty="0"/>
              <a:t>Achieved excellent agreement for the diffuse reflectance for index-mismatched boundary condition.</a:t>
            </a:r>
          </a:p>
          <a:p>
            <a:pPr marL="604519" lvl="1" indent="-302260">
              <a:lnSpc>
                <a:spcPct val="200000"/>
              </a:lnSpc>
              <a:buFont typeface="Arial"/>
              <a:buChar char="•"/>
            </a:pPr>
            <a:endParaRPr lang="en-US" sz="2500" dirty="0"/>
          </a:p>
        </p:txBody>
      </p:sp>
      <p:sp>
        <p:nvSpPr>
          <p:cNvPr id="5" name="TextBox 4">
            <a:extLst>
              <a:ext uri="{FF2B5EF4-FFF2-40B4-BE49-F238E27FC236}">
                <a16:creationId xmlns:a16="http://schemas.microsoft.com/office/drawing/2014/main" id="{B361EFBB-E06A-1E0A-884D-764FA1D70A7E}"/>
              </a:ext>
            </a:extLst>
          </p:cNvPr>
          <p:cNvSpPr txBox="1"/>
          <p:nvPr/>
        </p:nvSpPr>
        <p:spPr>
          <a:xfrm>
            <a:off x="5321868" y="7882290"/>
            <a:ext cx="7630615" cy="369332"/>
          </a:xfrm>
          <a:prstGeom prst="rect">
            <a:avLst/>
          </a:prstGeom>
          <a:noFill/>
        </p:spPr>
        <p:txBody>
          <a:bodyPr wrap="none" rtlCol="0">
            <a:spAutoFit/>
          </a:bodyPr>
          <a:lstStyle/>
          <a:p>
            <a:r>
              <a:rPr lang="en-US" dirty="0"/>
              <a:t>Table 2. Verification for a sample with a refractive-index-mismatched boundary </a:t>
            </a:r>
          </a:p>
        </p:txBody>
      </p:sp>
      <p:pic>
        <p:nvPicPr>
          <p:cNvPr id="9" name="Picture 8">
            <a:extLst>
              <a:ext uri="{FF2B5EF4-FFF2-40B4-BE49-F238E27FC236}">
                <a16:creationId xmlns:a16="http://schemas.microsoft.com/office/drawing/2014/main" id="{71EF4AD4-CD54-EA6E-63C4-0CFCAC2ACB4E}"/>
              </a:ext>
            </a:extLst>
          </p:cNvPr>
          <p:cNvPicPr>
            <a:picLocks noChangeAspect="1"/>
          </p:cNvPicPr>
          <p:nvPr/>
        </p:nvPicPr>
        <p:blipFill>
          <a:blip r:embed="rId3">
            <a:extLst>
              <a:ext uri="{28A0092B-C50C-407E-A947-70E740481C1C}">
                <a14:useLocalDpi xmlns:a14="http://schemas.microsoft.com/office/drawing/2010/main" val="0"/>
              </a:ext>
            </a:extLst>
          </a:blip>
          <a:srcRect l="-955" t="11173" r="955" b="-11173"/>
          <a:stretch>
            <a:fillRect/>
          </a:stretch>
        </p:blipFill>
        <p:spPr>
          <a:xfrm>
            <a:off x="1059976" y="3700192"/>
            <a:ext cx="16154400" cy="4539799"/>
          </a:xfrm>
          <a:prstGeom prst="rect">
            <a:avLst/>
          </a:prstGeom>
        </p:spPr>
      </p:pic>
    </p:spTree>
    <p:extLst>
      <p:ext uri="{BB962C8B-B14F-4D97-AF65-F5344CB8AC3E}">
        <p14:creationId xmlns:p14="http://schemas.microsoft.com/office/powerpoint/2010/main" val="4215575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5EA0D-0F0F-AB9B-3F11-680876AC774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63688C-49C3-AC57-C3AD-C462E5083041}"/>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F5C7BA9D-A99B-61C1-D495-4AF28D4EB7AE}"/>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C106EB59-16B4-4BD5-A5DC-187DBA53C906}"/>
              </a:ext>
            </a:extLst>
          </p:cNvPr>
          <p:cNvSpPr txBox="1"/>
          <p:nvPr/>
        </p:nvSpPr>
        <p:spPr>
          <a:xfrm>
            <a:off x="873208" y="1491326"/>
            <a:ext cx="16541583" cy="3547125"/>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Verification</a:t>
            </a:r>
            <a:endParaRPr lang="en-US" sz="2500" dirty="0"/>
          </a:p>
          <a:p>
            <a:pPr marL="302259" lvl="1">
              <a:lnSpc>
                <a:spcPct val="200000"/>
              </a:lnSpc>
            </a:pPr>
            <a:r>
              <a:rPr lang="en-US" sz="2500" b="1" dirty="0"/>
              <a:t>Verified with the integrating sphere experiment performed on a synthetic tissue phantom</a:t>
            </a:r>
          </a:p>
          <a:p>
            <a:pPr marL="604519" lvl="1" indent="-302260">
              <a:lnSpc>
                <a:spcPct val="200000"/>
              </a:lnSpc>
              <a:buFont typeface="Arial"/>
              <a:buChar char="•"/>
            </a:pPr>
            <a:r>
              <a:rPr lang="en-US" sz="2500" dirty="0"/>
              <a:t>ISMC simulation results closely match experimental diffuse reflectance and diffuse transmittance.</a:t>
            </a:r>
          </a:p>
          <a:p>
            <a:pPr marL="302259" lvl="1">
              <a:lnSpc>
                <a:spcPct val="200000"/>
              </a:lnSpc>
            </a:pPr>
            <a:endParaRPr lang="en-US" sz="2500" dirty="0"/>
          </a:p>
          <a:p>
            <a:pPr marL="604519" lvl="1" indent="-302260">
              <a:lnSpc>
                <a:spcPct val="200000"/>
              </a:lnSpc>
              <a:buFont typeface="Arial"/>
              <a:buChar char="•"/>
            </a:pPr>
            <a:endParaRPr lang="en-US" sz="2500" dirty="0"/>
          </a:p>
        </p:txBody>
      </p:sp>
      <p:sp>
        <p:nvSpPr>
          <p:cNvPr id="6" name="TextBox 5">
            <a:extLst>
              <a:ext uri="{FF2B5EF4-FFF2-40B4-BE49-F238E27FC236}">
                <a16:creationId xmlns:a16="http://schemas.microsoft.com/office/drawing/2014/main" id="{D926FF43-AFEC-146F-C711-2E9F594BD929}"/>
              </a:ext>
            </a:extLst>
          </p:cNvPr>
          <p:cNvSpPr txBox="1"/>
          <p:nvPr/>
        </p:nvSpPr>
        <p:spPr>
          <a:xfrm>
            <a:off x="2117017" y="7962900"/>
            <a:ext cx="14232679" cy="369332"/>
          </a:xfrm>
          <a:prstGeom prst="rect">
            <a:avLst/>
          </a:prstGeom>
          <a:noFill/>
        </p:spPr>
        <p:txBody>
          <a:bodyPr wrap="none" rtlCol="0">
            <a:spAutoFit/>
          </a:bodyPr>
          <a:lstStyle/>
          <a:p>
            <a:r>
              <a:rPr lang="en-US" dirty="0"/>
              <a:t>Table 3. Optical properties of the tissue phantom at wavelength 532 nm according to the National Institute of Standards and Technology (NIST) report </a:t>
            </a:r>
          </a:p>
        </p:txBody>
      </p:sp>
      <p:pic>
        <p:nvPicPr>
          <p:cNvPr id="9" name="Picture 8">
            <a:extLst>
              <a:ext uri="{FF2B5EF4-FFF2-40B4-BE49-F238E27FC236}">
                <a16:creationId xmlns:a16="http://schemas.microsoft.com/office/drawing/2014/main" id="{C8CAA9DB-D620-E059-EEEB-E401D9EE1A46}"/>
              </a:ext>
            </a:extLst>
          </p:cNvPr>
          <p:cNvPicPr>
            <a:picLocks noChangeAspect="1"/>
          </p:cNvPicPr>
          <p:nvPr/>
        </p:nvPicPr>
        <p:blipFill>
          <a:blip r:embed="rId3">
            <a:extLst>
              <a:ext uri="{28A0092B-C50C-407E-A947-70E740481C1C}">
                <a14:useLocalDpi xmlns:a14="http://schemas.microsoft.com/office/drawing/2010/main" val="0"/>
              </a:ext>
            </a:extLst>
          </a:blip>
          <a:srcRect t="23672"/>
          <a:stretch>
            <a:fillRect/>
          </a:stretch>
        </p:blipFill>
        <p:spPr>
          <a:xfrm>
            <a:off x="1333499" y="3903120"/>
            <a:ext cx="15621000" cy="3983580"/>
          </a:xfrm>
          <a:prstGeom prst="rect">
            <a:avLst/>
          </a:prstGeom>
        </p:spPr>
      </p:pic>
    </p:spTree>
    <p:extLst>
      <p:ext uri="{BB962C8B-B14F-4D97-AF65-F5344CB8AC3E}">
        <p14:creationId xmlns:p14="http://schemas.microsoft.com/office/powerpoint/2010/main" val="2139449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BB03-2369-6D76-E2D6-07805D9A1A3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11B3A84-7A55-F818-99CB-1476934CE3B8}"/>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075437A1-726B-26B7-1D14-E493B585F29B}"/>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mc:Choice xmlns:a14="http://schemas.microsoft.com/office/drawing/2010/main" Requires="a14">
          <p:sp>
            <p:nvSpPr>
              <p:cNvPr id="8" name="TextBox 8">
                <a:extLst>
                  <a:ext uri="{FF2B5EF4-FFF2-40B4-BE49-F238E27FC236}">
                    <a16:creationId xmlns:a16="http://schemas.microsoft.com/office/drawing/2014/main" id="{9CB863DE-070C-052A-268F-A3CB9CFC175A}"/>
                  </a:ext>
                </a:extLst>
              </p:cNvPr>
              <p:cNvSpPr txBox="1"/>
              <p:nvPr/>
            </p:nvSpPr>
            <p:spPr>
              <a:xfrm>
                <a:off x="873209" y="1491326"/>
                <a:ext cx="8880392" cy="11049179"/>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Application to measuring optical properties</a:t>
                </a:r>
                <a:endParaRPr lang="en-US" sz="2500" dirty="0"/>
              </a:p>
              <a:p>
                <a:pPr marL="604519" lvl="1" indent="-302260">
                  <a:lnSpc>
                    <a:spcPct val="200000"/>
                  </a:lnSpc>
                  <a:buFont typeface="Arial"/>
                  <a:buChar char="•"/>
                </a:pPr>
                <a:r>
                  <a:rPr lang="en-US" sz="2500" dirty="0"/>
                  <a:t>Estimate the optical properties, absorption coefficient </a:t>
                </a:r>
                <a14:m>
                  <m:oMath xmlns:m="http://schemas.openxmlformats.org/officeDocument/2006/math">
                    <m:sSub>
                      <m:sSubPr>
                        <m:ctrlPr>
                          <a:rPr lang="en-US" sz="2500" i="1" smtClean="0">
                            <a:latin typeface="Cambria Math" panose="02040503050406030204" pitchFamily="18" charset="0"/>
                          </a:rPr>
                        </m:ctrlPr>
                      </m:sSubPr>
                      <m:e>
                        <m:r>
                          <a:rPr lang="en-US" sz="2500" i="1" smtClean="0">
                            <a:latin typeface="Cambria Math" panose="02040503050406030204" pitchFamily="18" charset="0"/>
                            <a:ea typeface="Cambria Math" panose="02040503050406030204" pitchFamily="18" charset="0"/>
                          </a:rPr>
                          <m:t>𝜇</m:t>
                        </m:r>
                      </m:e>
                      <m:sub>
                        <m:r>
                          <a:rPr lang="en-US" sz="2500" b="0" i="1" smtClean="0">
                            <a:latin typeface="Cambria Math" panose="02040503050406030204" pitchFamily="18" charset="0"/>
                          </a:rPr>
                          <m:t>𝑎</m:t>
                        </m:r>
                      </m:sub>
                    </m:sSub>
                  </m:oMath>
                </a14:m>
                <a:r>
                  <a:rPr lang="en-US" sz="2500" dirty="0"/>
                  <a:t> and reduced scattering </a:t>
                </a:r>
                <a14:m>
                  <m:oMath xmlns:m="http://schemas.openxmlformats.org/officeDocument/2006/math">
                    <m:sSubSup>
                      <m:sSubSupPr>
                        <m:ctrlPr>
                          <a:rPr lang="en-US" sz="2500" i="1" smtClean="0">
                            <a:latin typeface="Cambria Math" panose="02040503050406030204" pitchFamily="18" charset="0"/>
                          </a:rPr>
                        </m:ctrlPr>
                      </m:sSubSupPr>
                      <m:e>
                        <m:r>
                          <a:rPr lang="en-US" sz="2500" i="1">
                            <a:latin typeface="Cambria Math" panose="02040503050406030204" pitchFamily="18" charset="0"/>
                            <a:ea typeface="Cambria Math" panose="02040503050406030204" pitchFamily="18" charset="0"/>
                          </a:rPr>
                          <m:t>𝜇</m:t>
                        </m:r>
                      </m:e>
                      <m:sub>
                        <m:r>
                          <a:rPr lang="en-US" sz="2500" b="0" i="1" smtClean="0">
                            <a:latin typeface="Cambria Math" panose="02040503050406030204" pitchFamily="18" charset="0"/>
                          </a:rPr>
                          <m:t>𝑠</m:t>
                        </m:r>
                      </m:sub>
                      <m:sup>
                        <m:r>
                          <a:rPr lang="en-US" sz="2500" b="0" i="1" smtClean="0">
                            <a:latin typeface="Cambria Math" panose="02040503050406030204" pitchFamily="18" charset="0"/>
                          </a:rPr>
                          <m:t>′</m:t>
                        </m:r>
                      </m:sup>
                    </m:sSubSup>
                  </m:oMath>
                </a14:m>
                <a:r>
                  <a:rPr lang="en-US" sz="2500" dirty="0"/>
                  <a:t> by using the diffuse reflectance </a:t>
                </a:r>
                <a14:m>
                  <m:oMath xmlns:m="http://schemas.openxmlformats.org/officeDocument/2006/math">
                    <m:sSub>
                      <m:sSubPr>
                        <m:ctrlPr>
                          <a:rPr lang="en-US" sz="2500" i="1">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ea typeface="Cambria Math" panose="02040503050406030204" pitchFamily="18" charset="0"/>
                          </a:rPr>
                          <m:t>𝑅</m:t>
                        </m:r>
                      </m:sub>
                    </m:sSub>
                  </m:oMath>
                </a14:m>
                <a:r>
                  <a:rPr lang="en-US" sz="2500" dirty="0"/>
                  <a:t> , diffuse transmittance </a:t>
                </a:r>
                <a14:m>
                  <m:oMath xmlns:m="http://schemas.openxmlformats.org/officeDocument/2006/math">
                    <m:sSub>
                      <m:sSubPr>
                        <m:ctrlPr>
                          <a:rPr lang="en-US" sz="2500" i="1">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ea typeface="Cambria Math" panose="02040503050406030204" pitchFamily="18" charset="0"/>
                          </a:rPr>
                          <m:t>𝑇</m:t>
                        </m:r>
                      </m:sub>
                    </m:sSub>
                  </m:oMath>
                </a14:m>
                <a:r>
                  <a:rPr lang="en-US" sz="2500" dirty="0"/>
                  <a:t> and optional regular transmittance </a:t>
                </a:r>
                <a14:m>
                  <m:oMath xmlns:m="http://schemas.openxmlformats.org/officeDocument/2006/math">
                    <m:sSub>
                      <m:sSubPr>
                        <m:ctrlPr>
                          <a:rPr lang="en-US" sz="2500" i="1">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ea typeface="Cambria Math" panose="02040503050406030204" pitchFamily="18" charset="0"/>
                          </a:rPr>
                          <m:t>𝑈</m:t>
                        </m:r>
                      </m:sub>
                    </m:sSub>
                  </m:oMath>
                </a14:m>
                <a:r>
                  <a:rPr lang="en-US" sz="2500" dirty="0"/>
                  <a:t> .</a:t>
                </a:r>
              </a:p>
              <a:p>
                <a:pPr marL="302259" lvl="1">
                  <a:lnSpc>
                    <a:spcPct val="200000"/>
                  </a:lnSpc>
                </a:pPr>
                <a:r>
                  <a:rPr lang="en-US" sz="2500" b="1" dirty="0"/>
                  <a:t>Lookup Table method </a:t>
                </a:r>
              </a:p>
              <a:p>
                <a:pPr marL="604519" lvl="1" indent="-302260">
                  <a:lnSpc>
                    <a:spcPct val="200000"/>
                  </a:lnSpc>
                  <a:buFont typeface="Arial"/>
                  <a:buChar char="•"/>
                </a:pPr>
                <a:r>
                  <a:rPr lang="en-US" sz="2500" dirty="0"/>
                  <a:t>Simulate the wide range of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ea typeface="Cambria Math" panose="02040503050406030204" pitchFamily="18" charset="0"/>
                          </a:rPr>
                          <m:t>𝜇</m:t>
                        </m:r>
                      </m:e>
                      <m:sub>
                        <m:r>
                          <a:rPr lang="en-US" sz="2500" i="1">
                            <a:latin typeface="Cambria Math" panose="02040503050406030204" pitchFamily="18" charset="0"/>
                          </a:rPr>
                          <m:t>𝑎</m:t>
                        </m:r>
                      </m:sub>
                    </m:sSub>
                  </m:oMath>
                </a14:m>
                <a:r>
                  <a:rPr lang="en-US" sz="2500" dirty="0"/>
                  <a:t> and </a:t>
                </a:r>
                <a14:m>
                  <m:oMath xmlns:m="http://schemas.openxmlformats.org/officeDocument/2006/math">
                    <m:sSubSup>
                      <m:sSubSupPr>
                        <m:ctrlPr>
                          <a:rPr lang="en-US" sz="2500" i="1">
                            <a:latin typeface="Cambria Math" panose="02040503050406030204" pitchFamily="18" charset="0"/>
                          </a:rPr>
                        </m:ctrlPr>
                      </m:sSubSupPr>
                      <m:e>
                        <m:r>
                          <a:rPr lang="en-US" sz="2500" i="1">
                            <a:latin typeface="Cambria Math" panose="02040503050406030204" pitchFamily="18" charset="0"/>
                            <a:ea typeface="Cambria Math" panose="02040503050406030204" pitchFamily="18" charset="0"/>
                          </a:rPr>
                          <m:t>𝜇</m:t>
                        </m:r>
                      </m:e>
                      <m:sub>
                        <m:r>
                          <a:rPr lang="en-US" sz="2500" i="1">
                            <a:latin typeface="Cambria Math" panose="02040503050406030204" pitchFamily="18" charset="0"/>
                          </a:rPr>
                          <m:t>𝑠</m:t>
                        </m:r>
                      </m:sub>
                      <m:sup>
                        <m:r>
                          <a:rPr lang="en-US" sz="2500" i="1">
                            <a:latin typeface="Cambria Math" panose="02040503050406030204" pitchFamily="18" charset="0"/>
                          </a:rPr>
                          <m:t>′</m:t>
                        </m:r>
                      </m:sup>
                    </m:sSubSup>
                  </m:oMath>
                </a14:m>
                <a:r>
                  <a:rPr lang="en-US" sz="2500" dirty="0"/>
                  <a:t> values and stores the corresponding R and T results. </a:t>
                </a:r>
              </a:p>
              <a:p>
                <a:pPr marL="604519" lvl="1" indent="-302260">
                  <a:lnSpc>
                    <a:spcPct val="200000"/>
                  </a:lnSpc>
                  <a:buFont typeface="Arial"/>
                  <a:buChar char="•"/>
                </a:pPr>
                <a:r>
                  <a:rPr lang="en-US" sz="2500" dirty="0"/>
                  <a:t>Invert the table to find the optical properties.</a:t>
                </a:r>
              </a:p>
              <a:p>
                <a:pPr marL="604519" lvl="1" indent="-302260">
                  <a:lnSpc>
                    <a:spcPct val="200000"/>
                  </a:lnSpc>
                  <a:buFont typeface="Arial"/>
                  <a:buChar char="•"/>
                </a:pPr>
                <a:r>
                  <a:rPr lang="en-US" sz="2500" dirty="0"/>
                  <a:t>It is easy to understand and suitable for multiple similar samples. </a:t>
                </a:r>
              </a:p>
              <a:p>
                <a:pPr marL="604519" lvl="1" indent="-302260">
                  <a:lnSpc>
                    <a:spcPct val="200000"/>
                  </a:lnSpc>
                  <a:buFont typeface="Arial"/>
                  <a:buChar char="•"/>
                </a:pPr>
                <a:endParaRPr lang="en-US" sz="2500" dirty="0"/>
              </a:p>
              <a:p>
                <a:pPr marL="302259" lvl="1">
                  <a:lnSpc>
                    <a:spcPct val="200000"/>
                  </a:lnSpc>
                </a:pPr>
                <a:endParaRPr lang="en-US" sz="2500" dirty="0"/>
              </a:p>
              <a:p>
                <a:pPr marL="604519" lvl="1" indent="-302260">
                  <a:lnSpc>
                    <a:spcPct val="200000"/>
                  </a:lnSpc>
                  <a:buFont typeface="Arial"/>
                  <a:buChar char="•"/>
                </a:pPr>
                <a:endParaRPr lang="en-US" sz="2500" dirty="0"/>
              </a:p>
            </p:txBody>
          </p:sp>
        </mc:Choice>
        <mc:Fallback>
          <p:sp>
            <p:nvSpPr>
              <p:cNvPr id="8" name="TextBox 8">
                <a:extLst>
                  <a:ext uri="{FF2B5EF4-FFF2-40B4-BE49-F238E27FC236}">
                    <a16:creationId xmlns:a16="http://schemas.microsoft.com/office/drawing/2014/main" id="{9CB863DE-070C-052A-268F-A3CB9CFC175A}"/>
                  </a:ext>
                </a:extLst>
              </p:cNvPr>
              <p:cNvSpPr txBox="1">
                <a:spLocks noRot="1" noChangeAspect="1" noMove="1" noResize="1" noEditPoints="1" noAdjustHandles="1" noChangeArrowheads="1" noChangeShapeType="1" noTextEdit="1"/>
              </p:cNvSpPr>
              <p:nvPr/>
            </p:nvSpPr>
            <p:spPr>
              <a:xfrm>
                <a:off x="873209" y="1491326"/>
                <a:ext cx="8880392" cy="11049179"/>
              </a:xfrm>
              <a:prstGeom prst="rect">
                <a:avLst/>
              </a:prstGeom>
              <a:blipFill>
                <a:blip r:embed="rId3"/>
                <a:stretch>
                  <a:fillRect t="-176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FEC37DB-C9DC-F73B-44C5-17722301B3CF}"/>
              </a:ext>
            </a:extLst>
          </p:cNvPr>
          <p:cNvPicPr>
            <a:picLocks noChangeAspect="1"/>
          </p:cNvPicPr>
          <p:nvPr/>
        </p:nvPicPr>
        <p:blipFill>
          <a:blip r:embed="rId4"/>
          <a:srcRect r="49958"/>
          <a:stretch>
            <a:fillRect/>
          </a:stretch>
        </p:blipFill>
        <p:spPr>
          <a:xfrm>
            <a:off x="11403521" y="1072112"/>
            <a:ext cx="5285487" cy="4185574"/>
          </a:xfrm>
          <a:prstGeom prst="rect">
            <a:avLst/>
          </a:prstGeom>
        </p:spPr>
      </p:pic>
      <p:pic>
        <p:nvPicPr>
          <p:cNvPr id="6" name="Picture 5">
            <a:extLst>
              <a:ext uri="{FF2B5EF4-FFF2-40B4-BE49-F238E27FC236}">
                <a16:creationId xmlns:a16="http://schemas.microsoft.com/office/drawing/2014/main" id="{922B9BF7-D4F7-A38D-8B4F-DC01CEE0E209}"/>
              </a:ext>
            </a:extLst>
          </p:cNvPr>
          <p:cNvPicPr>
            <a:picLocks noChangeAspect="1"/>
          </p:cNvPicPr>
          <p:nvPr/>
        </p:nvPicPr>
        <p:blipFill>
          <a:blip r:embed="rId4"/>
          <a:srcRect l="48265"/>
          <a:stretch>
            <a:fillRect/>
          </a:stretch>
        </p:blipFill>
        <p:spPr>
          <a:xfrm>
            <a:off x="11403520" y="5257686"/>
            <a:ext cx="5285488" cy="4063279"/>
          </a:xfrm>
          <a:prstGeom prst="rect">
            <a:avLst/>
          </a:prstGeom>
        </p:spPr>
      </p:pic>
      <p:sp>
        <p:nvSpPr>
          <p:cNvPr id="7" name="TextBox 6">
            <a:extLst>
              <a:ext uri="{FF2B5EF4-FFF2-40B4-BE49-F238E27FC236}">
                <a16:creationId xmlns:a16="http://schemas.microsoft.com/office/drawing/2014/main" id="{66D4AC4A-F7AD-3209-944D-0F4DEC00EA7F}"/>
              </a:ext>
            </a:extLst>
          </p:cNvPr>
          <p:cNvSpPr txBox="1"/>
          <p:nvPr/>
        </p:nvSpPr>
        <p:spPr>
          <a:xfrm>
            <a:off x="9850596" y="9320965"/>
            <a:ext cx="8430580" cy="646331"/>
          </a:xfrm>
          <a:prstGeom prst="rect">
            <a:avLst/>
          </a:prstGeom>
          <a:noFill/>
        </p:spPr>
        <p:txBody>
          <a:bodyPr wrap="square" rtlCol="0">
            <a:spAutoFit/>
          </a:bodyPr>
          <a:lstStyle/>
          <a:p>
            <a:r>
              <a:rPr lang="en-US" dirty="0"/>
              <a:t>Fig. Lookup table for (a) absorption coefficient and (b) for reduced scattering coefficient</a:t>
            </a:r>
          </a:p>
          <a:p>
            <a:r>
              <a:rPr lang="en-US" dirty="0"/>
              <a:t>n = 1.4, g = 0.9 and t = 1 cm with a zero-sphere setup.</a:t>
            </a:r>
          </a:p>
        </p:txBody>
      </p:sp>
    </p:spTree>
    <p:extLst>
      <p:ext uri="{BB962C8B-B14F-4D97-AF65-F5344CB8AC3E}">
        <p14:creationId xmlns:p14="http://schemas.microsoft.com/office/powerpoint/2010/main" val="1691106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FAC9-30D3-CFE7-786E-AC4ED4AD3B6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54BC11-8108-DCCA-2191-1038470BBD4F}"/>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5F71138C-BD66-F057-ABE5-E056CC088731}"/>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E4B08B9B-EC43-C441-4085-850FE086D07F}"/>
              </a:ext>
            </a:extLst>
          </p:cNvPr>
          <p:cNvSpPr txBox="1"/>
          <p:nvPr/>
        </p:nvSpPr>
        <p:spPr>
          <a:xfrm>
            <a:off x="873208" y="1491326"/>
            <a:ext cx="16541583" cy="4316566"/>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Application to measuring optical properties</a:t>
            </a:r>
            <a:endParaRPr lang="en-US" sz="2500" dirty="0"/>
          </a:p>
          <a:p>
            <a:pPr marL="302259" lvl="1">
              <a:lnSpc>
                <a:spcPct val="200000"/>
              </a:lnSpc>
            </a:pPr>
            <a:r>
              <a:rPr lang="en-US" sz="2500" b="1" dirty="0"/>
              <a:t>Multivariable minimization method </a:t>
            </a:r>
          </a:p>
          <a:p>
            <a:pPr marL="604519" lvl="1" indent="-302260">
              <a:lnSpc>
                <a:spcPct val="200000"/>
              </a:lnSpc>
              <a:buFont typeface="Arial"/>
              <a:buChar char="•"/>
            </a:pPr>
            <a:r>
              <a:rPr lang="en-US" sz="2500" dirty="0"/>
              <a:t>Define the objective function for the difference between measured values and simulation result  </a:t>
            </a:r>
          </a:p>
          <a:p>
            <a:pPr marL="604519" lvl="1" indent="-302260">
              <a:lnSpc>
                <a:spcPct val="200000"/>
              </a:lnSpc>
              <a:buFont typeface="Arial"/>
              <a:buChar char="•"/>
            </a:pPr>
            <a:endParaRPr lang="en-US" sz="2500" dirty="0"/>
          </a:p>
          <a:p>
            <a:pPr marL="302259" lvl="1">
              <a:lnSpc>
                <a:spcPct val="200000"/>
              </a:lnSpc>
            </a:pPr>
            <a:endParaRPr lang="en-US" sz="2500" dirty="0"/>
          </a:p>
          <a:p>
            <a:pPr marL="604519" lvl="1" indent="-302260">
              <a:lnSpc>
                <a:spcPct val="200000"/>
              </a:lnSpc>
              <a:buFont typeface="Arial"/>
              <a:buChar char="•"/>
            </a:pPr>
            <a:endParaRPr lang="en-US" sz="2500" dirty="0"/>
          </a:p>
        </p:txBody>
      </p:sp>
      <p:pic>
        <p:nvPicPr>
          <p:cNvPr id="5" name="Picture 4">
            <a:extLst>
              <a:ext uri="{FF2B5EF4-FFF2-40B4-BE49-F238E27FC236}">
                <a16:creationId xmlns:a16="http://schemas.microsoft.com/office/drawing/2014/main" id="{3A42BEAC-0B20-BF92-AC2E-3A22C64B32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6399" y="3543301"/>
            <a:ext cx="10949401" cy="6246542"/>
          </a:xfrm>
          <a:prstGeom prst="rect">
            <a:avLst/>
          </a:prstGeom>
        </p:spPr>
      </p:pic>
    </p:spTree>
    <p:extLst>
      <p:ext uri="{BB962C8B-B14F-4D97-AF65-F5344CB8AC3E}">
        <p14:creationId xmlns:p14="http://schemas.microsoft.com/office/powerpoint/2010/main" val="3515594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4E9DA-427B-144A-5DCD-C911B9B71FC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BD5C20-3315-8706-7189-29678B95F290}"/>
              </a:ext>
            </a:extLst>
          </p:cNvPr>
          <p:cNvSpPr/>
          <p:nvPr/>
        </p:nvSpPr>
        <p:spPr>
          <a:xfrm>
            <a:off x="-1" y="-1644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C259670F-966D-70FB-A157-01C6A34B7619}"/>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526FA171-0DAE-D691-0F27-AD5C02AEACD8}"/>
              </a:ext>
            </a:extLst>
          </p:cNvPr>
          <p:cNvSpPr txBox="1"/>
          <p:nvPr/>
        </p:nvSpPr>
        <p:spPr>
          <a:xfrm>
            <a:off x="873208" y="1491326"/>
            <a:ext cx="16541583" cy="8163773"/>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Propagation of uncertainties</a:t>
            </a:r>
            <a:endParaRPr lang="en-US" sz="2500" dirty="0"/>
          </a:p>
          <a:p>
            <a:pPr marL="302259" lvl="1">
              <a:lnSpc>
                <a:spcPct val="200000"/>
              </a:lnSpc>
            </a:pPr>
            <a:r>
              <a:rPr lang="en-US" sz="2500" b="1" dirty="0"/>
              <a:t>Lookup table method</a:t>
            </a:r>
          </a:p>
          <a:p>
            <a:pPr marL="645159" lvl="1" indent="-342900">
              <a:lnSpc>
                <a:spcPct val="200000"/>
              </a:lnSpc>
              <a:buFont typeface="Arial" panose="020B0604020202020204" pitchFamily="34" charset="0"/>
              <a:buChar char="•"/>
            </a:pPr>
            <a:r>
              <a:rPr lang="en-US" sz="2500" dirty="0"/>
              <a:t>Required</a:t>
            </a:r>
            <a:r>
              <a:rPr lang="en-US" sz="2500" b="1" dirty="0"/>
              <a:t> </a:t>
            </a:r>
            <a:r>
              <a:rPr lang="en-US" sz="2500" dirty="0"/>
              <a:t>both forward propagation and backward propagation.</a:t>
            </a:r>
          </a:p>
          <a:p>
            <a:pPr marL="645159" lvl="1" indent="-342900">
              <a:lnSpc>
                <a:spcPct val="200000"/>
              </a:lnSpc>
              <a:buFont typeface="Arial" panose="020B0604020202020204" pitchFamily="34" charset="0"/>
              <a:buChar char="•"/>
            </a:pPr>
            <a:r>
              <a:rPr lang="en-US" sz="2500" dirty="0"/>
              <a:t>Combined experimental and simulation uncertainties for the final uncertainty.</a:t>
            </a:r>
          </a:p>
          <a:p>
            <a:pPr marL="302259" lvl="1">
              <a:lnSpc>
                <a:spcPct val="200000"/>
              </a:lnSpc>
            </a:pPr>
            <a:r>
              <a:rPr lang="en-US" sz="2500" b="1" dirty="0"/>
              <a:t>Minimization method</a:t>
            </a:r>
          </a:p>
          <a:p>
            <a:pPr marL="645159" lvl="1" indent="-342900">
              <a:lnSpc>
                <a:spcPct val="200000"/>
              </a:lnSpc>
              <a:buFont typeface="Arial" panose="020B0604020202020204" pitchFamily="34" charset="0"/>
              <a:buChar char="•"/>
            </a:pPr>
            <a:r>
              <a:rPr lang="en-US" sz="2500" dirty="0"/>
              <a:t>Only forward propagation is required. </a:t>
            </a:r>
          </a:p>
          <a:p>
            <a:pPr marL="645159" lvl="1" indent="-342900">
              <a:lnSpc>
                <a:spcPct val="200000"/>
              </a:lnSpc>
              <a:buFont typeface="Arial" panose="020B0604020202020204" pitchFamily="34" charset="0"/>
              <a:buChar char="•"/>
            </a:pPr>
            <a:r>
              <a:rPr lang="en-US" sz="2500" dirty="0"/>
              <a:t>Randomly samples the experimental uncertainties (), simulation and sphere parameter uncertainties.</a:t>
            </a:r>
          </a:p>
          <a:p>
            <a:pPr marL="645159" lvl="1" indent="-342900">
              <a:lnSpc>
                <a:spcPct val="200000"/>
              </a:lnSpc>
              <a:buFont typeface="Arial" panose="020B0604020202020204" pitchFamily="34" charset="0"/>
              <a:buChar char="•"/>
            </a:pPr>
            <a:r>
              <a:rPr lang="en-US" sz="2500" dirty="0"/>
              <a:t>Run multiple minimizations. </a:t>
            </a:r>
          </a:p>
          <a:p>
            <a:pPr marL="645159" lvl="1" indent="-342900">
              <a:lnSpc>
                <a:spcPct val="200000"/>
              </a:lnSpc>
              <a:buFont typeface="Arial" panose="020B0604020202020204" pitchFamily="34" charset="0"/>
              <a:buChar char="•"/>
            </a:pPr>
            <a:r>
              <a:rPr lang="en-US" sz="2500" dirty="0"/>
              <a:t>Final uncertainty is equal to the standard error of the mean. </a:t>
            </a:r>
          </a:p>
          <a:p>
            <a:pPr marL="302259" lvl="1">
              <a:lnSpc>
                <a:spcPct val="200000"/>
              </a:lnSpc>
            </a:pPr>
            <a:r>
              <a:rPr lang="en-US" sz="2500" dirty="0"/>
              <a:t>Both methods yield realistic and comparable uncertainty estimates. 							</a:t>
            </a:r>
          </a:p>
          <a:p>
            <a:pPr marL="302259" lvl="1">
              <a:lnSpc>
                <a:spcPct val="200000"/>
              </a:lnSpc>
            </a:pPr>
            <a:endParaRPr lang="en-US" sz="2500" dirty="0"/>
          </a:p>
        </p:txBody>
      </p:sp>
    </p:spTree>
    <p:extLst>
      <p:ext uri="{BB962C8B-B14F-4D97-AF65-F5344CB8AC3E}">
        <p14:creationId xmlns:p14="http://schemas.microsoft.com/office/powerpoint/2010/main" val="2474290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C6CCD-0B4E-4EFA-2440-1192FDC35C4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C153BBE-50AD-BC9D-EC98-A6D14B14ED5E}"/>
              </a:ext>
            </a:extLst>
          </p:cNvPr>
          <p:cNvSpPr/>
          <p:nvPr/>
        </p:nvSpPr>
        <p:spPr>
          <a:xfrm>
            <a:off x="-682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0AC35846-625A-6F94-9640-B90403F5A614}"/>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3007B227-30E9-D0BF-AF13-5EFF53244C6E}"/>
              </a:ext>
            </a:extLst>
          </p:cNvPr>
          <p:cNvSpPr txBox="1"/>
          <p:nvPr/>
        </p:nvSpPr>
        <p:spPr>
          <a:xfrm>
            <a:off x="873208" y="1491326"/>
            <a:ext cx="16541583" cy="3547125"/>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cs typeface="Times New Roman" panose="02020603050405020304" pitchFamily="18" charset="0"/>
                <a:sym typeface="Open Sauce"/>
              </a:rPr>
              <a:t>Propagation of uncertainties</a:t>
            </a:r>
            <a:endParaRPr lang="en-US" sz="2500" dirty="0"/>
          </a:p>
          <a:p>
            <a:pPr marL="302259" lvl="1">
              <a:lnSpc>
                <a:spcPct val="200000"/>
              </a:lnSpc>
            </a:pPr>
            <a:r>
              <a:rPr lang="en-US" sz="2500" b="1" dirty="0"/>
              <a:t>Lookup table method </a:t>
            </a:r>
          </a:p>
          <a:p>
            <a:pPr marL="302259" lvl="1">
              <a:lnSpc>
                <a:spcPct val="200000"/>
              </a:lnSpc>
            </a:pPr>
            <a:endParaRPr lang="en-US" sz="2500" dirty="0"/>
          </a:p>
          <a:p>
            <a:pPr marL="302259" lvl="1">
              <a:lnSpc>
                <a:spcPct val="200000"/>
              </a:lnSpc>
            </a:pPr>
            <a:endParaRPr lang="en-US" sz="2500" dirty="0"/>
          </a:p>
          <a:p>
            <a:pPr marL="604519" lvl="1" indent="-302260">
              <a:lnSpc>
                <a:spcPct val="200000"/>
              </a:lnSpc>
              <a:buFont typeface="Arial"/>
              <a:buChar char="•"/>
            </a:pPr>
            <a:endParaRPr lang="en-US" sz="2500" dirty="0"/>
          </a:p>
        </p:txBody>
      </p:sp>
      <p:sp>
        <p:nvSpPr>
          <p:cNvPr id="4" name="TextBox 3">
            <a:extLst>
              <a:ext uri="{FF2B5EF4-FFF2-40B4-BE49-F238E27FC236}">
                <a16:creationId xmlns:a16="http://schemas.microsoft.com/office/drawing/2014/main" id="{0E5DBEF4-FF94-5532-38A2-789CB1EDEC0D}"/>
              </a:ext>
            </a:extLst>
          </p:cNvPr>
          <p:cNvSpPr txBox="1"/>
          <p:nvPr/>
        </p:nvSpPr>
        <p:spPr>
          <a:xfrm>
            <a:off x="4689874" y="9530834"/>
            <a:ext cx="8894604" cy="369332"/>
          </a:xfrm>
          <a:prstGeom prst="rect">
            <a:avLst/>
          </a:prstGeom>
          <a:noFill/>
        </p:spPr>
        <p:txBody>
          <a:bodyPr wrap="square" rtlCol="0">
            <a:spAutoFit/>
          </a:bodyPr>
          <a:lstStyle/>
          <a:p>
            <a:r>
              <a:rPr lang="en-US" dirty="0"/>
              <a:t>Fig. A flowchart showing the propagation of uncertainties through the lookup table method</a:t>
            </a:r>
          </a:p>
        </p:txBody>
      </p:sp>
      <p:pic>
        <p:nvPicPr>
          <p:cNvPr id="7" name="Picture 6">
            <a:extLst>
              <a:ext uri="{FF2B5EF4-FFF2-40B4-BE49-F238E27FC236}">
                <a16:creationId xmlns:a16="http://schemas.microsoft.com/office/drawing/2014/main" id="{EC72EAB9-DD91-ACD4-445C-6B69ECCBC4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3885" y="2405062"/>
            <a:ext cx="4760230" cy="7108270"/>
          </a:xfrm>
          <a:prstGeom prst="rect">
            <a:avLst/>
          </a:prstGeom>
        </p:spPr>
      </p:pic>
    </p:spTree>
    <p:extLst>
      <p:ext uri="{BB962C8B-B14F-4D97-AF65-F5344CB8AC3E}">
        <p14:creationId xmlns:p14="http://schemas.microsoft.com/office/powerpoint/2010/main" val="548370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
        <p:nvSpPr>
          <p:cNvPr id="5" name="TextBox 5"/>
          <p:cNvSpPr txBox="1"/>
          <p:nvPr/>
        </p:nvSpPr>
        <p:spPr>
          <a:xfrm>
            <a:off x="7671329" y="8480425"/>
            <a:ext cx="2945342" cy="553165"/>
          </a:xfrm>
          <a:prstGeom prst="rect">
            <a:avLst/>
          </a:prstGeom>
        </p:spPr>
        <p:txBody>
          <a:bodyPr lIns="0" tIns="0" rIns="0" bIns="0" rtlCol="0" anchor="t">
            <a:spAutoFit/>
          </a:bodyPr>
          <a:lstStyle/>
          <a:p>
            <a:pPr algn="ctr">
              <a:lnSpc>
                <a:spcPts val="4480"/>
              </a:lnSpc>
              <a:spcBef>
                <a:spcPct val="0"/>
              </a:spcBef>
            </a:pPr>
            <a:r>
              <a:rPr lang="en-US" sz="3200" dirty="0">
                <a:solidFill>
                  <a:srgbClr val="000000">
                    <a:alpha val="49804"/>
                  </a:srgbClr>
                </a:solidFill>
                <a:latin typeface="DM Serif Display"/>
                <a:ea typeface="DM Serif Display"/>
                <a:cs typeface="DM Serif Display"/>
                <a:sym typeface="DM Serif Display"/>
              </a:rPr>
              <a:t>Thu Ta Zaw</a:t>
            </a:r>
          </a:p>
        </p:txBody>
      </p:sp>
      <p:sp>
        <p:nvSpPr>
          <p:cNvPr id="6" name="TextBox 6"/>
          <p:cNvSpPr txBox="1"/>
          <p:nvPr/>
        </p:nvSpPr>
        <p:spPr>
          <a:xfrm>
            <a:off x="7418762" y="9142095"/>
            <a:ext cx="3450476" cy="258725"/>
          </a:xfrm>
          <a:prstGeom prst="rect">
            <a:avLst/>
          </a:prstGeom>
        </p:spPr>
        <p:txBody>
          <a:bodyPr lIns="0" tIns="0" rIns="0" bIns="0" rtlCol="0" anchor="t">
            <a:spAutoFit/>
          </a:bodyPr>
          <a:lstStyle/>
          <a:p>
            <a:pPr lvl="0" algn="ctr">
              <a:lnSpc>
                <a:spcPts val="2239"/>
              </a:lnSpc>
              <a:spcBef>
                <a:spcPct val="0"/>
              </a:spcBef>
            </a:pPr>
            <a:r>
              <a:rPr lang="en-US" sz="1599" spc="159" dirty="0">
                <a:solidFill>
                  <a:srgbClr val="000000">
                    <a:alpha val="49804"/>
                  </a:srgbClr>
                </a:solidFill>
                <a:latin typeface="Open Sauce"/>
                <a:ea typeface="Open Sauce"/>
                <a:cs typeface="Open Sauce"/>
                <a:sym typeface="Open Sauce"/>
              </a:rPr>
              <a:t>2415121095</a:t>
            </a:r>
            <a:endParaRPr lang="en-US" sz="1599" u="none" strike="noStrike" spc="159" dirty="0">
              <a:solidFill>
                <a:srgbClr val="000000">
                  <a:alpha val="49804"/>
                </a:srgbClr>
              </a:solidFill>
              <a:latin typeface="Open Sauce"/>
              <a:ea typeface="Open Sauce"/>
              <a:cs typeface="Open Sauce"/>
              <a:sym typeface="Open Sauc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3295</TotalTime>
  <Words>1326</Words>
  <Application>Microsoft Office PowerPoint</Application>
  <PresentationFormat>Custom</PresentationFormat>
  <Paragraphs>134</Paragraphs>
  <Slides>20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DM Serif Display</vt:lpstr>
      <vt:lpstr>Times New Roman</vt:lpstr>
      <vt:lpstr>Open Sauce</vt:lpstr>
      <vt:lpstr>Calibri</vt:lpstr>
      <vt:lpstr>Cambria Math</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Minimalist Pitch Deck Marketing Presentation</dc:title>
  <dc:creator>LUCUS</dc:creator>
  <cp:lastModifiedBy>THU TA ZAW</cp:lastModifiedBy>
  <cp:revision>494</cp:revision>
  <dcterms:created xsi:type="dcterms:W3CDTF">2006-08-16T00:00:00Z</dcterms:created>
  <dcterms:modified xsi:type="dcterms:W3CDTF">2026-01-09T04:12:02Z</dcterms:modified>
  <dc:identifier>DAG0bfrM1o8</dc:identifier>
</cp:coreProperties>
</file>