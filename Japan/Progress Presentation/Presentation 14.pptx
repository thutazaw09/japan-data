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885" r:id="rId3"/>
    <p:sldId id="891" r:id="rId4"/>
    <p:sldId id="887" r:id="rId5"/>
    <p:sldId id="871" r:id="rId6"/>
    <p:sldId id="888" r:id="rId7"/>
    <p:sldId id="890" r:id="rId8"/>
    <p:sldId id="889" r:id="rId9"/>
    <p:sldId id="858" r:id="rId10"/>
    <p:sldId id="873" r:id="rId11"/>
    <p:sldId id="874" r:id="rId12"/>
    <p:sldId id="879" r:id="rId13"/>
    <p:sldId id="881" r:id="rId14"/>
    <p:sldId id="884" r:id="rId15"/>
    <p:sldId id="882" r:id="rId16"/>
    <p:sldId id="880" r:id="rId17"/>
    <p:sldId id="883" r:id="rId18"/>
    <p:sldId id="267" r:id="rId19"/>
  </p:sldIdLst>
  <p:sldSz cx="18288000" cy="10287000"/>
  <p:notesSz cx="6858000" cy="9144000"/>
  <p:embeddedFontLst>
    <p:embeddedFont>
      <p:font typeface="Cambria Math" panose="02040503050406030204" pitchFamily="18" charset="0"/>
      <p:regular r:id="rId21"/>
    </p:embeddedFont>
    <p:embeddedFont>
      <p:font typeface="DM Serif Display" pitchFamily="2" charset="0"/>
      <p:regular r:id="rId22"/>
      <p:italic r:id="rId23"/>
    </p:embeddedFont>
    <p:embeddedFont>
      <p:font typeface="Open Sauce"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1127" autoAdjust="0"/>
  </p:normalViewPr>
  <p:slideViewPr>
    <p:cSldViewPr>
      <p:cViewPr>
        <p:scale>
          <a:sx n="50" d="100"/>
          <a:sy n="50" d="100"/>
        </p:scale>
        <p:origin x="2160" y="6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2EF82B-E016-44BD-B0C4-D5A3DF34FAF9}"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7D310-3A65-477A-971E-8091E55376EC}" type="slidenum">
              <a:rPr lang="en-US" smtClean="0"/>
              <a:t>‹#›</a:t>
            </a:fld>
            <a:endParaRPr lang="en-US"/>
          </a:p>
        </p:txBody>
      </p:sp>
    </p:spTree>
    <p:extLst>
      <p:ext uri="{BB962C8B-B14F-4D97-AF65-F5344CB8AC3E}">
        <p14:creationId xmlns:p14="http://schemas.microsoft.com/office/powerpoint/2010/main" val="29935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B6F21-9E4D-FD9A-AA3A-B37CBFB05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4B338-7725-38F1-62B7-9559580F7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2D6D9-54AD-C960-D873-FB25330E0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46A816-BA71-16C3-03B1-B92CBD639398}"/>
              </a:ext>
            </a:extLst>
          </p:cNvPr>
          <p:cNvSpPr>
            <a:spLocks noGrp="1"/>
          </p:cNvSpPr>
          <p:nvPr>
            <p:ph type="sldNum" sz="quarter" idx="5"/>
          </p:nvPr>
        </p:nvSpPr>
        <p:spPr/>
        <p:txBody>
          <a:bodyPr/>
          <a:lstStyle/>
          <a:p>
            <a:fld id="{7CA7D310-3A65-477A-971E-8091E55376EC}" type="slidenum">
              <a:rPr lang="en-US" smtClean="0"/>
              <a:t>2</a:t>
            </a:fld>
            <a:endParaRPr lang="en-US"/>
          </a:p>
        </p:txBody>
      </p:sp>
    </p:spTree>
    <p:extLst>
      <p:ext uri="{BB962C8B-B14F-4D97-AF65-F5344CB8AC3E}">
        <p14:creationId xmlns:p14="http://schemas.microsoft.com/office/powerpoint/2010/main" val="2988780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53A69-7930-020E-ED09-72BC681D0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DAF57-BDDB-8D8B-71F5-B752123BD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4A509-24C9-5860-2AEA-232EBA520D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C7FA6-745D-AA5A-C00A-0221589270FB}"/>
              </a:ext>
            </a:extLst>
          </p:cNvPr>
          <p:cNvSpPr>
            <a:spLocks noGrp="1"/>
          </p:cNvSpPr>
          <p:nvPr>
            <p:ph type="sldNum" sz="quarter" idx="5"/>
          </p:nvPr>
        </p:nvSpPr>
        <p:spPr/>
        <p:txBody>
          <a:bodyPr/>
          <a:lstStyle/>
          <a:p>
            <a:fld id="{7CA7D310-3A65-477A-971E-8091E55376EC}" type="slidenum">
              <a:rPr lang="en-US" smtClean="0"/>
              <a:t>3</a:t>
            </a:fld>
            <a:endParaRPr lang="en-US"/>
          </a:p>
        </p:txBody>
      </p:sp>
    </p:spTree>
    <p:extLst>
      <p:ext uri="{BB962C8B-B14F-4D97-AF65-F5344CB8AC3E}">
        <p14:creationId xmlns:p14="http://schemas.microsoft.com/office/powerpoint/2010/main" val="3275910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774D-693A-0ADA-4973-1CB527BA3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8CB24-4CAA-04D0-6879-2D7E9F7D8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C73B5-4B50-7FDD-5BA6-2B0FE8902D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E583B-397B-2EF5-6A8A-4F5E40834ED9}"/>
              </a:ext>
            </a:extLst>
          </p:cNvPr>
          <p:cNvSpPr>
            <a:spLocks noGrp="1"/>
          </p:cNvSpPr>
          <p:nvPr>
            <p:ph type="sldNum" sz="quarter" idx="5"/>
          </p:nvPr>
        </p:nvSpPr>
        <p:spPr/>
        <p:txBody>
          <a:bodyPr/>
          <a:lstStyle/>
          <a:p>
            <a:fld id="{7CA7D310-3A65-477A-971E-8091E55376EC}" type="slidenum">
              <a:rPr lang="en-US" smtClean="0"/>
              <a:t>4</a:t>
            </a:fld>
            <a:endParaRPr lang="en-US"/>
          </a:p>
        </p:txBody>
      </p:sp>
    </p:spTree>
    <p:extLst>
      <p:ext uri="{BB962C8B-B14F-4D97-AF65-F5344CB8AC3E}">
        <p14:creationId xmlns:p14="http://schemas.microsoft.com/office/powerpoint/2010/main" val="4026049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6002-A6FE-76F8-8CBC-DE02756F8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FABE6-F46E-AF1B-17A5-E99BE3739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B3CFA-F14C-58F9-87AA-DAF62A55FE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A16D03-ED1A-D35B-2D3E-CA80395AA549}"/>
              </a:ext>
            </a:extLst>
          </p:cNvPr>
          <p:cNvSpPr>
            <a:spLocks noGrp="1"/>
          </p:cNvSpPr>
          <p:nvPr>
            <p:ph type="sldNum" sz="quarter" idx="5"/>
          </p:nvPr>
        </p:nvSpPr>
        <p:spPr/>
        <p:txBody>
          <a:bodyPr/>
          <a:lstStyle/>
          <a:p>
            <a:fld id="{7CA7D310-3A65-477A-971E-8091E55376EC}" type="slidenum">
              <a:rPr lang="en-US" smtClean="0"/>
              <a:t>5</a:t>
            </a:fld>
            <a:endParaRPr lang="en-US"/>
          </a:p>
        </p:txBody>
      </p:sp>
    </p:spTree>
    <p:extLst>
      <p:ext uri="{BB962C8B-B14F-4D97-AF65-F5344CB8AC3E}">
        <p14:creationId xmlns:p14="http://schemas.microsoft.com/office/powerpoint/2010/main" val="979141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64F5-188A-7A37-8760-676366767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373F2-8968-0A8C-CA38-A448FEBE4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74BAB-62BE-4066-3336-27D84A32C5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8F98C-7445-643B-5DA9-44BA17721716}"/>
              </a:ext>
            </a:extLst>
          </p:cNvPr>
          <p:cNvSpPr>
            <a:spLocks noGrp="1"/>
          </p:cNvSpPr>
          <p:nvPr>
            <p:ph type="sldNum" sz="quarter" idx="5"/>
          </p:nvPr>
        </p:nvSpPr>
        <p:spPr/>
        <p:txBody>
          <a:bodyPr/>
          <a:lstStyle/>
          <a:p>
            <a:fld id="{7CA7D310-3A65-477A-971E-8091E55376EC}" type="slidenum">
              <a:rPr lang="en-US" smtClean="0"/>
              <a:t>6</a:t>
            </a:fld>
            <a:endParaRPr lang="en-US"/>
          </a:p>
        </p:txBody>
      </p:sp>
    </p:spTree>
    <p:extLst>
      <p:ext uri="{BB962C8B-B14F-4D97-AF65-F5344CB8AC3E}">
        <p14:creationId xmlns:p14="http://schemas.microsoft.com/office/powerpoint/2010/main" val="3480369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16C60-6A83-C906-1AC8-55F1C33B5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51D82-45DD-02A8-C814-AAA173304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99C62-FE9B-E8A1-3A66-F2C52BB93A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D906C5-20C3-BCDF-E5F9-8BFB06B729CE}"/>
              </a:ext>
            </a:extLst>
          </p:cNvPr>
          <p:cNvSpPr>
            <a:spLocks noGrp="1"/>
          </p:cNvSpPr>
          <p:nvPr>
            <p:ph type="sldNum" sz="quarter" idx="5"/>
          </p:nvPr>
        </p:nvSpPr>
        <p:spPr/>
        <p:txBody>
          <a:bodyPr/>
          <a:lstStyle/>
          <a:p>
            <a:fld id="{7CA7D310-3A65-477A-971E-8091E55376EC}" type="slidenum">
              <a:rPr lang="en-US" smtClean="0"/>
              <a:t>7</a:t>
            </a:fld>
            <a:endParaRPr lang="en-US"/>
          </a:p>
        </p:txBody>
      </p:sp>
    </p:spTree>
    <p:extLst>
      <p:ext uri="{BB962C8B-B14F-4D97-AF65-F5344CB8AC3E}">
        <p14:creationId xmlns:p14="http://schemas.microsoft.com/office/powerpoint/2010/main" val="936342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F0B8F-30C2-EF9B-660B-2F4D26F4F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7FDB4-7359-B40F-BF25-9A5DB5926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02744-BA32-0772-5A0B-BD5074FE42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4488BF-D02B-4C96-3D98-65FF13255390}"/>
              </a:ext>
            </a:extLst>
          </p:cNvPr>
          <p:cNvSpPr>
            <a:spLocks noGrp="1"/>
          </p:cNvSpPr>
          <p:nvPr>
            <p:ph type="sldNum" sz="quarter" idx="5"/>
          </p:nvPr>
        </p:nvSpPr>
        <p:spPr/>
        <p:txBody>
          <a:bodyPr/>
          <a:lstStyle/>
          <a:p>
            <a:fld id="{7CA7D310-3A65-477A-971E-8091E55376EC}" type="slidenum">
              <a:rPr lang="en-US" smtClean="0"/>
              <a:t>8</a:t>
            </a:fld>
            <a:endParaRPr lang="en-US"/>
          </a:p>
        </p:txBody>
      </p:sp>
    </p:spTree>
    <p:extLst>
      <p:ext uri="{BB962C8B-B14F-4D97-AF65-F5344CB8AC3E}">
        <p14:creationId xmlns:p14="http://schemas.microsoft.com/office/powerpoint/2010/main" val="3730379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7D310-3A65-477A-971E-8091E55376EC}" type="slidenum">
              <a:rPr lang="en-US" smtClean="0"/>
              <a:t>9</a:t>
            </a:fld>
            <a:endParaRPr lang="en-US"/>
          </a:p>
        </p:txBody>
      </p:sp>
    </p:spTree>
    <p:extLst>
      <p:ext uri="{BB962C8B-B14F-4D97-AF65-F5344CB8AC3E}">
        <p14:creationId xmlns:p14="http://schemas.microsoft.com/office/powerpoint/2010/main" val="218016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9A5B4-6CBC-D510-203F-41DB82500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F26B4-FEDE-8DA3-2B9F-3D11F6B6B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9B0C7-C599-85DE-2137-1C7961090B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C1091-9402-B6F4-3C58-1F69DBB19EF4}"/>
              </a:ext>
            </a:extLst>
          </p:cNvPr>
          <p:cNvSpPr>
            <a:spLocks noGrp="1"/>
          </p:cNvSpPr>
          <p:nvPr>
            <p:ph type="sldNum" sz="quarter" idx="5"/>
          </p:nvPr>
        </p:nvSpPr>
        <p:spPr/>
        <p:txBody>
          <a:bodyPr/>
          <a:lstStyle/>
          <a:p>
            <a:fld id="{7CA7D310-3A65-477A-971E-8091E55376EC}" type="slidenum">
              <a:rPr lang="en-US" smtClean="0"/>
              <a:t>10</a:t>
            </a:fld>
            <a:endParaRPr lang="en-US"/>
          </a:p>
        </p:txBody>
      </p:sp>
    </p:spTree>
    <p:extLst>
      <p:ext uri="{BB962C8B-B14F-4D97-AF65-F5344CB8AC3E}">
        <p14:creationId xmlns:p14="http://schemas.microsoft.com/office/powerpoint/2010/main" val="1060910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8F37-D0CC-555E-57C7-4E22DC5AE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D1D73-C04D-9EC7-7249-96DF769F0B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1A65E-68B5-C9A8-AE82-854C8C569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74A1E-DA20-CAB9-000D-C4AA8A45CB9F}"/>
              </a:ext>
            </a:extLst>
          </p:cNvPr>
          <p:cNvSpPr>
            <a:spLocks noGrp="1"/>
          </p:cNvSpPr>
          <p:nvPr>
            <p:ph type="sldNum" sz="quarter" idx="5"/>
          </p:nvPr>
        </p:nvSpPr>
        <p:spPr/>
        <p:txBody>
          <a:bodyPr/>
          <a:lstStyle/>
          <a:p>
            <a:fld id="{7CA7D310-3A65-477A-971E-8091E55376EC}" type="slidenum">
              <a:rPr lang="en-US" smtClean="0"/>
              <a:t>11</a:t>
            </a:fld>
            <a:endParaRPr lang="en-US"/>
          </a:p>
        </p:txBody>
      </p:sp>
    </p:spTree>
    <p:extLst>
      <p:ext uri="{BB962C8B-B14F-4D97-AF65-F5344CB8AC3E}">
        <p14:creationId xmlns:p14="http://schemas.microsoft.com/office/powerpoint/2010/main" val="2195724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CC9E-A7AB-5F95-1F17-834C8282D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205B8-5011-508D-E594-AB29A1DE1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C4589-C4EF-BECC-45FE-452134ADE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D8ADF-B3F2-8507-F115-A536224020BA}"/>
              </a:ext>
            </a:extLst>
          </p:cNvPr>
          <p:cNvSpPr>
            <a:spLocks noGrp="1"/>
          </p:cNvSpPr>
          <p:nvPr>
            <p:ph type="sldNum" sz="quarter" idx="5"/>
          </p:nvPr>
        </p:nvSpPr>
        <p:spPr/>
        <p:txBody>
          <a:bodyPr/>
          <a:lstStyle/>
          <a:p>
            <a:fld id="{7CA7D310-3A65-477A-971E-8091E55376EC}" type="slidenum">
              <a:rPr lang="en-US" smtClean="0"/>
              <a:t>12</a:t>
            </a:fld>
            <a:endParaRPr lang="en-US"/>
          </a:p>
        </p:txBody>
      </p:sp>
    </p:spTree>
    <p:extLst>
      <p:ext uri="{BB962C8B-B14F-4D97-AF65-F5344CB8AC3E}">
        <p14:creationId xmlns:p14="http://schemas.microsoft.com/office/powerpoint/2010/main" val="3478123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E8D5C-8781-D74A-E3BB-ACB9631F6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CDB75-D071-5BCB-39BD-64582DEE5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159D9-7C82-EBFF-29B7-CB98EF612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94B482-56C9-8EC3-D2F2-7B741BD8D110}"/>
              </a:ext>
            </a:extLst>
          </p:cNvPr>
          <p:cNvSpPr>
            <a:spLocks noGrp="1"/>
          </p:cNvSpPr>
          <p:nvPr>
            <p:ph type="sldNum" sz="quarter" idx="5"/>
          </p:nvPr>
        </p:nvSpPr>
        <p:spPr/>
        <p:txBody>
          <a:bodyPr/>
          <a:lstStyle/>
          <a:p>
            <a:fld id="{7CA7D310-3A65-477A-971E-8091E55376EC}" type="slidenum">
              <a:rPr lang="en-US" smtClean="0"/>
              <a:t>13</a:t>
            </a:fld>
            <a:endParaRPr lang="en-US"/>
          </a:p>
        </p:txBody>
      </p:sp>
    </p:spTree>
    <p:extLst>
      <p:ext uri="{BB962C8B-B14F-4D97-AF65-F5344CB8AC3E}">
        <p14:creationId xmlns:p14="http://schemas.microsoft.com/office/powerpoint/2010/main" val="1973718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7F94-E755-8CC3-A7E7-0095703F4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612B0-31D6-E2C8-967F-5CC42D199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BFE44-5EE7-EA11-723B-E325E18A4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A2886D-7B46-3687-99B9-6B829FE5EF0B}"/>
              </a:ext>
            </a:extLst>
          </p:cNvPr>
          <p:cNvSpPr>
            <a:spLocks noGrp="1"/>
          </p:cNvSpPr>
          <p:nvPr>
            <p:ph type="sldNum" sz="quarter" idx="5"/>
          </p:nvPr>
        </p:nvSpPr>
        <p:spPr/>
        <p:txBody>
          <a:bodyPr/>
          <a:lstStyle/>
          <a:p>
            <a:fld id="{7CA7D310-3A65-477A-971E-8091E55376EC}" type="slidenum">
              <a:rPr lang="en-US" smtClean="0"/>
              <a:t>14</a:t>
            </a:fld>
            <a:endParaRPr lang="en-US"/>
          </a:p>
        </p:txBody>
      </p:sp>
    </p:spTree>
    <p:extLst>
      <p:ext uri="{BB962C8B-B14F-4D97-AF65-F5344CB8AC3E}">
        <p14:creationId xmlns:p14="http://schemas.microsoft.com/office/powerpoint/2010/main" val="4072148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6163-7A7C-FC71-9C05-0CA806A5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43452-0A6A-BC3A-6CEB-34893FC91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42A11-0218-AFA3-07B6-42EBE8C4B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6D4DB-49F2-C6BC-ED53-CF706D57B874}"/>
              </a:ext>
            </a:extLst>
          </p:cNvPr>
          <p:cNvSpPr>
            <a:spLocks noGrp="1"/>
          </p:cNvSpPr>
          <p:nvPr>
            <p:ph type="sldNum" sz="quarter" idx="5"/>
          </p:nvPr>
        </p:nvSpPr>
        <p:spPr/>
        <p:txBody>
          <a:bodyPr/>
          <a:lstStyle/>
          <a:p>
            <a:fld id="{7CA7D310-3A65-477A-971E-8091E55376EC}" type="slidenum">
              <a:rPr lang="en-US" smtClean="0"/>
              <a:t>15</a:t>
            </a:fld>
            <a:endParaRPr lang="en-US"/>
          </a:p>
        </p:txBody>
      </p:sp>
    </p:spTree>
    <p:extLst>
      <p:ext uri="{BB962C8B-B14F-4D97-AF65-F5344CB8AC3E}">
        <p14:creationId xmlns:p14="http://schemas.microsoft.com/office/powerpoint/2010/main" val="2483146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E2D2-F0CD-809D-475B-6D8F979C4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23D6C-78FF-514E-78CB-EF9A004F0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4DBE4-A21F-2F2D-3798-72EDF09FD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044590-F1D4-5098-5BEF-D7AF38EC2163}"/>
              </a:ext>
            </a:extLst>
          </p:cNvPr>
          <p:cNvSpPr>
            <a:spLocks noGrp="1"/>
          </p:cNvSpPr>
          <p:nvPr>
            <p:ph type="sldNum" sz="quarter" idx="5"/>
          </p:nvPr>
        </p:nvSpPr>
        <p:spPr/>
        <p:txBody>
          <a:bodyPr/>
          <a:lstStyle/>
          <a:p>
            <a:fld id="{7CA7D310-3A65-477A-971E-8091E55376EC}" type="slidenum">
              <a:rPr lang="en-US" smtClean="0"/>
              <a:t>16</a:t>
            </a:fld>
            <a:endParaRPr lang="en-US"/>
          </a:p>
        </p:txBody>
      </p:sp>
    </p:spTree>
    <p:extLst>
      <p:ext uri="{BB962C8B-B14F-4D97-AF65-F5344CB8AC3E}">
        <p14:creationId xmlns:p14="http://schemas.microsoft.com/office/powerpoint/2010/main" val="3837129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4B6D-BA17-38D9-B2A7-70C7E669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2B917-EAF9-E3C6-66B0-9053C33FE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7DC66-88B7-078F-51AD-3B278C8BC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D66FAD-4EFD-C6CC-CFB8-19AE854EE62E}"/>
              </a:ext>
            </a:extLst>
          </p:cNvPr>
          <p:cNvSpPr>
            <a:spLocks noGrp="1"/>
          </p:cNvSpPr>
          <p:nvPr>
            <p:ph type="sldNum" sz="quarter" idx="5"/>
          </p:nvPr>
        </p:nvSpPr>
        <p:spPr/>
        <p:txBody>
          <a:bodyPr/>
          <a:lstStyle/>
          <a:p>
            <a:fld id="{7CA7D310-3A65-477A-971E-8091E55376EC}" type="slidenum">
              <a:rPr lang="en-US" smtClean="0"/>
              <a:t>17</a:t>
            </a:fld>
            <a:endParaRPr lang="en-US"/>
          </a:p>
        </p:txBody>
      </p:sp>
    </p:spTree>
    <p:extLst>
      <p:ext uri="{BB962C8B-B14F-4D97-AF65-F5344CB8AC3E}">
        <p14:creationId xmlns:p14="http://schemas.microsoft.com/office/powerpoint/2010/main" val="60059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emf"/><Relationship Id="rId4" Type="http://schemas.openxmlformats.org/officeDocument/2006/relationships/image" Target="../media/image110.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dirty="0"/>
          </a:p>
        </p:txBody>
      </p:sp>
      <p:sp>
        <p:nvSpPr>
          <p:cNvPr id="3" name="TextBox 3"/>
          <p:cNvSpPr txBox="1"/>
          <p:nvPr/>
        </p:nvSpPr>
        <p:spPr>
          <a:xfrm>
            <a:off x="2613987" y="2765510"/>
            <a:ext cx="13060024" cy="2394053"/>
          </a:xfrm>
          <a:prstGeom prst="rect">
            <a:avLst/>
          </a:prstGeom>
        </p:spPr>
        <p:txBody>
          <a:bodyPr wrap="square" lIns="0" tIns="0" rIns="0" bIns="0" rtlCol="0" anchor="t">
            <a:spAutoFit/>
          </a:bodyPr>
          <a:lstStyle/>
          <a:p>
            <a:pPr algn="ctr">
              <a:lnSpc>
                <a:spcPts val="20160"/>
              </a:lnSpc>
            </a:pPr>
            <a:r>
              <a:rPr lang="en-US" sz="12000" dirty="0">
                <a:solidFill>
                  <a:srgbClr val="000000"/>
                </a:solidFill>
                <a:latin typeface="DM Serif Display"/>
                <a:ea typeface="DM Serif Display"/>
                <a:cs typeface="DM Serif Display"/>
                <a:sym typeface="DM Serif Display"/>
              </a:rPr>
              <a:t>Presentation XIII</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spc="159" dirty="0">
                <a:solidFill>
                  <a:srgbClr val="000000">
                    <a:alpha val="49804"/>
                  </a:srgbClr>
                </a:solidFill>
                <a:latin typeface="Open Sauce"/>
                <a:ea typeface="Open Sauce"/>
                <a:cs typeface="Open Sauce"/>
                <a:sym typeface="Open Sauce"/>
              </a:rPr>
              <a:t>2415121095</a:t>
            </a:r>
          </a:p>
        </p:txBody>
      </p:sp>
      <p:sp>
        <p:nvSpPr>
          <p:cNvPr id="7" name="TextBox 8">
            <a:extLst>
              <a:ext uri="{FF2B5EF4-FFF2-40B4-BE49-F238E27FC236}">
                <a16:creationId xmlns:a16="http://schemas.microsoft.com/office/drawing/2014/main" id="{7B244B4F-61ED-CD64-3F42-BB24EA8E2BD6}"/>
              </a:ext>
            </a:extLst>
          </p:cNvPr>
          <p:cNvSpPr txBox="1"/>
          <p:nvPr/>
        </p:nvSpPr>
        <p:spPr>
          <a:xfrm>
            <a:off x="6524761" y="4871022"/>
            <a:ext cx="5238476" cy="577081"/>
          </a:xfrm>
          <a:prstGeom prst="rect">
            <a:avLst/>
          </a:prstGeom>
        </p:spPr>
        <p:txBody>
          <a:bodyPr wrap="square" lIns="0" tIns="0" rIns="0" bIns="0" rtlCol="0" anchor="t">
            <a:spAutoFit/>
          </a:bodyPr>
          <a:lstStyle/>
          <a:p>
            <a:pPr marL="302259" lvl="1" algn="l">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Bone Tissue Phantom</a:t>
            </a:r>
          </a:p>
        </p:txBody>
      </p:sp>
      <p:grpSp>
        <p:nvGrpSpPr>
          <p:cNvPr id="4" name="Group 3">
            <a:extLst>
              <a:ext uri="{FF2B5EF4-FFF2-40B4-BE49-F238E27FC236}">
                <a16:creationId xmlns:a16="http://schemas.microsoft.com/office/drawing/2014/main" id="{ABCF42FA-AD96-6718-B5FF-6A0BFF7AD7F8}"/>
              </a:ext>
            </a:extLst>
          </p:cNvPr>
          <p:cNvGrpSpPr/>
          <p:nvPr/>
        </p:nvGrpSpPr>
        <p:grpSpPr>
          <a:xfrm>
            <a:off x="13826319" y="0"/>
            <a:ext cx="4461681" cy="2019300"/>
            <a:chOff x="10985984" y="47827"/>
            <a:chExt cx="1034194" cy="467116"/>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A069B459-3DF4-5F50-9704-697C70599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ivision of Health Sciences Graduate School of Medical Sciences, Kanazawa  University">
              <a:extLst>
                <a:ext uri="{FF2B5EF4-FFF2-40B4-BE49-F238E27FC236}">
                  <a16:creationId xmlns:a16="http://schemas.microsoft.com/office/drawing/2014/main" id="{5554D7E3-09F1-F888-8561-58B8ED11C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0F91-8CB8-1772-5A46-842A4D2DED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C675D5-973B-DC3F-D298-E926E153EA2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905E585C-EE8D-C00D-F825-723235AB26C6}"/>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4" name="TextBox 8">
            <a:extLst>
              <a:ext uri="{FF2B5EF4-FFF2-40B4-BE49-F238E27FC236}">
                <a16:creationId xmlns:a16="http://schemas.microsoft.com/office/drawing/2014/main" id="{C3647C79-EEA0-0EB0-9AB4-E1C1CC1FAA38}"/>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Preliminary Measurement of PLA optical properties</a:t>
            </a:r>
          </a:p>
        </p:txBody>
      </p:sp>
      <p:pic>
        <p:nvPicPr>
          <p:cNvPr id="6" name="Picture 5">
            <a:extLst>
              <a:ext uri="{FF2B5EF4-FFF2-40B4-BE49-F238E27FC236}">
                <a16:creationId xmlns:a16="http://schemas.microsoft.com/office/drawing/2014/main" id="{9B1F3A1F-9165-14FD-545C-888A5E9F91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398" y="3234856"/>
            <a:ext cx="17221200" cy="1946744"/>
          </a:xfrm>
          <a:prstGeom prst="rect">
            <a:avLst/>
          </a:prstGeom>
        </p:spPr>
      </p:pic>
      <p:sp>
        <p:nvSpPr>
          <p:cNvPr id="7" name="TextBox 6">
            <a:extLst>
              <a:ext uri="{FF2B5EF4-FFF2-40B4-BE49-F238E27FC236}">
                <a16:creationId xmlns:a16="http://schemas.microsoft.com/office/drawing/2014/main" id="{6F37E7E6-7E2D-EB1D-914D-569817B02D38}"/>
              </a:ext>
            </a:extLst>
          </p:cNvPr>
          <p:cNvSpPr txBox="1"/>
          <p:nvPr/>
        </p:nvSpPr>
        <p:spPr>
          <a:xfrm>
            <a:off x="6885303" y="5326619"/>
            <a:ext cx="4517390" cy="369332"/>
          </a:xfrm>
          <a:prstGeom prst="rect">
            <a:avLst/>
          </a:prstGeom>
          <a:noFill/>
        </p:spPr>
        <p:txBody>
          <a:bodyPr wrap="none" rtlCol="0">
            <a:spAutoFit/>
          </a:bodyPr>
          <a:lstStyle/>
          <a:p>
            <a:r>
              <a:rPr lang="en-US" dirty="0"/>
              <a:t>Table. Preliminary Measurement Result of PLA</a:t>
            </a:r>
          </a:p>
        </p:txBody>
      </p:sp>
      <p:sp>
        <p:nvSpPr>
          <p:cNvPr id="9" name="TextBox 8">
            <a:extLst>
              <a:ext uri="{FF2B5EF4-FFF2-40B4-BE49-F238E27FC236}">
                <a16:creationId xmlns:a16="http://schemas.microsoft.com/office/drawing/2014/main" id="{240DA325-679F-8149-3F83-DDF3ED2D6090}"/>
              </a:ext>
            </a:extLst>
          </p:cNvPr>
          <p:cNvSpPr txBox="1"/>
          <p:nvPr/>
        </p:nvSpPr>
        <p:spPr>
          <a:xfrm>
            <a:off x="682707" y="5925282"/>
            <a:ext cx="16922583" cy="3402855"/>
          </a:xfrm>
          <a:prstGeom prst="rect">
            <a:avLst/>
          </a:prstGeom>
        </p:spPr>
        <p:txBody>
          <a:bodyPr wrap="square" lIns="0" tIns="0" rIns="0" bIns="0" rtlCol="0" anchor="t">
            <a:spAutoFit/>
          </a:bodyPr>
          <a:lstStyle/>
          <a:p>
            <a:pPr marL="302259" lvl="1">
              <a:lnSpc>
                <a:spcPts val="4479"/>
              </a:lnSpc>
            </a:pPr>
            <a:endParaRPr lang="en-US" sz="2800" dirty="0"/>
          </a:p>
          <a:p>
            <a:pPr marL="302259" lvl="1">
              <a:lnSpc>
                <a:spcPts val="4479"/>
              </a:lnSpc>
            </a:pPr>
            <a:r>
              <a:rPr lang="en-US" sz="3600" b="1" dirty="0"/>
              <a:t> </a:t>
            </a:r>
          </a:p>
          <a:p>
            <a:pPr marL="759459" lvl="1" indent="-457200">
              <a:lnSpc>
                <a:spcPts val="4479"/>
              </a:lnSpc>
              <a:buFont typeface="Arial" panose="020B0604020202020204" pitchFamily="34" charset="0"/>
              <a:buChar char="•"/>
            </a:pPr>
            <a:r>
              <a:rPr lang="en-US" sz="2500" dirty="0"/>
              <a:t>The reduced scattering coefficient is within the range of the standard PLA.</a:t>
            </a:r>
          </a:p>
          <a:p>
            <a:pPr marL="759459" lvl="1" indent="-457200">
              <a:lnSpc>
                <a:spcPts val="4479"/>
              </a:lnSpc>
              <a:buFont typeface="Arial" panose="020B0604020202020204" pitchFamily="34" charset="0"/>
              <a:buChar char="•"/>
            </a:pPr>
            <a:r>
              <a:rPr lang="en-US" sz="2500" dirty="0"/>
              <a:t>The absorption coefficient is overestimated when compared to the standard PLA.</a:t>
            </a:r>
          </a:p>
          <a:p>
            <a:pPr marL="759459" lvl="1" indent="-457200">
              <a:lnSpc>
                <a:spcPts val="4479"/>
              </a:lnSpc>
              <a:buFont typeface="Arial" panose="020B0604020202020204" pitchFamily="34" charset="0"/>
              <a:buChar char="•"/>
            </a:pPr>
            <a:r>
              <a:rPr lang="en-US" sz="2500" dirty="0"/>
              <a:t>However, both value are acceptable upon comparing with the human bone.</a:t>
            </a:r>
          </a:p>
          <a:p>
            <a:pPr marL="759459" lvl="1" indent="-457200">
              <a:lnSpc>
                <a:spcPts val="4479"/>
              </a:lnSpc>
              <a:buFont typeface="Arial" panose="020B0604020202020204" pitchFamily="34" charset="0"/>
              <a:buChar char="•"/>
            </a:pPr>
            <a:endParaRPr lang="en-US" sz="2500" dirty="0"/>
          </a:p>
        </p:txBody>
      </p:sp>
    </p:spTree>
    <p:extLst>
      <p:ext uri="{BB962C8B-B14F-4D97-AF65-F5344CB8AC3E}">
        <p14:creationId xmlns:p14="http://schemas.microsoft.com/office/powerpoint/2010/main" val="1132086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CC86-DE3D-DAD5-65FF-B3E5D60C43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F8217D-AD70-3FD1-13FD-C86EC3C82C4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0A04AD17-F9EA-D71D-1762-5AF1DA479D8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5280AE8D-0469-E65A-13A3-3A521670A06C}"/>
              </a:ext>
            </a:extLst>
          </p:cNvPr>
          <p:cNvSpPr txBox="1"/>
          <p:nvPr/>
        </p:nvSpPr>
        <p:spPr>
          <a:xfrm>
            <a:off x="755816" y="2628122"/>
            <a:ext cx="16922583" cy="5711179"/>
          </a:xfrm>
          <a:prstGeom prst="rect">
            <a:avLst/>
          </a:prstGeom>
        </p:spPr>
        <p:txBody>
          <a:bodyPr wrap="square" lIns="0" tIns="0" rIns="0" bIns="0" rtlCol="0" anchor="t">
            <a:spAutoFit/>
          </a:bodyPr>
          <a:lstStyle/>
          <a:p>
            <a:pPr marL="302259" lvl="1">
              <a:lnSpc>
                <a:spcPts val="4479"/>
              </a:lnSpc>
            </a:pPr>
            <a:r>
              <a:rPr lang="en-US" sz="3600" b="1" dirty="0"/>
              <a:t>Optical Properties on Bone Analysis: An Approach to Biomaterials </a:t>
            </a:r>
          </a:p>
          <a:p>
            <a:pPr marL="302259" lvl="1">
              <a:lnSpc>
                <a:spcPts val="4479"/>
              </a:lnSpc>
            </a:pPr>
            <a:endParaRPr lang="en-US" sz="3600" dirty="0"/>
          </a:p>
          <a:p>
            <a:pPr marL="759459" lvl="1" indent="-457200">
              <a:lnSpc>
                <a:spcPts val="4479"/>
              </a:lnSpc>
              <a:buFont typeface="Arial" panose="020B0604020202020204" pitchFamily="34" charset="0"/>
              <a:buChar char="•"/>
            </a:pPr>
            <a:r>
              <a:rPr lang="en-US" sz="2800" dirty="0"/>
              <a:t>Perform the measurement of the optical properties of chicken femoral samples. </a:t>
            </a:r>
          </a:p>
          <a:p>
            <a:pPr marL="759459" lvl="1" indent="-457200">
              <a:lnSpc>
                <a:spcPts val="4479"/>
              </a:lnSpc>
              <a:buFont typeface="Arial" panose="020B0604020202020204" pitchFamily="34" charset="0"/>
              <a:buChar char="•"/>
            </a:pPr>
            <a:r>
              <a:rPr lang="en-US" sz="2800" dirty="0"/>
              <a:t>Used the sample thickness of  3 mm.</a:t>
            </a:r>
          </a:p>
          <a:p>
            <a:pPr marL="759459" lvl="1" indent="-457200">
              <a:lnSpc>
                <a:spcPts val="4479"/>
              </a:lnSpc>
              <a:buFont typeface="Arial" panose="020B0604020202020204" pitchFamily="34" charset="0"/>
              <a:buChar char="•"/>
            </a:pPr>
            <a:endParaRPr lang="en-US" sz="2800" dirty="0"/>
          </a:p>
          <a:p>
            <a:pPr marL="302259" lvl="1">
              <a:lnSpc>
                <a:spcPts val="4479"/>
              </a:lnSpc>
            </a:pPr>
            <a:r>
              <a:rPr lang="en-US" sz="3600" b="1" dirty="0"/>
              <a:t>Optical Properties on Bone Analysis: An Approach to Biomaterials</a:t>
            </a:r>
          </a:p>
          <a:p>
            <a:pPr marL="302259" lvl="1">
              <a:lnSpc>
                <a:spcPts val="4479"/>
              </a:lnSpc>
            </a:pPr>
            <a:r>
              <a:rPr lang="en-US" sz="3600" b="1" dirty="0"/>
              <a:t> </a:t>
            </a:r>
          </a:p>
          <a:p>
            <a:pPr marL="759459" lvl="1" indent="-457200">
              <a:lnSpc>
                <a:spcPts val="4479"/>
              </a:lnSpc>
              <a:buFont typeface="Arial" panose="020B0604020202020204" pitchFamily="34" charset="0"/>
              <a:buChar char="•"/>
            </a:pPr>
            <a:r>
              <a:rPr lang="en-US" sz="2500" dirty="0"/>
              <a:t>The total transmittance and reflectance measurements were performed I the 800-2000 nm wavelength range using the commercially available spectrometer with integrating sphere.</a:t>
            </a:r>
          </a:p>
          <a:p>
            <a:pPr marL="759459" lvl="1" indent="-457200">
              <a:lnSpc>
                <a:spcPts val="4479"/>
              </a:lnSpc>
              <a:buFont typeface="Arial" panose="020B0604020202020204" pitchFamily="34" charset="0"/>
              <a:buChar char="•"/>
            </a:pPr>
            <a:r>
              <a:rPr lang="en-US" sz="2500" dirty="0"/>
              <a:t>The thickness of the samples varied from 2.0±0.1 to 5.0±0.5 mm.</a:t>
            </a:r>
          </a:p>
        </p:txBody>
      </p:sp>
      <p:sp>
        <p:nvSpPr>
          <p:cNvPr id="4" name="TextBox 8">
            <a:extLst>
              <a:ext uri="{FF2B5EF4-FFF2-40B4-BE49-F238E27FC236}">
                <a16:creationId xmlns:a16="http://schemas.microsoft.com/office/drawing/2014/main" id="{E86E3773-2B98-9622-D530-B558593323E0}"/>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Specimens size for Integrating Sphere Measurement </a:t>
            </a:r>
          </a:p>
        </p:txBody>
      </p:sp>
    </p:spTree>
    <p:extLst>
      <p:ext uri="{BB962C8B-B14F-4D97-AF65-F5344CB8AC3E}">
        <p14:creationId xmlns:p14="http://schemas.microsoft.com/office/powerpoint/2010/main" val="2544041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A8FA3-6D98-3E61-96FA-4F2A4A5352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496EF5-E44E-D054-3720-075E7341BB3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F54B4206-ABC8-2640-474E-D6CA65650B7A}"/>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6C8F3E0-A69F-C310-23C2-70DEB110FAF8}"/>
              </a:ext>
            </a:extLst>
          </p:cNvPr>
          <p:cNvSpPr txBox="1"/>
          <p:nvPr/>
        </p:nvSpPr>
        <p:spPr>
          <a:xfrm>
            <a:off x="755816" y="2628122"/>
            <a:ext cx="16922583" cy="5134098"/>
          </a:xfrm>
          <a:prstGeom prst="rect">
            <a:avLst/>
          </a:prstGeom>
        </p:spPr>
        <p:txBody>
          <a:bodyPr wrap="square" lIns="0" tIns="0" rIns="0" bIns="0" rtlCol="0" anchor="t">
            <a:spAutoFit/>
          </a:bodyPr>
          <a:lstStyle/>
          <a:p>
            <a:pPr marL="302259" lvl="1">
              <a:lnSpc>
                <a:spcPts val="4479"/>
              </a:lnSpc>
            </a:pPr>
            <a:r>
              <a:rPr lang="en-US" sz="3600" b="1" dirty="0"/>
              <a:t>Effect of light losses sample between two integrating spheres on optical properties estimation</a:t>
            </a:r>
          </a:p>
          <a:p>
            <a:pPr marL="302259" lvl="1">
              <a:lnSpc>
                <a:spcPts val="4479"/>
              </a:lnSpc>
            </a:pPr>
            <a:endParaRPr lang="en-US" sz="3600" dirty="0"/>
          </a:p>
          <a:p>
            <a:pPr marL="759459" lvl="1" indent="-457200">
              <a:lnSpc>
                <a:spcPts val="4479"/>
              </a:lnSpc>
              <a:buFont typeface="Arial" panose="020B0604020202020204" pitchFamily="34" charset="0"/>
              <a:buChar char="•"/>
            </a:pPr>
            <a:r>
              <a:rPr lang="en-US" sz="2800" dirty="0"/>
              <a:t>When the size of the integrating sphere port is constant,  the dependence of the error on the thickness of the sample is discussed.</a:t>
            </a:r>
          </a:p>
          <a:p>
            <a:pPr marL="759459" lvl="1" indent="-457200">
              <a:lnSpc>
                <a:spcPts val="4479"/>
              </a:lnSpc>
              <a:buFont typeface="Arial" panose="020B0604020202020204" pitchFamily="34" charset="0"/>
              <a:buChar char="•"/>
            </a:pPr>
            <a:r>
              <a:rPr lang="en-US" sz="2800" dirty="0"/>
              <a:t>The thicker the sample, the larger the error of the optical property estimation is. </a:t>
            </a:r>
          </a:p>
          <a:p>
            <a:pPr marL="759459" lvl="1" indent="-457200">
              <a:lnSpc>
                <a:spcPts val="4479"/>
              </a:lnSpc>
              <a:buFont typeface="Arial" panose="020B0604020202020204" pitchFamily="34" charset="0"/>
              <a:buChar char="•"/>
            </a:pPr>
            <a:r>
              <a:rPr lang="en-US" sz="2800" dirty="0"/>
              <a:t>The difference of error caused by the change in thickness of the sample is very tiny</a:t>
            </a:r>
          </a:p>
          <a:p>
            <a:pPr marL="759459" lvl="1" indent="-457200">
              <a:lnSpc>
                <a:spcPts val="4479"/>
              </a:lnSpc>
              <a:buFont typeface="Arial" panose="020B0604020202020204" pitchFamily="34" charset="0"/>
              <a:buChar char="•"/>
            </a:pPr>
            <a:endParaRPr lang="en-US" sz="2800" dirty="0"/>
          </a:p>
          <a:p>
            <a:pPr marL="759459" lvl="1" indent="-457200">
              <a:lnSpc>
                <a:spcPts val="4479"/>
              </a:lnSpc>
              <a:buFont typeface="Arial" panose="020B0604020202020204" pitchFamily="34" charset="0"/>
              <a:buChar char="•"/>
            </a:pPr>
            <a:endParaRPr lang="en-US" sz="2500" dirty="0"/>
          </a:p>
        </p:txBody>
      </p:sp>
      <p:sp>
        <p:nvSpPr>
          <p:cNvPr id="4" name="TextBox 8">
            <a:extLst>
              <a:ext uri="{FF2B5EF4-FFF2-40B4-BE49-F238E27FC236}">
                <a16:creationId xmlns:a16="http://schemas.microsoft.com/office/drawing/2014/main" id="{FFDB0AD6-37FC-6191-E398-EE9298F0E857}"/>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Specimens size for Integrating Sphere Measurement </a:t>
            </a:r>
          </a:p>
        </p:txBody>
      </p:sp>
      <p:graphicFrame>
        <p:nvGraphicFramePr>
          <p:cNvPr id="12" name="Table 11">
            <a:extLst>
              <a:ext uri="{FF2B5EF4-FFF2-40B4-BE49-F238E27FC236}">
                <a16:creationId xmlns:a16="http://schemas.microsoft.com/office/drawing/2014/main" id="{FACE87AC-531F-E016-2394-CAF8FA367465}"/>
              </a:ext>
            </a:extLst>
          </p:cNvPr>
          <p:cNvGraphicFramePr>
            <a:graphicFrameLocks noGrp="1"/>
          </p:cNvGraphicFramePr>
          <p:nvPr/>
        </p:nvGraphicFramePr>
        <p:xfrm>
          <a:off x="3276600" y="6951996"/>
          <a:ext cx="12192000" cy="2153932"/>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348238561"/>
                    </a:ext>
                  </a:extLst>
                </a:gridCol>
                <a:gridCol w="4064000">
                  <a:extLst>
                    <a:ext uri="{9D8B030D-6E8A-4147-A177-3AD203B41FA5}">
                      <a16:colId xmlns:a16="http://schemas.microsoft.com/office/drawing/2014/main" val="1579507754"/>
                    </a:ext>
                  </a:extLst>
                </a:gridCol>
                <a:gridCol w="4064000">
                  <a:extLst>
                    <a:ext uri="{9D8B030D-6E8A-4147-A177-3AD203B41FA5}">
                      <a16:colId xmlns:a16="http://schemas.microsoft.com/office/drawing/2014/main" val="3702942822"/>
                    </a:ext>
                  </a:extLst>
                </a:gridCol>
              </a:tblGrid>
              <a:tr h="538483">
                <a:tc>
                  <a:txBody>
                    <a:bodyPr/>
                    <a:lstStyle/>
                    <a:p>
                      <a:pPr algn="ctr"/>
                      <a:r>
                        <a:rPr lang="en-US" dirty="0"/>
                        <a:t>Sample Thickness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Max Light Loss (A</a:t>
                      </a:r>
                      <a:r>
                        <a:rPr lang="en-US" baseline="-25000" dirty="0"/>
                        <a:t>iad</a:t>
                      </a:r>
                      <a:r>
                        <a:rPr lang="en-US" baseline="0" dirty="0"/>
                        <a:t>/A</a:t>
                      </a:r>
                      <a:r>
                        <a:rPr lang="en-US" baseline="-25000" dirty="0"/>
                        <a:t>0</a:t>
                      </a:r>
                      <a:r>
                        <a:rPr lang="en-US" baseline="0" dirty="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Max Absorption Error (</a:t>
                      </a:r>
                      <a:r>
                        <a:rPr lang="en-US" sz="1800" dirty="0"/>
                        <a:t>µ</a:t>
                      </a:r>
                      <a:r>
                        <a:rPr lang="en-US" sz="1800" baseline="-25000" dirty="0"/>
                        <a:t>a</a:t>
                      </a:r>
                      <a:r>
                        <a:rPr lang="en-US" sz="1800" baseline="0" dirty="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8043978"/>
                  </a:ext>
                </a:extLst>
              </a:tr>
              <a:tr h="538483">
                <a:tc>
                  <a:txBody>
                    <a:bodyPr/>
                    <a:lstStyle/>
                    <a:p>
                      <a:pPr algn="ctr"/>
                      <a:r>
                        <a:rPr lang="en-US" dirty="0"/>
                        <a:t>0.7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967190"/>
                  </a:ext>
                </a:extLst>
              </a:tr>
              <a:tr h="538483">
                <a:tc>
                  <a:txBody>
                    <a:bodyPr/>
                    <a:lstStyle/>
                    <a:p>
                      <a:pPr algn="ctr"/>
                      <a:r>
                        <a:rPr lang="en-US" dirty="0"/>
                        <a:t>0.8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~126-127 %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6409425"/>
                  </a:ext>
                </a:extLst>
              </a:tr>
              <a:tr h="538483">
                <a:tc>
                  <a:txBody>
                    <a:bodyPr/>
                    <a:lstStyle/>
                    <a:p>
                      <a:pPr algn="ctr"/>
                      <a:r>
                        <a:rPr lang="en-US" dirty="0"/>
                        <a:t>0.9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128 %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159713"/>
                  </a:ext>
                </a:extLst>
              </a:tr>
            </a:tbl>
          </a:graphicData>
        </a:graphic>
      </p:graphicFrame>
      <p:sp>
        <p:nvSpPr>
          <p:cNvPr id="13" name="TextBox 12">
            <a:extLst>
              <a:ext uri="{FF2B5EF4-FFF2-40B4-BE49-F238E27FC236}">
                <a16:creationId xmlns:a16="http://schemas.microsoft.com/office/drawing/2014/main" id="{2968368F-F086-552B-7C5D-D1139C8C1916}"/>
              </a:ext>
            </a:extLst>
          </p:cNvPr>
          <p:cNvSpPr txBox="1"/>
          <p:nvPr/>
        </p:nvSpPr>
        <p:spPr>
          <a:xfrm>
            <a:off x="7095683" y="9161516"/>
            <a:ext cx="4096634" cy="369332"/>
          </a:xfrm>
          <a:prstGeom prst="rect">
            <a:avLst/>
          </a:prstGeom>
          <a:noFill/>
        </p:spPr>
        <p:txBody>
          <a:bodyPr wrap="none" rtlCol="0">
            <a:spAutoFit/>
          </a:bodyPr>
          <a:lstStyle/>
          <a:p>
            <a:r>
              <a:rPr lang="en-US" dirty="0"/>
              <a:t>Table. Summary of thickness related error.</a:t>
            </a:r>
          </a:p>
        </p:txBody>
      </p:sp>
    </p:spTree>
    <p:extLst>
      <p:ext uri="{BB962C8B-B14F-4D97-AF65-F5344CB8AC3E}">
        <p14:creationId xmlns:p14="http://schemas.microsoft.com/office/powerpoint/2010/main" val="405352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0B97-E0DB-0B73-3C93-730F72D4B4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DD7DCC-DD50-0BFB-D0C9-F0F1204C2451}"/>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9A34592B-F6B0-671D-2BB6-DB6742C0D5BD}"/>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97EA3B4C-991D-1DE7-98D0-72CA325613C9}"/>
                  </a:ext>
                </a:extLst>
              </p:cNvPr>
              <p:cNvSpPr txBox="1"/>
              <p:nvPr/>
            </p:nvSpPr>
            <p:spPr>
              <a:xfrm>
                <a:off x="755817" y="2628122"/>
                <a:ext cx="9988384" cy="6619633"/>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Ex Vivo Optical Properties Estimation for Reliable Tissue Characterization</a:t>
                </a:r>
              </a:p>
              <a:p>
                <a:pPr marL="302259" lvl="1">
                  <a:lnSpc>
                    <a:spcPts val="4479"/>
                  </a:lnSpc>
                </a:pPr>
                <a:endParaRPr lang="en-US" sz="2500" b="1" dirty="0"/>
              </a:p>
              <a:p>
                <a:pPr marL="1061719" lvl="2" indent="-302260">
                  <a:buFont typeface="Arial"/>
                  <a:buChar char="•"/>
                </a:pPr>
                <a:r>
                  <a:rPr lang="en-US" sz="2800" dirty="0"/>
                  <a:t>The size of the sample should be slightly larger than the size of the port diameter ensuring the sample completely covers the port to prevent light leakage. </a:t>
                </a:r>
              </a:p>
              <a:p>
                <a:pPr marL="1518919" lvl="3" indent="-302260">
                  <a:buFont typeface="Arial"/>
                  <a:buChar char="•"/>
                </a:pPr>
                <a:r>
                  <a:rPr lang="en-US" sz="2800" dirty="0"/>
                  <a:t>Freshly excised biological samples representing soft and thin tissues (skin, skull, liver and muscle) were used with size of (2x2 </a:t>
                </a:r>
                <a14:m>
                  <m:oMath xmlns:m="http://schemas.openxmlformats.org/officeDocument/2006/math">
                    <m:sSup>
                      <m:sSupPr>
                        <m:ctrlPr>
                          <a:rPr lang="en-US" sz="2800" i="1" dirty="0" smtClean="0">
                            <a:latin typeface="Cambria Math" panose="02040503050406030204" pitchFamily="18" charset="0"/>
                          </a:rPr>
                        </m:ctrlPr>
                      </m:sSupPr>
                      <m:e>
                        <m:r>
                          <a:rPr lang="en-US" sz="2800" i="1" dirty="0">
                            <a:latin typeface="Cambria Math" panose="02040503050406030204" pitchFamily="18" charset="0"/>
                          </a:rPr>
                          <m:t>𝑐𝑚</m:t>
                        </m:r>
                      </m:e>
                      <m:sup>
                        <m:r>
                          <a:rPr lang="en-US" sz="2800" b="0" i="1" dirty="0" smtClean="0">
                            <a:latin typeface="Cambria Math" panose="02040503050406030204" pitchFamily="18" charset="0"/>
                          </a:rPr>
                          <m:t>2</m:t>
                        </m:r>
                      </m:sup>
                    </m:sSup>
                  </m:oMath>
                </a14:m>
                <a:r>
                  <a:rPr lang="en-US" sz="2800" dirty="0"/>
                  <a:t>).</a:t>
                </a:r>
              </a:p>
              <a:p>
                <a:pPr marL="1061719" lvl="2" indent="-302260">
                  <a:buFont typeface="Arial"/>
                  <a:buChar char="•"/>
                </a:pPr>
                <a:r>
                  <a:rPr lang="en-US" sz="2800" dirty="0"/>
                  <a:t>For the thickness, samples should keep thin, typically under 3 mm, to avoid significant beam displacement during transmittance measurements. </a:t>
                </a:r>
              </a:p>
              <a:p>
                <a:pPr marL="1518919" lvl="3" indent="-302260">
                  <a:buFont typeface="Arial"/>
                  <a:buChar char="•"/>
                </a:pPr>
                <a:r>
                  <a:rPr lang="en-US" sz="2800" dirty="0"/>
                  <a:t>The thickness of each samples is 3 mm.</a:t>
                </a:r>
              </a:p>
              <a:p>
                <a:pPr marL="1216659" lvl="3">
                  <a:lnSpc>
                    <a:spcPct val="150000"/>
                  </a:lnSpc>
                </a:pPr>
                <a:endParaRPr lang="en-US" sz="2800" dirty="0"/>
              </a:p>
            </p:txBody>
          </p:sp>
        </mc:Choice>
        <mc:Fallback xmlns="">
          <p:sp>
            <p:nvSpPr>
              <p:cNvPr id="8" name="TextBox 8">
                <a:extLst>
                  <a:ext uri="{FF2B5EF4-FFF2-40B4-BE49-F238E27FC236}">
                    <a16:creationId xmlns:a16="http://schemas.microsoft.com/office/drawing/2014/main" id="{97EA3B4C-991D-1DE7-98D0-72CA325613C9}"/>
                  </a:ext>
                </a:extLst>
              </p:cNvPr>
              <p:cNvSpPr txBox="1">
                <a:spLocks noRot="1" noChangeAspect="1" noMove="1" noResize="1" noEditPoints="1" noAdjustHandles="1" noChangeArrowheads="1" noChangeShapeType="1" noTextEdit="1"/>
              </p:cNvSpPr>
              <p:nvPr/>
            </p:nvSpPr>
            <p:spPr>
              <a:xfrm>
                <a:off x="755817" y="2628122"/>
                <a:ext cx="9988384" cy="6619633"/>
              </a:xfrm>
              <a:prstGeom prst="rect">
                <a:avLst/>
              </a:prstGeom>
              <a:blipFill>
                <a:blip r:embed="rId4"/>
                <a:stretch>
                  <a:fillRect t="-2394" r="-2074"/>
                </a:stretch>
              </a:blipFill>
            </p:spPr>
            <p:txBody>
              <a:bodyPr/>
              <a:lstStyle/>
              <a:p>
                <a:r>
                  <a:rPr lang="en-US">
                    <a:noFill/>
                  </a:rPr>
                  <a:t> </a:t>
                </a:r>
              </a:p>
            </p:txBody>
          </p:sp>
        </mc:Fallback>
      </mc:AlternateContent>
      <p:sp>
        <p:nvSpPr>
          <p:cNvPr id="4" name="TextBox 8">
            <a:extLst>
              <a:ext uri="{FF2B5EF4-FFF2-40B4-BE49-F238E27FC236}">
                <a16:creationId xmlns:a16="http://schemas.microsoft.com/office/drawing/2014/main" id="{E744DC86-A1AB-8BA8-F529-34F490052E9D}"/>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Specimens size for Integrating Sphere Measurement </a:t>
            </a:r>
          </a:p>
        </p:txBody>
      </p:sp>
      <p:pic>
        <p:nvPicPr>
          <p:cNvPr id="6" name="Picture 5">
            <a:extLst>
              <a:ext uri="{FF2B5EF4-FFF2-40B4-BE49-F238E27FC236}">
                <a16:creationId xmlns:a16="http://schemas.microsoft.com/office/drawing/2014/main" id="{E72EF7C7-90B8-926C-B5FF-BC52C605CFB1}"/>
              </a:ext>
            </a:extLst>
          </p:cNvPr>
          <p:cNvPicPr>
            <a:picLocks noChangeAspect="1"/>
          </p:cNvPicPr>
          <p:nvPr/>
        </p:nvPicPr>
        <p:blipFill>
          <a:blip r:embed="rId5">
            <a:extLst>
              <a:ext uri="{28A0092B-C50C-407E-A947-70E740481C1C}">
                <a14:useLocalDpi xmlns:a14="http://schemas.microsoft.com/office/drawing/2010/main" val="0"/>
              </a:ext>
            </a:extLst>
          </a:blip>
          <a:srcRect l="52399" t="17882"/>
          <a:stretch>
            <a:fillRect/>
          </a:stretch>
        </p:blipFill>
        <p:spPr>
          <a:xfrm>
            <a:off x="11206839" y="4381500"/>
            <a:ext cx="6618521" cy="4476346"/>
          </a:xfrm>
          <a:prstGeom prst="rect">
            <a:avLst/>
          </a:prstGeom>
        </p:spPr>
      </p:pic>
      <p:sp>
        <p:nvSpPr>
          <p:cNvPr id="7" name="TextBox 6">
            <a:extLst>
              <a:ext uri="{FF2B5EF4-FFF2-40B4-BE49-F238E27FC236}">
                <a16:creationId xmlns:a16="http://schemas.microsoft.com/office/drawing/2014/main" id="{1A5C9D25-3FB5-5A54-4BB3-6B36DCB95644}"/>
              </a:ext>
            </a:extLst>
          </p:cNvPr>
          <p:cNvSpPr txBox="1"/>
          <p:nvPr/>
        </p:nvSpPr>
        <p:spPr>
          <a:xfrm>
            <a:off x="12037087" y="8857846"/>
            <a:ext cx="4958024" cy="369332"/>
          </a:xfrm>
          <a:prstGeom prst="rect">
            <a:avLst/>
          </a:prstGeom>
          <a:noFill/>
        </p:spPr>
        <p:txBody>
          <a:bodyPr wrap="none" rtlCol="0">
            <a:spAutoFit/>
          </a:bodyPr>
          <a:lstStyle/>
          <a:p>
            <a:r>
              <a:rPr lang="en-US" dirty="0"/>
              <a:t>Table. Ports size of the ND-Seiko Integrating sphere</a:t>
            </a:r>
          </a:p>
        </p:txBody>
      </p:sp>
      <p:sp>
        <p:nvSpPr>
          <p:cNvPr id="9" name="Rectangle 8">
            <a:extLst>
              <a:ext uri="{FF2B5EF4-FFF2-40B4-BE49-F238E27FC236}">
                <a16:creationId xmlns:a16="http://schemas.microsoft.com/office/drawing/2014/main" id="{64D86BCF-39C2-2612-F7AF-5EAE5643FEDD}"/>
              </a:ext>
            </a:extLst>
          </p:cNvPr>
          <p:cNvSpPr/>
          <p:nvPr/>
        </p:nvSpPr>
        <p:spPr>
          <a:xfrm>
            <a:off x="11353800" y="6134100"/>
            <a:ext cx="6324600" cy="685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0711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03DF9-F3D7-55B7-9534-45D20B9F9B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AC7CE1-E4D5-793D-0A61-06E0C6CBBC7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endParaRPr lang="en-US" sz="2800" dirty="0"/>
          </a:p>
          <a:p>
            <a:pPr marL="1061719" lvl="2" indent="-302260">
              <a:buFont typeface="Arial"/>
              <a:buChar char="•"/>
            </a:pPr>
            <a:r>
              <a:rPr lang="en-US" sz="2800" dirty="0"/>
              <a:t>The recommend size for the specimen is (32Dx2) mm or (32x32x2) mm</a:t>
            </a:r>
            <a:endParaRPr lang="en-US" sz="2800" dirty="0">
              <a:highlight>
                <a:srgbClr val="FFFF00"/>
              </a:highlight>
            </a:endParaRPr>
          </a:p>
        </p:txBody>
      </p:sp>
      <p:sp>
        <p:nvSpPr>
          <p:cNvPr id="3" name="AutoShape 3">
            <a:extLst>
              <a:ext uri="{FF2B5EF4-FFF2-40B4-BE49-F238E27FC236}">
                <a16:creationId xmlns:a16="http://schemas.microsoft.com/office/drawing/2014/main" id="{1816F9F1-E1BB-3C32-0622-84944B404045}"/>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9DB57476-AAD6-E269-D211-1ACEE18C269F}"/>
              </a:ext>
            </a:extLst>
          </p:cNvPr>
          <p:cNvSpPr txBox="1"/>
          <p:nvPr/>
        </p:nvSpPr>
        <p:spPr>
          <a:xfrm>
            <a:off x="755816" y="2628122"/>
            <a:ext cx="16922583" cy="1094530"/>
          </a:xfrm>
          <a:prstGeom prst="rect">
            <a:avLst/>
          </a:prstGeom>
        </p:spPr>
        <p:txBody>
          <a:bodyPr wrap="square" lIns="0" tIns="0" rIns="0" bIns="0" rtlCol="0" anchor="t">
            <a:spAutoFit/>
          </a:bodyPr>
          <a:lstStyle/>
          <a:p>
            <a:pPr marL="302259" lvl="1">
              <a:lnSpc>
                <a:spcPts val="4479"/>
              </a:lnSpc>
            </a:pPr>
            <a:endParaRPr lang="en-US" sz="2800" dirty="0"/>
          </a:p>
          <a:p>
            <a:pPr marL="759459" lvl="1" indent="-457200">
              <a:lnSpc>
                <a:spcPts val="4479"/>
              </a:lnSpc>
              <a:buFont typeface="Arial" panose="020B0604020202020204" pitchFamily="34" charset="0"/>
              <a:buChar char="•"/>
            </a:pPr>
            <a:endParaRPr lang="en-US" sz="2500" dirty="0"/>
          </a:p>
        </p:txBody>
      </p:sp>
      <p:sp>
        <p:nvSpPr>
          <p:cNvPr id="4" name="TextBox 8">
            <a:extLst>
              <a:ext uri="{FF2B5EF4-FFF2-40B4-BE49-F238E27FC236}">
                <a16:creationId xmlns:a16="http://schemas.microsoft.com/office/drawing/2014/main" id="{0AAA286D-2778-879F-D4BF-9A9409710CC1}"/>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Specimens size for Integrating Sphere Measurement </a:t>
            </a:r>
          </a:p>
        </p:txBody>
      </p:sp>
      <p:sp>
        <p:nvSpPr>
          <p:cNvPr id="13" name="TextBox 12">
            <a:extLst>
              <a:ext uri="{FF2B5EF4-FFF2-40B4-BE49-F238E27FC236}">
                <a16:creationId xmlns:a16="http://schemas.microsoft.com/office/drawing/2014/main" id="{87F54899-6A79-1C63-8914-78F5CA27BC0D}"/>
              </a:ext>
            </a:extLst>
          </p:cNvPr>
          <p:cNvSpPr txBox="1"/>
          <p:nvPr/>
        </p:nvSpPr>
        <p:spPr>
          <a:xfrm>
            <a:off x="3617744" y="7617520"/>
            <a:ext cx="4499822" cy="369332"/>
          </a:xfrm>
          <a:prstGeom prst="rect">
            <a:avLst/>
          </a:prstGeom>
          <a:noFill/>
        </p:spPr>
        <p:txBody>
          <a:bodyPr wrap="none" rtlCol="0">
            <a:spAutoFit/>
          </a:bodyPr>
          <a:lstStyle/>
          <a:p>
            <a:r>
              <a:rPr lang="en-US" dirty="0"/>
              <a:t>Fig. 32x2 mm sample side view and front view</a:t>
            </a:r>
          </a:p>
        </p:txBody>
      </p:sp>
      <p:pic>
        <p:nvPicPr>
          <p:cNvPr id="6" name="Picture 5">
            <a:extLst>
              <a:ext uri="{FF2B5EF4-FFF2-40B4-BE49-F238E27FC236}">
                <a16:creationId xmlns:a16="http://schemas.microsoft.com/office/drawing/2014/main" id="{79B39F3C-AA5C-5DB3-8888-3B88A52950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0138" y="3230571"/>
            <a:ext cx="2896004" cy="2581635"/>
          </a:xfrm>
          <a:prstGeom prst="rect">
            <a:avLst/>
          </a:prstGeom>
        </p:spPr>
      </p:pic>
      <p:pic>
        <p:nvPicPr>
          <p:cNvPr id="9" name="Picture 8">
            <a:extLst>
              <a:ext uri="{FF2B5EF4-FFF2-40B4-BE49-F238E27FC236}">
                <a16:creationId xmlns:a16="http://schemas.microsoft.com/office/drawing/2014/main" id="{0D29AF37-4CD5-335B-BA06-4A37DE4E53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12363388" y="4018956"/>
            <a:ext cx="1796243" cy="5382744"/>
          </a:xfrm>
          <a:prstGeom prst="rect">
            <a:avLst/>
          </a:prstGeom>
        </p:spPr>
      </p:pic>
      <p:pic>
        <p:nvPicPr>
          <p:cNvPr id="11" name="Picture 10">
            <a:extLst>
              <a:ext uri="{FF2B5EF4-FFF2-40B4-BE49-F238E27FC236}">
                <a16:creationId xmlns:a16="http://schemas.microsoft.com/office/drawing/2014/main" id="{BDF3FD61-6D88-9B8D-5EB6-9EAB2AB154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66142" y="3230571"/>
            <a:ext cx="2464288" cy="2581635"/>
          </a:xfrm>
          <a:prstGeom prst="rect">
            <a:avLst/>
          </a:prstGeom>
        </p:spPr>
      </p:pic>
      <p:pic>
        <p:nvPicPr>
          <p:cNvPr id="16" name="Picture 15">
            <a:extLst>
              <a:ext uri="{FF2B5EF4-FFF2-40B4-BE49-F238E27FC236}">
                <a16:creationId xmlns:a16="http://schemas.microsoft.com/office/drawing/2014/main" id="{527B9752-EB37-6733-8A05-6AF6F15E6F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14830" y="3180397"/>
            <a:ext cx="5121512" cy="4437123"/>
          </a:xfrm>
          <a:prstGeom prst="rect">
            <a:avLst/>
          </a:prstGeom>
        </p:spPr>
      </p:pic>
      <p:pic>
        <p:nvPicPr>
          <p:cNvPr id="18" name="Picture 17">
            <a:extLst>
              <a:ext uri="{FF2B5EF4-FFF2-40B4-BE49-F238E27FC236}">
                <a16:creationId xmlns:a16="http://schemas.microsoft.com/office/drawing/2014/main" id="{F06EB480-49DA-A190-0BE9-E9A643179A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85134" y="3171327"/>
            <a:ext cx="2965991" cy="4437123"/>
          </a:xfrm>
          <a:prstGeom prst="rect">
            <a:avLst/>
          </a:prstGeom>
        </p:spPr>
      </p:pic>
      <p:sp>
        <p:nvSpPr>
          <p:cNvPr id="19" name="TextBox 18">
            <a:extLst>
              <a:ext uri="{FF2B5EF4-FFF2-40B4-BE49-F238E27FC236}">
                <a16:creationId xmlns:a16="http://schemas.microsoft.com/office/drawing/2014/main" id="{A05043AB-F9C2-B482-F96C-447831FBC9A0}"/>
              </a:ext>
            </a:extLst>
          </p:cNvPr>
          <p:cNvSpPr txBox="1"/>
          <p:nvPr/>
        </p:nvSpPr>
        <p:spPr>
          <a:xfrm>
            <a:off x="12388779" y="7605969"/>
            <a:ext cx="2496196" cy="369332"/>
          </a:xfrm>
          <a:prstGeom prst="rect">
            <a:avLst/>
          </a:prstGeom>
          <a:noFill/>
        </p:spPr>
        <p:txBody>
          <a:bodyPr wrap="none" rtlCol="0">
            <a:spAutoFit/>
          </a:bodyPr>
          <a:lstStyle/>
          <a:p>
            <a:r>
              <a:rPr lang="en-US" dirty="0"/>
              <a:t>Fig. 2 mm sample holder</a:t>
            </a:r>
          </a:p>
        </p:txBody>
      </p:sp>
    </p:spTree>
    <p:extLst>
      <p:ext uri="{BB962C8B-B14F-4D97-AF65-F5344CB8AC3E}">
        <p14:creationId xmlns:p14="http://schemas.microsoft.com/office/powerpoint/2010/main" val="197465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29FD-E4F6-92F2-0827-7F67E8C77B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A5FAE0-AFD9-CF1B-5E62-7A0E216F4E3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9D8EC1C3-8961-C074-77FA-2F3C52E3206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B2A0DD1A-9BC1-CE58-466C-37A4ED3D0D71}"/>
              </a:ext>
            </a:extLst>
          </p:cNvPr>
          <p:cNvSpPr txBox="1"/>
          <p:nvPr/>
        </p:nvSpPr>
        <p:spPr>
          <a:xfrm>
            <a:off x="755816" y="2628122"/>
            <a:ext cx="16922583" cy="4319003"/>
          </a:xfrm>
          <a:prstGeom prst="rect">
            <a:avLst/>
          </a:prstGeom>
        </p:spPr>
        <p:txBody>
          <a:bodyPr wrap="square" lIns="0" tIns="0" rIns="0" bIns="0" rtlCol="0" anchor="t">
            <a:spAutoFit/>
          </a:bodyPr>
          <a:lstStyle/>
          <a:p>
            <a:pPr marL="302259" lvl="1">
              <a:lnSpc>
                <a:spcPts val="4479"/>
              </a:lnSpc>
            </a:pPr>
            <a:r>
              <a:rPr lang="en-US" sz="3600" b="1" dirty="0"/>
              <a:t>Phantom for standardization in functional near-infrared spectroscopy, optical properties and Monte Carlo simulations</a:t>
            </a:r>
            <a:endParaRPr lang="en-US" sz="2500" b="1" dirty="0"/>
          </a:p>
          <a:p>
            <a:pPr marL="1673859" lvl="3" indent="-457200">
              <a:lnSpc>
                <a:spcPct val="150000"/>
              </a:lnSpc>
              <a:buFont typeface="Arial" panose="020B0604020202020204" pitchFamily="34" charset="0"/>
              <a:buChar char="•"/>
            </a:pPr>
            <a:r>
              <a:rPr lang="en-US" sz="2800" dirty="0"/>
              <a:t>The international standard IEC 80601-2-71 defines requirements for the basic safety and essential performance of medical continuous wave functional near-infrared spectroscopy (</a:t>
            </a:r>
            <a:r>
              <a:rPr lang="en-US" sz="2800" dirty="0" err="1"/>
              <a:t>fNIRS</a:t>
            </a:r>
            <a:r>
              <a:rPr lang="en-US" sz="2800" dirty="0"/>
              <a:t>) equipment. </a:t>
            </a:r>
          </a:p>
          <a:p>
            <a:pPr marL="1673859" lvl="3" indent="-457200">
              <a:lnSpc>
                <a:spcPct val="150000"/>
              </a:lnSpc>
              <a:buFont typeface="Arial" panose="020B0604020202020204" pitchFamily="34" charset="0"/>
              <a:buChar char="•"/>
            </a:pPr>
            <a:r>
              <a:rPr lang="en-US" sz="2800" dirty="0"/>
              <a:t>The POM-C matrix exhibits negligible absorption and monotonically decreasing reduced scattering coefficient from (10.5 down to 8.5 cm</a:t>
            </a:r>
            <a:r>
              <a:rPr lang="en-US" sz="2800" baseline="30000" dirty="0"/>
              <a:t>-1</a:t>
            </a:r>
            <a:r>
              <a:rPr lang="en-US" sz="2800" dirty="0"/>
              <a:t>) in the 650 to 850 nm range. </a:t>
            </a:r>
          </a:p>
          <a:p>
            <a:pPr marL="1673859" lvl="3" indent="-457200">
              <a:lnSpc>
                <a:spcPct val="150000"/>
              </a:lnSpc>
              <a:buFont typeface="Arial" panose="020B0604020202020204" pitchFamily="34" charset="0"/>
              <a:buChar char="•"/>
            </a:pPr>
            <a:r>
              <a:rPr lang="en-US" sz="2800" dirty="0"/>
              <a:t> Manufacturer is </a:t>
            </a:r>
            <a:r>
              <a:rPr lang="en-US" sz="2800" dirty="0" err="1"/>
              <a:t>Duracon</a:t>
            </a:r>
            <a:r>
              <a:rPr lang="en-US" sz="2800" dirty="0"/>
              <a:t> NE25X, </a:t>
            </a:r>
            <a:r>
              <a:rPr lang="en-US" sz="2800" dirty="0" err="1"/>
              <a:t>Polyplastics</a:t>
            </a:r>
            <a:r>
              <a:rPr lang="en-US" sz="2800" dirty="0"/>
              <a:t>, Tokyo, Japan).</a:t>
            </a:r>
          </a:p>
        </p:txBody>
      </p:sp>
      <p:sp>
        <p:nvSpPr>
          <p:cNvPr id="4" name="TextBox 8">
            <a:extLst>
              <a:ext uri="{FF2B5EF4-FFF2-40B4-BE49-F238E27FC236}">
                <a16:creationId xmlns:a16="http://schemas.microsoft.com/office/drawing/2014/main" id="{2103DC99-04F2-DA6B-DCF8-DA5AA05752A8}"/>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Validation For Integrating Sphere</a:t>
            </a:r>
          </a:p>
        </p:txBody>
      </p:sp>
      <p:sp>
        <p:nvSpPr>
          <p:cNvPr id="11" name="TextBox 10">
            <a:extLst>
              <a:ext uri="{FF2B5EF4-FFF2-40B4-BE49-F238E27FC236}">
                <a16:creationId xmlns:a16="http://schemas.microsoft.com/office/drawing/2014/main" id="{2BB416A3-F3F5-F075-1277-075B9869A8EE}"/>
              </a:ext>
            </a:extLst>
          </p:cNvPr>
          <p:cNvSpPr txBox="1"/>
          <p:nvPr/>
        </p:nvSpPr>
        <p:spPr>
          <a:xfrm>
            <a:off x="7241393" y="9883964"/>
            <a:ext cx="3805209" cy="369332"/>
          </a:xfrm>
          <a:prstGeom prst="rect">
            <a:avLst/>
          </a:prstGeom>
          <a:noFill/>
        </p:spPr>
        <p:txBody>
          <a:bodyPr wrap="none" rtlCol="0">
            <a:spAutoFit/>
          </a:bodyPr>
          <a:lstStyle/>
          <a:p>
            <a:r>
              <a:rPr lang="en-US" dirty="0"/>
              <a:t>Table. Optical properties of the POM-C</a:t>
            </a:r>
          </a:p>
        </p:txBody>
      </p:sp>
      <p:pic>
        <p:nvPicPr>
          <p:cNvPr id="7" name="Picture 6">
            <a:extLst>
              <a:ext uri="{FF2B5EF4-FFF2-40B4-BE49-F238E27FC236}">
                <a16:creationId xmlns:a16="http://schemas.microsoft.com/office/drawing/2014/main" id="{460E9BDD-920E-1FA0-3D5B-2556B31506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8929" y="6888633"/>
            <a:ext cx="7030139" cy="2995331"/>
          </a:xfrm>
          <a:prstGeom prst="rect">
            <a:avLst/>
          </a:prstGeom>
        </p:spPr>
      </p:pic>
    </p:spTree>
    <p:extLst>
      <p:ext uri="{BB962C8B-B14F-4D97-AF65-F5344CB8AC3E}">
        <p14:creationId xmlns:p14="http://schemas.microsoft.com/office/powerpoint/2010/main" val="3241898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52CC-437A-17A0-CBCD-3AF9ECC330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939C5A-2095-6EDB-397E-A7398073B55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D3C5C6C5-0A80-0929-570C-B8EA861841AE}"/>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44F67F89-50C1-D5BA-7616-A199D4F93565}"/>
              </a:ext>
            </a:extLst>
          </p:cNvPr>
          <p:cNvSpPr txBox="1"/>
          <p:nvPr/>
        </p:nvSpPr>
        <p:spPr>
          <a:xfrm>
            <a:off x="755816" y="2628122"/>
            <a:ext cx="16922583" cy="4896084"/>
          </a:xfrm>
          <a:prstGeom prst="rect">
            <a:avLst/>
          </a:prstGeom>
        </p:spPr>
        <p:txBody>
          <a:bodyPr wrap="square" lIns="0" tIns="0" rIns="0" bIns="0" rtlCol="0" anchor="t">
            <a:spAutoFit/>
          </a:bodyPr>
          <a:lstStyle/>
          <a:p>
            <a:pPr marL="302259" lvl="1">
              <a:lnSpc>
                <a:spcPts val="4479"/>
              </a:lnSpc>
            </a:pPr>
            <a:r>
              <a:rPr lang="en-US" sz="3600" b="1" dirty="0"/>
              <a:t>[3] Optical characterization of 3D printed PLA and ABS filaments for diffuse optics applications [extinction coefficient] </a:t>
            </a:r>
            <a:endParaRPr lang="en-US" sz="3600" dirty="0"/>
          </a:p>
          <a:p>
            <a:pPr marL="302259" lvl="1">
              <a:lnSpc>
                <a:spcPts val="4479"/>
              </a:lnSpc>
            </a:pPr>
            <a:endParaRPr lang="en-US" sz="2500" b="1" dirty="0"/>
          </a:p>
          <a:p>
            <a:pPr marL="1673859" lvl="3" indent="-457200">
              <a:lnSpc>
                <a:spcPct val="150000"/>
              </a:lnSpc>
              <a:buFont typeface="Arial" panose="020B0604020202020204" pitchFamily="34" charset="0"/>
              <a:buChar char="•"/>
            </a:pPr>
            <a:r>
              <a:rPr lang="en-US" sz="2800" dirty="0"/>
              <a:t>White ABS at this wavelength is more opaque than PLA due to its higher pigment loading and base polymer density.</a:t>
            </a:r>
          </a:p>
          <a:p>
            <a:pPr marL="1673859" lvl="3" indent="-457200">
              <a:lnSpc>
                <a:spcPct val="150000"/>
              </a:lnSpc>
              <a:buFont typeface="Arial" panose="020B0604020202020204" pitchFamily="34" charset="0"/>
              <a:buChar char="•"/>
            </a:pPr>
            <a:r>
              <a:rPr lang="en-US" sz="2800" dirty="0"/>
              <a:t>Since the absorption coefficient (µ</a:t>
            </a:r>
            <a:r>
              <a:rPr lang="en-US" sz="2800" baseline="-25000" dirty="0"/>
              <a:t>a</a:t>
            </a:r>
            <a:r>
              <a:rPr lang="en-US" sz="2800" dirty="0"/>
              <a:t>) at his coefficient is nearly zero, the measurement will primarily validate the scattering coefficient (µ</a:t>
            </a:r>
            <a:r>
              <a:rPr lang="en-US" sz="2800" baseline="-25000" dirty="0"/>
              <a:t>s</a:t>
            </a:r>
            <a:r>
              <a:rPr lang="en-US" sz="2800" dirty="0"/>
              <a:t>).</a:t>
            </a:r>
          </a:p>
          <a:p>
            <a:pPr marL="1673859" lvl="3" indent="-457200">
              <a:lnSpc>
                <a:spcPct val="150000"/>
              </a:lnSpc>
              <a:buFont typeface="Arial" panose="020B0604020202020204" pitchFamily="34" charset="0"/>
              <a:buChar char="•"/>
            </a:pPr>
            <a:endParaRPr lang="en-US" sz="2800" dirty="0"/>
          </a:p>
        </p:txBody>
      </p:sp>
      <p:sp>
        <p:nvSpPr>
          <p:cNvPr id="4" name="TextBox 8">
            <a:extLst>
              <a:ext uri="{FF2B5EF4-FFF2-40B4-BE49-F238E27FC236}">
                <a16:creationId xmlns:a16="http://schemas.microsoft.com/office/drawing/2014/main" id="{5916560A-A1CF-5989-BFAA-208D67517DC2}"/>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Validation For Integrating Sphere</a:t>
            </a:r>
          </a:p>
        </p:txBody>
      </p:sp>
      <p:sp>
        <p:nvSpPr>
          <p:cNvPr id="11" name="TextBox 10">
            <a:extLst>
              <a:ext uri="{FF2B5EF4-FFF2-40B4-BE49-F238E27FC236}">
                <a16:creationId xmlns:a16="http://schemas.microsoft.com/office/drawing/2014/main" id="{CA015AEE-AE90-E721-698C-AF45F52DBFB1}"/>
              </a:ext>
            </a:extLst>
          </p:cNvPr>
          <p:cNvSpPr txBox="1"/>
          <p:nvPr/>
        </p:nvSpPr>
        <p:spPr>
          <a:xfrm>
            <a:off x="6612131" y="9466472"/>
            <a:ext cx="5209952" cy="369332"/>
          </a:xfrm>
          <a:prstGeom prst="rect">
            <a:avLst/>
          </a:prstGeom>
          <a:noFill/>
        </p:spPr>
        <p:txBody>
          <a:bodyPr wrap="none" rtlCol="0">
            <a:spAutoFit/>
          </a:bodyPr>
          <a:lstStyle/>
          <a:p>
            <a:r>
              <a:rPr lang="en-US" dirty="0"/>
              <a:t>Table. Expected Transmittance for white ABS and PLA</a:t>
            </a:r>
          </a:p>
        </p:txBody>
      </p:sp>
      <p:graphicFrame>
        <p:nvGraphicFramePr>
          <p:cNvPr id="5" name="Table 4">
            <a:extLst>
              <a:ext uri="{FF2B5EF4-FFF2-40B4-BE49-F238E27FC236}">
                <a16:creationId xmlns:a16="http://schemas.microsoft.com/office/drawing/2014/main" id="{3643DDD5-B301-50A6-5C9C-C75BB12B2F34}"/>
              </a:ext>
            </a:extLst>
          </p:cNvPr>
          <p:cNvGraphicFramePr>
            <a:graphicFrameLocks noGrp="1"/>
          </p:cNvGraphicFramePr>
          <p:nvPr/>
        </p:nvGraphicFramePr>
        <p:xfrm>
          <a:off x="3680776" y="7144832"/>
          <a:ext cx="10926445" cy="226332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4002210330"/>
                    </a:ext>
                  </a:extLst>
                </a:gridCol>
                <a:gridCol w="4064000">
                  <a:extLst>
                    <a:ext uri="{9D8B030D-6E8A-4147-A177-3AD203B41FA5}">
                      <a16:colId xmlns:a16="http://schemas.microsoft.com/office/drawing/2014/main" val="1608171026"/>
                    </a:ext>
                  </a:extLst>
                </a:gridCol>
                <a:gridCol w="2798445">
                  <a:extLst>
                    <a:ext uri="{9D8B030D-6E8A-4147-A177-3AD203B41FA5}">
                      <a16:colId xmlns:a16="http://schemas.microsoft.com/office/drawing/2014/main" val="1704159556"/>
                    </a:ext>
                  </a:extLst>
                </a:gridCol>
              </a:tblGrid>
              <a:tr h="754440">
                <a:tc>
                  <a:txBody>
                    <a:bodyPr/>
                    <a:lstStyle/>
                    <a:p>
                      <a:pPr algn="ctr"/>
                      <a:r>
                        <a:rPr lang="en-US" dirty="0">
                          <a:solidFill>
                            <a:schemeClr val="tx1"/>
                          </a:solidFill>
                        </a:rPr>
                        <a:t>Material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 µ at 850 nm (cm</a:t>
                      </a:r>
                      <a:r>
                        <a:rPr lang="en-US" baseline="30000" dirty="0">
                          <a:solidFill>
                            <a:schemeClr val="tx1"/>
                          </a:solidFill>
                        </a:rPr>
                        <a:t>-1</a:t>
                      </a:r>
                      <a:r>
                        <a:rPr lang="en-US" baseline="0" dirty="0">
                          <a:solidFill>
                            <a:schemeClr val="tx1"/>
                          </a:solidFill>
                        </a:rPr>
                        <a:t>)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Expected Transmittance (T)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6488242"/>
                  </a:ext>
                </a:extLst>
              </a:tr>
              <a:tr h="754440">
                <a:tc>
                  <a:txBody>
                    <a:bodyPr/>
                    <a:lstStyle/>
                    <a:p>
                      <a:pPr algn="ctr"/>
                      <a:r>
                        <a:rPr lang="en-US" dirty="0"/>
                        <a:t>White PLA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635988"/>
                  </a:ext>
                </a:extLst>
              </a:tr>
              <a:tr h="754440">
                <a:tc>
                  <a:txBody>
                    <a:bodyPr/>
                    <a:lstStyle/>
                    <a:p>
                      <a:pPr algn="ctr"/>
                      <a:r>
                        <a:rPr lang="en-US" dirty="0"/>
                        <a:t>White ABS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~92.0</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759269"/>
                  </a:ext>
                </a:extLst>
              </a:tr>
            </a:tbl>
          </a:graphicData>
        </a:graphic>
      </p:graphicFrame>
    </p:spTree>
    <p:extLst>
      <p:ext uri="{BB962C8B-B14F-4D97-AF65-F5344CB8AC3E}">
        <p14:creationId xmlns:p14="http://schemas.microsoft.com/office/powerpoint/2010/main" val="66243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846E9-8C77-D52A-6FCB-CECE896982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159970C-95F9-7241-8CF2-54D60650F79A}"/>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6052BAC-5FDA-17A7-44EB-4896E0F57F5F}"/>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E354F231-C2CC-F830-EDC7-0DDEF0945D8D}"/>
                  </a:ext>
                </a:extLst>
              </p:cNvPr>
              <p:cNvSpPr txBox="1"/>
              <p:nvPr/>
            </p:nvSpPr>
            <p:spPr>
              <a:xfrm>
                <a:off x="755816" y="2628122"/>
                <a:ext cx="16541583" cy="720197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Polydimethylsiloxane tissue-mimicking phantoms with tunable optical properties</a:t>
                </a:r>
                <a:endParaRPr lang="en-US" sz="2500" b="1" dirty="0"/>
              </a:p>
              <a:p>
                <a:pPr marL="604519" lvl="1" indent="-302260">
                  <a:lnSpc>
                    <a:spcPct val="200000"/>
                  </a:lnSpc>
                  <a:buFont typeface="Arial"/>
                  <a:buChar char="•"/>
                </a:pPr>
                <a:r>
                  <a:rPr lang="en-US" sz="2500" dirty="0"/>
                  <a:t>PDMS is optically transparent in VIS-NIR.</a:t>
                </a:r>
              </a:p>
              <a:p>
                <a:pPr marL="604519" lvl="1" indent="-302260">
                  <a:lnSpc>
                    <a:spcPct val="200000"/>
                  </a:lnSpc>
                  <a:buFont typeface="Arial"/>
                  <a:buChar char="•"/>
                </a:pPr>
                <a:r>
                  <a:rPr lang="en-US" sz="2500" dirty="0"/>
                  <a:t>It has no fluorescence background.</a:t>
                </a:r>
              </a:p>
              <a:p>
                <a:pPr marL="604519" lvl="1" indent="-302260">
                  <a:lnSpc>
                    <a:spcPct val="200000"/>
                  </a:lnSpc>
                  <a:buFont typeface="Arial"/>
                  <a:buChar char="•"/>
                </a:pPr>
                <a:r>
                  <a:rPr lang="en-US" sz="2500" dirty="0"/>
                  <a:t>It has long-term mechanical and optical stability.</a:t>
                </a:r>
              </a:p>
              <a:p>
                <a:pPr marL="604519" lvl="1" indent="-302260">
                  <a:lnSpc>
                    <a:spcPct val="200000"/>
                  </a:lnSpc>
                  <a:buFont typeface="Arial"/>
                  <a:buChar char="•"/>
                </a:pPr>
                <a:r>
                  <a:rPr lang="en-US" sz="2500" dirty="0"/>
                  <a:t>I can be easily moldable into solid phantoms.</a:t>
                </a:r>
              </a:p>
              <a:p>
                <a:pPr marL="604519" lvl="1" indent="-302260">
                  <a:lnSpc>
                    <a:spcPct val="200000"/>
                  </a:lnSpc>
                  <a:buFont typeface="Arial"/>
                  <a:buChar char="•"/>
                </a:pPr>
                <a:r>
                  <a:rPr lang="en-US" sz="2500" dirty="0"/>
                  <a:t>Its refractive index is similar to biological tissue (</a:t>
                </a:r>
                <a14:m>
                  <m:oMath xmlns:m="http://schemas.openxmlformats.org/officeDocument/2006/math">
                    <m:r>
                      <a:rPr lang="en-US" sz="2500" b="0" i="1" smtClean="0">
                        <a:latin typeface="Cambria Math" panose="02040503050406030204" pitchFamily="18" charset="0"/>
                      </a:rPr>
                      <m:t>𝑛</m:t>
                    </m:r>
                    <m:r>
                      <a:rPr lang="en-US" sz="2500" b="0" i="1" smtClean="0">
                        <a:latin typeface="Cambria Math" panose="02040503050406030204" pitchFamily="18" charset="0"/>
                        <a:ea typeface="Cambria Math" panose="02040503050406030204" pitchFamily="18" charset="0"/>
                      </a:rPr>
                      <m:t>~1.4−1.45</m:t>
                    </m:r>
                  </m:oMath>
                </a14:m>
                <a:r>
                  <a:rPr lang="en-US" sz="2500" dirty="0"/>
                  <a:t>).</a:t>
                </a:r>
              </a:p>
              <a:p>
                <a:pPr marL="604519" lvl="1" indent="-302260">
                  <a:lnSpc>
                    <a:spcPct val="200000"/>
                  </a:lnSpc>
                  <a:buFont typeface="Arial"/>
                  <a:buChar char="•"/>
                </a:pPr>
                <a:r>
                  <a:rPr lang="en-US" sz="2500" dirty="0"/>
                  <a:t>Its absorption and scattering coefficients can be tuned independently by adjusting the concentration of Carbon black powder (strong broadband absorber) and Titanium dioxide (efficient elastic scatter).</a:t>
                </a:r>
              </a:p>
              <a:p>
                <a:pPr marL="604519" lvl="1" indent="-302260">
                  <a:lnSpc>
                    <a:spcPct val="200000"/>
                  </a:lnSpc>
                  <a:buFont typeface="Arial"/>
                  <a:buChar char="•"/>
                </a:pPr>
                <a:r>
                  <a:rPr lang="en-US" sz="2500" dirty="0"/>
                  <a:t> </a:t>
                </a:r>
                <a14:m>
                  <m:oMath xmlns:m="http://schemas.openxmlformats.org/officeDocument/2006/math">
                    <m:r>
                      <a:rPr lang="en-US" sz="2500" i="1">
                        <a:latin typeface="Cambria Math" panose="02040503050406030204" pitchFamily="18" charset="0"/>
                        <a:ea typeface="Cambria Math" panose="02040503050406030204" pitchFamily="18" charset="0"/>
                      </a:rPr>
                      <m:t>~1</m:t>
                    </m:r>
                    <m:r>
                      <a:rPr lang="en-US" sz="2500" b="0" i="1" smtClean="0">
                        <a:latin typeface="Cambria Math" panose="02040503050406030204" pitchFamily="18" charset="0"/>
                        <a:ea typeface="Cambria Math" panose="02040503050406030204" pitchFamily="18" charset="0"/>
                      </a:rPr>
                      <m:t>0%</m:t>
                    </m:r>
                    <m:r>
                      <a:rPr lang="en-US" sz="2500" b="0" i="0" smtClean="0">
                        <a:latin typeface="Cambria Math" panose="02040503050406030204" pitchFamily="18" charset="0"/>
                        <a:ea typeface="Cambria Math" panose="02040503050406030204" pitchFamily="18" charset="0"/>
                      </a:rPr>
                      <m:t> </m:t>
                    </m:r>
                  </m:oMath>
                </a14:m>
                <a:r>
                  <a:rPr lang="en-US" sz="2500" dirty="0"/>
                  <a:t>(w/w) curing reagent is added into the mixture to solidified the PDMS.</a:t>
                </a:r>
              </a:p>
            </p:txBody>
          </p:sp>
        </mc:Choice>
        <mc:Fallback xmlns="">
          <p:sp>
            <p:nvSpPr>
              <p:cNvPr id="8" name="TextBox 8">
                <a:extLst>
                  <a:ext uri="{FF2B5EF4-FFF2-40B4-BE49-F238E27FC236}">
                    <a16:creationId xmlns:a16="http://schemas.microsoft.com/office/drawing/2014/main" id="{E354F231-C2CC-F830-EDC7-0DDEF0945D8D}"/>
                  </a:ext>
                </a:extLst>
              </p:cNvPr>
              <p:cNvSpPr txBox="1">
                <a:spLocks noRot="1" noChangeAspect="1" noMove="1" noResize="1" noEditPoints="1" noAdjustHandles="1" noChangeArrowheads="1" noChangeShapeType="1" noTextEdit="1"/>
              </p:cNvSpPr>
              <p:nvPr/>
            </p:nvSpPr>
            <p:spPr>
              <a:xfrm>
                <a:off x="755816" y="2628122"/>
                <a:ext cx="16541583" cy="7201972"/>
              </a:xfrm>
              <a:prstGeom prst="rect">
                <a:avLst/>
              </a:prstGeom>
              <a:blipFill>
                <a:blip r:embed="rId4"/>
                <a:stretch>
                  <a:fillRect l="-37" t="-2623" b="-1692"/>
                </a:stretch>
              </a:blipFill>
            </p:spPr>
            <p:txBody>
              <a:bodyPr/>
              <a:lstStyle/>
              <a:p>
                <a:r>
                  <a:rPr lang="en-US">
                    <a:noFill/>
                  </a:rPr>
                  <a:t> </a:t>
                </a:r>
              </a:p>
            </p:txBody>
          </p:sp>
        </mc:Fallback>
      </mc:AlternateContent>
      <p:sp>
        <p:nvSpPr>
          <p:cNvPr id="4" name="TextBox 8">
            <a:extLst>
              <a:ext uri="{FF2B5EF4-FFF2-40B4-BE49-F238E27FC236}">
                <a16:creationId xmlns:a16="http://schemas.microsoft.com/office/drawing/2014/main" id="{1FE8088A-02F0-AF48-70B6-4FD8AC845EDA}"/>
              </a:ext>
            </a:extLst>
          </p:cNvPr>
          <p:cNvSpPr txBox="1"/>
          <p:nvPr/>
        </p:nvSpPr>
        <p:spPr>
          <a:xfrm>
            <a:off x="3377401" y="1664659"/>
            <a:ext cx="11533197"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Validation For Integrating Sphere</a:t>
            </a:r>
          </a:p>
        </p:txBody>
      </p:sp>
      <p:pic>
        <p:nvPicPr>
          <p:cNvPr id="6" name="Picture 5">
            <a:extLst>
              <a:ext uri="{FF2B5EF4-FFF2-40B4-BE49-F238E27FC236}">
                <a16:creationId xmlns:a16="http://schemas.microsoft.com/office/drawing/2014/main" id="{37EC3224-1B7C-EEC8-4381-CEF7FDF10BFF}"/>
              </a:ext>
            </a:extLst>
          </p:cNvPr>
          <p:cNvPicPr>
            <a:picLocks noChangeAspect="1"/>
          </p:cNvPicPr>
          <p:nvPr/>
        </p:nvPicPr>
        <p:blipFill>
          <a:blip r:embed="rId5"/>
          <a:stretch>
            <a:fillRect/>
          </a:stretch>
        </p:blipFill>
        <p:spPr>
          <a:xfrm>
            <a:off x="9982199" y="3448091"/>
            <a:ext cx="7086599" cy="3981409"/>
          </a:xfrm>
          <a:prstGeom prst="rect">
            <a:avLst/>
          </a:prstGeom>
        </p:spPr>
      </p:pic>
      <p:sp>
        <p:nvSpPr>
          <p:cNvPr id="7" name="TextBox 6">
            <a:extLst>
              <a:ext uri="{FF2B5EF4-FFF2-40B4-BE49-F238E27FC236}">
                <a16:creationId xmlns:a16="http://schemas.microsoft.com/office/drawing/2014/main" id="{81876ED3-EF44-FF71-F758-1BC70BAB79F0}"/>
              </a:ext>
            </a:extLst>
          </p:cNvPr>
          <p:cNvSpPr txBox="1"/>
          <p:nvPr/>
        </p:nvSpPr>
        <p:spPr>
          <a:xfrm>
            <a:off x="11262123" y="7429500"/>
            <a:ext cx="4526752" cy="369332"/>
          </a:xfrm>
          <a:prstGeom prst="rect">
            <a:avLst/>
          </a:prstGeom>
          <a:noFill/>
        </p:spPr>
        <p:txBody>
          <a:bodyPr wrap="none" rtlCol="0">
            <a:spAutoFit/>
          </a:bodyPr>
          <a:lstStyle/>
          <a:p>
            <a:r>
              <a:rPr lang="en-US" dirty="0"/>
              <a:t>A step-by-step phantom fabrication procedure</a:t>
            </a:r>
          </a:p>
        </p:txBody>
      </p:sp>
    </p:spTree>
    <p:extLst>
      <p:ext uri="{BB962C8B-B14F-4D97-AF65-F5344CB8AC3E}">
        <p14:creationId xmlns:p14="http://schemas.microsoft.com/office/powerpoint/2010/main" val="36522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926A0-4829-6F4C-4233-57E944D9AC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37E00C-D1A5-AD43-CA9D-A8E79B35FEFC}"/>
              </a:ext>
            </a:extLst>
          </p:cNvPr>
          <p:cNvSpPr/>
          <p:nvPr/>
        </p:nvSpPr>
        <p:spPr>
          <a:xfrm>
            <a:off x="0" y="1699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A4ADA1A1-7667-176D-2277-850B0EAB4FE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A8BF47C9-F337-875E-F868-BE0BA19B9E38}"/>
              </a:ext>
            </a:extLst>
          </p:cNvPr>
          <p:cNvSpPr txBox="1"/>
          <p:nvPr/>
        </p:nvSpPr>
        <p:spPr>
          <a:xfrm>
            <a:off x="755816" y="2628122"/>
            <a:ext cx="16541583" cy="6755696"/>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Three-dimensional printed optical phantoms with customized absorption and scattering properties </a:t>
            </a:r>
            <a:endParaRPr lang="en-US" sz="2800" b="1" dirty="0"/>
          </a:p>
          <a:p>
            <a:pPr marL="1061719" lvl="2" indent="-302260">
              <a:buFont typeface="Arial"/>
              <a:buChar char="•"/>
            </a:pPr>
            <a:r>
              <a:rPr lang="en-US" sz="2800" dirty="0"/>
              <a:t>Commercially available thermoplastics provide only a small range of physiologically relevant absorption coefficient (µ</a:t>
            </a:r>
            <a:r>
              <a:rPr lang="en-US" sz="2800" baseline="-25000" dirty="0"/>
              <a:t>a</a:t>
            </a:r>
            <a:r>
              <a:rPr lang="en-US" sz="2800" dirty="0"/>
              <a:t>)and reduced scattering coefficient (µ</a:t>
            </a:r>
            <a:r>
              <a:rPr lang="en-US" sz="2800" baseline="-25000" dirty="0"/>
              <a:t>s</a:t>
            </a:r>
            <a:r>
              <a:rPr lang="en-US" sz="2800" baseline="30000" dirty="0"/>
              <a:t>’</a:t>
            </a:r>
            <a:r>
              <a:rPr lang="en-US" sz="2800" dirty="0"/>
              <a:t>) values. </a:t>
            </a:r>
          </a:p>
          <a:p>
            <a:pPr marL="1061719" lvl="2" indent="-302260">
              <a:buFont typeface="Arial"/>
              <a:buChar char="•"/>
            </a:pPr>
            <a:r>
              <a:rPr lang="en-US" sz="2800" dirty="0"/>
              <a:t>The object of this research is to fabricate and validate customizable acrylonitrile butadiene styrene (ABS) filaments for dual extrusion 3D printing of tissue mimicking optical phantoms. </a:t>
            </a:r>
          </a:p>
          <a:p>
            <a:pPr marL="1061719" lvl="2" indent="-302260">
              <a:buFont typeface="Arial"/>
              <a:buChar char="•"/>
            </a:pPr>
            <a:r>
              <a:rPr lang="en-US" sz="2800" dirty="0"/>
              <a:t>µ</a:t>
            </a:r>
            <a:r>
              <a:rPr lang="en-US" sz="2800" baseline="-25000" dirty="0"/>
              <a:t>a </a:t>
            </a:r>
            <a:r>
              <a:rPr lang="en-US" sz="2800" dirty="0"/>
              <a:t>and µ</a:t>
            </a:r>
            <a:r>
              <a:rPr lang="en-US" sz="2800" baseline="-25000" dirty="0"/>
              <a:t>s</a:t>
            </a:r>
            <a:r>
              <a:rPr lang="en-US" sz="2800" baseline="30000" dirty="0"/>
              <a:t>’</a:t>
            </a:r>
            <a:r>
              <a:rPr lang="en-US" sz="2800" dirty="0"/>
              <a:t> values were adjustable by incorporating nigrosine and titanium dioxide in the filament extrusion process.</a:t>
            </a:r>
          </a:p>
          <a:p>
            <a:pPr marL="1061719" lvl="2" indent="-302260">
              <a:buFont typeface="Arial"/>
              <a:buChar char="•"/>
            </a:pPr>
            <a:r>
              <a:rPr lang="en-US" sz="2800" dirty="0"/>
              <a:t> A wide range of physiologically relevant properties was demonstrated with  average repeatability with 11.5% for µ</a:t>
            </a:r>
            <a:r>
              <a:rPr lang="en-US" sz="2800" baseline="-25000" dirty="0"/>
              <a:t>a </a:t>
            </a:r>
            <a:r>
              <a:rPr lang="en-US" sz="2800" dirty="0"/>
              <a:t>and 7.71% for µ</a:t>
            </a:r>
            <a:r>
              <a:rPr lang="en-US" sz="2800" baseline="-25000" dirty="0"/>
              <a:t>s</a:t>
            </a:r>
            <a:r>
              <a:rPr lang="en-US" sz="2800" baseline="30000" dirty="0"/>
              <a:t>’</a:t>
            </a:r>
            <a:r>
              <a:rPr lang="en-US" sz="2800" dirty="0"/>
              <a:t> .</a:t>
            </a:r>
          </a:p>
          <a:p>
            <a:pPr marL="1061719" lvl="2" indent="-302260">
              <a:buFont typeface="Arial"/>
              <a:buChar char="•"/>
            </a:pPr>
            <a:r>
              <a:rPr lang="en-US" sz="2800" dirty="0"/>
              <a:t>Advantages</a:t>
            </a:r>
          </a:p>
          <a:p>
            <a:pPr marL="1518919" lvl="3" indent="-302260">
              <a:buFont typeface="Arial"/>
              <a:buChar char="•"/>
            </a:pPr>
            <a:r>
              <a:rPr lang="en-US" sz="2800" dirty="0"/>
              <a:t>3D printing with user defined optical properties may provide a viable method for durable optically diffusive phantoms for instrument characterization and calibration. </a:t>
            </a:r>
          </a:p>
          <a:p>
            <a:pPr marL="1518919" lvl="3" indent="-302260">
              <a:buFont typeface="Arial"/>
              <a:buChar char="•"/>
            </a:pPr>
            <a:r>
              <a:rPr lang="en-US" sz="2800" dirty="0"/>
              <a:t>Can mitigate the problem of Liquid phantoms and solidified materials often limiting the ability to control the geometry of the final product. </a:t>
            </a:r>
          </a:p>
        </p:txBody>
      </p:sp>
      <p:sp>
        <p:nvSpPr>
          <p:cNvPr id="4" name="TextBox 8">
            <a:extLst>
              <a:ext uri="{FF2B5EF4-FFF2-40B4-BE49-F238E27FC236}">
                <a16:creationId xmlns:a16="http://schemas.microsoft.com/office/drawing/2014/main" id="{E0CE9B2F-2E4D-3C9C-EEEE-BB0A1A3944AE}"/>
              </a:ext>
            </a:extLst>
          </p:cNvPr>
          <p:cNvSpPr txBox="1"/>
          <p:nvPr/>
        </p:nvSpPr>
        <p:spPr>
          <a:xfrm>
            <a:off x="2564400" y="1409700"/>
            <a:ext cx="131592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3988121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5B9E5-6F03-C5A7-6E6C-501FC6C031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0A2214-2187-1704-5421-2384F6C9DBE1}"/>
              </a:ext>
            </a:extLst>
          </p:cNvPr>
          <p:cNvSpPr/>
          <p:nvPr/>
        </p:nvSpPr>
        <p:spPr>
          <a:xfrm>
            <a:off x="0" y="1699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374B1B36-7200-3D36-5D52-40B1FC211118}"/>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9F0EA4C1-6418-32EF-EE7B-C4898F3164C3}"/>
              </a:ext>
            </a:extLst>
          </p:cNvPr>
          <p:cNvSpPr txBox="1"/>
          <p:nvPr/>
        </p:nvSpPr>
        <p:spPr>
          <a:xfrm>
            <a:off x="755816" y="2628122"/>
            <a:ext cx="16541583" cy="2877711"/>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Three-dimensional printed optical phantoms with customized absorption and scattering properties </a:t>
            </a:r>
            <a:endParaRPr lang="en-US" sz="2800" b="1" dirty="0"/>
          </a:p>
          <a:p>
            <a:pPr marL="1061719" lvl="2" indent="-302260">
              <a:buFont typeface="Arial"/>
              <a:buChar char="•"/>
            </a:pPr>
            <a:r>
              <a:rPr lang="en-US" sz="2800" dirty="0"/>
              <a:t>A key step to improving the versatility of 3D printed optical phantoms is the ability to alter the raw materials’ intrinsic optical properties to match that of a know target tissue. </a:t>
            </a:r>
          </a:p>
          <a:p>
            <a:pPr marL="1061719" lvl="2" indent="-302260">
              <a:buFont typeface="Arial"/>
              <a:buChar char="•"/>
            </a:pPr>
            <a:r>
              <a:rPr lang="en-US" sz="2800" dirty="0"/>
              <a:t>The methodology to customized optical phantoms is the addition of absorbing dye, nigrosine, and scattering agent, titanium dioxide TiO</a:t>
            </a:r>
            <a:r>
              <a:rPr lang="en-US" sz="2800" baseline="-25000" dirty="0"/>
              <a:t>2</a:t>
            </a:r>
            <a:r>
              <a:rPr lang="en-US" sz="2800" dirty="0"/>
              <a:t> , prior to extrusion.</a:t>
            </a:r>
          </a:p>
        </p:txBody>
      </p:sp>
      <p:sp>
        <p:nvSpPr>
          <p:cNvPr id="4" name="TextBox 8">
            <a:extLst>
              <a:ext uri="{FF2B5EF4-FFF2-40B4-BE49-F238E27FC236}">
                <a16:creationId xmlns:a16="http://schemas.microsoft.com/office/drawing/2014/main" id="{DA61A5E3-B5FF-D4FC-D1E6-328FBA45CBE5}"/>
              </a:ext>
            </a:extLst>
          </p:cNvPr>
          <p:cNvSpPr txBox="1"/>
          <p:nvPr/>
        </p:nvSpPr>
        <p:spPr>
          <a:xfrm>
            <a:off x="2564400" y="1409700"/>
            <a:ext cx="131592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pic>
        <p:nvPicPr>
          <p:cNvPr id="6" name="Picture 5">
            <a:extLst>
              <a:ext uri="{FF2B5EF4-FFF2-40B4-BE49-F238E27FC236}">
                <a16:creationId xmlns:a16="http://schemas.microsoft.com/office/drawing/2014/main" id="{1245F901-C34A-D8F2-A098-4ED18AFB885E}"/>
              </a:ext>
            </a:extLst>
          </p:cNvPr>
          <p:cNvPicPr>
            <a:picLocks noChangeAspect="1"/>
          </p:cNvPicPr>
          <p:nvPr/>
        </p:nvPicPr>
        <p:blipFill>
          <a:blip r:embed="rId4">
            <a:extLst>
              <a:ext uri="{28A0092B-C50C-407E-A947-70E740481C1C}">
                <a14:useLocalDpi xmlns:a14="http://schemas.microsoft.com/office/drawing/2010/main" val="0"/>
              </a:ext>
            </a:extLst>
          </a:blip>
          <a:srcRect l="17197" t="8227" r="20196" b="58912"/>
          <a:stretch>
            <a:fillRect/>
          </a:stretch>
        </p:blipFill>
        <p:spPr>
          <a:xfrm>
            <a:off x="755816" y="5505832"/>
            <a:ext cx="8552154" cy="3854025"/>
          </a:xfrm>
          <a:prstGeom prst="rect">
            <a:avLst/>
          </a:prstGeom>
        </p:spPr>
      </p:pic>
      <p:pic>
        <p:nvPicPr>
          <p:cNvPr id="7" name="Picture 6">
            <a:extLst>
              <a:ext uri="{FF2B5EF4-FFF2-40B4-BE49-F238E27FC236}">
                <a16:creationId xmlns:a16="http://schemas.microsoft.com/office/drawing/2014/main" id="{310AB9A4-BE73-01F6-9552-A477A8C04822}"/>
              </a:ext>
            </a:extLst>
          </p:cNvPr>
          <p:cNvPicPr>
            <a:picLocks noChangeAspect="1"/>
          </p:cNvPicPr>
          <p:nvPr/>
        </p:nvPicPr>
        <p:blipFill>
          <a:blip r:embed="rId4">
            <a:extLst>
              <a:ext uri="{28A0092B-C50C-407E-A947-70E740481C1C}">
                <a14:useLocalDpi xmlns:a14="http://schemas.microsoft.com/office/drawing/2010/main" val="0"/>
              </a:ext>
            </a:extLst>
          </a:blip>
          <a:srcRect l="12223" t="54402" r="15882" b="1731"/>
          <a:stretch>
            <a:fillRect/>
          </a:stretch>
        </p:blipFill>
        <p:spPr>
          <a:xfrm>
            <a:off x="9307970" y="5502775"/>
            <a:ext cx="8224373" cy="3854025"/>
          </a:xfrm>
          <a:prstGeom prst="rect">
            <a:avLst/>
          </a:prstGeom>
        </p:spPr>
      </p:pic>
      <p:sp>
        <p:nvSpPr>
          <p:cNvPr id="5" name="TextBox 4">
            <a:extLst>
              <a:ext uri="{FF2B5EF4-FFF2-40B4-BE49-F238E27FC236}">
                <a16:creationId xmlns:a16="http://schemas.microsoft.com/office/drawing/2014/main" id="{9D8975FC-98FE-FBE3-E8BF-64FDF6C2207E}"/>
              </a:ext>
            </a:extLst>
          </p:cNvPr>
          <p:cNvSpPr txBox="1"/>
          <p:nvPr/>
        </p:nvSpPr>
        <p:spPr>
          <a:xfrm>
            <a:off x="9736359" y="9356800"/>
            <a:ext cx="7367594" cy="369332"/>
          </a:xfrm>
          <a:prstGeom prst="rect">
            <a:avLst/>
          </a:prstGeom>
          <a:noFill/>
        </p:spPr>
        <p:txBody>
          <a:bodyPr wrap="none" rtlCol="0">
            <a:spAutoFit/>
          </a:bodyPr>
          <a:lstStyle/>
          <a:p>
            <a:r>
              <a:rPr lang="en-US" dirty="0"/>
              <a:t>Table 1: Mean ± standard deviation µ</a:t>
            </a:r>
            <a:r>
              <a:rPr lang="en-US" baseline="-25000" dirty="0"/>
              <a:t>a</a:t>
            </a:r>
            <a:r>
              <a:rPr lang="en-US" dirty="0"/>
              <a:t> and µ</a:t>
            </a:r>
            <a:r>
              <a:rPr lang="en-US" baseline="-25000" dirty="0"/>
              <a:t>s</a:t>
            </a:r>
            <a:r>
              <a:rPr lang="en-US" baseline="30000" dirty="0"/>
              <a:t>’</a:t>
            </a:r>
            <a:r>
              <a:rPr lang="en-US" dirty="0"/>
              <a:t> values for all cubs at 471 nm. </a:t>
            </a:r>
          </a:p>
        </p:txBody>
      </p:sp>
      <p:sp>
        <p:nvSpPr>
          <p:cNvPr id="9" name="TextBox 8">
            <a:extLst>
              <a:ext uri="{FF2B5EF4-FFF2-40B4-BE49-F238E27FC236}">
                <a16:creationId xmlns:a16="http://schemas.microsoft.com/office/drawing/2014/main" id="{9645E7A0-4BAB-2BA1-AF69-F21E5A55960C}"/>
              </a:ext>
            </a:extLst>
          </p:cNvPr>
          <p:cNvSpPr txBox="1"/>
          <p:nvPr/>
        </p:nvSpPr>
        <p:spPr>
          <a:xfrm>
            <a:off x="1818064" y="9334502"/>
            <a:ext cx="6427657" cy="646331"/>
          </a:xfrm>
          <a:prstGeom prst="rect">
            <a:avLst/>
          </a:prstGeom>
          <a:noFill/>
        </p:spPr>
        <p:txBody>
          <a:bodyPr wrap="none" rtlCol="0">
            <a:spAutoFit/>
          </a:bodyPr>
          <a:lstStyle/>
          <a:p>
            <a:pPr algn="ctr"/>
            <a:r>
              <a:rPr lang="en-US" dirty="0"/>
              <a:t>Fig. White light image (left), and SFDI maps of absorption (middle) </a:t>
            </a:r>
          </a:p>
          <a:p>
            <a:pPr algn="ctr"/>
            <a:r>
              <a:rPr lang="en-US" dirty="0"/>
              <a:t>and reduced scattering (right) at 471 nm. </a:t>
            </a:r>
          </a:p>
        </p:txBody>
      </p:sp>
    </p:spTree>
    <p:extLst>
      <p:ext uri="{BB962C8B-B14F-4D97-AF65-F5344CB8AC3E}">
        <p14:creationId xmlns:p14="http://schemas.microsoft.com/office/powerpoint/2010/main" val="308472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E3990-2689-034A-2F99-2471B24CD6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1ADB22-0636-97BB-A164-DFFC3631393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CD361E6-2B70-A923-42A1-A17C34569D65}"/>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F4547801-1DE9-AFCC-3D85-7908B8E86A06}"/>
              </a:ext>
            </a:extLst>
          </p:cNvPr>
          <p:cNvSpPr txBox="1"/>
          <p:nvPr/>
        </p:nvSpPr>
        <p:spPr>
          <a:xfrm>
            <a:off x="755816" y="2095500"/>
            <a:ext cx="16541583" cy="1733680"/>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411B726A-88FF-2707-F088-30DA349B00E1}"/>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pic>
        <p:nvPicPr>
          <p:cNvPr id="11" name="Picture 10">
            <a:extLst>
              <a:ext uri="{FF2B5EF4-FFF2-40B4-BE49-F238E27FC236}">
                <a16:creationId xmlns:a16="http://schemas.microsoft.com/office/drawing/2014/main" id="{B25B5619-E74C-F0DB-442B-4A973440732E}"/>
              </a:ext>
            </a:extLst>
          </p:cNvPr>
          <p:cNvPicPr>
            <a:picLocks noChangeAspect="1"/>
          </p:cNvPicPr>
          <p:nvPr/>
        </p:nvPicPr>
        <p:blipFill>
          <a:blip r:embed="rId4"/>
          <a:stretch>
            <a:fillRect/>
          </a:stretch>
        </p:blipFill>
        <p:spPr>
          <a:xfrm>
            <a:off x="3048000" y="3314700"/>
            <a:ext cx="11967570" cy="4504279"/>
          </a:xfrm>
          <a:prstGeom prst="rect">
            <a:avLst/>
          </a:prstGeom>
        </p:spPr>
      </p:pic>
      <p:sp>
        <p:nvSpPr>
          <p:cNvPr id="5" name="TextBox 4">
            <a:extLst>
              <a:ext uri="{FF2B5EF4-FFF2-40B4-BE49-F238E27FC236}">
                <a16:creationId xmlns:a16="http://schemas.microsoft.com/office/drawing/2014/main" id="{5A9E5A59-3146-81AB-53A5-67AFB6E97D3D}"/>
              </a:ext>
            </a:extLst>
          </p:cNvPr>
          <p:cNvSpPr txBox="1"/>
          <p:nvPr/>
        </p:nvSpPr>
        <p:spPr>
          <a:xfrm>
            <a:off x="3536750" y="7868334"/>
            <a:ext cx="11390298" cy="646331"/>
          </a:xfrm>
          <a:prstGeom prst="rect">
            <a:avLst/>
          </a:prstGeom>
          <a:noFill/>
        </p:spPr>
        <p:txBody>
          <a:bodyPr wrap="none" rtlCol="0">
            <a:spAutoFit/>
          </a:bodyPr>
          <a:lstStyle/>
          <a:p>
            <a:pPr algn="ctr"/>
            <a:r>
              <a:rPr lang="en-US" dirty="0"/>
              <a:t>Fig. Absorption, averaged overall TiO</a:t>
            </a:r>
            <a:r>
              <a:rPr lang="en-US" baseline="-25000" dirty="0"/>
              <a:t>2</a:t>
            </a:r>
            <a:r>
              <a:rPr lang="en-US" dirty="0"/>
              <a:t> concentrations, and reduced scattering, averaged overall nigrosine concentration </a:t>
            </a:r>
          </a:p>
          <a:p>
            <a:pPr algn="ctr"/>
            <a:r>
              <a:rPr lang="en-US" dirty="0"/>
              <a:t>of all 3D printed cubes for 471,526,591,621,659,691,731</a:t>
            </a:r>
          </a:p>
        </p:txBody>
      </p:sp>
      <p:sp>
        <p:nvSpPr>
          <p:cNvPr id="6" name="TextBox 8">
            <a:extLst>
              <a:ext uri="{FF2B5EF4-FFF2-40B4-BE49-F238E27FC236}">
                <a16:creationId xmlns:a16="http://schemas.microsoft.com/office/drawing/2014/main" id="{ED584E2A-4911-A223-263F-D308AD4C8E88}"/>
              </a:ext>
            </a:extLst>
          </p:cNvPr>
          <p:cNvSpPr txBox="1"/>
          <p:nvPr/>
        </p:nvSpPr>
        <p:spPr>
          <a:xfrm>
            <a:off x="1166399" y="8389706"/>
            <a:ext cx="16541583" cy="1872179"/>
          </a:xfrm>
          <a:prstGeom prst="rect">
            <a:avLst/>
          </a:prstGeom>
        </p:spPr>
        <p:txBody>
          <a:bodyPr wrap="square" lIns="0" tIns="0" rIns="0" bIns="0" rtlCol="0" anchor="t">
            <a:spAutoFit/>
          </a:bodyPr>
          <a:lstStyle/>
          <a:p>
            <a:pPr marL="1061719" lvl="2" indent="-302260">
              <a:lnSpc>
                <a:spcPct val="150000"/>
              </a:lnSpc>
              <a:buFont typeface="Arial"/>
              <a:buChar char="•"/>
            </a:pPr>
            <a:r>
              <a:rPr lang="en-US" sz="2800" dirty="0"/>
              <a:t>Absorption coefficient of human bone (µ</a:t>
            </a:r>
            <a:r>
              <a:rPr lang="en-US" sz="2800" baseline="-25000" dirty="0"/>
              <a:t>a</a:t>
            </a:r>
            <a:r>
              <a:rPr lang="en-US" sz="2800" dirty="0"/>
              <a:t>) : 0.01 – 0.05 mm</a:t>
            </a:r>
            <a:r>
              <a:rPr lang="en-US" sz="2800" baseline="30000" dirty="0"/>
              <a:t>-1</a:t>
            </a:r>
            <a:r>
              <a:rPr lang="en-US" sz="2800" dirty="0"/>
              <a:t> </a:t>
            </a:r>
            <a:r>
              <a:rPr lang="en-US" sz="2800" baseline="30000" dirty="0"/>
              <a:t> </a:t>
            </a:r>
            <a:endParaRPr lang="en-US" sz="2800" dirty="0"/>
          </a:p>
          <a:p>
            <a:pPr marL="1061719" lvl="2" indent="-302260">
              <a:lnSpc>
                <a:spcPct val="150000"/>
              </a:lnSpc>
              <a:buFont typeface="Arial"/>
              <a:buChar char="•"/>
            </a:pPr>
            <a:r>
              <a:rPr lang="en-US" sz="2800" dirty="0"/>
              <a:t>Scattering coefficient of human bone (µ</a:t>
            </a:r>
            <a:r>
              <a:rPr lang="en-US" sz="2800" baseline="-25000" dirty="0"/>
              <a:t>a</a:t>
            </a:r>
            <a:r>
              <a:rPr lang="en-US" sz="2800" dirty="0"/>
              <a:t>) : 20 – 45 mm</a:t>
            </a:r>
            <a:r>
              <a:rPr lang="en-US" sz="2800" baseline="30000" dirty="0"/>
              <a:t>-1</a:t>
            </a:r>
            <a:endParaRPr lang="en-US" sz="2800" dirty="0"/>
          </a:p>
          <a:p>
            <a:pPr marL="1061719" lvl="2" indent="-302260">
              <a:lnSpc>
                <a:spcPct val="150000"/>
              </a:lnSpc>
              <a:buFont typeface="Arial"/>
              <a:buChar char="•"/>
            </a:pPr>
            <a:r>
              <a:rPr lang="en-US" sz="2800" dirty="0"/>
              <a:t>Reduced Scattering coefficient of human bone (µ</a:t>
            </a:r>
            <a:r>
              <a:rPr lang="en-US" sz="2800" baseline="-25000" dirty="0"/>
              <a:t>a</a:t>
            </a:r>
            <a:r>
              <a:rPr lang="en-US" sz="2800" dirty="0"/>
              <a:t>) : 2.0 – 4.5 mm</a:t>
            </a:r>
            <a:r>
              <a:rPr lang="en-US" sz="2800" baseline="30000" dirty="0"/>
              <a:t>-1</a:t>
            </a:r>
            <a:r>
              <a:rPr lang="en-US" sz="2800" dirty="0"/>
              <a:t> </a:t>
            </a:r>
          </a:p>
        </p:txBody>
      </p:sp>
    </p:spTree>
    <p:extLst>
      <p:ext uri="{BB962C8B-B14F-4D97-AF65-F5344CB8AC3E}">
        <p14:creationId xmlns:p14="http://schemas.microsoft.com/office/powerpoint/2010/main" val="322575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1D04-9CCF-146F-C321-33F2DD154E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286A03-931C-6A52-F713-4E9ED8084128}"/>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AFE063C8-5ACB-1038-7E81-27E5A93F49DC}"/>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531680C-AA6F-52D5-EA77-14C71C3D7C1C}"/>
              </a:ext>
            </a:extLst>
          </p:cNvPr>
          <p:cNvSpPr txBox="1"/>
          <p:nvPr/>
        </p:nvSpPr>
        <p:spPr>
          <a:xfrm>
            <a:off x="755816" y="2077689"/>
            <a:ext cx="16541583" cy="7927683"/>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Co-extruding a mixture of commercially available natural color ABS pellets with custom absorption and scattering ABS “chips”. (combining ABS with either nigrosine and TiO</a:t>
            </a:r>
            <a:r>
              <a:rPr lang="en-US" sz="2800" baseline="-25000" dirty="0"/>
              <a:t>2</a:t>
            </a:r>
            <a:r>
              <a:rPr lang="en-US" sz="2800" dirty="0"/>
              <a:t>)</a:t>
            </a:r>
          </a:p>
          <a:p>
            <a:pPr marL="1061719" lvl="2" indent="-302260">
              <a:lnSpc>
                <a:spcPct val="200000"/>
              </a:lnSpc>
              <a:buFont typeface="Arial"/>
              <a:buChar char="•"/>
            </a:pPr>
            <a:r>
              <a:rPr lang="en-US" sz="2800" dirty="0"/>
              <a:t>Fabrication of TiO</a:t>
            </a:r>
            <a:r>
              <a:rPr lang="en-US" sz="2800" baseline="-25000" dirty="0"/>
              <a:t>2</a:t>
            </a:r>
            <a:r>
              <a:rPr lang="en-US" sz="2800" dirty="0"/>
              <a:t> chip consisted with dissolving the 20g of ABS in 50 ml of acetone for at least 12 hours. 0.2 g of TiO</a:t>
            </a:r>
            <a:r>
              <a:rPr lang="en-US" sz="2800" baseline="-25000" dirty="0"/>
              <a:t>2</a:t>
            </a:r>
            <a:r>
              <a:rPr lang="en-US" sz="2800" dirty="0"/>
              <a:t> was mixed with 1000 µl of water and sonicated for 10 minutes. After that add to the ABS solution. The mixture was then poured into a 21x21 cm pan to a layer thickness of 1.5 mm and vacuumed to remove air bubbles. The pan consisting of ABS/TiO</a:t>
            </a:r>
            <a:r>
              <a:rPr lang="en-US" sz="2800" baseline="-25000" dirty="0"/>
              <a:t>2</a:t>
            </a:r>
            <a:r>
              <a:rPr lang="en-US" sz="2800" dirty="0"/>
              <a:t> solution were left in the 40 kPa vacuum overnight to dry and solidify. Once it is solidified the thin sheet is cut into 2 x 2 mm dimension.</a:t>
            </a:r>
          </a:p>
        </p:txBody>
      </p:sp>
      <p:sp>
        <p:nvSpPr>
          <p:cNvPr id="4" name="TextBox 8">
            <a:extLst>
              <a:ext uri="{FF2B5EF4-FFF2-40B4-BE49-F238E27FC236}">
                <a16:creationId xmlns:a16="http://schemas.microsoft.com/office/drawing/2014/main" id="{372D253F-403E-D303-D696-C5B4A21E9F2E}"/>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3982888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7BAB-1595-D074-3569-9A2C392BB5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11B5CC-0B37-C6FF-12E5-B1CEB1CF18D0}"/>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9F6FC8C1-40B0-5033-C78E-C1FD315C4E5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10E7EF2-7520-9DA7-75F5-9759225F08C4}"/>
              </a:ext>
            </a:extLst>
          </p:cNvPr>
          <p:cNvSpPr txBox="1"/>
          <p:nvPr/>
        </p:nvSpPr>
        <p:spPr>
          <a:xfrm>
            <a:off x="755816" y="2077689"/>
            <a:ext cx="16541583" cy="6204134"/>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The nigrosine chips were also created using the same protocol described above by using the 0.02g of nigrosine and 800 µl of water. </a:t>
            </a:r>
          </a:p>
          <a:p>
            <a:pPr marL="1061719" lvl="2" indent="-302260">
              <a:lnSpc>
                <a:spcPct val="200000"/>
              </a:lnSpc>
              <a:buFont typeface="Arial"/>
              <a:buChar char="•"/>
            </a:pPr>
            <a:r>
              <a:rPr lang="en-US" sz="2800" dirty="0" err="1"/>
              <a:t>Nigrosin</a:t>
            </a:r>
            <a:r>
              <a:rPr lang="en-US" sz="2800" dirty="0"/>
              <a:t> and TiO</a:t>
            </a:r>
            <a:r>
              <a:rPr lang="en-US" sz="2800" baseline="-25000" dirty="0"/>
              <a:t>2</a:t>
            </a:r>
            <a:r>
              <a:rPr lang="en-US" sz="2800" dirty="0"/>
              <a:t> chips were mixed together prior to extrusion in the desired mass ratio and added to the hopper throughout the extrusion process to provide a more homogeneous filament product. </a:t>
            </a:r>
          </a:p>
          <a:p>
            <a:pPr marL="1061719" lvl="2" indent="-302260">
              <a:lnSpc>
                <a:spcPct val="200000"/>
              </a:lnSpc>
              <a:buFont typeface="Arial"/>
              <a:buChar char="•"/>
            </a:pPr>
            <a:r>
              <a:rPr lang="en-US" sz="2800" dirty="0"/>
              <a:t>30 g batch of raw ABS pellets and chips yielded approximately two 2x2x2 cm 3D printed cubes.</a:t>
            </a:r>
          </a:p>
        </p:txBody>
      </p:sp>
      <p:sp>
        <p:nvSpPr>
          <p:cNvPr id="4" name="TextBox 8">
            <a:extLst>
              <a:ext uri="{FF2B5EF4-FFF2-40B4-BE49-F238E27FC236}">
                <a16:creationId xmlns:a16="http://schemas.microsoft.com/office/drawing/2014/main" id="{BD4AD8D4-8D55-2C74-7085-914FA1CD04A0}"/>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612317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92C40-41DB-8875-0F7E-80AA59C58B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4AFCEC-555F-C0DA-414C-A29F2FBBA5B8}"/>
              </a:ext>
            </a:extLst>
          </p:cNvPr>
          <p:cNvSpPr/>
          <p:nvPr/>
        </p:nvSpPr>
        <p:spPr>
          <a:xfrm>
            <a:off x="-2540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0FF0001-1672-FAC7-0AD7-194F2E51E71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3D628DA6-C940-AB65-56BA-65D5CA8F56D1}"/>
              </a:ext>
            </a:extLst>
          </p:cNvPr>
          <p:cNvSpPr txBox="1"/>
          <p:nvPr/>
        </p:nvSpPr>
        <p:spPr>
          <a:xfrm>
            <a:off x="755817" y="2628122"/>
            <a:ext cx="10521784" cy="6396495"/>
          </a:xfrm>
          <a:prstGeom prst="rect">
            <a:avLst/>
          </a:prstGeom>
        </p:spPr>
        <p:txBody>
          <a:bodyPr wrap="square" lIns="0" tIns="0" rIns="0" bIns="0" rtlCol="0" anchor="t">
            <a:spAutoFit/>
          </a:bodyPr>
          <a:lstStyle/>
          <a:p>
            <a:pPr marL="604519" lvl="1" indent="-302260">
              <a:lnSpc>
                <a:spcPct val="150000"/>
              </a:lnSpc>
              <a:buFont typeface="Arial"/>
              <a:buChar char="•"/>
            </a:pPr>
            <a:r>
              <a:rPr lang="en-US" sz="2800" dirty="0"/>
              <a:t>In this study, the ultimate tensile strength was modified by blending different ratio of PLA and PCL resulting in an optimum value of approximately 30 MPa when the ratio of PLA to PCL reached 3:1.</a:t>
            </a:r>
          </a:p>
          <a:p>
            <a:pPr marL="604519" lvl="1" indent="-302260">
              <a:lnSpc>
                <a:spcPct val="150000"/>
              </a:lnSpc>
              <a:buFont typeface="Arial"/>
              <a:buChar char="•"/>
            </a:pPr>
            <a:r>
              <a:rPr lang="en-US" sz="2800" dirty="0"/>
              <a:t>It is observed that the addition of 1% TiO</a:t>
            </a:r>
            <a:r>
              <a:rPr lang="en-US" sz="2800" baseline="-25000" dirty="0"/>
              <a:t>2</a:t>
            </a:r>
            <a:r>
              <a:rPr lang="en-US" sz="2800" dirty="0"/>
              <a:t> to the immiscible PLA/PCL composite increase in the tensile strength up to 37 MPa. </a:t>
            </a:r>
          </a:p>
          <a:p>
            <a:pPr marL="604519" lvl="1" indent="-302260">
              <a:lnSpc>
                <a:spcPct val="150000"/>
              </a:lnSpc>
              <a:buFont typeface="Arial"/>
              <a:buChar char="•"/>
            </a:pPr>
            <a:r>
              <a:rPr lang="en-US" sz="2800" dirty="0"/>
              <a:t>Upon examining the biocompatibility of PLA/PCL/TiO</a:t>
            </a:r>
            <a:r>
              <a:rPr lang="en-US" sz="2800" baseline="-25000" dirty="0"/>
              <a:t>2</a:t>
            </a:r>
            <a:r>
              <a:rPr lang="en-US" sz="2800" dirty="0"/>
              <a:t> composite, vigorous cell growth was observed.</a:t>
            </a:r>
          </a:p>
          <a:p>
            <a:pPr marL="604519" lvl="1" indent="-302260">
              <a:lnSpc>
                <a:spcPct val="150000"/>
              </a:lnSpc>
              <a:buFont typeface="Arial"/>
              <a:buChar char="•"/>
            </a:pPr>
            <a:r>
              <a:rPr lang="en-US" sz="2800" dirty="0"/>
              <a:t>The final composite has a comparable mechanical strength of the ideal cancellous bone structure. </a:t>
            </a:r>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7374A03E-59A6-2109-6D7D-BEE03F60CBF2}"/>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pic>
        <p:nvPicPr>
          <p:cNvPr id="6" name="Picture 5">
            <a:extLst>
              <a:ext uri="{FF2B5EF4-FFF2-40B4-BE49-F238E27FC236}">
                <a16:creationId xmlns:a16="http://schemas.microsoft.com/office/drawing/2014/main" id="{632D3533-861A-B11B-6EF0-C1A309BDE739}"/>
              </a:ext>
            </a:extLst>
          </p:cNvPr>
          <p:cNvPicPr>
            <a:picLocks noChangeAspect="1"/>
          </p:cNvPicPr>
          <p:nvPr/>
        </p:nvPicPr>
        <p:blipFill>
          <a:blip r:embed="rId4"/>
          <a:stretch>
            <a:fillRect/>
          </a:stretch>
        </p:blipFill>
        <p:spPr>
          <a:xfrm>
            <a:off x="11582400" y="3522828"/>
            <a:ext cx="6063792" cy="3241344"/>
          </a:xfrm>
          <a:prstGeom prst="rect">
            <a:avLst/>
          </a:prstGeom>
        </p:spPr>
      </p:pic>
      <p:sp>
        <p:nvSpPr>
          <p:cNvPr id="7" name="TextBox 6">
            <a:extLst>
              <a:ext uri="{FF2B5EF4-FFF2-40B4-BE49-F238E27FC236}">
                <a16:creationId xmlns:a16="http://schemas.microsoft.com/office/drawing/2014/main" id="{B6076C74-4228-3261-F17A-3E321DDBAB77}"/>
              </a:ext>
            </a:extLst>
          </p:cNvPr>
          <p:cNvSpPr txBox="1"/>
          <p:nvPr/>
        </p:nvSpPr>
        <p:spPr>
          <a:xfrm>
            <a:off x="11166749" y="6819900"/>
            <a:ext cx="6895093" cy="369332"/>
          </a:xfrm>
          <a:prstGeom prst="rect">
            <a:avLst/>
          </a:prstGeom>
          <a:noFill/>
        </p:spPr>
        <p:txBody>
          <a:bodyPr wrap="none" rtlCol="0">
            <a:spAutoFit/>
          </a:bodyPr>
          <a:lstStyle/>
          <a:p>
            <a:r>
              <a:rPr lang="en-US" dirty="0"/>
              <a:t>Fig. 3D printed model of cancellous bone with PLA/PCL/TiO</a:t>
            </a:r>
            <a:r>
              <a:rPr lang="en-US" baseline="-25000" dirty="0"/>
              <a:t>2</a:t>
            </a:r>
            <a:r>
              <a:rPr lang="en-US" dirty="0"/>
              <a:t> composite </a:t>
            </a:r>
          </a:p>
        </p:txBody>
      </p:sp>
    </p:spTree>
    <p:extLst>
      <p:ext uri="{BB962C8B-B14F-4D97-AF65-F5344CB8AC3E}">
        <p14:creationId xmlns:p14="http://schemas.microsoft.com/office/powerpoint/2010/main" val="1911177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4F030-8B8C-7593-2081-F29F82D74E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9449CE-BA7E-F640-4EC2-BD3DA5AEB5BA}"/>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B11A27D-1A8D-2021-ABE0-1F6F0845E8B0}"/>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1D9C380-7D62-1E80-B927-E996FF6E0510}"/>
              </a:ext>
            </a:extLst>
          </p:cNvPr>
          <p:cNvSpPr txBox="1"/>
          <p:nvPr/>
        </p:nvSpPr>
        <p:spPr>
          <a:xfrm>
            <a:off x="755816" y="2354472"/>
            <a:ext cx="16541583" cy="7635295"/>
          </a:xfrm>
          <a:prstGeom prst="rect">
            <a:avLst/>
          </a:prstGeom>
        </p:spPr>
        <p:txBody>
          <a:bodyPr wrap="square" lIns="0" tIns="0" rIns="0" bIns="0" rtlCol="0" anchor="t">
            <a:spAutoFit/>
          </a:bodyPr>
          <a:lstStyle/>
          <a:p>
            <a:pPr marL="604519" lvl="1" indent="-302260">
              <a:lnSpc>
                <a:spcPct val="200000"/>
              </a:lnSpc>
              <a:buFont typeface="Arial"/>
              <a:buChar char="•"/>
            </a:pPr>
            <a:r>
              <a:rPr lang="en-US" sz="2800" dirty="0"/>
              <a:t>PLA is cheaper option to make the bone graft as the process of grafting is expensive using metal is expensive, and it can reduce the problems related to metal’s higher strength (stress shielding) and toxicity. </a:t>
            </a:r>
          </a:p>
          <a:p>
            <a:pPr marL="604519" lvl="1" indent="-302260">
              <a:lnSpc>
                <a:spcPct val="200000"/>
              </a:lnSpc>
              <a:buFont typeface="Arial"/>
              <a:buChar char="•"/>
            </a:pPr>
            <a:r>
              <a:rPr lang="en-US" sz="2800" dirty="0"/>
              <a:t>As PLA and PCL are synthetic biodegradable thermoplastic polymer, it is compatible to use with human body  and  TiO</a:t>
            </a:r>
            <a:r>
              <a:rPr lang="en-US" sz="2800" baseline="-25000" dirty="0"/>
              <a:t>2</a:t>
            </a:r>
            <a:r>
              <a:rPr lang="en-US" sz="2800" dirty="0"/>
              <a:t> is an inorganic particle exhibiting suitable biocompatibility and it is well-known for non-toxic depending on size of the particle and condition of aggregation.</a:t>
            </a:r>
          </a:p>
          <a:p>
            <a:pPr marL="604519" lvl="1" indent="-302260">
              <a:lnSpc>
                <a:spcPct val="200000"/>
              </a:lnSpc>
              <a:buFont typeface="Arial"/>
              <a:buChar char="•"/>
            </a:pPr>
            <a:r>
              <a:rPr lang="en-US" sz="2800" dirty="0"/>
              <a:t>The Materials used in the study are as followed:</a:t>
            </a:r>
          </a:p>
          <a:p>
            <a:pPr marL="1061719" lvl="2" indent="-302260">
              <a:lnSpc>
                <a:spcPct val="200000"/>
              </a:lnSpc>
              <a:buFont typeface="Arial"/>
              <a:buChar char="•"/>
            </a:pPr>
            <a:r>
              <a:rPr lang="en-US" sz="2800" dirty="0"/>
              <a:t>The Polylactic acid (PLA) was a commercial grade with density of 1.24 g/cc.</a:t>
            </a:r>
          </a:p>
          <a:p>
            <a:pPr marL="1061719" lvl="2" indent="-302260">
              <a:lnSpc>
                <a:spcPct val="200000"/>
              </a:lnSpc>
              <a:buFont typeface="Arial"/>
              <a:buChar char="•"/>
            </a:pPr>
            <a:r>
              <a:rPr lang="en-US" sz="2800" dirty="0"/>
              <a:t>The Polycaprolactone (PLC) has a density of 1.15 g/cc.</a:t>
            </a:r>
          </a:p>
          <a:p>
            <a:pPr marL="1061719" lvl="2" indent="-302260">
              <a:lnSpc>
                <a:spcPct val="200000"/>
              </a:lnSpc>
              <a:buFont typeface="Arial"/>
              <a:buChar char="•"/>
            </a:pPr>
            <a:r>
              <a:rPr lang="en-US" sz="2800" dirty="0"/>
              <a:t>TiO</a:t>
            </a:r>
            <a:r>
              <a:rPr lang="en-US" sz="2800" baseline="-25000" dirty="0"/>
              <a:t>2</a:t>
            </a:r>
            <a:r>
              <a:rPr lang="en-US" sz="2800" dirty="0"/>
              <a:t> has a density of 4.26 g/cc.</a:t>
            </a:r>
          </a:p>
        </p:txBody>
      </p:sp>
      <p:sp>
        <p:nvSpPr>
          <p:cNvPr id="4" name="TextBox 8">
            <a:extLst>
              <a:ext uri="{FF2B5EF4-FFF2-40B4-BE49-F238E27FC236}">
                <a16:creationId xmlns:a16="http://schemas.microsoft.com/office/drawing/2014/main" id="{CBBD909E-6B53-A9B8-519F-D9F0B905D36C}"/>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spTree>
    <p:extLst>
      <p:ext uri="{BB962C8B-B14F-4D97-AF65-F5344CB8AC3E}">
        <p14:creationId xmlns:p14="http://schemas.microsoft.com/office/powerpoint/2010/main" val="1871180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2A10E-1F7F-135A-2C62-77F48C616F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F05636-99C1-D522-480C-1F64EC8C410A}"/>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6F07FEB4-AA58-AF15-BF9F-A96AF2BD0822}"/>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738FAFE8-0C7F-3E27-21B0-6E0469AD4C1D}"/>
              </a:ext>
            </a:extLst>
          </p:cNvPr>
          <p:cNvSpPr txBox="1"/>
          <p:nvPr/>
        </p:nvSpPr>
        <p:spPr>
          <a:xfrm>
            <a:off x="755816" y="2628122"/>
            <a:ext cx="16541583" cy="7258269"/>
          </a:xfrm>
          <a:prstGeom prst="rect">
            <a:avLst/>
          </a:prstGeom>
        </p:spPr>
        <p:txBody>
          <a:bodyPr wrap="square" lIns="0" tIns="0" rIns="0" bIns="0" rtlCol="0" anchor="t">
            <a:spAutoFit/>
          </a:bodyPr>
          <a:lstStyle/>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To make the filament, a blend was prepared to make pellets with the desired composition.</a:t>
            </a:r>
          </a:p>
          <a:p>
            <a:pPr marL="1061719" lvl="2" indent="-302260">
              <a:lnSpc>
                <a:spcPct val="200000"/>
              </a:lnSpc>
              <a:buFont typeface="Arial"/>
              <a:buChar char="•"/>
            </a:pPr>
            <a:r>
              <a:rPr lang="en-US" sz="2800" dirty="0"/>
              <a:t>The first blends made were a mixture of PLA/PCL with different composition (75/25, 50/50, 25/75 </a:t>
            </a:r>
            <a:r>
              <a:rPr lang="en-US" sz="2800" dirty="0" err="1"/>
              <a:t>wt</a:t>
            </a:r>
            <a:r>
              <a:rPr lang="en-US" sz="2800" dirty="0"/>
              <a:t>%).</a:t>
            </a:r>
          </a:p>
          <a:p>
            <a:pPr marL="1061719" lvl="2" indent="-302260">
              <a:lnSpc>
                <a:spcPct val="200000"/>
              </a:lnSpc>
              <a:buFont typeface="Arial"/>
              <a:buChar char="•"/>
            </a:pPr>
            <a:r>
              <a:rPr lang="en-US" sz="2800" dirty="0"/>
              <a:t>The mixing process starts by first melting the corresponding amount of PLA due to its higher melting point. PCL is then added and when the blend is uniformly mixed, the filler is added and stirred until a homogeneous mixture is achieved.</a:t>
            </a:r>
          </a:p>
          <a:p>
            <a:pPr marL="1061719" lvl="2" indent="-302260">
              <a:lnSpc>
                <a:spcPct val="200000"/>
              </a:lnSpc>
              <a:buFont typeface="Arial"/>
              <a:buChar char="•"/>
            </a:pPr>
            <a:r>
              <a:rPr lang="en-US" sz="2800" dirty="0"/>
              <a:t>The blend of the PLA/PCL 75/25 </a:t>
            </a:r>
            <a:r>
              <a:rPr lang="en-US" sz="2800" dirty="0" err="1"/>
              <a:t>wt</a:t>
            </a:r>
            <a:r>
              <a:rPr lang="en-US" sz="2800" dirty="0"/>
              <a:t>% showed the best characteristics and add the 1 </a:t>
            </a:r>
            <a:r>
              <a:rPr lang="en-US" sz="2800" dirty="0" err="1"/>
              <a:t>wt</a:t>
            </a:r>
            <a:r>
              <a:rPr lang="en-US" sz="2800" dirty="0"/>
              <a:t>% TiO</a:t>
            </a:r>
            <a:r>
              <a:rPr lang="en-US" sz="2800" baseline="-25000" dirty="0"/>
              <a:t>2</a:t>
            </a:r>
            <a:r>
              <a:rPr lang="en-US" sz="2800" dirty="0"/>
              <a:t> to the ratio.</a:t>
            </a:r>
          </a:p>
          <a:p>
            <a:pPr marL="1061719" lvl="2" indent="-302260">
              <a:lnSpc>
                <a:spcPct val="150000"/>
              </a:lnSpc>
              <a:buFont typeface="Arial"/>
              <a:buChar char="•"/>
            </a:pPr>
            <a:endParaRPr lang="en-US" sz="2800" dirty="0"/>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D636A16E-3195-BC33-6409-ABC83E263FAC}"/>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spTree>
    <p:extLst>
      <p:ext uri="{BB962C8B-B14F-4D97-AF65-F5344CB8AC3E}">
        <p14:creationId xmlns:p14="http://schemas.microsoft.com/office/powerpoint/2010/main" val="1680086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lvl="0" algn="ctr">
              <a:lnSpc>
                <a:spcPts val="2239"/>
              </a:lnSpc>
              <a:spcBef>
                <a:spcPct val="0"/>
              </a:spcBef>
            </a:pPr>
            <a:r>
              <a:rPr lang="en-US" sz="1599" spc="159" dirty="0">
                <a:solidFill>
                  <a:srgbClr val="000000">
                    <a:alpha val="49804"/>
                  </a:srgbClr>
                </a:solidFill>
                <a:latin typeface="Open Sauce"/>
                <a:ea typeface="Open Sauce"/>
                <a:cs typeface="Open Sauce"/>
                <a:sym typeface="Open Sauce"/>
              </a:rPr>
              <a:t>2415121095</a:t>
            </a:r>
            <a:endParaRPr lang="en-US" sz="1599" u="none" strike="noStrike" spc="159" dirty="0">
              <a:solidFill>
                <a:srgbClr val="000000">
                  <a:alpha val="49804"/>
                </a:srgbClr>
              </a:solidFill>
              <a:latin typeface="Open Sauce"/>
              <a:ea typeface="Open Sauce"/>
              <a:cs typeface="Open Sauce"/>
              <a:sym typeface="Open Sau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7154</TotalTime>
  <Words>1767</Words>
  <Application>Microsoft Office PowerPoint</Application>
  <PresentationFormat>Custom</PresentationFormat>
  <Paragraphs>175</Paragraphs>
  <Slides>18</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Times New Roman</vt:lpstr>
      <vt:lpstr>Cambria Math</vt:lpstr>
      <vt:lpstr>Calibri</vt:lpstr>
      <vt:lpstr>DM Serif Display</vt:lpstr>
      <vt:lpstr>Open Sauce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Minimalist Pitch Deck Marketing Presentation</dc:title>
  <dc:creator>LUCUS</dc:creator>
  <cp:lastModifiedBy>THU TA ZAW</cp:lastModifiedBy>
  <cp:revision>569</cp:revision>
  <dcterms:created xsi:type="dcterms:W3CDTF">2006-08-16T00:00:00Z</dcterms:created>
  <dcterms:modified xsi:type="dcterms:W3CDTF">2026-04-14T03:53:32Z</dcterms:modified>
  <dc:identifier>DAG0bfrM1o8</dc:identifier>
</cp:coreProperties>
</file>