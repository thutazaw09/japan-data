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855" r:id="rId3"/>
    <p:sldId id="864" r:id="rId4"/>
    <p:sldId id="865" r:id="rId5"/>
    <p:sldId id="867" r:id="rId6"/>
    <p:sldId id="866" r:id="rId7"/>
    <p:sldId id="868" r:id="rId8"/>
    <p:sldId id="858" r:id="rId9"/>
    <p:sldId id="869" r:id="rId10"/>
    <p:sldId id="870" r:id="rId11"/>
    <p:sldId id="872" r:id="rId12"/>
    <p:sldId id="871" r:id="rId13"/>
    <p:sldId id="267" r:id="rId14"/>
  </p:sldIdLst>
  <p:sldSz cx="18288000" cy="10287000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DM Serif Display" pitchFamily="2" charset="0"/>
      <p:regular r:id="rId17"/>
      <p:italic r:id="rId18"/>
    </p:embeddedFont>
    <p:embeddedFont>
      <p:font typeface="Open Sauce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8" autoAdjust="0"/>
    <p:restoredTop sz="90843" autoAdjust="0"/>
  </p:normalViewPr>
  <p:slideViewPr>
    <p:cSldViewPr>
      <p:cViewPr>
        <p:scale>
          <a:sx n="75" d="100"/>
          <a:sy n="75" d="100"/>
        </p:scale>
        <p:origin x="840" y="-3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22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7FA8E-7403-6713-1B5B-E4A7DE364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14FAE-9564-1C20-7AE5-5870F2DB5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860CA-F82F-071C-FB93-F9516FFAD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0B7AB-A42E-C1A4-2BF3-C1C9DADE4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11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DD255-C24F-9601-0825-4C54500A8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A49C3-605E-8208-340E-35906CAC3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A633D-1E27-03C1-DA1E-5570BC067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56BB5-C0EC-BA2A-A6C4-A3B3AF2AD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88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56B7C-EC52-0775-BC35-52D18A6F0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5DA95-3D8C-D736-571B-BBBEAA2AB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9623B-086D-A6D5-4AF4-AF38966C8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3CF4C-9AAA-CC6F-B46F-95FCD0E59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00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039A-5CE4-1F74-94BD-E1451389F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FED15-EBE4-748A-63FD-5118289CA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0BDC21-878A-B391-E774-2B5577C81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913DE-7DB1-CCAC-EB89-DF6A8806B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06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0BD5-6817-CEA5-826D-66D6686C6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F2A7F-BE29-1972-27DB-B4C1E68F1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ED30E-3B83-E27E-BCD4-97F675561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A1423-CC3D-B9AA-8F96-37F13679B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57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62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62777-5A3E-D5AA-53DF-0A7F3B7D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642D6-EBC6-7D80-EC90-B204B9930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350AF-D657-9613-38CE-46C32A9A6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97D87-69E2-0456-3559-9B38CF656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6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C1E13-9984-4D0D-38A0-59AFFB320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E596A-D449-9FAC-FB0E-EBBC752A3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8E5DF-D859-45F6-67C3-25489372A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69862-AF7D-47D3-23B6-2FBD0A810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41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9807D-7B43-0855-E2A9-B30CB29D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B9480-4414-8AEE-670E-F475556AC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F9F29-F098-905C-6863-747207C1B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9B06A-62D1-0F7E-3E25-3C32D58AC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72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56002-A6FE-76F8-8CBC-DE02756F8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FABE6-F46E-AF1B-17A5-E99BE3739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B3CFA-F14C-58F9-87AA-DAF62A55F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16D03-ED1A-D35B-2D3E-CA80395AA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41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613987" y="2765510"/>
            <a:ext cx="13060024" cy="239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20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XII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6524761" y="4871022"/>
            <a:ext cx="5238476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Bone Tissue Phantom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CF42FA-AD96-6718-B5FF-6A0BFF7AD7F8}"/>
              </a:ext>
            </a:extLst>
          </p:cNvPr>
          <p:cNvGrpSpPr/>
          <p:nvPr/>
        </p:nvGrpSpPr>
        <p:grpSpPr>
          <a:xfrm>
            <a:off x="13826319" y="0"/>
            <a:ext cx="4461681" cy="2019300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069B459-3DF4-5F50-9704-697C705997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5554D7E3-09F1-F888-8561-58B8ED11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340E6-F137-541C-F916-745AE06C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E53134-61EA-1308-EB39-195CBF773176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655B773-C102-1041-A48C-9E42DEA5AEAA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B589B05-F4B7-A961-9B60-8E2C68915FC9}"/>
              </a:ext>
            </a:extLst>
          </p:cNvPr>
          <p:cNvSpPr txBox="1"/>
          <p:nvPr/>
        </p:nvSpPr>
        <p:spPr>
          <a:xfrm>
            <a:off x="755816" y="2628122"/>
            <a:ext cx="16541583" cy="1238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Advantages of Inverse-Adding Doubling Method</a:t>
            </a:r>
            <a:endParaRPr lang="en-US" sz="4000" b="1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IAD combines near-Monte-Carlo accuracy with computational efficiency, without the validity limits of diffusion methods.</a:t>
            </a:r>
            <a:endParaRPr lang="en-US" sz="2500" dirty="0">
              <a:highlight>
                <a:srgbClr val="FFFF00"/>
              </a:highligh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EAC08C11-B3CC-D2FF-8195-D1C7C3D027E0}"/>
              </a:ext>
            </a:extLst>
          </p:cNvPr>
          <p:cNvSpPr txBox="1"/>
          <p:nvPr/>
        </p:nvSpPr>
        <p:spPr>
          <a:xfrm>
            <a:off x="5024701" y="1521821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Simulations 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952B279-4BE8-0147-8B62-56735FE4B2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5224909"/>
                  </p:ext>
                </p:extLst>
              </p:nvPr>
            </p:nvGraphicFramePr>
            <p:xfrm>
              <a:off x="1166399" y="4030980"/>
              <a:ext cx="16131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32750">
                      <a:extLst>
                        <a:ext uri="{9D8B030D-6E8A-4147-A177-3AD203B41FA5}">
                          <a16:colId xmlns:a16="http://schemas.microsoft.com/office/drawing/2014/main" val="3817815910"/>
                        </a:ext>
                      </a:extLst>
                    </a:gridCol>
                    <a:gridCol w="4032750">
                      <a:extLst>
                        <a:ext uri="{9D8B030D-6E8A-4147-A177-3AD203B41FA5}">
                          <a16:colId xmlns:a16="http://schemas.microsoft.com/office/drawing/2014/main" val="3459366215"/>
                        </a:ext>
                      </a:extLst>
                    </a:gridCol>
                    <a:gridCol w="4032750">
                      <a:extLst>
                        <a:ext uri="{9D8B030D-6E8A-4147-A177-3AD203B41FA5}">
                          <a16:colId xmlns:a16="http://schemas.microsoft.com/office/drawing/2014/main" val="3345668439"/>
                        </a:ext>
                      </a:extLst>
                    </a:gridCol>
                    <a:gridCol w="4032750">
                      <a:extLst>
                        <a:ext uri="{9D8B030D-6E8A-4147-A177-3AD203B41FA5}">
                          <a16:colId xmlns:a16="http://schemas.microsoft.com/office/drawing/2014/main" val="605163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Aspects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Inverse Adding Doubling (IAD)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Diffusion Approximation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Monte Carlo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1130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Computational Cost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Low-Moderate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Very 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Very High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49619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Validity when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Accurate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Invalid with large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Accurate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89739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Anisotropic scattering 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≈0.8−0.95)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Explicitly modeled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Poorly Approximated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Accurate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86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Thin to intermediate samples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Often invalid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Valid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1186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Refractive-index mismatch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Exact Fresnel handling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Usually neglected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Accurate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5015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Numerical noise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None (deterministic)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Statistical nose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9446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intrinsic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2−3%</m:t>
                              </m:r>
                            </m:oMath>
                          </a14:m>
                          <a:r>
                            <a:rPr lang="en-US" dirty="0"/>
                            <a:t>(4</a:t>
                          </a:r>
                          <a:r>
                            <a:rPr lang="en-US" baseline="0" dirty="0"/>
                            <a:t> quadrature points)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Large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Decrease with photons count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4541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Practical use in experiments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Limited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Validation only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1134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952B279-4BE8-0147-8B62-56735FE4B2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5224909"/>
                  </p:ext>
                </p:extLst>
              </p:nvPr>
            </p:nvGraphicFramePr>
            <p:xfrm>
              <a:off x="1166399" y="4030980"/>
              <a:ext cx="16131000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32750">
                      <a:extLst>
                        <a:ext uri="{9D8B030D-6E8A-4147-A177-3AD203B41FA5}">
                          <a16:colId xmlns:a16="http://schemas.microsoft.com/office/drawing/2014/main" val="3817815910"/>
                        </a:ext>
                      </a:extLst>
                    </a:gridCol>
                    <a:gridCol w="4032750">
                      <a:extLst>
                        <a:ext uri="{9D8B030D-6E8A-4147-A177-3AD203B41FA5}">
                          <a16:colId xmlns:a16="http://schemas.microsoft.com/office/drawing/2014/main" val="3459366215"/>
                        </a:ext>
                      </a:extLst>
                    </a:gridCol>
                    <a:gridCol w="4032750">
                      <a:extLst>
                        <a:ext uri="{9D8B030D-6E8A-4147-A177-3AD203B41FA5}">
                          <a16:colId xmlns:a16="http://schemas.microsoft.com/office/drawing/2014/main" val="3345668439"/>
                        </a:ext>
                      </a:extLst>
                    </a:gridCol>
                    <a:gridCol w="4032750">
                      <a:extLst>
                        <a:ext uri="{9D8B030D-6E8A-4147-A177-3AD203B41FA5}">
                          <a16:colId xmlns:a16="http://schemas.microsoft.com/office/drawing/2014/main" val="605163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Aspects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Inverse Adding Doubling (IAD)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Diffusion Approximation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Monte Carlo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1130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Computational Cost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Low-Moderate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Very 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Very High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49619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1" t="-208197" r="-300151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Accurate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Invalid with large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Accurate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89739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1" t="-308197" r="-30015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Explicitly modeled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Poorly Approximated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Accurate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86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Thin to intermediate samples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Often invalid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Valid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1186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Refractive-index mismatch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Exact Fresnel handling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Usually neglected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Accurate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5015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Numerical noise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None (deterministic)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Statistical nose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9446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Typical intrinsic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151" t="-706557" r="-200151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Large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Decrease with photons count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4541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Practical use in experiments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Ideal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Limited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Validation only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1134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8">
            <a:extLst>
              <a:ext uri="{FF2B5EF4-FFF2-40B4-BE49-F238E27FC236}">
                <a16:creationId xmlns:a16="http://schemas.microsoft.com/office/drawing/2014/main" id="{1B2D8FB6-830B-1D41-5A4F-9F2CDA9967D3}"/>
              </a:ext>
            </a:extLst>
          </p:cNvPr>
          <p:cNvSpPr txBox="1"/>
          <p:nvPr/>
        </p:nvSpPr>
        <p:spPr>
          <a:xfrm>
            <a:off x="873208" y="7243325"/>
            <a:ext cx="16541583" cy="297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IAD achieves Monte-Carlo-level accuracy with diffusion-like efficiency, without restrictive assumptions.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IAD is faster for inverse problems than MC. It is deterministic and noise-free while MC requires very large photon counts. It has no statistical uncertainty in forward model and well suited for optimization loops.</a:t>
            </a:r>
          </a:p>
          <a:p>
            <a:pPr marL="302259" lvl="1">
              <a:lnSpc>
                <a:spcPct val="200000"/>
              </a:lnSpc>
            </a:pPr>
            <a:r>
              <a:rPr lang="en-US" sz="2400" i="1" dirty="0"/>
              <a:t>Determination of the optical properties of turbid media by using the adding-doubling method by Scott A. Prahl.</a:t>
            </a:r>
          </a:p>
        </p:txBody>
      </p:sp>
    </p:spTree>
    <p:extLst>
      <p:ext uri="{BB962C8B-B14F-4D97-AF65-F5344CB8AC3E}">
        <p14:creationId xmlns:p14="http://schemas.microsoft.com/office/powerpoint/2010/main" val="3514073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7CB7A-C10C-628B-420B-CD7E9C8C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DEB93F-C1AB-2551-3787-6F0E99DAC43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9061C7C-9F22-9B28-6BE8-AA75BD248E65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65C461C-C3B9-6EC9-9220-91980BAAABE5}"/>
              </a:ext>
            </a:extLst>
          </p:cNvPr>
          <p:cNvSpPr txBox="1"/>
          <p:nvPr/>
        </p:nvSpPr>
        <p:spPr>
          <a:xfrm>
            <a:off x="755816" y="2628122"/>
            <a:ext cx="16541583" cy="6047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Measurement of optical properties of Human cranial cortical bone</a:t>
            </a:r>
            <a:endParaRPr lang="en-US" sz="2500" b="1" dirty="0"/>
          </a:p>
          <a:p>
            <a:pPr marL="604519" lvl="1" indent="-302260">
              <a:lnSpc>
                <a:spcPct val="150000"/>
              </a:lnSpc>
              <a:buFont typeface="Arial"/>
              <a:buChar char="•"/>
            </a:pPr>
            <a:r>
              <a:rPr lang="en-US" sz="2500" dirty="0"/>
              <a:t>Quantitatively determined the absorption and reduced scattering coefficient of human cranial cortical bone over 800-2000 nm, using spectrophotometer with integrating sphere to measure the reflectance and transmittance and IAD method to calculate the </a:t>
            </a:r>
            <a:r>
              <a:rPr lang="en-US" sz="2500" dirty="0" err="1"/>
              <a:t>absortpion</a:t>
            </a:r>
            <a:r>
              <a:rPr lang="en-US" sz="2500" dirty="0"/>
              <a:t> and reduced scattering coefficients.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endParaRPr lang="en-US" sz="2500" dirty="0">
              <a:highlight>
                <a:srgbClr val="FFFF00"/>
              </a:highlight>
            </a:endParaRP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endParaRPr lang="en-US" sz="2500" dirty="0">
              <a:highlight>
                <a:srgbClr val="FFFF00"/>
              </a:highlight>
            </a:endParaRP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endParaRPr lang="en-US" sz="2500" dirty="0">
              <a:highlight>
                <a:srgbClr val="FFFF00"/>
              </a:highlight>
            </a:endParaRP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endParaRPr lang="en-US" sz="2500" dirty="0">
              <a:highlight>
                <a:srgbClr val="FFFF00"/>
              </a:highlight>
            </a:endParaRP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endParaRPr lang="en-US" sz="2500" dirty="0">
              <a:highlight>
                <a:srgbClr val="FFFF00"/>
              </a:highligh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577A8DAE-497C-2F46-1287-B994E410FEA8}"/>
              </a:ext>
            </a:extLst>
          </p:cNvPr>
          <p:cNvSpPr txBox="1"/>
          <p:nvPr/>
        </p:nvSpPr>
        <p:spPr>
          <a:xfrm>
            <a:off x="4684050" y="1489817"/>
            <a:ext cx="89198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bone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2CAE91-00F5-4A52-27EC-5639ACC0F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" t="15595" r="789"/>
          <a:stretch>
            <a:fillRect/>
          </a:stretch>
        </p:blipFill>
        <p:spPr>
          <a:xfrm>
            <a:off x="1117688" y="5067300"/>
            <a:ext cx="16052622" cy="45428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0CFFAB-24F5-6D45-2DF2-C9CF04708FA9}"/>
              </a:ext>
            </a:extLst>
          </p:cNvPr>
          <p:cNvSpPr txBox="1"/>
          <p:nvPr/>
        </p:nvSpPr>
        <p:spPr>
          <a:xfrm>
            <a:off x="2438399" y="9720651"/>
            <a:ext cx="134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Table. Comparison of bone absorption coefficients obtained in this work and presented in literature. In parenthesis shown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3620317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420AE-378E-BC07-FCE6-F4FAA0550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FC0CEA-4252-D93E-E3BF-ABACF5120A3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1CE825A-01F5-C7DB-19E9-F5CBA3E5871B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17089C3-333E-D7D9-2D74-F4F4741AA17D}"/>
              </a:ext>
            </a:extLst>
          </p:cNvPr>
          <p:cNvSpPr txBox="1"/>
          <p:nvPr/>
        </p:nvSpPr>
        <p:spPr>
          <a:xfrm>
            <a:off x="755816" y="2628122"/>
            <a:ext cx="1654158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Measurement of optical properties of Human cranial cortical bone</a:t>
            </a:r>
            <a:endParaRPr lang="en-US" sz="2500" b="1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D87C8E5-277A-1733-1E01-F874A8D900D5}"/>
              </a:ext>
            </a:extLst>
          </p:cNvPr>
          <p:cNvSpPr txBox="1"/>
          <p:nvPr/>
        </p:nvSpPr>
        <p:spPr>
          <a:xfrm>
            <a:off x="4684050" y="1489817"/>
            <a:ext cx="89198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bone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E0EFE-C1A8-0A0F-04EC-D9D00AA312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" t="15531" r="1664" b="3961"/>
          <a:stretch>
            <a:fillRect/>
          </a:stretch>
        </p:blipFill>
        <p:spPr>
          <a:xfrm>
            <a:off x="795733" y="4033084"/>
            <a:ext cx="16696531" cy="42244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8CF170-D310-32FE-295A-94FCD954E12D}"/>
              </a:ext>
            </a:extLst>
          </p:cNvPr>
          <p:cNvSpPr txBox="1"/>
          <p:nvPr/>
        </p:nvSpPr>
        <p:spPr>
          <a:xfrm>
            <a:off x="1166399" y="9640669"/>
            <a:ext cx="1613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Optical properties of human cranial bone in the spectral range from 800 to 2000 nm by A. N. </a:t>
            </a:r>
            <a:r>
              <a:rPr lang="en-US" i="1" dirty="0" err="1"/>
              <a:t>Bashkatov</a:t>
            </a:r>
            <a:endParaRPr lang="en-US" i="1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7AFC1-0F4A-7F78-B0FB-01513B09F6F3}"/>
              </a:ext>
            </a:extLst>
          </p:cNvPr>
          <p:cNvSpPr txBox="1"/>
          <p:nvPr/>
        </p:nvSpPr>
        <p:spPr>
          <a:xfrm>
            <a:off x="2438398" y="8395090"/>
            <a:ext cx="134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Table. Comparison of bone scattering coefficients obtained in this work and presented in literature. In parenthesis shown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1821961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1883-7A57-205B-CD55-6F4D83EA0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C4DB94-A5A1-E23B-F0F2-EC3105D4E1A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092D740-5E3F-C67F-14D6-485D69EC2A90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AE99E2D-0E2E-C29C-A3EB-C0C6FF9623F5}"/>
              </a:ext>
            </a:extLst>
          </p:cNvPr>
          <p:cNvSpPr txBox="1"/>
          <p:nvPr/>
        </p:nvSpPr>
        <p:spPr>
          <a:xfrm>
            <a:off x="755816" y="2628122"/>
            <a:ext cx="16541583" cy="1671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Measurement of optical properties of pig skull</a:t>
            </a:r>
          </a:p>
          <a:p>
            <a:pPr marL="604519" lvl="1" indent="-302260">
              <a:lnSpc>
                <a:spcPct val="150000"/>
              </a:lnSpc>
              <a:buFont typeface="Arial"/>
              <a:buChar char="•"/>
            </a:pPr>
            <a:r>
              <a:rPr lang="en-US" sz="2500" dirty="0"/>
              <a:t>Characterized the pig skull optical properties in the NIR range by combining direct phase-function measurements, reflectance and transmittance measurement using integrating sphere and Monte Carlo inversion method.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87C9DA06-5A8C-AF79-7327-B0EB6AFE4095}"/>
              </a:ext>
            </a:extLst>
          </p:cNvPr>
          <p:cNvSpPr txBox="1"/>
          <p:nvPr/>
        </p:nvSpPr>
        <p:spPr>
          <a:xfrm>
            <a:off x="4684050" y="1489817"/>
            <a:ext cx="89198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bone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D07FE5-DDD4-4ED6-9B7C-63E3B6B817CB}"/>
              </a:ext>
            </a:extLst>
          </p:cNvPr>
          <p:cNvSpPr txBox="1"/>
          <p:nvPr/>
        </p:nvSpPr>
        <p:spPr>
          <a:xfrm>
            <a:off x="9982200" y="6660573"/>
            <a:ext cx="5369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Average of the reduced scattering coefficient and anisotropy factor of skull from measurements on six samples, error bars +-1 SD.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78296C-EFD1-FBD0-DA99-E28C54A667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1" t="10458" r="13261" b="16986"/>
          <a:stretch>
            <a:fillRect/>
          </a:stretch>
        </p:blipFill>
        <p:spPr>
          <a:xfrm>
            <a:off x="1166399" y="4478685"/>
            <a:ext cx="8382000" cy="528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164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74BE5-B711-38AD-4A64-F87F0FD4F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8B551F-DB3C-C5B3-0381-E858B23D290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904FFB8-69F7-D0C6-05A7-6EFDF71A77C2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F3E3211-2A13-3443-54FA-365B4B936E5F}"/>
              </a:ext>
            </a:extLst>
          </p:cNvPr>
          <p:cNvSpPr txBox="1"/>
          <p:nvPr/>
        </p:nvSpPr>
        <p:spPr>
          <a:xfrm>
            <a:off x="755816" y="2628122"/>
            <a:ext cx="1654158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Measurement of optical properties of pig skull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FBC128B7-D6A1-0E59-6224-69164C6C533B}"/>
              </a:ext>
            </a:extLst>
          </p:cNvPr>
          <p:cNvSpPr txBox="1"/>
          <p:nvPr/>
        </p:nvSpPr>
        <p:spPr>
          <a:xfrm>
            <a:off x="4684050" y="1489817"/>
            <a:ext cx="89198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bone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BCC8A6-F3F2-62C5-73ED-2A1755A5401A}"/>
              </a:ext>
            </a:extLst>
          </p:cNvPr>
          <p:cNvSpPr txBox="1"/>
          <p:nvPr/>
        </p:nvSpPr>
        <p:spPr>
          <a:xfrm>
            <a:off x="1166399" y="9640669"/>
            <a:ext cx="1613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Measurement of the optical properties of the skull in the wavelength range 650-950 nm by M. Firbank. </a:t>
            </a:r>
            <a:endParaRPr lang="en-US" i="1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C3AAC-A465-88D9-1395-3A45CC601270}"/>
              </a:ext>
            </a:extLst>
          </p:cNvPr>
          <p:cNvSpPr txBox="1"/>
          <p:nvPr/>
        </p:nvSpPr>
        <p:spPr>
          <a:xfrm>
            <a:off x="3009899" y="9139197"/>
            <a:ext cx="1226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Average of the scattering coefficient and absorption coefficient of skull from measurements on six samples, error bars +-1 SD.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928516-AC09-61C7-4089-D8DD293AD9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4" t="5196" r="27058" b="13113"/>
          <a:stretch>
            <a:fillRect/>
          </a:stretch>
        </p:blipFill>
        <p:spPr>
          <a:xfrm>
            <a:off x="6048375" y="3314700"/>
            <a:ext cx="61912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5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D70F-715E-2D95-528F-63DC11195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7539C5-0632-4E82-55ED-7DD97410089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BBFB839-6E77-4C3D-41BA-1063036D3855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540831-6704-B329-A6A7-09B7ED6F6704}"/>
              </a:ext>
            </a:extLst>
          </p:cNvPr>
          <p:cNvSpPr txBox="1"/>
          <p:nvPr/>
        </p:nvSpPr>
        <p:spPr>
          <a:xfrm>
            <a:off x="755816" y="2628122"/>
            <a:ext cx="16541583" cy="1671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Measurement of optical properties of</a:t>
            </a:r>
          </a:p>
          <a:p>
            <a:pPr marL="604519" lvl="1" indent="-302260">
              <a:lnSpc>
                <a:spcPct val="150000"/>
              </a:lnSpc>
              <a:buFont typeface="Arial"/>
              <a:buChar char="•"/>
            </a:pPr>
            <a:r>
              <a:rPr lang="en-US" sz="2500" dirty="0"/>
              <a:t>Quantify how demineralization alters bone optical properties using NIR spectroscopy (700-1000 nm).</a:t>
            </a:r>
          </a:p>
          <a:p>
            <a:pPr marL="604519" lvl="1" indent="-302260">
              <a:lnSpc>
                <a:spcPct val="150000"/>
              </a:lnSpc>
              <a:buFont typeface="Arial"/>
              <a:buChar char="•"/>
            </a:pPr>
            <a:r>
              <a:rPr lang="en-US" sz="2500" dirty="0"/>
              <a:t>Confirms bone mineral content strongly governs NIR optical behavior by using integrating sphere measurements and IAD. 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365FF2B-A36C-6FF1-1336-B9F783B535C6}"/>
              </a:ext>
            </a:extLst>
          </p:cNvPr>
          <p:cNvSpPr txBox="1"/>
          <p:nvPr/>
        </p:nvSpPr>
        <p:spPr>
          <a:xfrm>
            <a:off x="4684050" y="1489817"/>
            <a:ext cx="89198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bone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E9F94-3A81-165A-2F12-E94CDDB8730E}"/>
              </a:ext>
            </a:extLst>
          </p:cNvPr>
          <p:cNvSpPr txBox="1"/>
          <p:nvPr/>
        </p:nvSpPr>
        <p:spPr>
          <a:xfrm>
            <a:off x="2971800" y="6649775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Average optical properties (scattering and absorption coefficients) measured on samples analyzed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86C90-A257-B64A-8C01-1C7FDB4D75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5" t="5633" r="2282" b="13627"/>
          <a:stretch>
            <a:fillRect/>
          </a:stretch>
        </p:blipFill>
        <p:spPr>
          <a:xfrm>
            <a:off x="9296400" y="4299733"/>
            <a:ext cx="7469849" cy="5623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F7E339-0E08-A5CD-E055-0237EF4A3F3C}"/>
              </a:ext>
            </a:extLst>
          </p:cNvPr>
          <p:cNvSpPr txBox="1"/>
          <p:nvPr/>
        </p:nvSpPr>
        <p:spPr>
          <a:xfrm>
            <a:off x="1166399" y="9640669"/>
            <a:ext cx="8130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Optical properties on Bone Analysis: An Approach to Biomaterials by Andrea Antunes.</a:t>
            </a:r>
            <a:endParaRPr lang="en-US" i="1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91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846E9-8C77-D52A-6FCB-CECE8969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159970C-95F9-7241-8CF2-54D60650F79A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6052BAC-5FDA-17A7-44EB-4896E0F57F5F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E354F231-C2CC-F830-EDC7-0DDEF0945D8D}"/>
                  </a:ext>
                </a:extLst>
              </p:cNvPr>
              <p:cNvSpPr txBox="1"/>
              <p:nvPr/>
            </p:nvSpPr>
            <p:spPr>
              <a:xfrm>
                <a:off x="755816" y="2628122"/>
                <a:ext cx="16541583" cy="720197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Polydimethylsiloxane tissue-mimicking phantoms with tunable optical properties</a:t>
                </a:r>
                <a:endParaRPr lang="en-US" sz="2500" b="1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PDMS is optically transparent in VIS-NIR.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It has no fluorescence background.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It has long-term mechanical and optical stability.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I can be easily moldable into solid phantoms.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Its refractive index is similar to biological tissue (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~1.4−1.45</m:t>
                    </m:r>
                  </m:oMath>
                </a14:m>
                <a:r>
                  <a:rPr lang="en-US" sz="2500" dirty="0"/>
                  <a:t>).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Its absorption and scattering coefficients can be tuned independently by adjusting the concentration of Carbon black powder (strong broadband absorber) and Titanium dioxide (efficient elastic scatter).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~1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0%</m:t>
                    </m:r>
                    <m:r>
                      <a:rPr lang="en-US" sz="25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dirty="0"/>
                  <a:t>(w/w) curing reagent is added into the mixture to solidified the PDMS.</a:t>
                </a:r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E354F231-C2CC-F830-EDC7-0DDEF0945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6" y="2628122"/>
                <a:ext cx="16541583" cy="7201972"/>
              </a:xfrm>
              <a:prstGeom prst="rect">
                <a:avLst/>
              </a:prstGeom>
              <a:blipFill>
                <a:blip r:embed="rId4"/>
                <a:stretch>
                  <a:fillRect l="-37" t="-2623" b="-1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1FE8088A-02F0-AF48-70B6-4FD8AC845EDA}"/>
              </a:ext>
            </a:extLst>
          </p:cNvPr>
          <p:cNvSpPr txBox="1"/>
          <p:nvPr/>
        </p:nvSpPr>
        <p:spPr>
          <a:xfrm>
            <a:off x="5535601" y="1570187"/>
            <a:ext cx="720315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Bone tissue Phantom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EC3224-1B7C-EEC8-4381-CEF7FDF10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199" y="3448091"/>
            <a:ext cx="7086599" cy="39814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876ED3-EF44-FF71-F758-1BC70BAB79F0}"/>
              </a:ext>
            </a:extLst>
          </p:cNvPr>
          <p:cNvSpPr txBox="1"/>
          <p:nvPr/>
        </p:nvSpPr>
        <p:spPr>
          <a:xfrm>
            <a:off x="11262123" y="7429500"/>
            <a:ext cx="4526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step-by-step phantom fabrication procedure</a:t>
            </a:r>
          </a:p>
        </p:txBody>
      </p:sp>
    </p:spTree>
    <p:extLst>
      <p:ext uri="{BB962C8B-B14F-4D97-AF65-F5344CB8AC3E}">
        <p14:creationId xmlns:p14="http://schemas.microsoft.com/office/powerpoint/2010/main" val="365229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C9F4-1EE3-8E98-F64B-5BE530B17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CD397F-B98E-3BBE-8E2B-F155795AB067}"/>
              </a:ext>
            </a:extLst>
          </p:cNvPr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B8DD5FB-BBE3-B1C8-F7FB-644E2B250225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B3A4DF-7AB1-BE96-AF5E-32BF0FDA2B6B}"/>
              </a:ext>
            </a:extLst>
          </p:cNvPr>
          <p:cNvSpPr txBox="1"/>
          <p:nvPr/>
        </p:nvSpPr>
        <p:spPr>
          <a:xfrm>
            <a:off x="755816" y="2628122"/>
            <a:ext cx="16541583" cy="718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Optical Property-Based Selection of Human Bone Phantoms at 850 nm Using Integrating Sphere Measurements and the Inverse Adding-Doubling Method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. </a:t>
            </a:r>
            <a:endParaRPr lang="en-US" sz="2500" b="1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3200" b="1" dirty="0"/>
              <a:t>Aims and objectives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experimentally acquire diffuse reflectance and transmittance data of PDMS-based bone phantoms at 850 nm using an integrating sphere. 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extract intrinsic optical parameters (μₐ and μₛ′) via Inverse Adding-Doubling inversion.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establish an optical matching criterion by quantitatively comparing phantom parameters with human leg bone optical properties.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select the most optically equivalent phantom for subsequent biomedical optical applications.</a:t>
            </a:r>
            <a:endParaRPr lang="en-US" sz="2500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4FB2EED-E4AB-D12C-FBF5-0A959E93FF2C}"/>
              </a:ext>
            </a:extLst>
          </p:cNvPr>
          <p:cNvSpPr txBox="1"/>
          <p:nvPr/>
        </p:nvSpPr>
        <p:spPr>
          <a:xfrm>
            <a:off x="7111200" y="1583943"/>
            <a:ext cx="40655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Thesis Title</a:t>
            </a:r>
          </a:p>
        </p:txBody>
      </p:sp>
    </p:spTree>
    <p:extLst>
      <p:ext uri="{BB962C8B-B14F-4D97-AF65-F5344CB8AC3E}">
        <p14:creationId xmlns:p14="http://schemas.microsoft.com/office/powerpoint/2010/main" val="1638907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191C8-5DA2-218D-DC0E-931CCFD5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CB4A36-D36A-75A6-9767-2248B7BAF9BD}"/>
              </a:ext>
            </a:extLst>
          </p:cNvPr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665A254-3AC2-7F9D-26A2-31D719B62C3B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B8BC515-D567-69B3-12B6-900A3A44C0FD}"/>
              </a:ext>
            </a:extLst>
          </p:cNvPr>
          <p:cNvSpPr txBox="1"/>
          <p:nvPr/>
        </p:nvSpPr>
        <p:spPr>
          <a:xfrm>
            <a:off x="755816" y="2628122"/>
            <a:ext cx="16541583" cy="718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Optical Property-Based Selection of Human Bone Phantoms at 850 nm Using Integrating Sphere Measurements and the Inverse Adding-Doubling Method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. </a:t>
            </a:r>
            <a:endParaRPr lang="en-US" sz="2500" b="1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3200" b="1" dirty="0"/>
              <a:t>Scopes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study the optical characterization at a single wavelength of 850nm in the near-infrared NIR region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perform optical measurements at steady-state.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investigate the intrinsic optical parameters (Absorption coefficient and reduced scattering coefficient) of the bone phantom.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measure the diffuse reflectance (R) and total transmittance (T) are measured using a single integrating sphere system.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077DF103-38A1-D5EA-FB37-39FDE35B3560}"/>
              </a:ext>
            </a:extLst>
          </p:cNvPr>
          <p:cNvSpPr txBox="1"/>
          <p:nvPr/>
        </p:nvSpPr>
        <p:spPr>
          <a:xfrm>
            <a:off x="7111200" y="1583943"/>
            <a:ext cx="40655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Thesis Title</a:t>
            </a:r>
          </a:p>
        </p:txBody>
      </p:sp>
    </p:spTree>
    <p:extLst>
      <p:ext uri="{BB962C8B-B14F-4D97-AF65-F5344CB8AC3E}">
        <p14:creationId xmlns:p14="http://schemas.microsoft.com/office/powerpoint/2010/main" val="1063783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D7030-68CD-7816-4CEC-32BC528F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EF5BF6-DA8C-8A86-A818-1CE881668CA6}"/>
              </a:ext>
            </a:extLst>
          </p:cNvPr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BA7F8CA-5CB7-8D58-D793-1FA0254A4B09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23BA306-FB95-33DA-C5A0-DACFCE1A4C1E}"/>
              </a:ext>
            </a:extLst>
          </p:cNvPr>
          <p:cNvSpPr txBox="1"/>
          <p:nvPr/>
        </p:nvSpPr>
        <p:spPr>
          <a:xfrm>
            <a:off x="755816" y="2628122"/>
            <a:ext cx="16541583" cy="718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Optical Property-Based Selection of Human Bone Phantoms at 850 nm Using Integrating Sphere Measurements and the Inverse Adding-Doubling Method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. </a:t>
            </a:r>
            <a:endParaRPr lang="en-US" sz="2500" b="1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3200" b="1" dirty="0"/>
              <a:t>Scopes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Calibrate the optical measurement system using the reference standards. 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perform the background and dark signal correction for the detector. 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perform measurement on the thickness-controlled phantom samples. 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compare the intrinsic optical properties of bone tissue phantoms with published human bone studies values. 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800" dirty="0"/>
              <a:t>To select the suitable PDMS-based bone phantoms for the human bone optical studies. 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0CDB601-307F-9D07-A163-3DAB72490141}"/>
              </a:ext>
            </a:extLst>
          </p:cNvPr>
          <p:cNvSpPr txBox="1"/>
          <p:nvPr/>
        </p:nvSpPr>
        <p:spPr>
          <a:xfrm>
            <a:off x="7111200" y="1583943"/>
            <a:ext cx="40655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Thesis Title</a:t>
            </a:r>
          </a:p>
        </p:txBody>
      </p:sp>
    </p:spTree>
    <p:extLst>
      <p:ext uri="{BB962C8B-B14F-4D97-AF65-F5344CB8AC3E}">
        <p14:creationId xmlns:p14="http://schemas.microsoft.com/office/powerpoint/2010/main" val="1976722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00B97-E0DB-0B73-3C93-730F72D4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DD7DCC-DD50-0BFB-D0C9-F0F1204C2451}"/>
              </a:ext>
            </a:extLst>
          </p:cNvPr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A34592B-F6B0-671D-2BB6-DB6742C0D5BD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7EA3B4C-991D-1DE7-98D0-72CA325613C9}"/>
              </a:ext>
            </a:extLst>
          </p:cNvPr>
          <p:cNvSpPr txBox="1"/>
          <p:nvPr/>
        </p:nvSpPr>
        <p:spPr>
          <a:xfrm>
            <a:off x="755816" y="2628122"/>
            <a:ext cx="16541583" cy="7242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Optical Property-Based Selection of Human Bone Phantoms at 850 nm Using Integrating Sphere Measurements and the Inverse Adding-Doubling Method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. </a:t>
            </a:r>
            <a:endParaRPr lang="en-US" sz="2500" b="1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3200" b="1" dirty="0"/>
              <a:t>Significance of the Study</a:t>
            </a:r>
          </a:p>
          <a:p>
            <a:pPr marL="1061719" lvl="2" indent="-302260">
              <a:lnSpc>
                <a:spcPct val="150000"/>
              </a:lnSpc>
              <a:buFont typeface="Arial"/>
              <a:buChar char="•"/>
            </a:pPr>
            <a:r>
              <a:rPr lang="en-US" sz="2800" b="1" dirty="0"/>
              <a:t>Improves the reliability of bone phantom selection</a:t>
            </a:r>
            <a:r>
              <a:rPr lang="en-US" sz="2800" dirty="0"/>
              <a:t> through quantitative optical-property matching rather than assumption-based design approaches. </a:t>
            </a:r>
          </a:p>
          <a:p>
            <a:pPr marL="1061719" lvl="2" indent="-302260">
              <a:lnSpc>
                <a:spcPct val="150000"/>
              </a:lnSpc>
              <a:buFont typeface="Arial"/>
              <a:buChar char="•"/>
            </a:pPr>
            <a:r>
              <a:rPr lang="en-US" sz="2800" b="1" dirty="0"/>
              <a:t>Enables the development of optically equivalent PDMS-based bone phantoms</a:t>
            </a:r>
            <a:r>
              <a:rPr lang="en-US" sz="2800" dirty="0"/>
              <a:t> for controlled biomedical optical experiments at 850 nm.</a:t>
            </a:r>
          </a:p>
          <a:p>
            <a:pPr marL="1061719" lvl="2" indent="-302260">
              <a:lnSpc>
                <a:spcPct val="150000"/>
              </a:lnSpc>
              <a:buFont typeface="Arial"/>
              <a:buChar char="•"/>
            </a:pPr>
            <a:r>
              <a:rPr lang="en-US" sz="2800" dirty="0"/>
              <a:t> </a:t>
            </a:r>
            <a:r>
              <a:rPr lang="en-US" sz="2800" b="1" dirty="0"/>
              <a:t>Provides reusable, stable, and tunable phantom materials</a:t>
            </a:r>
            <a:r>
              <a:rPr lang="en-US" sz="2800" dirty="0"/>
              <a:t>, ensuring consistent experimental conditions and repeatability. </a:t>
            </a:r>
          </a:p>
          <a:p>
            <a:pPr marL="1061719" lvl="2" indent="-302260">
              <a:lnSpc>
                <a:spcPct val="150000"/>
              </a:lnSpc>
              <a:buFont typeface="Arial"/>
              <a:buChar char="•"/>
            </a:pPr>
            <a:r>
              <a:rPr lang="en-US" sz="2800" b="1" dirty="0"/>
              <a:t>Reduces dependence on real human bone samples</a:t>
            </a:r>
            <a:r>
              <a:rPr lang="en-US" sz="2800" dirty="0"/>
              <a:t>, supporting ethical research practices and improving experimental accessibility.</a:t>
            </a:r>
            <a:endParaRPr lang="en-US" sz="2500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E744DC86-A1AB-8BA8-F529-34F490052E9D}"/>
              </a:ext>
            </a:extLst>
          </p:cNvPr>
          <p:cNvSpPr txBox="1"/>
          <p:nvPr/>
        </p:nvSpPr>
        <p:spPr>
          <a:xfrm>
            <a:off x="7111200" y="1583943"/>
            <a:ext cx="40655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Thesis Title</a:t>
            </a:r>
          </a:p>
        </p:txBody>
      </p:sp>
    </p:spTree>
    <p:extLst>
      <p:ext uri="{BB962C8B-B14F-4D97-AF65-F5344CB8AC3E}">
        <p14:creationId xmlns:p14="http://schemas.microsoft.com/office/powerpoint/2010/main" val="560711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5031</TotalTime>
  <Words>1004</Words>
  <Application>Microsoft Office PowerPoint</Application>
  <PresentationFormat>Custom</PresentationFormat>
  <Paragraphs>125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Times New Roman</vt:lpstr>
      <vt:lpstr>Arial</vt:lpstr>
      <vt:lpstr>Cambria Math</vt:lpstr>
      <vt:lpstr>Calibri</vt:lpstr>
      <vt:lpstr>Open Sauce</vt:lpstr>
      <vt:lpstr>DM Serif Display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487</cp:revision>
  <dcterms:created xsi:type="dcterms:W3CDTF">2006-08-16T00:00:00Z</dcterms:created>
  <dcterms:modified xsi:type="dcterms:W3CDTF">2026-02-16T05:24:18Z</dcterms:modified>
  <dc:identifier>DAG0bfrM1o8</dc:identifier>
</cp:coreProperties>
</file>