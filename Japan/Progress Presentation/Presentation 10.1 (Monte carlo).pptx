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854" r:id="rId3"/>
    <p:sldId id="863" r:id="rId4"/>
    <p:sldId id="864" r:id="rId5"/>
    <p:sldId id="859" r:id="rId6"/>
    <p:sldId id="861" r:id="rId7"/>
    <p:sldId id="860" r:id="rId8"/>
    <p:sldId id="862" r:id="rId9"/>
    <p:sldId id="852" r:id="rId10"/>
    <p:sldId id="856" r:id="rId11"/>
    <p:sldId id="857" r:id="rId12"/>
    <p:sldId id="858" r:id="rId13"/>
    <p:sldId id="267" r:id="rId14"/>
  </p:sldIdLst>
  <p:sldSz cx="18288000" cy="10287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DM Serif Display" pitchFamily="2" charset="0"/>
      <p:regular r:id="rId17"/>
      <p:italic r:id="rId18"/>
    </p:embeddedFont>
    <p:embeddedFont>
      <p:font typeface="Open Sauce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8" autoAdjust="0"/>
    <p:restoredTop sz="92668" autoAdjust="0"/>
  </p:normalViewPr>
  <p:slideViewPr>
    <p:cSldViewPr>
      <p:cViewPr>
        <p:scale>
          <a:sx n="66" d="100"/>
          <a:sy n="66" d="100"/>
        </p:scale>
        <p:origin x="784" y="1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48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2067-0DCD-2AC2-2616-7DF9E29B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CDD7E-C6CA-52FA-34A1-BFC2F8D07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D0F76-A401-8C03-FD0F-504326AC3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E66B8-54A3-36FF-B4AF-404C54FE0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613987" y="2765510"/>
            <a:ext cx="13060024" cy="239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20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6648724" y="4871022"/>
            <a:ext cx="499055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Method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4A59-E510-D3CE-EEDC-BAF68706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F69A78-7C48-B4A8-387C-4A83B1653B2F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B8D32E8-879F-FF77-5F6B-BB5553F7136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7F14995-EBF8-E012-9950-1F72926DF528}"/>
              </a:ext>
            </a:extLst>
          </p:cNvPr>
          <p:cNvSpPr txBox="1"/>
          <p:nvPr/>
        </p:nvSpPr>
        <p:spPr>
          <a:xfrm>
            <a:off x="755816" y="2628122"/>
            <a:ext cx="16541583" cy="8040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What is Monte Carlo Simulation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Monte Carlo simulation is a computational method that uses random sampling, models complex systems probabilistically and estimates quantities that are analytically intractable.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Uses the law of large number to average the samples which can find the true expectation values along with the central limit theorem to reduce the statistical error. 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It is used when: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When the system is high-dimensional 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Governing equations are nonlinear.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Boundary conditions are complex 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Experiments are too expensive.</a:t>
            </a:r>
            <a:br>
              <a:rPr lang="en-US" sz="2500" dirty="0"/>
            </a:b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054FA952-5108-6FE4-18F4-46D0E93CE8DD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Simulation</a:t>
            </a:r>
          </a:p>
        </p:txBody>
      </p:sp>
    </p:spTree>
    <p:extLst>
      <p:ext uri="{BB962C8B-B14F-4D97-AF65-F5344CB8AC3E}">
        <p14:creationId xmlns:p14="http://schemas.microsoft.com/office/powerpoint/2010/main" val="347951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F1E66-3CD6-398F-A5DB-887DF8F0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E18492-B42F-F594-8B78-3B9263F0E609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BBB2340-E7BC-15E5-2039-AA31EF615F9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E3BB4A-0A7E-4E51-14CC-83452FF1456F}"/>
              </a:ext>
            </a:extLst>
          </p:cNvPr>
          <p:cNvSpPr txBox="1"/>
          <p:nvPr/>
        </p:nvSpPr>
        <p:spPr>
          <a:xfrm>
            <a:off x="762000" y="2313081"/>
            <a:ext cx="16541583" cy="785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Strength of Monte Carlo Simulation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Handle complex geometry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No need for analytical solutions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Flexible and general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Reveals hidden variables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Easily extensible</a:t>
            </a:r>
          </a:p>
          <a:p>
            <a:pPr marL="302259" lvl="1">
              <a:lnSpc>
                <a:spcPct val="20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Monte Carlo Simulation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Computationally expensive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Statistical noise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Depends on model accuracy</a:t>
            </a: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88D5F75-6C97-D7A5-559C-1F6DAD417D5A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Simulation</a:t>
            </a:r>
          </a:p>
        </p:txBody>
      </p:sp>
    </p:spTree>
    <p:extLst>
      <p:ext uri="{BB962C8B-B14F-4D97-AF65-F5344CB8AC3E}">
        <p14:creationId xmlns:p14="http://schemas.microsoft.com/office/powerpoint/2010/main" val="358292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ABEC9-6F01-2F68-F67F-ACACE721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AAE1A6-80F7-205D-5D00-18F23748A01B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5DC49B-6576-267B-EC1E-C738323B985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0734244-857E-77C9-9B9B-C092898B1090}"/>
              </a:ext>
            </a:extLst>
          </p:cNvPr>
          <p:cNvSpPr txBox="1"/>
          <p:nvPr/>
        </p:nvSpPr>
        <p:spPr>
          <a:xfrm>
            <a:off x="762000" y="2313081"/>
            <a:ext cx="16541583" cy="7394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Tallying Monte Carlo Results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 results from the Monte Carlo are: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Distributions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Mean values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Variances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Confidence intervales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Typical outputs includes: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Histograms 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Expectation values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Error estimates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6C694F4-DFD1-3B1B-A663-13451D53C96E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Simulation</a:t>
            </a:r>
          </a:p>
        </p:txBody>
      </p:sp>
    </p:spTree>
    <p:extLst>
      <p:ext uri="{BB962C8B-B14F-4D97-AF65-F5344CB8AC3E}">
        <p14:creationId xmlns:p14="http://schemas.microsoft.com/office/powerpoint/2010/main" val="20252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43334-8F3B-0F4D-E7C3-853E5411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C43BE4-65AB-45F5-17D5-CA6631B27FB4}"/>
              </a:ext>
            </a:extLst>
          </p:cNvPr>
          <p:cNvSpPr/>
          <p:nvPr/>
        </p:nvSpPr>
        <p:spPr>
          <a:xfrm>
            <a:off x="-641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24D2E42-BC06-AD59-1C22-29D277656972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AC25FCB-0A34-A2FC-5B07-36FB284483B2}"/>
              </a:ext>
            </a:extLst>
          </p:cNvPr>
          <p:cNvSpPr txBox="1"/>
          <p:nvPr/>
        </p:nvSpPr>
        <p:spPr>
          <a:xfrm>
            <a:off x="755816" y="2628122"/>
            <a:ext cx="1654158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General Monte Carlo workflow</a:t>
            </a: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9AC2F7EB-9341-B79A-996A-5599265DA74A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Simulation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D01E3C-699D-00B7-743D-3729BFE178F8}"/>
              </a:ext>
            </a:extLst>
          </p:cNvPr>
          <p:cNvSpPr/>
          <p:nvPr/>
        </p:nvSpPr>
        <p:spPr>
          <a:xfrm>
            <a:off x="1126888" y="3766448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Define the Model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53A81F-9A9E-7431-685F-2B8F1834EB4E}"/>
              </a:ext>
            </a:extLst>
          </p:cNvPr>
          <p:cNvSpPr/>
          <p:nvPr/>
        </p:nvSpPr>
        <p:spPr>
          <a:xfrm>
            <a:off x="4114800" y="3771276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Express system as probability distributions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2802A6-AAB1-BCF0-ED92-881EA6AD401A}"/>
              </a:ext>
            </a:extLst>
          </p:cNvPr>
          <p:cNvSpPr/>
          <p:nvPr/>
        </p:nvSpPr>
        <p:spPr>
          <a:xfrm>
            <a:off x="7228478" y="3766448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 random samples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BFAA2E-9778-139F-16AF-2F55A1767E31}"/>
              </a:ext>
            </a:extLst>
          </p:cNvPr>
          <p:cNvSpPr/>
          <p:nvPr/>
        </p:nvSpPr>
        <p:spPr>
          <a:xfrm>
            <a:off x="10216390" y="3756665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Simulate events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D2B1F55-0823-911B-FCE8-B73599484BA0}"/>
              </a:ext>
            </a:extLst>
          </p:cNvPr>
          <p:cNvSpPr/>
          <p:nvPr/>
        </p:nvSpPr>
        <p:spPr>
          <a:xfrm>
            <a:off x="12960230" y="3766448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Accumulate statistics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BD474C-13D2-E526-D892-B31D8BFFB109}"/>
              </a:ext>
            </a:extLst>
          </p:cNvPr>
          <p:cNvSpPr/>
          <p:nvPr/>
        </p:nvSpPr>
        <p:spPr>
          <a:xfrm>
            <a:off x="2632451" y="6491421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accurate must results be?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6D59CD-37B2-CBFF-1892-AE2CCD864111}"/>
              </a:ext>
            </a:extLst>
          </p:cNvPr>
          <p:cNvSpPr/>
          <p:nvPr/>
        </p:nvSpPr>
        <p:spPr>
          <a:xfrm>
            <a:off x="9065475" y="6495654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accurate must results be?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2998A7-DB3B-70FC-1261-4704016A3802}"/>
              </a:ext>
            </a:extLst>
          </p:cNvPr>
          <p:cNvSpPr/>
          <p:nvPr/>
        </p:nvSpPr>
        <p:spPr>
          <a:xfrm>
            <a:off x="5839675" y="6495654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physics must be included?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C82B0C-1040-2544-C589-C9A88E20D1F9}"/>
              </a:ext>
            </a:extLst>
          </p:cNvPr>
          <p:cNvSpPr/>
          <p:nvPr/>
        </p:nvSpPr>
        <p:spPr>
          <a:xfrm>
            <a:off x="12272699" y="6491421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are the outputs?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1D05D859-D264-870A-FD39-0BE3C1C3B90D}"/>
              </a:ext>
            </a:extLst>
          </p:cNvPr>
          <p:cNvSpPr txBox="1"/>
          <p:nvPr/>
        </p:nvSpPr>
        <p:spPr>
          <a:xfrm>
            <a:off x="737240" y="5320943"/>
            <a:ext cx="1654158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Defining the Model</a:t>
            </a:r>
            <a:endParaRPr lang="en-US" sz="25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2BB25-9BA2-CE1D-C862-EFE8A0D021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08088" y="4262060"/>
            <a:ext cx="1006712" cy="4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D011BE-A70E-441B-2283-5FB698E89DB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096000" y="4262060"/>
            <a:ext cx="1132478" cy="4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42769C-507A-F1E8-D6C6-F41B0BABB357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9209678" y="4252277"/>
            <a:ext cx="1006712" cy="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61F41C-A75A-6DEA-4A00-3EC22CDDDB4F}"/>
              </a:ext>
            </a:extLst>
          </p:cNvPr>
          <p:cNvCxnSpPr>
            <a:endCxn id="10" idx="1"/>
          </p:cNvCxnSpPr>
          <p:nvPr/>
        </p:nvCxnSpPr>
        <p:spPr>
          <a:xfrm>
            <a:off x="12197590" y="4262060"/>
            <a:ext cx="762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01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EA1F2-AFDB-17DA-E80F-EC9D44B3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50422E-C115-7FC3-76D8-93998F873170}"/>
              </a:ext>
            </a:extLst>
          </p:cNvPr>
          <p:cNvSpPr/>
          <p:nvPr/>
        </p:nvSpPr>
        <p:spPr>
          <a:xfrm>
            <a:off x="-641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E0F9060-2D4B-2535-DF21-1A6D9E9D60BD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A70875-9BF5-2B7B-2CF1-AA665BE69D5D}"/>
              </a:ext>
            </a:extLst>
          </p:cNvPr>
          <p:cNvSpPr txBox="1"/>
          <p:nvPr/>
        </p:nvSpPr>
        <p:spPr>
          <a:xfrm>
            <a:off x="755816" y="2628122"/>
            <a:ext cx="1654158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Probability Density Functions (PDFs)</a:t>
            </a: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22E280A-96CA-F13C-2BC3-34EBA8A1EB94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Simulation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5EDC74-8A9B-B3DF-CBEB-F005B0755733}"/>
              </a:ext>
            </a:extLst>
          </p:cNvPr>
          <p:cNvSpPr/>
          <p:nvPr/>
        </p:nvSpPr>
        <p:spPr>
          <a:xfrm>
            <a:off x="5328410" y="3687066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non-negative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79634B-9927-00F3-A3AF-DF6809CD9BBB}"/>
              </a:ext>
            </a:extLst>
          </p:cNvPr>
          <p:cNvSpPr/>
          <p:nvPr/>
        </p:nvSpPr>
        <p:spPr>
          <a:xfrm>
            <a:off x="8316322" y="3691894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Integrates to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1C386A-DBFA-AC31-C17F-204559A6FAB4}"/>
              </a:ext>
            </a:extLst>
          </p:cNvPr>
          <p:cNvSpPr/>
          <p:nvPr/>
        </p:nvSpPr>
        <p:spPr>
          <a:xfrm>
            <a:off x="11430000" y="3687066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Describes likelihood of 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8">
                <a:extLst>
                  <a:ext uri="{FF2B5EF4-FFF2-40B4-BE49-F238E27FC236}">
                    <a16:creationId xmlns:a16="http://schemas.microsoft.com/office/drawing/2014/main" id="{D75952B2-C5F1-EB54-2875-9B7E85123847}"/>
                  </a:ext>
                </a:extLst>
              </p:cNvPr>
              <p:cNvSpPr txBox="1"/>
              <p:nvPr/>
            </p:nvSpPr>
            <p:spPr>
              <a:xfrm>
                <a:off x="737240" y="5320943"/>
                <a:ext cx="16541583" cy="455701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Uniform Distributions[R,S]</a:t>
                </a:r>
              </a:p>
              <a:p>
                <a:pPr marL="302259" lvl="1">
                  <a:lnSpc>
                    <a:spcPts val="4479"/>
                  </a:lnSpc>
                </a:pPr>
                <a:endParaRPr lang="en-US" sz="4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uce"/>
                </a:endParaRPr>
              </a:p>
              <a:p>
                <a:pPr marL="873759" lvl="1" indent="-571500">
                  <a:lnSpc>
                    <a:spcPts val="4479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  <a:sym typeface="Open Sauce"/>
                  </a:rPr>
                  <a:t>This is the foundation of Monte Carlo simulations.</a:t>
                </a:r>
              </a:p>
              <a:p>
                <a:pPr marL="873759" lvl="1" indent="-571500">
                  <a:lnSpc>
                    <a:spcPts val="4479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  <a:sym typeface="Open Sauce"/>
                  </a:rPr>
                  <a:t>PDF</a:t>
                </a:r>
              </a:p>
              <a:p>
                <a:pPr marL="302259" lvl="1">
                  <a:lnSpc>
                    <a:spcPts val="447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Open Sauce"/>
                        </a:rPr>
                        <m:t>𝑓</m:t>
                      </m:r>
                      <m:d>
                        <m:dPr>
                          <m:ctrlP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𝑥</m:t>
                          </m:r>
                        </m:e>
                      </m:d>
                      <m:r>
                        <a:rPr lang="en-US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Open Sauce"/>
                        </a:rPr>
                        <m:t>=</m:t>
                      </m:r>
                      <m:f>
                        <m:fPr>
                          <m:ctrlP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1</m:t>
                          </m:r>
                        </m:num>
                        <m:den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𝑆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−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500" dirty="0">
                  <a:solidFill>
                    <a:srgbClr val="000000"/>
                  </a:solidFill>
                  <a:latin typeface="+mj-lt"/>
                  <a:cs typeface="Times New Roman" panose="02020603050405020304" pitchFamily="18" charset="0"/>
                  <a:sym typeface="Open Sauce"/>
                </a:endParaRPr>
              </a:p>
              <a:p>
                <a:pPr marL="873759" lvl="1" indent="-571500">
                  <a:lnSpc>
                    <a:spcPts val="4479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  <a:sym typeface="Open Sauce"/>
                  </a:rPr>
                  <a:t>CDF</a:t>
                </a:r>
              </a:p>
              <a:p>
                <a:pPr marL="302259" lvl="1">
                  <a:lnSpc>
                    <a:spcPts val="447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Open Sauce"/>
                        </a:rPr>
                        <m:t>𝐹</m:t>
                      </m:r>
                      <m:d>
                        <m:dPr>
                          <m:ctrlP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𝑥</m:t>
                          </m:r>
                        </m:e>
                      </m:d>
                      <m:r>
                        <a:rPr lang="en-US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Open Sauce"/>
                        </a:rPr>
                        <m:t>=</m:t>
                      </m:r>
                      <m:f>
                        <m:fPr>
                          <m:ctrlP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𝑥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−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𝑅</m:t>
                          </m:r>
                        </m:num>
                        <m:den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𝑆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−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4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uce"/>
                </a:endParaRPr>
              </a:p>
              <a:p>
                <a:pPr marL="302259" lvl="1">
                  <a:lnSpc>
                    <a:spcPts val="4479"/>
                  </a:lnSpc>
                </a:pPr>
                <a:endParaRPr lang="en-US" sz="2500" dirty="0"/>
              </a:p>
            </p:txBody>
          </p:sp>
        </mc:Choice>
        <mc:Fallback>
          <p:sp>
            <p:nvSpPr>
              <p:cNvPr id="15" name="TextBox 8">
                <a:extLst>
                  <a:ext uri="{FF2B5EF4-FFF2-40B4-BE49-F238E27FC236}">
                    <a16:creationId xmlns:a16="http://schemas.microsoft.com/office/drawing/2014/main" id="{D75952B2-C5F1-EB54-2875-9B7E85123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40" y="5320943"/>
                <a:ext cx="16541583" cy="4557017"/>
              </a:xfrm>
              <a:prstGeom prst="rect">
                <a:avLst/>
              </a:prstGeom>
              <a:blipFill>
                <a:blip r:embed="rId3"/>
                <a:stretch>
                  <a:fillRect l="-37" t="-4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59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B7F3-8F9D-EB5F-9893-407B65B9A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D37812-143B-0527-A441-EE1479F1EC81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6F0FF25-07D0-BB02-BD07-C5304BF47520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C1298E5E-8AA0-0231-B382-A287A38EA8E2}"/>
                  </a:ext>
                </a:extLst>
              </p:cNvPr>
              <p:cNvSpPr txBox="1"/>
              <p:nvPr/>
            </p:nvSpPr>
            <p:spPr>
              <a:xfrm>
                <a:off x="762000" y="2283002"/>
                <a:ext cx="16541583" cy="826328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Random Number Generator (RNGs)</a:t>
                </a:r>
                <a:endParaRPr lang="en-US" sz="2500" b="1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Computers generate pseudo-random numbers: which are reproducible and statistically random.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Linear Congruential Generator (LCG) and Mersenne Twister are common RNGs that we used in Monte Carlo Simulations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Uniform random numbers is really important as it allows Poisson distributions and sample exponential.</a:t>
                </a:r>
              </a:p>
              <a:p>
                <a:pPr marL="302259" lvl="1">
                  <a:lnSpc>
                    <a:spcPct val="200000"/>
                  </a:lnSpc>
                </a:pP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Exponential Distribution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Exponential Distribution is mainly used for photon step length and time between random events.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PDF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l-GR" sz="2500" i="1">
                          <a:latin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el-GR" sz="25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l-GR" sz="2500" i="1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nor/>
                            </m:rP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US" sz="2500" i="1" dirty="0">
                  <a:latin typeface="Cambria Math" panose="02040503050406030204" pitchFamily="18" charset="0"/>
                </a:endParaRP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CDF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l-GR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l-GR" sz="2500" i="1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nor/>
                            </m:rPr>
                            <a:rPr lang="en-US" sz="2500" i="1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C1298E5E-8AA0-0231-B382-A287A38EA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283002"/>
                <a:ext cx="16541583" cy="8263288"/>
              </a:xfrm>
              <a:prstGeom prst="rect">
                <a:avLst/>
              </a:prstGeom>
              <a:blipFill>
                <a:blip r:embed="rId3"/>
                <a:stretch>
                  <a:fillRect t="-2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CF2C8DDB-634C-2900-90C5-C6C7BE64BCF3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Simulation</a:t>
            </a:r>
          </a:p>
        </p:txBody>
      </p:sp>
    </p:spTree>
    <p:extLst>
      <p:ext uri="{BB962C8B-B14F-4D97-AF65-F5344CB8AC3E}">
        <p14:creationId xmlns:p14="http://schemas.microsoft.com/office/powerpoint/2010/main" val="234092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FA924-F5C8-782B-19EB-2675386E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BF3D95-265B-51DA-0CF4-7D4D394FC0C7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6790806-2F42-FFA2-C1EF-A80ED4A289E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97909FF-E936-C4DD-5D20-F92E1524E04A}"/>
              </a:ext>
            </a:extLst>
          </p:cNvPr>
          <p:cNvSpPr txBox="1"/>
          <p:nvPr/>
        </p:nvSpPr>
        <p:spPr>
          <a:xfrm>
            <a:off x="755816" y="2628122"/>
            <a:ext cx="16541583" cy="6317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Inversion Method 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This method sample from exponential distribution using uniform random numbers.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This method is exact, fast and is widely used.</a:t>
            </a:r>
          </a:p>
          <a:p>
            <a:pPr marL="302259" lvl="1">
              <a:lnSpc>
                <a:spcPct val="20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 and Rejection Method</a:t>
            </a: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Commonly used when CDF cannot be inverted analytically.</a:t>
            </a: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This method is exact but slower when compares to the other.</a:t>
            </a: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This sampling method is typically use in Normal (Gaussian) Distribution.</a:t>
            </a:r>
            <a:br>
              <a:rPr lang="en-US" sz="2500" dirty="0"/>
            </a:b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EC37F1C-81DB-C7E1-ACE6-996487DD4AF0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Simulation</a:t>
            </a:r>
          </a:p>
        </p:txBody>
      </p:sp>
    </p:spTree>
    <p:extLst>
      <p:ext uri="{BB962C8B-B14F-4D97-AF65-F5344CB8AC3E}">
        <p14:creationId xmlns:p14="http://schemas.microsoft.com/office/powerpoint/2010/main" val="96276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8EB31-F8CA-4F19-624D-72E49442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4420F5-4690-0AE2-D903-333044CD7B2E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3D7B1D0-0C29-B347-4F1F-7484B7A959D3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59A0642-B56A-4210-4708-0C1F8D328C4A}"/>
              </a:ext>
            </a:extLst>
          </p:cNvPr>
          <p:cNvSpPr txBox="1"/>
          <p:nvPr/>
        </p:nvSpPr>
        <p:spPr>
          <a:xfrm>
            <a:off x="755816" y="2628122"/>
            <a:ext cx="16236783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A Monte Carlo estimation of tissue optical properties for use in laser dosimetry</a:t>
            </a:r>
            <a:endParaRPr lang="en-US" sz="2500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 primary objective of this paper is to determine microscopic optical properties of biological tissue from measurable macroscopic quantities.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 paper provides a practical way to “invert” measurements like reflectance and transmittance into absorption and scattering parameters.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 reasons for using the Monte Carlo Simulation.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Light transport in tissue is highly scattering.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Analytical solutions are limited or inaccurate.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Monte Carlo simulates individual photon paths statistically.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A928259-560C-E88C-CA9A-2744004F56FA}"/>
              </a:ext>
            </a:extLst>
          </p:cNvPr>
          <p:cNvSpPr txBox="1"/>
          <p:nvPr/>
        </p:nvSpPr>
        <p:spPr>
          <a:xfrm>
            <a:off x="6096000" y="1409700"/>
            <a:ext cx="641197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930553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0F17-DDD2-9218-7408-0058CFF45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AFCF373-8A6B-01FE-5E88-F6DDB5E637A2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EDD3069-56F0-4304-C830-137E37E429C2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A6FD37E-67BA-37E3-3839-4F7F31DE5C0E}"/>
              </a:ext>
            </a:extLst>
          </p:cNvPr>
          <p:cNvSpPr txBox="1"/>
          <p:nvPr/>
        </p:nvSpPr>
        <p:spPr>
          <a:xfrm>
            <a:off x="755816" y="2628122"/>
            <a:ext cx="16236783" cy="7971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A Monte Carlo estimation of tissue optical properties for use in laser dosimetry</a:t>
            </a:r>
          </a:p>
          <a:p>
            <a:pPr marL="302259" lvl="1">
              <a:lnSpc>
                <a:spcPct val="200000"/>
              </a:lnSpc>
            </a:pPr>
            <a:r>
              <a:rPr lang="en-US" sz="2500" b="1" dirty="0"/>
              <a:t>Simulation setup 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Tissue modeled as a 1 cm thick slab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Collimated beam, 1 cm diameter 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Normal incidence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Photon events;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Scattering (Heney-Greenstein phase function)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Absorption 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Reflection/refraction (Snell + Fresnel laws)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Result obtained has high statistical accuracy (&gt;99%).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C74479B-D831-139B-C472-A0F292B54A87}"/>
              </a:ext>
            </a:extLst>
          </p:cNvPr>
          <p:cNvSpPr txBox="1"/>
          <p:nvPr/>
        </p:nvSpPr>
        <p:spPr>
          <a:xfrm>
            <a:off x="6096000" y="1409700"/>
            <a:ext cx="641197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457126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B5388-C91A-877E-BADB-27C15C9D3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9A9C9EF-D14F-FE5A-D39B-0D1D050B0484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B67670-D66B-D7FE-848E-8001ACD9370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7776005F-C948-6AFA-F03D-513DDC4D97CB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236783" cy="742575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A Monte Carlo estimation of tissue optical properties for use in laser dosimetry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The Functional relationship of the Monte Carlo: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Diffuse transmittance: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en-US" sz="2500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Total reflectance:</a:t>
                </a:r>
              </a:p>
              <a:p>
                <a:pPr marL="302259" lvl="1"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sSub>
                          <m:sSub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</m:oMath>
                </a14:m>
                <a:endParaRPr lang="en-US" sz="2500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These equations are empirical fits to Monte Carlo data, with coefficient depending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500" dirty="0"/>
                  <a:t>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endParaRPr lang="en-US" sz="2500" dirty="0"/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7776005F-C948-6AFA-F03D-513DDC4D9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236783" cy="7425751"/>
              </a:xfrm>
              <a:prstGeom prst="rect">
                <a:avLst/>
              </a:prstGeom>
              <a:blipFill>
                <a:blip r:embed="rId3"/>
                <a:stretch>
                  <a:fillRect l="-38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999DAE14-A855-6150-2FC9-85231FEDCD92}"/>
              </a:ext>
            </a:extLst>
          </p:cNvPr>
          <p:cNvSpPr txBox="1"/>
          <p:nvPr/>
        </p:nvSpPr>
        <p:spPr>
          <a:xfrm>
            <a:off x="6096000" y="1409700"/>
            <a:ext cx="641197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4208615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EA2A-EE22-BCE3-6DAA-64DC4FAC4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5BA531-645F-C99D-DAF1-E353EEB107A2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7989BAC-0321-14BC-3D97-031392214222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81EC19-AC14-4076-BA4D-ED67EF4A4986}"/>
              </a:ext>
            </a:extLst>
          </p:cNvPr>
          <p:cNvSpPr txBox="1"/>
          <p:nvPr/>
        </p:nvSpPr>
        <p:spPr>
          <a:xfrm>
            <a:off x="755816" y="2628122"/>
            <a:ext cx="16236783" cy="1815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A Monte Carlo estimation of tissue optical properties for use in laser dosimetry</a:t>
            </a:r>
          </a:p>
          <a:p>
            <a:pPr marL="302259" lvl="1">
              <a:lnSpc>
                <a:spcPct val="200000"/>
              </a:lnSpc>
            </a:pPr>
            <a:r>
              <a:rPr lang="en-US" sz="2500" dirty="0"/>
              <a:t>Used the following table to validate the measured tissue optical properties.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B838DCB-7EC6-669F-5F12-8289253D4E42}"/>
              </a:ext>
            </a:extLst>
          </p:cNvPr>
          <p:cNvSpPr txBox="1"/>
          <p:nvPr/>
        </p:nvSpPr>
        <p:spPr>
          <a:xfrm>
            <a:off x="6096000" y="1409700"/>
            <a:ext cx="641197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Literature Review</a:t>
            </a:r>
          </a:p>
        </p:txBody>
      </p:sp>
      <p:pic>
        <p:nvPicPr>
          <p:cNvPr id="6" name="Picture 5" descr="A close-up of a document&#10;&#10;AI-generated content may be incorrect.">
            <a:extLst>
              <a:ext uri="{FF2B5EF4-FFF2-40B4-BE49-F238E27FC236}">
                <a16:creationId xmlns:a16="http://schemas.microsoft.com/office/drawing/2014/main" id="{AB511853-23E3-E0D2-0C8D-C1690CCAA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7" t="41644" r="29245" b="27519"/>
          <a:stretch>
            <a:fillRect/>
          </a:stretch>
        </p:blipFill>
        <p:spPr>
          <a:xfrm>
            <a:off x="1010629" y="4651003"/>
            <a:ext cx="16266741" cy="407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282C2F-24F1-2192-9BD0-EBB9BE88C94D}"/>
              </a:ext>
            </a:extLst>
          </p:cNvPr>
          <p:cNvSpPr txBox="1"/>
          <p:nvPr/>
        </p:nvSpPr>
        <p:spPr>
          <a:xfrm>
            <a:off x="7208635" y="8747233"/>
            <a:ext cx="385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Measured Tissue optical properties</a:t>
            </a:r>
          </a:p>
        </p:txBody>
      </p:sp>
    </p:spTree>
    <p:extLst>
      <p:ext uri="{BB962C8B-B14F-4D97-AF65-F5344CB8AC3E}">
        <p14:creationId xmlns:p14="http://schemas.microsoft.com/office/powerpoint/2010/main" val="89964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2943</TotalTime>
  <Words>653</Words>
  <Application>Microsoft Office PowerPoint</Application>
  <PresentationFormat>Custom</PresentationFormat>
  <Paragraphs>115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Cambria Math</vt:lpstr>
      <vt:lpstr>Calibri</vt:lpstr>
      <vt:lpstr>Arial</vt:lpstr>
      <vt:lpstr>Aptos</vt:lpstr>
      <vt:lpstr>Open Sauce</vt:lpstr>
      <vt:lpstr>DM Serif Display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443</cp:revision>
  <dcterms:created xsi:type="dcterms:W3CDTF">2006-08-16T00:00:00Z</dcterms:created>
  <dcterms:modified xsi:type="dcterms:W3CDTF">2025-12-22T01:12:31Z</dcterms:modified>
  <dc:identifier>DAG0bfrM1o8</dc:identifier>
</cp:coreProperties>
</file>