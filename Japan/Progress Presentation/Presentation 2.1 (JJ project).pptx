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839" r:id="rId3"/>
    <p:sldId id="841" r:id="rId4"/>
    <p:sldId id="260" r:id="rId5"/>
    <p:sldId id="840" r:id="rId6"/>
    <p:sldId id="267" r:id="rId7"/>
  </p:sldIdLst>
  <p:sldSz cx="18288000" cy="10287000"/>
  <p:notesSz cx="6858000" cy="9144000"/>
  <p:embeddedFontLst>
    <p:embeddedFont>
      <p:font typeface="DM Serif Display" pitchFamily="2" charset="0"/>
      <p:regular r:id="rId9"/>
      <p:italic r:id="rId10"/>
    </p:embeddedFont>
    <p:embeddedFont>
      <p:font typeface="Open Sauc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3402" autoAdjust="0"/>
  </p:normalViewPr>
  <p:slideViewPr>
    <p:cSldViewPr>
      <p:cViewPr varScale="1">
        <p:scale>
          <a:sx n="67" d="100"/>
          <a:sy n="67" d="100"/>
        </p:scale>
        <p:origin x="45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f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140753" y="2789745"/>
            <a:ext cx="12006494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II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39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Intel®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2400" spc="240" dirty="0"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16212" y="-197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B0B6A01-877B-992F-2E98-C6BF6B17DDD0}"/>
              </a:ext>
            </a:extLst>
          </p:cNvPr>
          <p:cNvSpPr txBox="1"/>
          <p:nvPr/>
        </p:nvSpPr>
        <p:spPr>
          <a:xfrm>
            <a:off x="1166399" y="1233825"/>
            <a:ext cx="8726276" cy="110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 and case 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2FABAD-B854-67B7-74BC-195BCF64C17A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880649" y="3619500"/>
            <a:ext cx="8263350" cy="8594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Specifications 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RAM : 8 GB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Memory : 32 GB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Power supply :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0.5 A and 27 W</a:t>
            </a: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Necessary List 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Keyboard and Mouse set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SSD crucial P3 Plus 512 GB (11,779 Yen)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Pironman</a:t>
            </a: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5 </a:t>
            </a: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NVMe</a:t>
            </a: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Mini PC case for </a:t>
            </a: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Rpi</a:t>
            </a: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5 (13980 Yen) </a:t>
            </a:r>
          </a:p>
          <a:p>
            <a:pPr marL="759459" lvl="2">
              <a:lnSpc>
                <a:spcPts val="4479"/>
              </a:lnSpc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2" name="Picture 11" descr="A green circuit board with many different ports&#10;&#10;AI-generated content may be incorrect.">
            <a:extLst>
              <a:ext uri="{FF2B5EF4-FFF2-40B4-BE49-F238E27FC236}">
                <a16:creationId xmlns:a16="http://schemas.microsoft.com/office/drawing/2014/main" id="{F4BC33AF-97D1-DF3F-43B3-367AC32AD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675" y="4069758"/>
            <a:ext cx="3686671" cy="3686671"/>
          </a:xfrm>
          <a:prstGeom prst="rect">
            <a:avLst/>
          </a:prstGeom>
        </p:spPr>
      </p:pic>
      <p:pic>
        <p:nvPicPr>
          <p:cNvPr id="14" name="Picture 13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FBBD5E4D-F99A-6296-8DDC-86FD70B80B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8294" y="6176853"/>
            <a:ext cx="3776138" cy="3715202"/>
          </a:xfrm>
          <a:prstGeom prst="rect">
            <a:avLst/>
          </a:prstGeom>
        </p:spPr>
      </p:pic>
      <p:pic>
        <p:nvPicPr>
          <p:cNvPr id="16" name="Picture 15" descr="A computer tower with a clear glass box&#10;&#10;AI-generated content may be incorrect.">
            <a:extLst>
              <a:ext uri="{FF2B5EF4-FFF2-40B4-BE49-F238E27FC236}">
                <a16:creationId xmlns:a16="http://schemas.microsoft.com/office/drawing/2014/main" id="{F72C0AE6-62C1-15F3-F9F9-E2D4DD188B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5"/>
          <a:stretch>
            <a:fillRect/>
          </a:stretch>
        </p:blipFill>
        <p:spPr>
          <a:xfrm>
            <a:off x="11774111" y="394945"/>
            <a:ext cx="4547743" cy="367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4DDC-929C-B1F4-681D-4C4455E6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35E4F2-4F4C-1FDC-5A73-E026C7A6536E}"/>
              </a:ext>
            </a:extLst>
          </p:cNvPr>
          <p:cNvSpPr/>
          <p:nvPr/>
        </p:nvSpPr>
        <p:spPr>
          <a:xfrm>
            <a:off x="16212" y="-197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3A6D0E8-11D2-468B-81FD-61A6A5666B3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EC368A6-10FB-C75D-2AFF-CFDCF57E3E86}"/>
              </a:ext>
            </a:extLst>
          </p:cNvPr>
          <p:cNvSpPr txBox="1"/>
          <p:nvPr/>
        </p:nvSpPr>
        <p:spPr>
          <a:xfrm>
            <a:off x="1166399" y="1233825"/>
            <a:ext cx="8726276" cy="1083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 (Intel NCU)</a:t>
            </a:r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BAC3B3D-D395-BA83-9FB5-CA7A305B0953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68658ED-CBFA-C75C-A9EE-8BC98963D3BE}"/>
              </a:ext>
            </a:extLst>
          </p:cNvPr>
          <p:cNvSpPr txBox="1"/>
          <p:nvPr/>
        </p:nvSpPr>
        <p:spPr>
          <a:xfrm>
            <a:off x="880649" y="3619500"/>
            <a:ext cx="8263350" cy="5709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Problems with </a:t>
            </a: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Rpi</a:t>
            </a: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5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Doesn’t support Intel RealSense L515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L515 stopped support since 2018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Complicated packages installing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Possible alternatives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Robot operating system or other lidar package to access the data from RPI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intel based mini PC for the system.</a:t>
            </a:r>
          </a:p>
          <a:p>
            <a:pPr marL="1061719" lvl="2" indent="-302260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6" name="Picture 5" descr="A black and grey computer&#10;&#10;AI-generated content may be incorrect.">
            <a:extLst>
              <a:ext uri="{FF2B5EF4-FFF2-40B4-BE49-F238E27FC236}">
                <a16:creationId xmlns:a16="http://schemas.microsoft.com/office/drawing/2014/main" id="{203FBB25-1071-003E-34A1-04D731BD8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68" y="4305300"/>
            <a:ext cx="64674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8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12" y="-197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8235" y="2933700"/>
            <a:ext cx="16797751" cy="5709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Aims of the research are :</a:t>
            </a:r>
          </a:p>
          <a:p>
            <a:pPr marL="302259" lvl="1" algn="l">
              <a:lnSpc>
                <a:spcPts val="4479"/>
              </a:lnSpc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Design and integrate an air-jet module capable of delivering controlled forces with tunable pressure and nozzle configurations.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Implement a high-resolution depth tracking system using Intel RealSense L515 to capture sub-millimeter surface deformation in real-time.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Validate the system on phantoms by evaluating force repeatability, surface displacement accuracy, and computed stiffness / Young’s modulus within safe biomechanical thresholds.</a:t>
            </a:r>
          </a:p>
          <a:p>
            <a:pPr marL="302259" lvl="1" algn="l">
              <a:lnSpc>
                <a:spcPts val="4479"/>
              </a:lnSpc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02259" lvl="1" algn="l">
              <a:lnSpc>
                <a:spcPts val="4479"/>
              </a:lnSpc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BC62FCC-655C-365B-5E71-C77E9A81803F}"/>
              </a:ext>
            </a:extLst>
          </p:cNvPr>
          <p:cNvSpPr txBox="1"/>
          <p:nvPr/>
        </p:nvSpPr>
        <p:spPr>
          <a:xfrm>
            <a:off x="880647" y="1193480"/>
            <a:ext cx="16797751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Review of Non-invasive Skin Phantom Properties Estimation Using Air-jet Indentation And Active LiDAR Sensing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B17E-41E6-CFA9-8038-118E951E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82389D-594E-34FB-DB9D-1B0EE556F2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8C7D27-CFB9-C7B4-872F-CBF83543789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DCCF48-FB42-F8FF-715C-BE47B4ABA615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0F9F51F-14A0-D8D2-5CFE-C99B9A6B7D7C}"/>
              </a:ext>
            </a:extLst>
          </p:cNvPr>
          <p:cNvSpPr txBox="1"/>
          <p:nvPr/>
        </p:nvSpPr>
        <p:spPr>
          <a:xfrm>
            <a:off x="880647" y="2101875"/>
            <a:ext cx="7729952" cy="28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Pressure from air blower 0.9 MPa.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Distance between camera and phantom is 50 cm.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Nozzle diameter is 2 mm.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Used Ideal gas with choked flow.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4E5E521-6899-42A0-17B0-69E2713AB0BB}"/>
              </a:ext>
            </a:extLst>
          </p:cNvPr>
          <p:cNvSpPr txBox="1"/>
          <p:nvPr/>
        </p:nvSpPr>
        <p:spPr>
          <a:xfrm>
            <a:off x="880647" y="1193480"/>
            <a:ext cx="1679775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Experimental Setup</a:t>
            </a:r>
          </a:p>
        </p:txBody>
      </p:sp>
      <p:pic>
        <p:nvPicPr>
          <p:cNvPr id="12" name="Picture 11" descr="訓練用モデル（ナビトレ）皮膚縫合モデル単層シート">
            <a:extLst>
              <a:ext uri="{FF2B5EF4-FFF2-40B4-BE49-F238E27FC236}">
                <a16:creationId xmlns:a16="http://schemas.microsoft.com/office/drawing/2014/main" id="{59EB8D8D-E2D7-91F7-F4B9-0C006DA8C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41586">
            <a:off x="13868832" y="1562374"/>
            <a:ext cx="3711452" cy="309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12D7A2-52D2-14A9-5FA2-0BF63D073E03}"/>
              </a:ext>
            </a:extLst>
          </p:cNvPr>
          <p:cNvSpPr txBox="1"/>
          <p:nvPr/>
        </p:nvSpPr>
        <p:spPr>
          <a:xfrm>
            <a:off x="11631706" y="3672071"/>
            <a:ext cx="2484669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50 cm</a:t>
            </a:r>
          </a:p>
        </p:txBody>
      </p:sp>
      <p:pic>
        <p:nvPicPr>
          <p:cNvPr id="14" name="Picture 2" descr="Amazon | HAIGE(ハイガー) コンプレッサー エアコンプレッサー エアーコンプレッサー 小型 100V オイルレス 静音 タンクレス  ブラシレス HG-DC880N1 | エアコンプレッサー">
            <a:extLst>
              <a:ext uri="{FF2B5EF4-FFF2-40B4-BE49-F238E27FC236}">
                <a16:creationId xmlns:a16="http://schemas.microsoft.com/office/drawing/2014/main" id="{76ACD851-F262-D664-DB3A-72AADBDD7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551" y="4219972"/>
            <a:ext cx="1131520" cy="102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CF5347-64E2-06A8-CF17-29B764CD39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8" r="6105" b="22176"/>
          <a:stretch/>
        </p:blipFill>
        <p:spPr>
          <a:xfrm>
            <a:off x="9485222" y="1770561"/>
            <a:ext cx="1716178" cy="23946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90AD4A-8156-6FE0-9806-6C322766EDA6}"/>
              </a:ext>
            </a:extLst>
          </p:cNvPr>
          <p:cNvCxnSpPr>
            <a:cxnSpLocks/>
          </p:cNvCxnSpPr>
          <p:nvPr/>
        </p:nvCxnSpPr>
        <p:spPr>
          <a:xfrm>
            <a:off x="11430000" y="3513704"/>
            <a:ext cx="3200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7D6F04-1220-038F-50BE-0107AF251DEB}"/>
              </a:ext>
            </a:extLst>
          </p:cNvPr>
          <p:cNvSpPr txBox="1"/>
          <p:nvPr/>
        </p:nvSpPr>
        <p:spPr>
          <a:xfrm>
            <a:off x="11583798" y="5356775"/>
            <a:ext cx="345047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Experimental Setup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70CF515-8A2D-6BC8-DF4D-FB17BD00500E}"/>
              </a:ext>
            </a:extLst>
          </p:cNvPr>
          <p:cNvSpPr/>
          <p:nvPr/>
        </p:nvSpPr>
        <p:spPr>
          <a:xfrm rot="16200000">
            <a:off x="12553878" y="1312018"/>
            <a:ext cx="952645" cy="3200401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1B4DDC29-8DF3-3D1E-BA6B-46151D7BE2DC}"/>
              </a:ext>
            </a:extLst>
          </p:cNvPr>
          <p:cNvSpPr txBox="1"/>
          <p:nvPr/>
        </p:nvSpPr>
        <p:spPr>
          <a:xfrm>
            <a:off x="600119" y="6133903"/>
            <a:ext cx="16521481" cy="3400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Objectives of the research are :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Fabricated the skin phantoms with known mechanical properties and controlled thickness by ensuring reproducibility for stiffness calibration.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Quantify the force and characterizes the pressure relation at nozzle exit.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Combine the air-jet and LiDAR in controlled lab conditions.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Compares with the known phantom properties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validation.</a:t>
            </a: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390493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303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DM Serif Display</vt:lpstr>
      <vt:lpstr>Open Sauce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37</cp:revision>
  <dcterms:created xsi:type="dcterms:W3CDTF">2006-08-16T00:00:00Z</dcterms:created>
  <dcterms:modified xsi:type="dcterms:W3CDTF">2025-10-08T04:36:03Z</dcterms:modified>
  <dc:identifier>DAG0bfrM1o8</dc:identifier>
</cp:coreProperties>
</file>