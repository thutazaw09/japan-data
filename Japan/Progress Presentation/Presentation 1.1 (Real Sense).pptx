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838" r:id="rId4"/>
    <p:sldId id="259" r:id="rId5"/>
    <p:sldId id="264" r:id="rId6"/>
    <p:sldId id="837" r:id="rId7"/>
    <p:sldId id="267" r:id="rId8"/>
  </p:sldIdLst>
  <p:sldSz cx="18288000" cy="10287000"/>
  <p:notesSz cx="6858000" cy="9144000"/>
  <p:embeddedFontLst>
    <p:embeddedFont>
      <p:font typeface="DM Serif Display" pitchFamily="2" charset="0"/>
      <p:regular r:id="rId10"/>
      <p:italic r:id="rId11"/>
    </p:embeddedFont>
    <p:embeddedFont>
      <p:font typeface="Open Sauce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70" autoAdjust="0"/>
    <p:restoredTop sz="93402" autoAdjust="0"/>
  </p:normalViewPr>
  <p:slideViewPr>
    <p:cSldViewPr>
      <p:cViewPr>
        <p:scale>
          <a:sx n="66" d="100"/>
          <a:sy n="66" d="100"/>
        </p:scale>
        <p:origin x="524" y="2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385906" y="2751100"/>
            <a:ext cx="11516187" cy="2484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Presentation 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39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Intel® </a:t>
            </a:r>
            <a:r>
              <a:rPr lang="es-E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RealSense</a:t>
            </a: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™ </a:t>
            </a:r>
            <a:r>
              <a:rPr lang="es-E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r>
              <a:rPr lang="es-E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Camera L515</a:t>
            </a:r>
            <a:endParaRPr lang="en-US" sz="2400" spc="240" dirty="0"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12" y="-19779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166399" y="1233825"/>
            <a:ext cx="7977600" cy="2256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59"/>
              </a:lnSpc>
            </a:pPr>
            <a:r>
              <a:rPr lang="es-ES" sz="6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Intel® </a:t>
            </a:r>
            <a:r>
              <a:rPr lang="es-ES" sz="6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RealSense</a:t>
            </a:r>
            <a:r>
              <a:rPr lang="es-ES" sz="6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™ </a:t>
            </a:r>
            <a:r>
              <a:rPr lang="es-ES" sz="6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r>
              <a:rPr lang="es-ES" sz="6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Camera L515</a:t>
            </a:r>
            <a:endParaRPr lang="en-US" sz="6399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0649" y="3619500"/>
            <a:ext cx="8263350" cy="5709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61 mm diameter.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26 mm height.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100 g weight.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Minimum range 0.25 m.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Maximum range 9 m.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Resolution of up to 1024x768 (XGA) at 30 FPS for depth capturing over 23 million depth points per second.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IMU sensor and RGB camera for motion tracking.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897EE6FE-EF5D-0021-8351-58661D2717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3" t="9137" r="11903" b="7769"/>
          <a:stretch/>
        </p:blipFill>
        <p:spPr bwMode="auto">
          <a:xfrm>
            <a:off x="10253359" y="394945"/>
            <a:ext cx="7153992" cy="949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43746A-1E50-549E-0894-C305389E52B5}"/>
              </a:ext>
            </a:extLst>
          </p:cNvPr>
          <p:cNvSpPr txBox="1"/>
          <p:nvPr/>
        </p:nvSpPr>
        <p:spPr>
          <a:xfrm>
            <a:off x="-9296400" y="9736041"/>
            <a:ext cx="12765366" cy="811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0150" lvl="1" indent="-5143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4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source</a:t>
            </a:r>
          </a:p>
          <a:p>
            <a:pPr marL="1885950" lvl="2" indent="-5143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Wavelength</a:t>
            </a:r>
          </a:p>
          <a:p>
            <a:pPr marL="2571750" lvl="3" indent="-5143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Infrared (IR) laser in the range of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844 nm to 875 nm</a:t>
            </a:r>
          </a:p>
          <a:p>
            <a:pPr marL="1885950" lvl="2" indent="-5143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Laser Type</a:t>
            </a:r>
          </a:p>
          <a:p>
            <a:pPr marL="2571750" lvl="3" indent="-5143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1 laser,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it is considered safe under normal operating conditions, as it poses no harm to human eyes.</a:t>
            </a:r>
          </a:p>
          <a:p>
            <a:pPr marL="1885950" lvl="2" indent="-5143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Pulse Duration and Repetition Rate</a:t>
            </a:r>
          </a:p>
          <a:p>
            <a:pPr marL="2571750" lvl="3" indent="-5143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duration of 1 nanosecond (ns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contributes to its ability to capture fast-moving objects without significant motion blur.</a:t>
            </a:r>
          </a:p>
          <a:p>
            <a:pPr marL="2571750" lvl="3" indent="-5143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repetition rate of the laser is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MHz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85950" lvl="2" indent="-5143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Laser Power</a:t>
            </a:r>
          </a:p>
          <a:p>
            <a:pPr marL="2571750" lvl="3" indent="-5143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maximum power output is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mW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C78E6-E987-FCBE-D353-F831F720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997775-A7B7-64CF-A8F3-0CFD08AB1604}"/>
              </a:ext>
            </a:extLst>
          </p:cNvPr>
          <p:cNvSpPr/>
          <p:nvPr/>
        </p:nvSpPr>
        <p:spPr>
          <a:xfrm>
            <a:off x="16212" y="-19779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983EC19-3DF3-89BA-788D-64DA037F33B5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D29E514-3BB9-2FEC-35A3-58898407820C}"/>
              </a:ext>
            </a:extLst>
          </p:cNvPr>
          <p:cNvSpPr txBox="1"/>
          <p:nvPr/>
        </p:nvSpPr>
        <p:spPr>
          <a:xfrm>
            <a:off x="1166399" y="1233825"/>
            <a:ext cx="7977600" cy="2256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59"/>
              </a:lnSpc>
            </a:pPr>
            <a:r>
              <a:rPr lang="es-ES" sz="6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Intel® </a:t>
            </a:r>
            <a:r>
              <a:rPr lang="es-ES" sz="6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RealSense</a:t>
            </a:r>
            <a:r>
              <a:rPr lang="es-ES" sz="6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™ </a:t>
            </a:r>
            <a:r>
              <a:rPr lang="es-ES" sz="6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r>
              <a:rPr lang="es-ES" sz="6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Camera L515</a:t>
            </a:r>
            <a:endParaRPr lang="en-US" sz="6399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407786B-4973-CB87-B29A-B910134380B0}"/>
              </a:ext>
            </a:extLst>
          </p:cNvPr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0DD3D48-A6CD-B012-D046-0ABF0BAC1AC1}"/>
              </a:ext>
            </a:extLst>
          </p:cNvPr>
          <p:cNvSpPr txBox="1"/>
          <p:nvPr/>
        </p:nvSpPr>
        <p:spPr>
          <a:xfrm>
            <a:off x="871462" y="3935176"/>
            <a:ext cx="8263350" cy="5709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 Infrared (IR) laser in the range of 844 nm to 875 nm wavelength.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Pulse duration of 1 nanosecond (ns) contributes to its ability to capture fast-moving object without significant motion blur.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 has repetition rate of 500 </a:t>
            </a:r>
            <a:r>
              <a:rPr lang="en-US" sz="279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MHz.</a:t>
            </a:r>
            <a:endParaRPr lang="en-US" sz="27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04519" lvl="1" indent="-302260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 is safe for human eyes as it uses class 1 laser.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endParaRPr lang="en-US" sz="279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289AD3F5-190F-F3BF-9C45-150A2881F9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7" t="14211" r="27117" b="13573"/>
          <a:stretch/>
        </p:blipFill>
        <p:spPr bwMode="auto">
          <a:xfrm>
            <a:off x="11364862" y="5438221"/>
            <a:ext cx="5756739" cy="4225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98B02B-0CA5-4E46-340C-0986AE9CCC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1" t="8560" r="19081"/>
          <a:stretch/>
        </p:blipFill>
        <p:spPr bwMode="auto">
          <a:xfrm>
            <a:off x="11364862" y="871220"/>
            <a:ext cx="5756739" cy="4228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5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1030144" y="4423572"/>
            <a:ext cx="3657307" cy="3966235"/>
            <a:chOff x="0" y="0"/>
            <a:chExt cx="4489857" cy="448985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5291081" y="4400088"/>
            <a:ext cx="3657307" cy="3966235"/>
            <a:chOff x="0" y="0"/>
            <a:chExt cx="4489857" cy="44898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16865" y="4423572"/>
            <a:ext cx="3657307" cy="3966235"/>
            <a:chOff x="0" y="0"/>
            <a:chExt cx="4489857" cy="44898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66399" y="1233825"/>
            <a:ext cx="9316922" cy="1106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Libraries and packages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4488" y="6323210"/>
            <a:ext cx="3378259" cy="1669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For numerical operations and array manipulations</a:t>
            </a:r>
            <a:endParaRPr lang="en-US" sz="2799" u="none" strike="noStrike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91082" y="6465114"/>
            <a:ext cx="3657307" cy="109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For image processing</a:t>
            </a:r>
            <a:endParaRPr lang="en-US" sz="2799" u="none" strike="noStrike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111038" y="6385653"/>
            <a:ext cx="2668958" cy="1669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For working with 3D point clouds</a:t>
            </a:r>
            <a:endParaRPr lang="en-US" sz="2799" u="none" strike="noStrike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24" name="Picture 8">
            <a:extLst>
              <a:ext uri="{FF2B5EF4-FFF2-40B4-BE49-F238E27FC236}">
                <a16:creationId xmlns:a16="http://schemas.microsoft.com/office/drawing/2014/main" id="{39645453-4CF0-83DB-D48B-3BFC4971D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067" y="4599903"/>
            <a:ext cx="3467100" cy="156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2">
            <a:extLst>
              <a:ext uri="{FF2B5EF4-FFF2-40B4-BE49-F238E27FC236}">
                <a16:creationId xmlns:a16="http://schemas.microsoft.com/office/drawing/2014/main" id="{520FBF88-4A91-3493-BBA2-1B9162CD8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086" y="4613194"/>
            <a:ext cx="1257300" cy="1549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4">
            <a:extLst>
              <a:ext uri="{FF2B5EF4-FFF2-40B4-BE49-F238E27FC236}">
                <a16:creationId xmlns:a16="http://schemas.microsoft.com/office/drawing/2014/main" id="{BB3F0D9F-941C-5CDA-9BF8-57FB7C5EC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24" y="4513230"/>
            <a:ext cx="1242787" cy="1669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8">
            <a:extLst>
              <a:ext uri="{FF2B5EF4-FFF2-40B4-BE49-F238E27FC236}">
                <a16:creationId xmlns:a16="http://schemas.microsoft.com/office/drawing/2014/main" id="{A8B4BD78-A732-4033-6E58-B6984923C387}"/>
              </a:ext>
            </a:extLst>
          </p:cNvPr>
          <p:cNvSpPr txBox="1"/>
          <p:nvPr/>
        </p:nvSpPr>
        <p:spPr>
          <a:xfrm>
            <a:off x="1030144" y="3126676"/>
            <a:ext cx="13780376" cy="5153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 pyrealsense2 package by the </a:t>
            </a:r>
            <a:r>
              <a:rPr lang="en-US" sz="279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realsense</a:t>
            </a: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to gather data and process. </a:t>
            </a:r>
          </a:p>
        </p:txBody>
      </p:sp>
      <p:grpSp>
        <p:nvGrpSpPr>
          <p:cNvPr id="39" name="Group 10">
            <a:extLst>
              <a:ext uri="{FF2B5EF4-FFF2-40B4-BE49-F238E27FC236}">
                <a16:creationId xmlns:a16="http://schemas.microsoft.com/office/drawing/2014/main" id="{ABE5C61F-F7E7-09AB-F773-7158D71E2418}"/>
              </a:ext>
            </a:extLst>
          </p:cNvPr>
          <p:cNvGrpSpPr/>
          <p:nvPr/>
        </p:nvGrpSpPr>
        <p:grpSpPr>
          <a:xfrm>
            <a:off x="14097000" y="4423572"/>
            <a:ext cx="3657307" cy="3966235"/>
            <a:chOff x="0" y="0"/>
            <a:chExt cx="4489857" cy="4489857"/>
          </a:xfrm>
        </p:grpSpPr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D3B5D515-0ABE-BCBD-ED25-C235D3D51615}"/>
                </a:ext>
              </a:extLst>
            </p:cNvPr>
            <p:cNvSpPr/>
            <p:nvPr/>
          </p:nvSpPr>
          <p:spPr>
            <a:xfrm>
              <a:off x="0" y="0"/>
              <a:ext cx="4489857" cy="4489857"/>
            </a:xfrm>
            <a:custGeom>
              <a:avLst/>
              <a:gdLst/>
              <a:ahLst/>
              <a:cxnLst/>
              <a:rect l="l" t="t" r="r" b="b"/>
              <a:pathLst>
                <a:path w="4489857" h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" name="TextBox 12">
              <a:extLst>
                <a:ext uri="{FF2B5EF4-FFF2-40B4-BE49-F238E27FC236}">
                  <a16:creationId xmlns:a16="http://schemas.microsoft.com/office/drawing/2014/main" id="{FDF8225B-81C6-5A65-599C-5BDD035E67DF}"/>
                </a:ext>
              </a:extLst>
            </p:cNvPr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6A674FB8-DED3-13F8-684D-C352E99FEB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1483" y="4485186"/>
            <a:ext cx="3088339" cy="1824496"/>
          </a:xfrm>
          <a:prstGeom prst="rect">
            <a:avLst/>
          </a:prstGeom>
        </p:spPr>
      </p:pic>
      <p:sp>
        <p:nvSpPr>
          <p:cNvPr id="33" name="TextBox 20">
            <a:extLst>
              <a:ext uri="{FF2B5EF4-FFF2-40B4-BE49-F238E27FC236}">
                <a16:creationId xmlns:a16="http://schemas.microsoft.com/office/drawing/2014/main" id="{0BFD650D-B8C5-6BB1-0730-A2B53247D3EE}"/>
              </a:ext>
            </a:extLst>
          </p:cNvPr>
          <p:cNvSpPr txBox="1"/>
          <p:nvPr/>
        </p:nvSpPr>
        <p:spPr>
          <a:xfrm>
            <a:off x="14402895" y="6383206"/>
            <a:ext cx="3045514" cy="16694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79"/>
              </a:lnSpc>
            </a:pPr>
            <a:r>
              <a:rPr lang="en-US" sz="279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For data visualization and plotting</a:t>
            </a:r>
            <a:endParaRPr lang="en-US" sz="2799" u="none" strike="noStrike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66399" y="1233825"/>
            <a:ext cx="10399168" cy="110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2D output from </a:t>
            </a:r>
            <a:r>
              <a:rPr lang="en-US" sz="6399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Realsense</a:t>
            </a: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EF1121-2673-E79C-176C-63342339D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3" t="24207" b="16336"/>
          <a:stretch>
            <a:fillRect/>
          </a:stretch>
        </p:blipFill>
        <p:spPr>
          <a:xfrm>
            <a:off x="2120482" y="2954833"/>
            <a:ext cx="14047035" cy="5814675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A97EDB05-E6FA-4276-10AC-20B1535D8E90}"/>
              </a:ext>
            </a:extLst>
          </p:cNvPr>
          <p:cNvSpPr txBox="1"/>
          <p:nvPr/>
        </p:nvSpPr>
        <p:spPr>
          <a:xfrm>
            <a:off x="5714999" y="8858730"/>
            <a:ext cx="6858000" cy="388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Fig. 2D color and depth view of the </a:t>
            </a:r>
            <a:r>
              <a:rPr lang="en-US" sz="21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realsense</a:t>
            </a:r>
            <a:r>
              <a:rPr lang="en-US" sz="21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viewer</a:t>
            </a:r>
            <a:endParaRPr lang="en-US" sz="2100" u="none" strike="noStrike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11159-641A-58A8-6FA4-6F79441DA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F31E35-6E4D-A6E4-B59B-40703249F92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54B6FF3-20F6-6E97-5952-CF1863E8665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0E6B637-AF5A-44BB-BBEA-153B649CEFE5}"/>
              </a:ext>
            </a:extLst>
          </p:cNvPr>
          <p:cNvSpPr txBox="1"/>
          <p:nvPr/>
        </p:nvSpPr>
        <p:spPr>
          <a:xfrm>
            <a:off x="1166399" y="1233825"/>
            <a:ext cx="10399168" cy="110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3D output from </a:t>
            </a:r>
            <a:r>
              <a:rPr lang="en-US" sz="6399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Realsense</a:t>
            </a:r>
            <a:endParaRPr lang="en-US" sz="6399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5BEA61B-EBDA-8618-7424-0C2F5AA5C5CC}"/>
              </a:ext>
            </a:extLst>
          </p:cNvPr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2D6F941-1D35-C5F5-D5F7-58F952BE49AF}"/>
              </a:ext>
            </a:extLst>
          </p:cNvPr>
          <p:cNvSpPr txBox="1"/>
          <p:nvPr/>
        </p:nvSpPr>
        <p:spPr>
          <a:xfrm>
            <a:off x="6438900" y="9142095"/>
            <a:ext cx="5410200" cy="402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6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Fig. 3D output from the </a:t>
            </a:r>
            <a:r>
              <a:rPr lang="en-US" sz="21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realsense</a:t>
            </a:r>
            <a:r>
              <a:rPr lang="en-US" sz="21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viewer</a:t>
            </a:r>
            <a:endParaRPr lang="en-US" sz="2100" u="none" strike="noStrike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17" name="Picture 16" descr="A computer screen shot of a person's head&#10;&#10;AI-generated content may be incorrect.">
            <a:extLst>
              <a:ext uri="{FF2B5EF4-FFF2-40B4-BE49-F238E27FC236}">
                <a16:creationId xmlns:a16="http://schemas.microsoft.com/office/drawing/2014/main" id="{274B891A-5163-482B-CD98-C41FCA8EB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1" t="9350"/>
          <a:stretch>
            <a:fillRect/>
          </a:stretch>
        </p:blipFill>
        <p:spPr>
          <a:xfrm>
            <a:off x="4038600" y="2655928"/>
            <a:ext cx="10210800" cy="639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00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85814" y="2762204"/>
            <a:ext cx="9316373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71329" y="8480425"/>
            <a:ext cx="2945342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Thu Ta Zaw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8762" y="9142095"/>
            <a:ext cx="3450476" cy="25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 dirty="0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2415121095</a:t>
            </a:r>
            <a:endParaRPr lang="en-US" sz="1599" u="none" strike="noStrike" spc="159" dirty="0">
              <a:solidFill>
                <a:srgbClr val="000000">
                  <a:alpha val="49804"/>
                </a:srgbClr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304</Words>
  <Application>Microsoft Office PowerPoint</Application>
  <PresentationFormat>Custom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DM Serif Display</vt:lpstr>
      <vt:lpstr>Aptos</vt:lpstr>
      <vt:lpstr>Wingdings</vt:lpstr>
      <vt:lpstr>Times New Roman</vt:lpstr>
      <vt:lpstr>Open Sauce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11</cp:revision>
  <dcterms:created xsi:type="dcterms:W3CDTF">2006-08-16T00:00:00Z</dcterms:created>
  <dcterms:modified xsi:type="dcterms:W3CDTF">2025-09-30T08:42:30Z</dcterms:modified>
  <dc:identifier>DAG0bfrM1o8</dc:identifier>
</cp:coreProperties>
</file>